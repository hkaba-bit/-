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slideMasters/slideMaster65.xml" ContentType="application/vnd.openxmlformats-officedocument.presentationml.slideMaster+xml"/>
  <Override PartName="/ppt/slides/slide65.xml" ContentType="application/vnd.openxmlformats-officedocument.presentationml.slide+xml"/>
  <Override PartName="/ppt/slideMasters/slideMaster66.xml" ContentType="application/vnd.openxmlformats-officedocument.presentationml.slideMaster+xml"/>
  <Override PartName="/ppt/slides/slide66.xml" ContentType="application/vnd.openxmlformats-officedocument.presentationml.slide+xml"/>
  <Override PartName="/ppt/slideMasters/slideMaster67.xml" ContentType="application/vnd.openxmlformats-officedocument.presentationml.slideMaster+xml"/>
  <Override PartName="/ppt/slides/slide67.xml" ContentType="application/vnd.openxmlformats-officedocument.presentationml.slide+xml"/>
  <Override PartName="/ppt/slideMasters/slideMaster68.xml" ContentType="application/vnd.openxmlformats-officedocument.presentationml.slideMaster+xml"/>
  <Override PartName="/ppt/slides/slide68.xml" ContentType="application/vnd.openxmlformats-officedocument.presentationml.slide+xml"/>
  <Override PartName="/ppt/slideMasters/slideMaster69.xml" ContentType="application/vnd.openxmlformats-officedocument.presentationml.slideMaster+xml"/>
  <Override PartName="/ppt/slides/slide69.xml" ContentType="application/vnd.openxmlformats-officedocument.presentationml.slide+xml"/>
  <Override PartName="/ppt/slideMasters/slideMaster70.xml" ContentType="application/vnd.openxmlformats-officedocument.presentationml.slideMaster+xml"/>
  <Override PartName="/ppt/slides/slide70.xml" ContentType="application/vnd.openxmlformats-officedocument.presentationml.slide+xml"/>
  <Override PartName="/ppt/slideMasters/slideMaster71.xml" ContentType="application/vnd.openxmlformats-officedocument.presentationml.slideMaster+xml"/>
  <Override PartName="/ppt/slides/slide71.xml" ContentType="application/vnd.openxmlformats-officedocument.presentationml.slide+xml"/>
  <Override PartName="/ppt/slideMasters/slideMaster72.xml" ContentType="application/vnd.openxmlformats-officedocument.presentationml.slideMaster+xml"/>
  <Override PartName="/ppt/slides/slide72.xml" ContentType="application/vnd.openxmlformats-officedocument.presentationml.slide+xml"/>
  <Override PartName="/ppt/slideMasters/slideMaster73.xml" ContentType="application/vnd.openxmlformats-officedocument.presentationml.slideMaster+xml"/>
  <Override PartName="/ppt/slides/slide73.xml" ContentType="application/vnd.openxmlformats-officedocument.presentationml.slide+xml"/>
  <Override PartName="/ppt/slideMasters/slideMaster74.xml" ContentType="application/vnd.openxmlformats-officedocument.presentationml.slideMaster+xml"/>
  <Override PartName="/ppt/slides/slide74.xml" ContentType="application/vnd.openxmlformats-officedocument.presentationml.slide+xml"/>
  <Override PartName="/ppt/slideMasters/slideMaster75.xml" ContentType="application/vnd.openxmlformats-officedocument.presentationml.slideMaster+xml"/>
  <Override PartName="/ppt/slides/slide75.xml" ContentType="application/vnd.openxmlformats-officedocument.presentationml.slide+xml"/>
  <Override PartName="/ppt/slideMasters/slideMaster76.xml" ContentType="application/vnd.openxmlformats-officedocument.presentationml.slideMaster+xml"/>
  <Override PartName="/ppt/slides/slide76.xml" ContentType="application/vnd.openxmlformats-officedocument.presentationml.slide+xml"/>
  <Override PartName="/ppt/slideMasters/slideMaster77.xml" ContentType="application/vnd.openxmlformats-officedocument.presentationml.slideMaster+xml"/>
  <Override PartName="/ppt/slides/slide77.xml" ContentType="application/vnd.openxmlformats-officedocument.presentationml.slide+xml"/>
  <Override PartName="/ppt/slideMasters/slideMaster78.xml" ContentType="application/vnd.openxmlformats-officedocument.presentationml.slideMaster+xml"/>
  <Override PartName="/ppt/slides/slide78.xml" ContentType="application/vnd.openxmlformats-officedocument.presentationml.slide+xml"/>
  <Override PartName="/ppt/slideMasters/slideMaster79.xml" ContentType="application/vnd.openxmlformats-officedocument.presentationml.slideMaster+xml"/>
  <Override PartName="/ppt/slides/slide79.xml" ContentType="application/vnd.openxmlformats-officedocument.presentationml.slide+xml"/>
  <Override PartName="/ppt/slideMasters/slideMaster80.xml" ContentType="application/vnd.openxmlformats-officedocument.presentationml.slideMaster+xml"/>
  <Override PartName="/ppt/slides/slide80.xml" ContentType="application/vnd.openxmlformats-officedocument.presentationml.slide+xml"/>
  <Override PartName="/ppt/slideMasters/slideMaster81.xml" ContentType="application/vnd.openxmlformats-officedocument.presentationml.slideMaster+xml"/>
  <Override PartName="/ppt/slides/slide81.xml" ContentType="application/vnd.openxmlformats-officedocument.presentationml.slide+xml"/>
  <Override PartName="/ppt/slideMasters/slideMaster82.xml" ContentType="application/vnd.openxmlformats-officedocument.presentationml.slideMaster+xml"/>
  <Override PartName="/ppt/slides/slide8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Lst>
  <p:notesMasterIdLst>
    <p:notesMasterId r:id="rId84"/>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slide" Target="slides/slide75.xml"/><Relationship Id="rId77" Type="http://schemas.openxmlformats.org/officeDocument/2006/relationships/slide" Target="slides/slide76.xml"/><Relationship Id="rId78" Type="http://schemas.openxmlformats.org/officeDocument/2006/relationships/slide" Target="slides/slide77.xml"/><Relationship Id="rId79" Type="http://schemas.openxmlformats.org/officeDocument/2006/relationships/slide" Target="slides/slide78.xml"/><Relationship Id="rId80" Type="http://schemas.openxmlformats.org/officeDocument/2006/relationships/slide" Target="slides/slide79.xml"/><Relationship Id="rId81" Type="http://schemas.openxmlformats.org/officeDocument/2006/relationships/slide" Target="slides/slide80.xml"/><Relationship Id="rId82" Type="http://schemas.openxmlformats.org/officeDocument/2006/relationships/slide" Target="slides/slide81.xml"/><Relationship Id="rId83" Type="http://schemas.openxmlformats.org/officeDocument/2006/relationships/slide" Target="slides/slide82.xml"/><Relationship Id="rId84" Type="http://schemas.openxmlformats.org/officeDocument/2006/relationships/notesMaster" Target="notesMasters/notesMaster1.xml"/><Relationship Id="rId85" Type="http://schemas.openxmlformats.org/officeDocument/2006/relationships/presProps" Target="presProps.xml"/><Relationship Id="rId86" Type="http://schemas.openxmlformats.org/officeDocument/2006/relationships/viewProps" Target="viewProps.xml"/><Relationship Id="rId87" Type="http://schemas.openxmlformats.org/officeDocument/2006/relationships/theme" Target="theme/theme1.xml"/><Relationship Id="rId8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_rels/notesSlide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7.xml"/>
		</Relationships>
</file>

<file path=ppt/notesSlides/_rels/notesSlide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8.xml"/>
		</Relationships>
</file>

<file path=ppt/notesSlides/_rels/notesSlide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9.xml"/>
		</Relationships>
</file>

<file path=ppt/notesSlides/_rels/notesSlide7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0.xml"/>
		</Relationships>
</file>

<file path=ppt/notesSlides/_rels/notesSlide7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1.xml"/>
		</Relationships>
</file>

<file path=ppt/notesSlides/_rels/notesSlide7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2.xml"/>
		</Relationships>
</file>

<file path=ppt/notesSlides/_rels/notesSlide7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3.xml"/>
		</Relationships>
</file>

<file path=ppt/notesSlides/_rels/notesSlide7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4.xml"/>
		</Relationships>
</file>

<file path=ppt/notesSlides/_rels/notesSlide7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5.xml"/>
		</Relationships>
</file>

<file path=ppt/notesSlides/_rels/notesSlide7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6.xml"/>
		</Relationships>
</file>

<file path=ppt/notesSlides/_rels/notesSlide7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7.xml"/>
		</Relationships>
</file>

<file path=ppt/notesSlides/_rels/notesSlide7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8.xml"/>
		</Relationships>
</file>

<file path=ppt/notesSlides/_rels/notesSlide7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9.xml"/>
		</Relationships>
</file>

<file path=ppt/notesSlides/_rels/notesSlide8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0.xml"/>
		</Relationships>
</file>

<file path=ppt/notesSlides/_rels/notesSlide8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1.xml"/>
		</Relationships>
</file>

<file path=ppt/notesSlides/_rels/notesSlide8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502920" y="1828800"/>
            <a:ext cx="8138160" cy="822960"/>
          </a:xfrm>
          <a:prstGeom prst="rect">
            <a:avLst/>
          </a:prstGeom>
          <a:noFill/>
          <a:ln/>
        </p:spPr>
        <p:txBody>
          <a:bodyPr wrap="square" rtlCol="0" anchor="ctr"/>
          <a:lstStyle/>
          <a:p>
            <a:pPr indent="0" marL="0">
              <a:buNone/>
            </a:pPr>
            <a:r>
              <a:rPr lang="en-US" sz="3000" b="1" dirty="0">
                <a:solidFill>
                  <a:srgbClr val="1A1A1A"/>
                </a:solidFill>
                <a:latin typeface="Meiryo" pitchFamily="34" charset="0"/>
                <a:ea typeface="Meiryo" pitchFamily="34" charset="-122"/>
                <a:cs typeface="Meiryo" pitchFamily="34" charset="-120"/>
              </a:rPr>
              <a:t>Webサイトリニューアル 要件定義ご報告</a:t>
            </a:r>
            <a:endParaRPr lang="en-US" sz="3000" dirty="0"/>
          </a:p>
        </p:txBody>
      </p:sp>
      <p:sp>
        <p:nvSpPr>
          <p:cNvPr id="3" name="Text 1"/>
          <p:cNvSpPr/>
          <p:nvPr/>
        </p:nvSpPr>
        <p:spPr>
          <a:xfrm>
            <a:off x="502920" y="2651760"/>
            <a:ext cx="8138160" cy="457200"/>
          </a:xfrm>
          <a:prstGeom prst="rect">
            <a:avLst/>
          </a:prstGeom>
          <a:noFill/>
          <a:ln/>
        </p:spPr>
        <p:txBody>
          <a:bodyPr wrap="square" rtlCol="0" anchor="ctr"/>
          <a:lstStyle/>
          <a:p>
            <a:pPr indent="0" marL="0">
              <a:buNone/>
            </a:pPr>
            <a:r>
              <a:rPr lang="en-US" sz="1500" dirty="0">
                <a:solidFill>
                  <a:srgbClr val="6B6B6B"/>
                </a:solidFill>
                <a:latin typeface="Meiryo" pitchFamily="34" charset="0"/>
                <a:ea typeface="Meiryo" pitchFamily="34" charset="-122"/>
                <a:cs typeface="Meiryo" pitchFamily="34" charset="-120"/>
              </a:rPr>
              <a:t>現状分析・戦略設計・情報設計のご報告と、確認をお願いしたい事項</a:t>
            </a:r>
            <a:endParaRPr lang="en-US" sz="1500" dirty="0"/>
          </a:p>
        </p:txBody>
      </p:sp>
      <p:sp>
        <p:nvSpPr>
          <p:cNvPr id="4" name="Text 2"/>
          <p:cNvSpPr/>
          <p:nvPr/>
        </p:nvSpPr>
        <p:spPr>
          <a:xfrm>
            <a:off x="502920" y="4137660"/>
            <a:ext cx="8138160" cy="365760"/>
          </a:xfrm>
          <a:prstGeom prst="rect">
            <a:avLst/>
          </a:prstGeom>
          <a:noFill/>
          <a:ln/>
        </p:spPr>
        <p:txBody>
          <a:bodyPr wrap="square" rtlCol="0" anchor="ctr"/>
          <a:lstStyle/>
          <a:p>
            <a:pPr indent="0" marL="0">
              <a:buNone/>
            </a:pPr>
            <a:r>
              <a:rPr lang="en-US" sz="1100" dirty="0">
                <a:solidFill>
                  <a:srgbClr val="6B6B6B"/>
                </a:solidFill>
                <a:latin typeface="Meiryo" pitchFamily="34" charset="0"/>
                <a:ea typeface="Meiryo" pitchFamily="34" charset="-122"/>
                <a:cs typeface="Meiryo" pitchFamily="34" charset="-120"/>
              </a:rPr>
              <a:t>学校法人城北埼玉学園 城北埼玉中学・高等学校　／　2026年9月18日　／　GrowGroup株式会社</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02920" y="502920"/>
            <a:ext cx="8138160" cy="457200"/>
          </a:xfrm>
          <a:prstGeom prst="rect">
            <a:avLst/>
          </a:prstGeom>
          <a:noFill/>
          <a:ln/>
        </p:spPr>
        <p:txBody>
          <a:bodyPr wrap="square" rtlCol="0" anchor="ctr"/>
          <a:lstStyle/>
          <a:p>
            <a:pPr indent="0" marL="0">
              <a:buNone/>
            </a:pPr>
            <a:r>
              <a:rPr lang="en-US" sz="2000" b="1" dirty="0">
                <a:solidFill>
                  <a:srgbClr val="1A1A1A"/>
                </a:solidFill>
                <a:latin typeface="Meiryo" pitchFamily="34" charset="0"/>
                <a:ea typeface="Meiryo" pitchFamily="34" charset="-122"/>
                <a:cs typeface="Meiryo" pitchFamily="34" charset="-120"/>
              </a:rPr>
              <a:t>本提案の全体像</a:t>
            </a:r>
            <a:endParaRPr lang="en-US" sz="2000" dirty="0"/>
          </a:p>
        </p:txBody>
      </p:sp>
      <p:sp>
        <p:nvSpPr>
          <p:cNvPr id="3" name="Shape 1"/>
          <p:cNvSpPr/>
          <p:nvPr/>
        </p:nvSpPr>
        <p:spPr>
          <a:xfrm>
            <a:off x="502920" y="1005840"/>
            <a:ext cx="8138160" cy="0"/>
          </a:xfrm>
          <a:prstGeom prst="line">
            <a:avLst/>
          </a:prstGeom>
          <a:noFill/>
          <a:ln w="12700">
            <a:solidFill>
              <a:srgbClr val="D5D5D5"/>
            </a:solidFill>
            <a:prstDash val="solid"/>
          </a:ln>
        </p:spPr>
      </p:sp>
      <p:sp>
        <p:nvSpPr>
          <p:cNvPr id="4" name="Text 2"/>
          <p:cNvSpPr/>
          <p:nvPr/>
        </p:nvSpPr>
        <p:spPr>
          <a:xfrm>
            <a:off x="502920" y="1143000"/>
            <a:ext cx="8138160" cy="457200"/>
          </a:xfrm>
          <a:prstGeom prst="rect">
            <a:avLst/>
          </a:prstGeom>
          <a:noFill/>
          <a:ln/>
        </p:spPr>
        <p:txBody>
          <a:bodyPr wrap="square" rtlCol="0" anchor="t"/>
          <a:lstStyle/>
          <a:p>
            <a:pPr indent="0" marL="0">
              <a:buNone/>
            </a:pPr>
            <a:r>
              <a:rPr lang="en-US" sz="1200" dirty="0">
                <a:solidFill>
                  <a:srgbClr val="1A1A1A"/>
                </a:solidFill>
                <a:latin typeface="Meiryo" pitchFamily="34" charset="0"/>
                <a:ea typeface="Meiryo" pitchFamily="34" charset="-122"/>
                <a:cs typeface="Meiryo" pitchFamily="34" charset="-120"/>
              </a:rPr>
              <a:t>今回のリニューアルは、次の3点を軸に設計します。以降の各章はすべてこの3つのいずれかに属します。</a:t>
            </a:r>
            <a:endParaRPr lang="en-US" sz="12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502920" y="1691640"/>
          <a:ext cx="8138160" cy="914400"/>
        </p:xfrm>
        <a:graphic>
          <a:graphicData uri="http://schemas.openxmlformats.org/drawingml/2006/table">
            <a:tbl>
              <a:tblPr/>
              <a:tblGrid>
                <a:gridCol w="1097280"/>
                <a:gridCol w="2346960"/>
                <a:gridCol w="2346960"/>
                <a:gridCol w="2346960"/>
              </a:tblGrid>
              <a:tr h="0">
                <a:tc>
                  <a:txBody>
                    <a:bodyPr/>
                    <a:lstStyle/>
                    <a:p>
                      <a:pPr indent="0" marL="0">
                        <a:buNone/>
                      </a:pPr>
                      <a:endParaRPr lang="en-US" sz="1100" dirty="0">
                        <a:latin typeface="Meiryo" charset="0"/>
                        <a:ea typeface="Meiryo" charset="0"/>
                        <a:cs typeface="Meiryo" charset="0"/>
                      </a:endParaRPr>
                    </a:p>
                  </a:txBody>
                  <a:tcPr marL="91440" marR="91440" marT="45720" marB="45720">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1F3A5F"/>
                    </a:solidFill>
                  </a:tcPr>
                </a:tc>
                <a:tc>
                  <a:txBody>
                    <a:bodyPr/>
                    <a:lstStyle/>
                    <a:p>
                      <a:pPr indent="0" marL="0">
                        <a:buNone/>
                      </a:pPr>
                      <a:r>
                        <a:rPr lang="en-US" sz="1100" b="1" dirty="0">
                          <a:solidFill>
                            <a:srgbClr val="FFFFFF"/>
                          </a:solidFill>
                          <a:latin typeface="Meiryo" pitchFamily="34" charset="0"/>
                          <a:ea typeface="Meiryo" pitchFamily="34" charset="-122"/>
                          <a:cs typeface="Meiryo" pitchFamily="34" charset="-120"/>
                        </a:rPr>
                        <a:t>論点01</a:t>
                      </a:r>
                      <a:endParaRPr lang="en-US" sz="1100" dirty="0">
                        <a:latin typeface="Meiryo" charset="0"/>
                        <a:ea typeface="Meiryo" charset="0"/>
                        <a:cs typeface="Meiryo" charset="0"/>
                      </a:endParaRPr>
                    </a:p>
                  </a:txBody>
                  <a:tcPr marL="91440" marR="91440" marT="45720" marB="45720">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1F3A5F"/>
                    </a:solidFill>
                  </a:tcPr>
                </a:tc>
                <a:tc>
                  <a:txBody>
                    <a:bodyPr/>
                    <a:lstStyle/>
                    <a:p>
                      <a:pPr indent="0" marL="0">
                        <a:buNone/>
                      </a:pPr>
                      <a:r>
                        <a:rPr lang="en-US" sz="1100" b="1" dirty="0">
                          <a:solidFill>
                            <a:srgbClr val="FFFFFF"/>
                          </a:solidFill>
                          <a:latin typeface="Meiryo" pitchFamily="34" charset="0"/>
                          <a:ea typeface="Meiryo" pitchFamily="34" charset="-122"/>
                          <a:cs typeface="Meiryo" pitchFamily="34" charset="-120"/>
                        </a:rPr>
                        <a:t>論点02</a:t>
                      </a:r>
                      <a:endParaRPr lang="en-US" sz="1100" dirty="0">
                        <a:latin typeface="Meiryo" charset="0"/>
                        <a:ea typeface="Meiryo" charset="0"/>
                        <a:cs typeface="Meiryo" charset="0"/>
                      </a:endParaRPr>
                    </a:p>
                  </a:txBody>
                  <a:tcPr marL="91440" marR="91440" marT="45720" marB="45720">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1F3A5F"/>
                    </a:solidFill>
                  </a:tcPr>
                </a:tc>
                <a:tc>
                  <a:txBody>
                    <a:bodyPr/>
                    <a:lstStyle/>
                    <a:p>
                      <a:pPr indent="0" marL="0">
                        <a:buNone/>
                      </a:pPr>
                      <a:r>
                        <a:rPr lang="en-US" sz="1100" b="1" dirty="0">
                          <a:solidFill>
                            <a:srgbClr val="FFFFFF"/>
                          </a:solidFill>
                          <a:latin typeface="Meiryo" pitchFamily="34" charset="0"/>
                          <a:ea typeface="Meiryo" pitchFamily="34" charset="-122"/>
                          <a:cs typeface="Meiryo" pitchFamily="34" charset="-120"/>
                        </a:rPr>
                        <a:t>論点03</a:t>
                      </a:r>
                      <a:endParaRPr lang="en-US" sz="1100" dirty="0">
                        <a:latin typeface="Meiryo" charset="0"/>
                        <a:ea typeface="Meiryo" charset="0"/>
                        <a:cs typeface="Meiryo" charset="0"/>
                      </a:endParaRPr>
                    </a:p>
                  </a:txBody>
                  <a:tcPr marL="91440" marR="91440" marT="45720" marB="45720">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1F3A5F"/>
                    </a:solidFill>
                  </a:tcPr>
                </a:tc>
              </a:tr>
              <a:tr h="0">
                <a:tc>
                  <a:txBody>
                    <a:bodyPr/>
                    <a:lstStyle/>
                    <a:p>
                      <a:pPr indent="0" marL="0">
                        <a:buNone/>
                      </a:pPr>
                      <a:r>
                        <a:rPr lang="en-US" sz="1100" b="1" dirty="0">
                          <a:solidFill>
                            <a:srgbClr val="1A1A1A"/>
                          </a:solidFill>
                          <a:latin typeface="Meiryo" pitchFamily="34" charset="0"/>
                          <a:ea typeface="Meiryo" pitchFamily="34" charset="-122"/>
                          <a:cs typeface="Meiryo" pitchFamily="34" charset="-120"/>
                        </a:rPr>
                        <a:t>見出し</a:t>
                      </a:r>
                      <a:endParaRPr lang="en-US" sz="1100" dirty="0">
                        <a:latin typeface="Meiryo" charset="0"/>
                        <a:ea typeface="Meiryo" charset="0"/>
                        <a:cs typeface="Meiryo" charset="0"/>
                      </a:endParaRPr>
                    </a:p>
                  </a:txBody>
                  <a:tcPr marL="91440" marR="91440" marT="45720" marB="45720">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tcPr>
                </a:tc>
                <a:tc>
                  <a:txBody>
                    <a:bodyPr/>
                    <a:lstStyle/>
                    <a:p>
                      <a:pPr indent="0" marL="0">
                        <a:buNone/>
                      </a:pPr>
                      <a:r>
                        <a:rPr lang="en-US" sz="1100" dirty="0">
                          <a:solidFill>
                            <a:srgbClr val="1A1A1A"/>
                          </a:solidFill>
                          <a:latin typeface="Meiryo" pitchFamily="34" charset="0"/>
                          <a:ea typeface="Meiryo" pitchFamily="34" charset="-122"/>
                          <a:cs typeface="Meiryo" pitchFamily="34" charset="-120"/>
                        </a:rPr>
                        <a:t>スマホで受験生と保護者に出会えているか</a:t>
                      </a:r>
                      <a:endParaRPr lang="en-US" sz="1100" dirty="0">
                        <a:latin typeface="Meiryo" charset="0"/>
                        <a:ea typeface="Meiryo" charset="0"/>
                        <a:cs typeface="Meiryo" charset="0"/>
                      </a:endParaRPr>
                    </a:p>
                  </a:txBody>
                  <a:tcPr marL="91440" marR="91440" marT="45720" marB="45720">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tcPr>
                </a:tc>
                <a:tc>
                  <a:txBody>
                    <a:bodyPr/>
                    <a:lstStyle/>
                    <a:p>
                      <a:pPr indent="0" marL="0">
                        <a:buNone/>
                      </a:pPr>
                      <a:r>
                        <a:rPr lang="en-US" sz="1100" dirty="0">
                          <a:solidFill>
                            <a:srgbClr val="1A1A1A"/>
                          </a:solidFill>
                          <a:latin typeface="Meiryo" pitchFamily="34" charset="0"/>
                          <a:ea typeface="Meiryo" pitchFamily="34" charset="-122"/>
                          <a:cs typeface="Meiryo" pitchFamily="34" charset="-120"/>
                        </a:rPr>
                        <a:t>最新の姿を、探さずに受け取れるか</a:t>
                      </a:r>
                      <a:endParaRPr lang="en-US" sz="1100" dirty="0">
                        <a:latin typeface="Meiryo" charset="0"/>
                        <a:ea typeface="Meiryo" charset="0"/>
                        <a:cs typeface="Meiryo" charset="0"/>
                      </a:endParaRPr>
                    </a:p>
                  </a:txBody>
                  <a:tcPr marL="91440" marR="91440" marT="45720" marB="45720">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tcPr>
                </a:tc>
                <a:tc>
                  <a:txBody>
                    <a:bodyPr/>
                    <a:lstStyle/>
                    <a:p>
                      <a:pPr indent="0" marL="0">
                        <a:buNone/>
                      </a:pPr>
                      <a:r>
                        <a:rPr lang="en-US" sz="1100" dirty="0">
                          <a:solidFill>
                            <a:srgbClr val="1A1A1A"/>
                          </a:solidFill>
                          <a:latin typeface="Meiryo" pitchFamily="34" charset="0"/>
                          <a:ea typeface="Meiryo" pitchFamily="34" charset="-122"/>
                          <a:cs typeface="Meiryo" pitchFamily="34" charset="-120"/>
                        </a:rPr>
                        <a:t>学校が自分で更新し続けられるか</a:t>
                      </a:r>
                      <a:endParaRPr lang="en-US" sz="1100" dirty="0">
                        <a:latin typeface="Meiryo" charset="0"/>
                        <a:ea typeface="Meiryo" charset="0"/>
                        <a:cs typeface="Meiryo" charset="0"/>
                      </a:endParaRPr>
                    </a:p>
                  </a:txBody>
                  <a:tcPr marL="91440" marR="91440" marT="45720" marB="45720">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tcPr>
                </a:tc>
              </a:tr>
              <a:tr h="0">
                <a:tc>
                  <a:txBody>
                    <a:bodyPr/>
                    <a:lstStyle/>
                    <a:p>
                      <a:pPr indent="0" marL="0">
                        <a:buNone/>
                      </a:pPr>
                      <a:r>
                        <a:rPr lang="en-US" sz="1100" b="1" dirty="0">
                          <a:solidFill>
                            <a:srgbClr val="1A1A1A"/>
                          </a:solidFill>
                          <a:latin typeface="Meiryo" pitchFamily="34" charset="0"/>
                          <a:ea typeface="Meiryo" pitchFamily="34" charset="-122"/>
                          <a:cs typeface="Meiryo" pitchFamily="34" charset="-120"/>
                        </a:rPr>
                        <a:t>現在地</a:t>
                      </a:r>
                      <a:endParaRPr lang="en-US" sz="1100" dirty="0">
                        <a:latin typeface="Meiryo" charset="0"/>
                        <a:ea typeface="Meiryo" charset="0"/>
                        <a:cs typeface="Meiryo" charset="0"/>
                      </a:endParaRPr>
                    </a:p>
                  </a:txBody>
                  <a:tcPr marL="91440" marR="91440" marT="45720" marB="45720">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tcPr>
                </a:tc>
                <a:tc>
                  <a:txBody>
                    <a:bodyPr/>
                    <a:lstStyle/>
                    <a:p>
                      <a:pPr indent="0" marL="0">
                        <a:buNone/>
                      </a:pPr>
                      <a:r>
                        <a:rPr lang="en-US" sz="1100" dirty="0">
                          <a:solidFill>
                            <a:srgbClr val="1A1A1A"/>
                          </a:solidFill>
                          <a:latin typeface="Meiryo" pitchFamily="34" charset="0"/>
                          <a:ea typeface="Meiryo" pitchFamily="34" charset="-122"/>
                          <a:cs typeface="Meiryo" pitchFamily="34" charset="-120"/>
                        </a:rPr>
                        <a:t>9割以上がスマートフォン経由（推定・GA4未検証）ですが、現行はPC前提の情報量です。受験生向けCTAは旧ナビの不具合で壊れています。</a:t>
                      </a:r>
                      <a:endParaRPr lang="en-US" sz="1100" dirty="0">
                        <a:latin typeface="Meiryo" charset="0"/>
                        <a:ea typeface="Meiryo" charset="0"/>
                        <a:cs typeface="Meiryo" charset="0"/>
                      </a:endParaRPr>
                    </a:p>
                  </a:txBody>
                  <a:tcPr marL="91440" marR="91440" marT="45720" marB="45720">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tcPr>
                </a:tc>
                <a:tc>
                  <a:txBody>
                    <a:bodyPr/>
                    <a:lstStyle/>
                    <a:p>
                      <a:pPr indent="0" marL="0">
                        <a:buNone/>
                      </a:pPr>
                      <a:r>
                        <a:rPr lang="en-US" sz="1100" dirty="0">
                          <a:solidFill>
                            <a:srgbClr val="1A1A1A"/>
                          </a:solidFill>
                          <a:latin typeface="Meiryo" pitchFamily="34" charset="0"/>
                          <a:ea typeface="Meiryo" pitchFamily="34" charset="-122"/>
                          <a:cs typeface="Meiryo" pitchFamily="34" charset="-120"/>
                        </a:rPr>
                        <a:t>フロンティアコースと入試要項が古いまま残り、重要な情報がPDFに閉じています。</a:t>
                      </a:r>
                      <a:endParaRPr lang="en-US" sz="1100" dirty="0">
                        <a:latin typeface="Meiryo" charset="0"/>
                        <a:ea typeface="Meiryo" charset="0"/>
                        <a:cs typeface="Meiryo" charset="0"/>
                      </a:endParaRPr>
                    </a:p>
                  </a:txBody>
                  <a:tcPr marL="91440" marR="91440" marT="45720" marB="45720">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tcPr>
                </a:tc>
                <a:tc>
                  <a:txBody>
                    <a:bodyPr/>
                    <a:lstStyle/>
                    <a:p>
                      <a:pPr indent="0" marL="0">
                        <a:buNone/>
                      </a:pPr>
                      <a:r>
                        <a:rPr lang="en-US" sz="1100" dirty="0">
                          <a:solidFill>
                            <a:srgbClr val="1A1A1A"/>
                          </a:solidFill>
                          <a:latin typeface="Meiryo" pitchFamily="34" charset="0"/>
                          <a:ea typeface="Meiryo" pitchFamily="34" charset="-122"/>
                          <a:cs typeface="Meiryo" pitchFamily="34" charset="-120"/>
                        </a:rPr>
                        <a:t>6年間で構造が崩れ、コメントアウトしたはずの旧ナビが生きたリンクとして残っています。</a:t>
                      </a:r>
                      <a:endParaRPr lang="en-US" sz="1100" dirty="0">
                        <a:latin typeface="Meiryo" charset="0"/>
                        <a:ea typeface="Meiryo" charset="0"/>
                        <a:cs typeface="Meiryo" charset="0"/>
                      </a:endParaRPr>
                    </a:p>
                  </a:txBody>
                  <a:tcPr marL="91440" marR="91440" marT="45720" marB="45720">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tcPr>
                </a:tc>
              </a:tr>
              <a:tr h="0">
                <a:tc>
                  <a:txBody>
                    <a:bodyPr/>
                    <a:lstStyle/>
                    <a:p>
                      <a:pPr indent="0" marL="0">
                        <a:buNone/>
                      </a:pPr>
                      <a:r>
                        <a:rPr lang="en-US" sz="1100" b="1" dirty="0">
                          <a:solidFill>
                            <a:srgbClr val="1A1A1A"/>
                          </a:solidFill>
                          <a:latin typeface="Meiryo" pitchFamily="34" charset="0"/>
                          <a:ea typeface="Meiryo" pitchFamily="34" charset="-122"/>
                          <a:cs typeface="Meiryo" pitchFamily="34" charset="-120"/>
                        </a:rPr>
                        <a:t>本提案</a:t>
                      </a:r>
                      <a:endParaRPr lang="en-US" sz="1100" dirty="0">
                        <a:latin typeface="Meiryo" charset="0"/>
                        <a:ea typeface="Meiryo" charset="0"/>
                        <a:cs typeface="Meiryo" charset="0"/>
                      </a:endParaRPr>
                    </a:p>
                  </a:txBody>
                  <a:tcPr marL="91440" marR="91440" marT="45720" marB="45720">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tcPr>
                </a:tc>
                <a:tc>
                  <a:txBody>
                    <a:bodyPr/>
                    <a:lstStyle/>
                    <a:p>
                      <a:pPr indent="0" marL="0">
                        <a:buNone/>
                      </a:pPr>
                      <a:r>
                        <a:rPr lang="en-US" sz="1100" dirty="0">
                          <a:solidFill>
                            <a:srgbClr val="1A1A1A"/>
                          </a:solidFill>
                          <a:latin typeface="Meiryo" pitchFamily="34" charset="0"/>
                          <a:ea typeface="Meiryo" pitchFamily="34" charset="-122"/>
                          <a:cs typeface="Meiryo" pitchFamily="34" charset="-120"/>
                        </a:rPr>
                        <a:t>スマートフォンを基準に情報量と導線を設計し直し、受験生と保護者の入口を分けます。</a:t>
                      </a:r>
                      <a:endParaRPr lang="en-US" sz="1100" dirty="0">
                        <a:latin typeface="Meiryo" charset="0"/>
                        <a:ea typeface="Meiryo" charset="0"/>
                        <a:cs typeface="Meiryo" charset="0"/>
                      </a:endParaRPr>
                    </a:p>
                  </a:txBody>
                  <a:tcPr marL="91440" marR="91440" marT="45720" marB="45720">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tcPr>
                </a:tc>
                <a:tc>
                  <a:txBody>
                    <a:bodyPr/>
                    <a:lstStyle/>
                    <a:p>
                      <a:pPr indent="0" marL="0">
                        <a:buNone/>
                      </a:pPr>
                      <a:r>
                        <a:rPr lang="en-US" sz="1100" dirty="0">
                          <a:solidFill>
                            <a:srgbClr val="1A1A1A"/>
                          </a:solidFill>
                          <a:latin typeface="Meiryo" pitchFamily="34" charset="0"/>
                          <a:ea typeface="Meiryo" pitchFamily="34" charset="-122"/>
                          <a:cs typeface="Meiryo" pitchFamily="34" charset="-120"/>
                        </a:rPr>
                        <a:t>入試・コース情報をページ化し、更新性◎で毎年回る作りにします。</a:t>
                      </a:r>
                      <a:endParaRPr lang="en-US" sz="1100" dirty="0">
                        <a:latin typeface="Meiryo" charset="0"/>
                        <a:ea typeface="Meiryo" charset="0"/>
                        <a:cs typeface="Meiryo" charset="0"/>
                      </a:endParaRPr>
                    </a:p>
                  </a:txBody>
                  <a:tcPr marL="91440" marR="91440" marT="45720" marB="45720">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tcPr>
                </a:tc>
                <a:tc>
                  <a:txBody>
                    <a:bodyPr/>
                    <a:lstStyle/>
                    <a:p>
                      <a:pPr indent="0" marL="0">
                        <a:buNone/>
                      </a:pPr>
                      <a:r>
                        <a:rPr lang="en-US" sz="1100" dirty="0">
                          <a:solidFill>
                            <a:srgbClr val="1A1A1A"/>
                          </a:solidFill>
                          <a:latin typeface="Meiryo" pitchFamily="34" charset="0"/>
                          <a:ea typeface="Meiryo" pitchFamily="34" charset="-122"/>
                          <a:cs typeface="Meiryo" pitchFamily="34" charset="-120"/>
                        </a:rPr>
                        <a:t>更新頻度でページを分類し、項目化した管理画面で学校が直接触れる範囲を定義します。</a:t>
                      </a:r>
                      <a:endParaRPr lang="en-US" sz="1100" dirty="0">
                        <a:latin typeface="Meiryo" charset="0"/>
                        <a:ea typeface="Meiryo" charset="0"/>
                        <a:cs typeface="Meiryo" charset="0"/>
                      </a:endParaRPr>
                    </a:p>
                  </a:txBody>
                  <a:tcPr marL="91440" marR="91440" marT="45720" marB="45720">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tcPr>
                </a:tc>
              </a:tr>
              <a:tr h="0">
                <a:tc>
                  <a:txBody>
                    <a:bodyPr/>
                    <a:lstStyle/>
                    <a:p>
                      <a:pPr indent="0" marL="0">
                        <a:buNone/>
                      </a:pPr>
                      <a:r>
                        <a:rPr lang="en-US" sz="1100" b="1" dirty="0">
                          <a:solidFill>
                            <a:srgbClr val="1A1A1A"/>
                          </a:solidFill>
                          <a:latin typeface="Meiryo" pitchFamily="34" charset="0"/>
                          <a:ea typeface="Meiryo" pitchFamily="34" charset="-122"/>
                          <a:cs typeface="Meiryo" pitchFamily="34" charset="-120"/>
                        </a:rPr>
                        <a:t>参照</a:t>
                      </a:r>
                      <a:endParaRPr lang="en-US" sz="1100" dirty="0">
                        <a:latin typeface="Meiryo" charset="0"/>
                        <a:ea typeface="Meiryo" charset="0"/>
                        <a:cs typeface="Meiryo" charset="0"/>
                      </a:endParaRPr>
                    </a:p>
                  </a:txBody>
                  <a:tcPr marL="91440" marR="91440" marT="45720" marB="45720">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tcPr>
                </a:tc>
                <a:tc>
                  <a:txBody>
                    <a:bodyPr/>
                    <a:lstStyle/>
                    <a:p>
                      <a:pPr indent="0" marL="0">
                        <a:buNone/>
                      </a:pPr>
                      <a:r>
                        <a:rPr lang="en-US" sz="1100" dirty="0">
                          <a:solidFill>
                            <a:srgbClr val="1A1A1A"/>
                          </a:solidFill>
                          <a:latin typeface="Meiryo" pitchFamily="34" charset="0"/>
                          <a:ea typeface="Meiryo" pitchFamily="34" charset="-122"/>
                          <a:cs typeface="Meiryo" pitchFamily="34" charset="-120"/>
                        </a:rPr>
                        <a:t>02・03・05章</a:t>
                      </a:r>
                      <a:endParaRPr lang="en-US" sz="1100" dirty="0">
                        <a:latin typeface="Meiryo" charset="0"/>
                        <a:ea typeface="Meiryo" charset="0"/>
                        <a:cs typeface="Meiryo" charset="0"/>
                      </a:endParaRPr>
                    </a:p>
                  </a:txBody>
                  <a:tcPr marL="91440" marR="91440" marT="45720" marB="45720">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tcPr>
                </a:tc>
                <a:tc>
                  <a:txBody>
                    <a:bodyPr/>
                    <a:lstStyle/>
                    <a:p>
                      <a:pPr indent="0" marL="0">
                        <a:buNone/>
                      </a:pPr>
                      <a:r>
                        <a:rPr lang="en-US" sz="1100" dirty="0">
                          <a:solidFill>
                            <a:srgbClr val="1A1A1A"/>
                          </a:solidFill>
                          <a:latin typeface="Meiryo" pitchFamily="34" charset="0"/>
                          <a:ea typeface="Meiryo" pitchFamily="34" charset="-122"/>
                          <a:cs typeface="Meiryo" pitchFamily="34" charset="-120"/>
                        </a:rPr>
                        <a:t>03・06章</a:t>
                      </a:r>
                      <a:endParaRPr lang="en-US" sz="1100" dirty="0">
                        <a:latin typeface="Meiryo" charset="0"/>
                        <a:ea typeface="Meiryo" charset="0"/>
                        <a:cs typeface="Meiryo" charset="0"/>
                      </a:endParaRPr>
                    </a:p>
                  </a:txBody>
                  <a:tcPr marL="91440" marR="91440" marT="45720" marB="45720">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tcPr>
                </a:tc>
                <a:tc>
                  <a:txBody>
                    <a:bodyPr/>
                    <a:lstStyle/>
                    <a:p>
                      <a:pPr indent="0" marL="0">
                        <a:buNone/>
                      </a:pPr>
                      <a:r>
                        <a:rPr lang="en-US" sz="1100" dirty="0">
                          <a:solidFill>
                            <a:srgbClr val="1A1A1A"/>
                          </a:solidFill>
                          <a:latin typeface="Meiryo" pitchFamily="34" charset="0"/>
                          <a:ea typeface="Meiryo" pitchFamily="34" charset="-122"/>
                          <a:cs typeface="Meiryo" pitchFamily="34" charset="-120"/>
                        </a:rPr>
                        <a:t>03・08・11章</a:t>
                      </a:r>
                      <a:endParaRPr lang="en-US" sz="1100" dirty="0">
                        <a:latin typeface="Meiryo" charset="0"/>
                        <a:ea typeface="Meiryo" charset="0"/>
                        <a:cs typeface="Meiryo" charset="0"/>
                      </a:endParaRPr>
                    </a:p>
                  </a:txBody>
                  <a:tcPr marL="91440" marR="91440" marT="45720" marB="45720">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tcPr>
                </a:tc>
              </a:tr>
            </a:tbl>
          </a:graphicData>
        </a:graphic>
      </p:graphicFrame>
      <p:sp>
        <p:nvSpPr>
          <p:cNvPr id="6" name="Text 3"/>
          <p:cNvSpPr/>
          <p:nvPr/>
        </p:nvSpPr>
        <p:spPr>
          <a:xfrm>
            <a:off x="7543800" y="4759452"/>
            <a:ext cx="1097280" cy="228600"/>
          </a:xfrm>
          <a:prstGeom prst="rect">
            <a:avLst/>
          </a:prstGeom>
          <a:noFill/>
          <a:ln/>
        </p:spPr>
        <p:txBody>
          <a:bodyPr wrap="square" rtlCol="0" anchor="ctr"/>
          <a:lstStyle/>
          <a:p>
            <a:pPr algn="r" indent="0" marL="0">
              <a:buNone/>
            </a:pPr>
            <a:r>
              <a:rPr lang="en-US" sz="900" dirty="0">
                <a:solidFill>
                  <a:srgbClr val="6B6B6B"/>
                </a:solidFill>
                <a:latin typeface="Meiryo" pitchFamily="34" charset="0"/>
                <a:ea typeface="Meiryo" pitchFamily="34" charset="-122"/>
                <a:cs typeface="Meiryo" pitchFamily="34" charset="-120"/>
              </a:rPr>
              <a:t>02|82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F3A5F"/>
        </a:solidFill>
      </p:bgPr>
    </p:bg>
    <p:spTree>
      <p:nvGrpSpPr>
        <p:cNvPr id="1" name=""/>
        <p:cNvGrpSpPr/>
        <p:nvPr/>
      </p:nvGrpSpPr>
      <p:grpSpPr>
        <a:xfrm>
          <a:off x="0" y="0"/>
          <a:ext cx="0" cy="0"/>
          <a:chOff x="0" y="0"/>
          <a:chExt cx="0" cy="0"/>
        </a:xfrm>
      </p:grpSpPr>
      <p:sp>
        <p:nvSpPr>
          <p:cNvPr id="2" name="Text 0"/>
          <p:cNvSpPr/>
          <p:nvPr/>
        </p:nvSpPr>
        <p:spPr>
          <a:xfrm>
            <a:off x="502920" y="1737360"/>
            <a:ext cx="1280160" cy="640080"/>
          </a:xfrm>
          <a:prstGeom prst="rect">
            <a:avLst/>
          </a:prstGeom>
          <a:noFill/>
          <a:ln/>
        </p:spPr>
        <p:txBody>
          <a:bodyPr wrap="square" rtlCol="0" anchor="ctr"/>
          <a:lstStyle/>
          <a:p>
            <a:pPr indent="0" marL="0">
              <a:buNone/>
            </a:pPr>
            <a:r>
              <a:rPr lang="en-US" sz="3400" b="1" dirty="0">
                <a:solidFill>
                  <a:srgbClr val="FFFFFF"/>
                </a:solidFill>
                <a:latin typeface="Meiryo" pitchFamily="34" charset="0"/>
                <a:ea typeface="Meiryo" pitchFamily="34" charset="-122"/>
                <a:cs typeface="Meiryo" pitchFamily="34" charset="-120"/>
              </a:rPr>
              <a:t>01</a:t>
            </a:r>
            <a:endParaRPr lang="en-US" sz="3400" dirty="0"/>
          </a:p>
        </p:txBody>
      </p:sp>
      <p:sp>
        <p:nvSpPr>
          <p:cNvPr id="3" name="Text 1"/>
          <p:cNvSpPr/>
          <p:nvPr/>
        </p:nvSpPr>
        <p:spPr>
          <a:xfrm>
            <a:off x="502920" y="2377440"/>
            <a:ext cx="8138160" cy="365760"/>
          </a:xfrm>
          <a:prstGeom prst="rect">
            <a:avLst/>
          </a:prstGeom>
          <a:noFill/>
          <a:ln/>
        </p:spPr>
        <p:txBody>
          <a:bodyPr wrap="square" rtlCol="0" anchor="ctr"/>
          <a:lstStyle/>
          <a:p>
            <a:pPr indent="0" marL="0">
              <a:buNone/>
            </a:pPr>
            <a:r>
              <a:rPr lang="en-US" sz="1300" dirty="0">
                <a:solidFill>
                  <a:srgbClr val="FFFFFF"/>
                </a:solidFill>
                <a:latin typeface="Meiryo" pitchFamily="34" charset="0"/>
                <a:ea typeface="Meiryo" pitchFamily="34" charset="-122"/>
                <a:cs typeface="Meiryo" pitchFamily="34" charset="-120"/>
              </a:rPr>
              <a:t>Requirement</a:t>
            </a:r>
            <a:endParaRPr lang="en-US" sz="1300" dirty="0"/>
          </a:p>
        </p:txBody>
      </p:sp>
      <p:sp>
        <p:nvSpPr>
          <p:cNvPr id="4" name="Text 2"/>
          <p:cNvSpPr/>
          <p:nvPr/>
        </p:nvSpPr>
        <p:spPr>
          <a:xfrm>
            <a:off x="502920" y="2743200"/>
            <a:ext cx="8138160" cy="548640"/>
          </a:xfrm>
          <a:prstGeom prst="rect">
            <a:avLst/>
          </a:prstGeom>
          <a:noFill/>
          <a:ln/>
        </p:spPr>
        <p:txBody>
          <a:bodyPr wrap="square" rtlCol="0" anchor="ctr"/>
          <a:lstStyle/>
          <a:p>
            <a:pPr indent="0" marL="0">
              <a:buNone/>
            </a:pPr>
            <a:r>
              <a:rPr lang="en-US" sz="2400" b="1" dirty="0">
                <a:solidFill>
                  <a:srgbClr val="FFFFFF"/>
                </a:solidFill>
                <a:latin typeface="Meiryo" pitchFamily="34" charset="0"/>
                <a:ea typeface="Meiryo" pitchFamily="34" charset="-122"/>
                <a:cs typeface="Meiryo" pitchFamily="34" charset="-120"/>
              </a:rPr>
              <a:t>与件整理</a:t>
            </a:r>
            <a:endParaRPr lang="en-US" sz="2400" dirty="0"/>
          </a:p>
        </p:txBody>
      </p:sp>
      <p:sp>
        <p:nvSpPr>
          <p:cNvPr id="5" name="Text 3"/>
          <p:cNvSpPr/>
          <p:nvPr/>
        </p:nvSpPr>
        <p:spPr>
          <a:xfrm>
            <a:off x="7543800" y="4759452"/>
            <a:ext cx="1097280" cy="228600"/>
          </a:xfrm>
          <a:prstGeom prst="rect">
            <a:avLst/>
          </a:prstGeom>
          <a:noFill/>
          <a:ln/>
        </p:spPr>
        <p:txBody>
          <a:bodyPr wrap="square" rtlCol="0" anchor="ctr"/>
          <a:lstStyle/>
          <a:p>
            <a:pPr algn="r" indent="0" marL="0">
              <a:buNone/>
            </a:pPr>
            <a:r>
              <a:rPr lang="en-US" sz="900" dirty="0">
                <a:solidFill>
                  <a:srgbClr val="6B6B6B"/>
                </a:solidFill>
                <a:latin typeface="Meiryo" pitchFamily="34" charset="0"/>
                <a:ea typeface="Meiryo" pitchFamily="34" charset="-122"/>
                <a:cs typeface="Meiryo" pitchFamily="34" charset="-120"/>
              </a:rPr>
              <a:t>03|82</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02920" y="502920"/>
            <a:ext cx="8138160" cy="228600"/>
          </a:xfrm>
          <a:prstGeom prst="rect">
            <a:avLst/>
          </a:prstGeom>
          <a:noFill/>
          <a:ln/>
        </p:spPr>
        <p:txBody>
          <a:bodyPr wrap="square" rtlCol="0" anchor="ctr"/>
          <a:lstStyle/>
          <a:p>
            <a:pPr indent="0" marL="0">
              <a:buNone/>
            </a:pPr>
            <a:r>
              <a:rPr lang="en-US" sz="1000" dirty="0">
                <a:solidFill>
                  <a:srgbClr val="6B6B6B"/>
                </a:solidFill>
                <a:latin typeface="Meiryo" pitchFamily="34" charset="0"/>
                <a:ea typeface="Meiryo" pitchFamily="34" charset="-122"/>
                <a:cs typeface="Meiryo" pitchFamily="34" charset="-120"/>
              </a:rPr>
              <a:t>01 Requirement</a:t>
            </a:r>
            <a:endParaRPr lang="en-US" sz="1000" dirty="0"/>
          </a:p>
        </p:txBody>
      </p:sp>
      <p:sp>
        <p:nvSpPr>
          <p:cNvPr id="3" name="Text 1"/>
          <p:cNvSpPr/>
          <p:nvPr/>
        </p:nvSpPr>
        <p:spPr>
          <a:xfrm>
            <a:off x="502920" y="777240"/>
            <a:ext cx="8138160" cy="457200"/>
          </a:xfrm>
          <a:prstGeom prst="rect">
            <a:avLst/>
          </a:prstGeom>
          <a:noFill/>
          <a:ln/>
        </p:spPr>
        <p:txBody>
          <a:bodyPr wrap="square" rtlCol="0" anchor="ctr"/>
          <a:lstStyle/>
          <a:p>
            <a:pPr indent="0" marL="0">
              <a:buNone/>
            </a:pPr>
            <a:r>
              <a:rPr lang="en-US" sz="2000" b="1" dirty="0">
                <a:solidFill>
                  <a:srgbClr val="1A1A1A"/>
                </a:solidFill>
                <a:latin typeface="Meiryo" pitchFamily="34" charset="0"/>
                <a:ea typeface="Meiryo" pitchFamily="34" charset="-122"/>
                <a:cs typeface="Meiryo" pitchFamily="34" charset="-120"/>
              </a:rPr>
              <a:t>本日は、要件定義の内容をご報告します</a:t>
            </a:r>
            <a:endParaRPr lang="en-US" sz="2000" dirty="0"/>
          </a:p>
        </p:txBody>
      </p:sp>
      <p:sp>
        <p:nvSpPr>
          <p:cNvPr id="4" name="Shape 2"/>
          <p:cNvSpPr/>
          <p:nvPr/>
        </p:nvSpPr>
        <p:spPr>
          <a:xfrm>
            <a:off x="502920" y="1280160"/>
            <a:ext cx="8138160" cy="0"/>
          </a:xfrm>
          <a:prstGeom prst="line">
            <a:avLst/>
          </a:prstGeom>
          <a:noFill/>
          <a:ln w="12700">
            <a:solidFill>
              <a:srgbClr val="D5D5D5"/>
            </a:solidFill>
            <a:prstDash val="solid"/>
          </a:ln>
        </p:spPr>
      </p:sp>
      <p:sp>
        <p:nvSpPr>
          <p:cNvPr id="5" name="Text 3"/>
          <p:cNvSpPr/>
          <p:nvPr/>
        </p:nvSpPr>
        <p:spPr>
          <a:xfrm>
            <a:off x="502920" y="1417320"/>
            <a:ext cx="8138160" cy="457200"/>
          </a:xfrm>
          <a:prstGeom prst="rect">
            <a:avLst/>
          </a:prstGeom>
          <a:noFill/>
          <a:ln/>
        </p:spPr>
        <p:txBody>
          <a:bodyPr wrap="square" rtlCol="0" anchor="t"/>
          <a:lstStyle/>
          <a:p>
            <a:pPr indent="0" marL="0">
              <a:buNone/>
            </a:pPr>
            <a:r>
              <a:rPr lang="en-US" sz="1200" dirty="0">
                <a:solidFill>
                  <a:srgbClr val="1A1A1A"/>
                </a:solidFill>
                <a:latin typeface="Meiryo" pitchFamily="34" charset="0"/>
                <a:ea typeface="Meiryo" pitchFamily="34" charset="-122"/>
                <a:cs typeface="Meiryo" pitchFamily="34" charset="-120"/>
              </a:rPr>
              <a:t>ご発注いただいた内容をもとに、現行サイトの調査と設計方針をまとめました。本日ご確認いただきたいのは、方針のご承認と、未確定事項のご回答です。</a:t>
            </a:r>
            <a:endParaRPr lang="en-US" sz="1200" dirty="0"/>
          </a:p>
        </p:txBody>
      </p:sp>
      <p:sp>
        <p:nvSpPr>
          <p:cNvPr id="6" name="Text 4"/>
          <p:cNvSpPr/>
          <p:nvPr/>
        </p:nvSpPr>
        <p:spPr>
          <a:xfrm>
            <a:off x="502920" y="1965960"/>
            <a:ext cx="8138160" cy="2628900"/>
          </a:xfrm>
          <a:prstGeom prst="rect">
            <a:avLst/>
          </a:prstGeom>
          <a:noFill/>
          <a:ln/>
        </p:spPr>
        <p:txBody>
          <a:bodyPr wrap="square" rtlCol="0" anchor="t"/>
          <a:lstStyle/>
          <a:p>
            <a:pPr marL="342900" indent="-342900">
              <a:lnSpc>
                <a:spcPct val="130000"/>
              </a:lnSpc>
              <a:buSzPct val="100000"/>
              <a:buChar char="•"/>
            </a:pPr>
            <a:r>
              <a:rPr lang="en-US" sz="1300" dirty="0">
                <a:solidFill>
                  <a:srgbClr val="1A1A1A"/>
                </a:solidFill>
                <a:latin typeface="Meiryo" pitchFamily="34" charset="0"/>
                <a:ea typeface="Meiryo" pitchFamily="34" charset="-122"/>
                <a:cs typeface="Meiryo" pitchFamily="34" charset="-120"/>
              </a:rPr>
              <a:t>ご報告の範囲: 与件の整理／現行サイトの現状分析／戦略設計／情報設計の方針</a:t>
            </a:r>
            <a:endParaRPr lang="en-US" sz="1300" dirty="0"/>
          </a:p>
          <a:p>
            <a:pPr marL="342900" indent="-342900">
              <a:lnSpc>
                <a:spcPct val="130000"/>
              </a:lnSpc>
              <a:buSzPct val="100000"/>
              <a:buChar char="•"/>
            </a:pPr>
            <a:r>
              <a:rPr lang="en-US" sz="1300" dirty="0">
                <a:solidFill>
                  <a:srgbClr val="1A1A1A"/>
                </a:solidFill>
                <a:latin typeface="Meiryo" pitchFamily="34" charset="0"/>
                <a:ea typeface="Meiryo" pitchFamily="34" charset="-122"/>
                <a:cs typeface="Meiryo" pitchFamily="34" charset="-120"/>
              </a:rPr>
              <a:t>次の成果物: サイトマップ（仕様書）と、精緻化したお見積り</a:t>
            </a:r>
            <a:endParaRPr lang="en-US" sz="1300" dirty="0"/>
          </a:p>
          <a:p>
            <a:pPr marL="342900" indent="-342900">
              <a:lnSpc>
                <a:spcPct val="130000"/>
              </a:lnSpc>
              <a:buSzPct val="100000"/>
              <a:buChar char="•"/>
            </a:pPr>
            <a:r>
              <a:rPr lang="en-US" sz="1300" dirty="0">
                <a:solidFill>
                  <a:srgbClr val="1A1A1A"/>
                </a:solidFill>
                <a:latin typeface="Meiryo" pitchFamily="34" charset="0"/>
                <a:ea typeface="Meiryo" pitchFamily="34" charset="-122"/>
                <a:cs typeface="Meiryo" pitchFamily="34" charset="-120"/>
              </a:rPr>
              <a:t>別紙でお出しするもの: サイトマップ仕様書（Excel）／ワイヤーフレーム／デザイン方向性</a:t>
            </a:r>
            <a:endParaRPr lang="en-US" sz="1300" dirty="0"/>
          </a:p>
          <a:p>
            <a:pPr marL="342900" indent="-342900">
              <a:lnSpc>
                <a:spcPct val="130000"/>
              </a:lnSpc>
              <a:buSzPct val="100000"/>
              <a:buChar char="•"/>
            </a:pPr>
            <a:r>
              <a:rPr lang="en-US" sz="1300" dirty="0">
                <a:solidFill>
                  <a:srgbClr val="1A1A1A"/>
                </a:solidFill>
                <a:latin typeface="Meiryo" pitchFamily="34" charset="0"/>
                <a:ea typeface="Meiryo" pitchFamily="34" charset="-122"/>
                <a:cs typeface="Meiryo" pitchFamily="34" charset="-120"/>
              </a:rPr>
              <a:t>本資料に含まないもの: 金額の内訳（お見積書にてご提示します）</a:t>
            </a:r>
            <a:endParaRPr lang="en-US" sz="1300" dirty="0"/>
          </a:p>
          <a:p>
            <a:pPr marL="342900" indent="-342900">
              <a:lnSpc>
                <a:spcPct val="130000"/>
              </a:lnSpc>
              <a:buSzPct val="100000"/>
              <a:buChar char="•"/>
            </a:pPr>
            <a:r>
              <a:rPr lang="en-US" sz="1300" dirty="0">
                <a:solidFill>
                  <a:srgbClr val="1A1A1A"/>
                </a:solidFill>
                <a:latin typeface="Meiryo" pitchFamily="34" charset="0"/>
                <a:ea typeface="Meiryo" pitchFamily="34" charset="-122"/>
                <a:cs typeface="Meiryo" pitchFamily="34" charset="-120"/>
              </a:rPr>
              <a:t>本資料の数値は 2026-09-18 時点の実測値です。未確認のものは「推定」「要確認」と明記しています</a:t>
            </a:r>
            <a:endParaRPr lang="en-US" sz="1300" dirty="0"/>
          </a:p>
        </p:txBody>
      </p:sp>
      <p:sp>
        <p:nvSpPr>
          <p:cNvPr id="7" name="Text 5"/>
          <p:cNvSpPr/>
          <p:nvPr/>
        </p:nvSpPr>
        <p:spPr>
          <a:xfrm>
            <a:off x="502920" y="4759452"/>
            <a:ext cx="6949440" cy="228600"/>
          </a:xfrm>
          <a:prstGeom prst="rect">
            <a:avLst/>
          </a:prstGeom>
          <a:noFill/>
          <a:ln/>
        </p:spPr>
        <p:txBody>
          <a:bodyPr wrap="square" rtlCol="0" anchor="ctr"/>
          <a:lstStyle/>
          <a:p>
            <a:pPr indent="0" marL="0">
              <a:buNone/>
            </a:pPr>
            <a:r>
              <a:rPr lang="en-US" sz="900" dirty="0">
                <a:solidFill>
                  <a:srgbClr val="6B6B6B"/>
                </a:solidFill>
                <a:latin typeface="Meiryo" pitchFamily="34" charset="0"/>
                <a:ea typeface="Meiryo" pitchFamily="34" charset="-122"/>
                <a:cs typeface="Meiryo" pitchFamily="34" charset="-120"/>
              </a:rPr>
              <a:t>出典: projects/johoku-saitama/research/brief.md（2026-07-03 ヒアリング・Backlog GG_ORDER-4733）／gg-manager site_crawl（2026-09-18、深度3、190URL到達／142ページ取得）</a:t>
            </a:r>
            <a:endParaRPr lang="en-US" sz="900" dirty="0"/>
          </a:p>
        </p:txBody>
      </p:sp>
      <p:sp>
        <p:nvSpPr>
          <p:cNvPr id="8" name="Text 6"/>
          <p:cNvSpPr/>
          <p:nvPr/>
        </p:nvSpPr>
        <p:spPr>
          <a:xfrm>
            <a:off x="7543800" y="4759452"/>
            <a:ext cx="1097280" cy="228600"/>
          </a:xfrm>
          <a:prstGeom prst="rect">
            <a:avLst/>
          </a:prstGeom>
          <a:noFill/>
          <a:ln/>
        </p:spPr>
        <p:txBody>
          <a:bodyPr wrap="square" rtlCol="0" anchor="ctr"/>
          <a:lstStyle/>
          <a:p>
            <a:pPr algn="r" indent="0" marL="0">
              <a:buNone/>
            </a:pPr>
            <a:r>
              <a:rPr lang="en-US" sz="900" dirty="0">
                <a:solidFill>
                  <a:srgbClr val="6B6B6B"/>
                </a:solidFill>
                <a:latin typeface="Meiryo" pitchFamily="34" charset="0"/>
                <a:ea typeface="Meiryo" pitchFamily="34" charset="-122"/>
                <a:cs typeface="Meiryo" pitchFamily="34" charset="-120"/>
              </a:rPr>
              <a:t>04|82</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02920" y="502920"/>
            <a:ext cx="8138160" cy="228600"/>
          </a:xfrm>
          <a:prstGeom prst="rect">
            <a:avLst/>
          </a:prstGeom>
          <a:noFill/>
          <a:ln/>
        </p:spPr>
        <p:txBody>
          <a:bodyPr wrap="square" rtlCol="0" anchor="ctr"/>
          <a:lstStyle/>
          <a:p>
            <a:pPr indent="0" marL="0">
              <a:buNone/>
            </a:pPr>
            <a:r>
              <a:rPr lang="en-US" sz="1000" dirty="0">
                <a:solidFill>
                  <a:srgbClr val="6B6B6B"/>
                </a:solidFill>
                <a:latin typeface="Meiryo" pitchFamily="34" charset="0"/>
                <a:ea typeface="Meiryo" pitchFamily="34" charset="-122"/>
                <a:cs typeface="Meiryo" pitchFamily="34" charset="-120"/>
              </a:rPr>
              <a:t>01 Requirement</a:t>
            </a:r>
            <a:endParaRPr lang="en-US" sz="1000" dirty="0"/>
          </a:p>
        </p:txBody>
      </p:sp>
      <p:sp>
        <p:nvSpPr>
          <p:cNvPr id="3" name="Text 1"/>
          <p:cNvSpPr/>
          <p:nvPr/>
        </p:nvSpPr>
        <p:spPr>
          <a:xfrm>
            <a:off x="502920" y="777240"/>
            <a:ext cx="8138160" cy="457200"/>
          </a:xfrm>
          <a:prstGeom prst="rect">
            <a:avLst/>
          </a:prstGeom>
          <a:noFill/>
          <a:ln/>
        </p:spPr>
        <p:txBody>
          <a:bodyPr wrap="square" rtlCol="0" anchor="ctr"/>
          <a:lstStyle/>
          <a:p>
            <a:pPr indent="0" marL="0">
              <a:buNone/>
            </a:pPr>
            <a:r>
              <a:rPr lang="en-US" sz="2000" b="1" dirty="0">
                <a:solidFill>
                  <a:srgbClr val="1A1A1A"/>
                </a:solidFill>
                <a:latin typeface="Meiryo" pitchFamily="34" charset="0"/>
                <a:ea typeface="Meiryo" pitchFamily="34" charset="-122"/>
                <a:cs typeface="Meiryo" pitchFamily="34" charset="-120"/>
              </a:rPr>
              <a:t>ご発注条件の整理</a:t>
            </a:r>
            <a:endParaRPr lang="en-US" sz="2000" dirty="0"/>
          </a:p>
        </p:txBody>
      </p:sp>
      <p:sp>
        <p:nvSpPr>
          <p:cNvPr id="4" name="Shape 2"/>
          <p:cNvSpPr/>
          <p:nvPr/>
        </p:nvSpPr>
        <p:spPr>
          <a:xfrm>
            <a:off x="502920" y="1280160"/>
            <a:ext cx="8138160" cy="0"/>
          </a:xfrm>
          <a:prstGeom prst="line">
            <a:avLst/>
          </a:prstGeom>
          <a:noFill/>
          <a:ln w="12700">
            <a:solidFill>
              <a:srgbClr val="D5D5D5"/>
            </a:solidFill>
            <a:prstDash val="solid"/>
          </a:ln>
        </p:spPr>
      </p:sp>
      <p:sp>
        <p:nvSpPr>
          <p:cNvPr id="5" name="Text 3"/>
          <p:cNvSpPr/>
          <p:nvPr/>
        </p:nvSpPr>
        <p:spPr>
          <a:xfrm>
            <a:off x="502920" y="1417320"/>
            <a:ext cx="8138160" cy="457200"/>
          </a:xfrm>
          <a:prstGeom prst="rect">
            <a:avLst/>
          </a:prstGeom>
          <a:noFill/>
          <a:ln/>
        </p:spPr>
        <p:txBody>
          <a:bodyPr wrap="square" rtlCol="0" anchor="t"/>
          <a:lstStyle/>
          <a:p>
            <a:pPr indent="0" marL="0">
              <a:buNone/>
            </a:pPr>
            <a:r>
              <a:rPr lang="en-US" sz="1200" dirty="0">
                <a:solidFill>
                  <a:srgbClr val="1A1A1A"/>
                </a:solidFill>
                <a:latin typeface="Meiryo" pitchFamily="34" charset="0"/>
                <a:ea typeface="Meiryo" pitchFamily="34" charset="-122"/>
                <a:cs typeface="Meiryo" pitchFamily="34" charset="-120"/>
              </a:rPr>
              <a:t>Backlog（GG_ORDER-4733）に記載の条件を整理しました。金額はお見積書にてご提示します。</a:t>
            </a:r>
            <a:endParaRPr lang="en-US" sz="12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02920" y="1965960"/>
          <a:ext cx="8138160" cy="914400"/>
        </p:xfrm>
        <a:graphic>
          <a:graphicData uri="http://schemas.openxmlformats.org/drawingml/2006/table">
            <a:tbl>
              <a:tblPr/>
              <a:tblGrid>
                <a:gridCol w="4069080"/>
                <a:gridCol w="4069080"/>
              </a:tblGrid>
              <a:tr h="0">
                <a:tc>
                  <a:txBody>
                    <a:bodyPr/>
                    <a:lstStyle/>
                    <a:p>
                      <a:pPr indent="0" marL="0">
                        <a:buNone/>
                      </a:pPr>
                      <a:r>
                        <a:rPr lang="en-US" sz="1100" b="1" dirty="0">
                          <a:solidFill>
                            <a:srgbClr val="FFFFFF"/>
                          </a:solidFill>
                          <a:latin typeface="Meiryo" pitchFamily="34" charset="0"/>
                          <a:ea typeface="Meiryo" pitchFamily="34" charset="-122"/>
                          <a:cs typeface="Meiryo" pitchFamily="34" charset="-120"/>
                        </a:rPr>
                        <a:t>項目</a:t>
                      </a:r>
                      <a:endParaRPr lang="en-US" sz="1100" dirty="0">
                        <a:latin typeface="Meiryo" charset="0"/>
                        <a:ea typeface="Meiryo" charset="0"/>
                        <a:cs typeface="Meiryo" charset="0"/>
                      </a:endParaRPr>
                    </a:p>
                  </a:txBody>
                  <a:tcPr marL="91440" marR="91440" marT="45720" marB="45720">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1F3A5F"/>
                    </a:solidFill>
                  </a:tcPr>
                </a:tc>
                <a:tc>
                  <a:txBody>
                    <a:bodyPr/>
                    <a:lstStyle/>
                    <a:p>
                      <a:pPr indent="0" marL="0">
                        <a:buNone/>
                      </a:pPr>
                      <a:r>
                        <a:rPr lang="en-US" sz="1100" b="1" dirty="0">
                          <a:solidFill>
                            <a:srgbClr val="FFFFFF"/>
                          </a:solidFill>
                          <a:latin typeface="Meiryo" pitchFamily="34" charset="0"/>
                          <a:ea typeface="Meiryo" pitchFamily="34" charset="-122"/>
                          <a:cs typeface="Meiryo" pitchFamily="34" charset="-120"/>
                        </a:rPr>
                        <a:t>内容</a:t>
                      </a:r>
                      <a:endParaRPr lang="en-US" sz="1100" dirty="0">
                        <a:latin typeface="Meiryo" charset="0"/>
                        <a:ea typeface="Meiryo" charset="0"/>
                        <a:cs typeface="Meiryo" charset="0"/>
                      </a:endParaRPr>
                    </a:p>
                  </a:txBody>
                  <a:tcPr marL="91440" marR="91440" marT="45720" marB="45720">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1F3A5F"/>
                    </a:solidFill>
                  </a:tcPr>
                </a:tc>
              </a:tr>
              <a:tr h="0">
                <a:tc>
                  <a:txBody>
                    <a:bodyPr/>
                    <a:lstStyle/>
                    <a:p>
                      <a:pPr indent="0" marL="0">
                        <a:buNone/>
                      </a:pPr>
                      <a:r>
                        <a:rPr lang="en-US" sz="1100" dirty="0">
                          <a:solidFill>
                            <a:srgbClr val="1A1A1A"/>
                          </a:solidFill>
                          <a:latin typeface="Meiryo" pitchFamily="34" charset="0"/>
                          <a:ea typeface="Meiryo" pitchFamily="34" charset="-122"/>
                          <a:cs typeface="Meiryo" pitchFamily="34" charset="-120"/>
                        </a:rPr>
                        <a:t>設計ページ数</a:t>
                      </a:r>
                      <a:endParaRPr lang="en-US" sz="1100" dirty="0">
                        <a:latin typeface="Meiryo" charset="0"/>
                        <a:ea typeface="Meiryo" charset="0"/>
                        <a:cs typeface="Meiryo" charset="0"/>
                      </a:endParaRPr>
                    </a:p>
                  </a:txBody>
                  <a:tcPr marL="91440" marR="91440" marT="45720" marB="45720">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tcPr>
                </a:tc>
                <a:tc>
                  <a:txBody>
                    <a:bodyPr/>
                    <a:lstStyle/>
                    <a:p>
                      <a:pPr indent="0" marL="0">
                        <a:buNone/>
                      </a:pPr>
                      <a:r>
                        <a:rPr lang="en-US" sz="1100" dirty="0">
                          <a:solidFill>
                            <a:srgbClr val="1A1A1A"/>
                          </a:solidFill>
                          <a:latin typeface="Meiryo" pitchFamily="34" charset="0"/>
                          <a:ea typeface="Meiryo" pitchFamily="34" charset="-122"/>
                          <a:cs typeface="Meiryo" pitchFamily="34" charset="-120"/>
                        </a:rPr>
                        <a:t>16P</a:t>
                      </a:r>
                      <a:endParaRPr lang="en-US" sz="1100" dirty="0">
                        <a:latin typeface="Meiryo" charset="0"/>
                        <a:ea typeface="Meiryo" charset="0"/>
                        <a:cs typeface="Meiryo" charset="0"/>
                      </a:endParaRPr>
                    </a:p>
                  </a:txBody>
                  <a:tcPr marL="91440" marR="91440" marT="45720" marB="45720">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tcPr>
                </a:tc>
              </a:tr>
              <a:tr h="0">
                <a:tc>
                  <a:txBody>
                    <a:bodyPr/>
                    <a:lstStyle/>
                    <a:p>
                      <a:pPr indent="0" marL="0">
                        <a:buNone/>
                      </a:pPr>
                      <a:r>
                        <a:rPr lang="en-US" sz="1100" dirty="0">
                          <a:solidFill>
                            <a:srgbClr val="1A1A1A"/>
                          </a:solidFill>
                          <a:latin typeface="Meiryo" pitchFamily="34" charset="0"/>
                          <a:ea typeface="Meiryo" pitchFamily="34" charset="-122"/>
                          <a:cs typeface="Meiryo" pitchFamily="34" charset="-120"/>
                        </a:rPr>
                        <a:t>デザイン対象</a:t>
                      </a:r>
                      <a:endParaRPr lang="en-US" sz="1100" dirty="0">
                        <a:latin typeface="Meiryo" charset="0"/>
                        <a:ea typeface="Meiryo" charset="0"/>
                        <a:cs typeface="Meiryo" charset="0"/>
                      </a:endParaRPr>
                    </a:p>
                  </a:txBody>
                  <a:tcPr marL="91440" marR="91440" marT="45720" marB="45720">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tcPr>
                </a:tc>
                <a:tc>
                  <a:txBody>
                    <a:bodyPr/>
                    <a:lstStyle/>
                    <a:p>
                      <a:pPr indent="0" marL="0">
                        <a:buNone/>
                      </a:pPr>
                      <a:r>
                        <a:rPr lang="en-US" sz="1100" dirty="0">
                          <a:solidFill>
                            <a:srgbClr val="1A1A1A"/>
                          </a:solidFill>
                          <a:latin typeface="Meiryo" pitchFamily="34" charset="0"/>
                          <a:ea typeface="Meiryo" pitchFamily="34" charset="-122"/>
                          <a:cs typeface="Meiryo" pitchFamily="34" charset="-120"/>
                        </a:rPr>
                        <a:t>11P</a:t>
                      </a:r>
                      <a:endParaRPr lang="en-US" sz="1100" dirty="0">
                        <a:latin typeface="Meiryo" charset="0"/>
                        <a:ea typeface="Meiryo" charset="0"/>
                        <a:cs typeface="Meiryo" charset="0"/>
                      </a:endParaRPr>
                    </a:p>
                  </a:txBody>
                  <a:tcPr marL="91440" marR="91440" marT="45720" marB="45720">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tcPr>
                </a:tc>
              </a:tr>
              <a:tr h="0">
                <a:tc>
                  <a:txBody>
                    <a:bodyPr/>
                    <a:lstStyle/>
                    <a:p>
                      <a:pPr indent="0" marL="0">
                        <a:buNone/>
                      </a:pPr>
                      <a:r>
                        <a:rPr lang="en-US" sz="1100" dirty="0">
                          <a:solidFill>
                            <a:srgbClr val="1A1A1A"/>
                          </a:solidFill>
                          <a:latin typeface="Meiryo" pitchFamily="34" charset="0"/>
                          <a:ea typeface="Meiryo" pitchFamily="34" charset="-122"/>
                          <a:cs typeface="Meiryo" pitchFamily="34" charset="-120"/>
                        </a:rPr>
                        <a:t>流し込み記事数</a:t>
                      </a:r>
                      <a:endParaRPr lang="en-US" sz="1100" dirty="0">
                        <a:latin typeface="Meiryo" charset="0"/>
                        <a:ea typeface="Meiryo" charset="0"/>
                        <a:cs typeface="Meiryo" charset="0"/>
                      </a:endParaRPr>
                    </a:p>
                  </a:txBody>
                  <a:tcPr marL="91440" marR="91440" marT="45720" marB="45720">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tcPr>
                </a:tc>
                <a:tc>
                  <a:txBody>
                    <a:bodyPr/>
                    <a:lstStyle/>
                    <a:p>
                      <a:pPr indent="0" marL="0">
                        <a:buNone/>
                      </a:pPr>
                      <a:r>
                        <a:rPr lang="en-US" sz="1100" dirty="0">
                          <a:solidFill>
                            <a:srgbClr val="1A1A1A"/>
                          </a:solidFill>
                          <a:latin typeface="Meiryo" pitchFamily="34" charset="0"/>
                          <a:ea typeface="Meiryo" pitchFamily="34" charset="-122"/>
                          <a:cs typeface="Meiryo" pitchFamily="34" charset="-120"/>
                        </a:rPr>
                        <a:t>2,365P（サイト情報では2,321P。差の出所を確認中）</a:t>
                      </a:r>
                      <a:endParaRPr lang="en-US" sz="1100" dirty="0">
                        <a:latin typeface="Meiryo" charset="0"/>
                        <a:ea typeface="Meiryo" charset="0"/>
                        <a:cs typeface="Meiryo" charset="0"/>
                      </a:endParaRPr>
                    </a:p>
                  </a:txBody>
                  <a:tcPr marL="91440" marR="91440" marT="45720" marB="45720">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tcPr>
                </a:tc>
              </a:tr>
              <a:tr h="0">
                <a:tc>
                  <a:txBody>
                    <a:bodyPr/>
                    <a:lstStyle/>
                    <a:p>
                      <a:pPr indent="0" marL="0">
                        <a:buNone/>
                      </a:pPr>
                      <a:r>
                        <a:rPr lang="en-US" sz="1100" dirty="0">
                          <a:solidFill>
                            <a:srgbClr val="1A1A1A"/>
                          </a:solidFill>
                          <a:latin typeface="Meiryo" pitchFamily="34" charset="0"/>
                          <a:ea typeface="Meiryo" pitchFamily="34" charset="-122"/>
                          <a:cs typeface="Meiryo" pitchFamily="34" charset="-120"/>
                        </a:rPr>
                        <a:t>システム</a:t>
                      </a:r>
                      <a:endParaRPr lang="en-US" sz="1100" dirty="0">
                        <a:latin typeface="Meiryo" charset="0"/>
                        <a:ea typeface="Meiryo" charset="0"/>
                        <a:cs typeface="Meiryo" charset="0"/>
                      </a:endParaRPr>
                    </a:p>
                  </a:txBody>
                  <a:tcPr marL="91440" marR="91440" marT="45720" marB="45720">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tcPr>
                </a:tc>
                <a:tc>
                  <a:txBody>
                    <a:bodyPr/>
                    <a:lstStyle/>
                    <a:p>
                      <a:pPr indent="0" marL="0">
                        <a:buNone/>
                      </a:pPr>
                      <a:r>
                        <a:rPr lang="en-US" sz="1100" dirty="0">
                          <a:solidFill>
                            <a:srgbClr val="1A1A1A"/>
                          </a:solidFill>
                          <a:latin typeface="Meiryo" pitchFamily="34" charset="0"/>
                          <a:ea typeface="Meiryo" pitchFamily="34" charset="-122"/>
                          <a:cs typeface="Meiryo" pitchFamily="34" charset="-120"/>
                        </a:rPr>
                        <a:t>WordPress</a:t>
                      </a:r>
                      <a:endParaRPr lang="en-US" sz="1100" dirty="0">
                        <a:latin typeface="Meiryo" charset="0"/>
                        <a:ea typeface="Meiryo" charset="0"/>
                        <a:cs typeface="Meiryo" charset="0"/>
                      </a:endParaRPr>
                    </a:p>
                  </a:txBody>
                  <a:tcPr marL="91440" marR="91440" marT="45720" marB="45720">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tcPr>
                </a:tc>
              </a:tr>
              <a:tr h="0">
                <a:tc>
                  <a:txBody>
                    <a:bodyPr/>
                    <a:lstStyle/>
                    <a:p>
                      <a:pPr indent="0" marL="0">
                        <a:buNone/>
                      </a:pPr>
                      <a:r>
                        <a:rPr lang="en-US" sz="1100" dirty="0">
                          <a:solidFill>
                            <a:srgbClr val="1A1A1A"/>
                          </a:solidFill>
                          <a:latin typeface="Meiryo" pitchFamily="34" charset="0"/>
                          <a:ea typeface="Meiryo" pitchFamily="34" charset="-122"/>
                          <a:cs typeface="Meiryo" pitchFamily="34" charset="-120"/>
                        </a:rPr>
                        <a:t>制作体制</a:t>
                      </a:r>
                      <a:endParaRPr lang="en-US" sz="1100" dirty="0">
                        <a:latin typeface="Meiryo" charset="0"/>
                        <a:ea typeface="Meiryo" charset="0"/>
                        <a:cs typeface="Meiryo" charset="0"/>
                      </a:endParaRPr>
                    </a:p>
                  </a:txBody>
                  <a:tcPr marL="91440" marR="91440" marT="45720" marB="45720">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tcPr>
                </a:tc>
                <a:tc>
                  <a:txBody>
                    <a:bodyPr/>
                    <a:lstStyle/>
                    <a:p>
                      <a:pPr indent="0" marL="0">
                        <a:buNone/>
                      </a:pPr>
                      <a:r>
                        <a:rPr lang="en-US" sz="1100" dirty="0">
                          <a:solidFill>
                            <a:srgbClr val="1A1A1A"/>
                          </a:solidFill>
                          <a:latin typeface="Meiryo" pitchFamily="34" charset="0"/>
                          <a:ea typeface="Meiryo" pitchFamily="34" charset="-122"/>
                          <a:cs typeface="Meiryo" pitchFamily="34" charset="-120"/>
                        </a:rPr>
                        <a:t>デザイン・コーディングとも自社内で対応（外注なし）</a:t>
                      </a:r>
                      <a:endParaRPr lang="en-US" sz="1100" dirty="0">
                        <a:latin typeface="Meiryo" charset="0"/>
                        <a:ea typeface="Meiryo" charset="0"/>
                        <a:cs typeface="Meiryo" charset="0"/>
                      </a:endParaRPr>
                    </a:p>
                  </a:txBody>
                  <a:tcPr marL="91440" marR="91440" marT="45720" marB="45720">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tcPr>
                </a:tc>
              </a:tr>
              <a:tr h="0">
                <a:tc>
                  <a:txBody>
                    <a:bodyPr/>
                    <a:lstStyle/>
                    <a:p>
                      <a:pPr indent="0" marL="0">
                        <a:buNone/>
                      </a:pPr>
                      <a:r>
                        <a:rPr lang="en-US" sz="1100" dirty="0">
                          <a:solidFill>
                            <a:srgbClr val="1A1A1A"/>
                          </a:solidFill>
                          <a:latin typeface="Meiryo" pitchFamily="34" charset="0"/>
                          <a:ea typeface="Meiryo" pitchFamily="34" charset="-122"/>
                          <a:cs typeface="Meiryo" pitchFamily="34" charset="-120"/>
                        </a:rPr>
                        <a:t>納期</a:t>
                      </a:r>
                      <a:endParaRPr lang="en-US" sz="1100" dirty="0">
                        <a:latin typeface="Meiryo" charset="0"/>
                        <a:ea typeface="Meiryo" charset="0"/>
                        <a:cs typeface="Meiryo" charset="0"/>
                      </a:endParaRPr>
                    </a:p>
                  </a:txBody>
                  <a:tcPr marL="91440" marR="91440" marT="45720" marB="45720">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tcPr>
                </a:tc>
                <a:tc>
                  <a:txBody>
                    <a:bodyPr/>
                    <a:lstStyle/>
                    <a:p>
                      <a:pPr indent="0" marL="0">
                        <a:buNone/>
                      </a:pPr>
                      <a:r>
                        <a:rPr lang="en-US" sz="1100" dirty="0">
                          <a:solidFill>
                            <a:srgbClr val="1A1A1A"/>
                          </a:solidFill>
                          <a:latin typeface="Meiryo" pitchFamily="34" charset="0"/>
                          <a:ea typeface="Meiryo" pitchFamily="34" charset="-122"/>
                          <a:cs typeface="Meiryo" pitchFamily="34" charset="-120"/>
                        </a:rPr>
                        <a:t>ご指定なし</a:t>
                      </a:r>
                      <a:endParaRPr lang="en-US" sz="1100" dirty="0">
                        <a:latin typeface="Meiryo" charset="0"/>
                        <a:ea typeface="Meiryo" charset="0"/>
                        <a:cs typeface="Meiryo" charset="0"/>
                      </a:endParaRPr>
                    </a:p>
                  </a:txBody>
                  <a:tcPr marL="91440" marR="91440" marT="45720" marB="45720">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tcPr>
                </a:tc>
              </a:tr>
              <a:tr h="0">
                <a:tc>
                  <a:txBody>
                    <a:bodyPr/>
                    <a:lstStyle/>
                    <a:p>
                      <a:pPr indent="0" marL="0">
                        <a:buNone/>
                      </a:pPr>
                      <a:r>
                        <a:rPr lang="en-US" sz="1100" dirty="0">
                          <a:solidFill>
                            <a:srgbClr val="1A1A1A"/>
                          </a:solidFill>
                          <a:latin typeface="Meiryo" pitchFamily="34" charset="0"/>
                          <a:ea typeface="Meiryo" pitchFamily="34" charset="-122"/>
                          <a:cs typeface="Meiryo" pitchFamily="34" charset="-120"/>
                        </a:rPr>
                        <a:t>想定スケジュール</a:t>
                      </a:r>
                      <a:endParaRPr lang="en-US" sz="1100" dirty="0">
                        <a:latin typeface="Meiryo" charset="0"/>
                        <a:ea typeface="Meiryo" charset="0"/>
                        <a:cs typeface="Meiryo" charset="0"/>
                      </a:endParaRPr>
                    </a:p>
                  </a:txBody>
                  <a:tcPr marL="91440" marR="91440" marT="45720" marB="45720">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tcPr>
                </a:tc>
                <a:tc>
                  <a:txBody>
                    <a:bodyPr/>
                    <a:lstStyle/>
                    <a:p>
                      <a:pPr indent="0" marL="0">
                        <a:buNone/>
                      </a:pPr>
                      <a:r>
                        <a:rPr lang="en-US" sz="1100" dirty="0">
                          <a:solidFill>
                            <a:srgbClr val="1A1A1A"/>
                          </a:solidFill>
                          <a:latin typeface="Meiryo" pitchFamily="34" charset="0"/>
                          <a:ea typeface="Meiryo" pitchFamily="34" charset="-122"/>
                          <a:cs typeface="Meiryo" pitchFamily="34" charset="-120"/>
                        </a:rPr>
                        <a:t>10月中：戦略設計・見積精緻化／11月1日〜：スケジュール策定</a:t>
                      </a:r>
                      <a:endParaRPr lang="en-US" sz="1100" dirty="0">
                        <a:latin typeface="Meiryo" charset="0"/>
                        <a:ea typeface="Meiryo" charset="0"/>
                        <a:cs typeface="Meiryo" charset="0"/>
                      </a:endParaRPr>
                    </a:p>
                  </a:txBody>
                  <a:tcPr marL="91440" marR="91440" marT="45720" marB="45720">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tcPr>
                </a:tc>
              </a:tr>
            </a:tbl>
          </a:graphicData>
        </a:graphic>
      </p:graphicFrame>
      <p:sp>
        <p:nvSpPr>
          <p:cNvPr id="7" name="Text 4"/>
          <p:cNvSpPr/>
          <p:nvPr/>
        </p:nvSpPr>
        <p:spPr>
          <a:xfrm>
            <a:off x="502920" y="4759452"/>
            <a:ext cx="6949440" cy="228600"/>
          </a:xfrm>
          <a:prstGeom prst="rect">
            <a:avLst/>
          </a:prstGeom>
          <a:noFill/>
          <a:ln/>
        </p:spPr>
        <p:txBody>
          <a:bodyPr wrap="square" rtlCol="0" anchor="ctr"/>
          <a:lstStyle/>
          <a:p>
            <a:pPr indent="0" marL="0">
              <a:buNone/>
            </a:pPr>
            <a:r>
              <a:rPr lang="en-US" sz="900" dirty="0">
                <a:solidFill>
                  <a:srgbClr val="6B6B6B"/>
                </a:solidFill>
                <a:latin typeface="Meiryo" pitchFamily="34" charset="0"/>
                <a:ea typeface="Meiryo" pitchFamily="34" charset="-122"/>
                <a:cs typeface="Meiryo" pitchFamily="34" charset="-120"/>
              </a:rPr>
              <a:t>出典: projects/johoku-saitama/research/brief.md（2026-07-03 ヒアリング・Backlog GG_ORDER-4733）</a:t>
            </a:r>
            <a:endParaRPr lang="en-US" sz="900" dirty="0"/>
          </a:p>
        </p:txBody>
      </p:sp>
      <p:sp>
        <p:nvSpPr>
          <p:cNvPr id="8" name="Text 5"/>
          <p:cNvSpPr/>
          <p:nvPr/>
        </p:nvSpPr>
        <p:spPr>
          <a:xfrm>
            <a:off x="7543800" y="4759452"/>
            <a:ext cx="1097280" cy="228600"/>
          </a:xfrm>
          <a:prstGeom prst="rect">
            <a:avLst/>
          </a:prstGeom>
          <a:noFill/>
          <a:ln/>
        </p:spPr>
        <p:txBody>
          <a:bodyPr wrap="square" rtlCol="0" anchor="ctr"/>
          <a:lstStyle/>
          <a:p>
            <a:pPr algn="r" indent="0" marL="0">
              <a:buNone/>
            </a:pPr>
            <a:r>
              <a:rPr lang="en-US" sz="900" dirty="0">
                <a:solidFill>
                  <a:srgbClr val="6B6B6B"/>
                </a:solidFill>
                <a:latin typeface="Meiryo" pitchFamily="34" charset="0"/>
                <a:ea typeface="Meiryo" pitchFamily="34" charset="-122"/>
                <a:cs typeface="Meiryo" pitchFamily="34" charset="-120"/>
              </a:rPr>
              <a:t>05|82</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02920" y="502920"/>
            <a:ext cx="8138160" cy="228600"/>
          </a:xfrm>
          <a:prstGeom prst="rect">
            <a:avLst/>
          </a:prstGeom>
          <a:noFill/>
          <a:ln/>
        </p:spPr>
        <p:txBody>
          <a:bodyPr wrap="square" rtlCol="0" anchor="ctr"/>
          <a:lstStyle/>
          <a:p>
            <a:pPr indent="0" marL="0">
              <a:buNone/>
            </a:pPr>
            <a:r>
              <a:rPr lang="en-US" sz="1000" dirty="0">
                <a:solidFill>
                  <a:srgbClr val="6B6B6B"/>
                </a:solidFill>
                <a:latin typeface="Meiryo" pitchFamily="34" charset="0"/>
                <a:ea typeface="Meiryo" pitchFamily="34" charset="-122"/>
                <a:cs typeface="Meiryo" pitchFamily="34" charset="-120"/>
              </a:rPr>
              <a:t>01 Requirement</a:t>
            </a:r>
            <a:endParaRPr lang="en-US" sz="1000" dirty="0"/>
          </a:p>
        </p:txBody>
      </p:sp>
      <p:sp>
        <p:nvSpPr>
          <p:cNvPr id="3" name="Text 1"/>
          <p:cNvSpPr/>
          <p:nvPr/>
        </p:nvSpPr>
        <p:spPr>
          <a:xfrm>
            <a:off x="502920" y="777240"/>
            <a:ext cx="8138160" cy="457200"/>
          </a:xfrm>
          <a:prstGeom prst="rect">
            <a:avLst/>
          </a:prstGeom>
          <a:noFill/>
          <a:ln/>
        </p:spPr>
        <p:txBody>
          <a:bodyPr wrap="square" rtlCol="0" anchor="ctr"/>
          <a:lstStyle/>
          <a:p>
            <a:pPr indent="0" marL="0">
              <a:buNone/>
            </a:pPr>
            <a:r>
              <a:rPr lang="en-US" sz="2000" b="1" dirty="0">
                <a:solidFill>
                  <a:srgbClr val="1A1A1A"/>
                </a:solidFill>
                <a:latin typeface="Meiryo" pitchFamily="34" charset="0"/>
                <a:ea typeface="Meiryo" pitchFamily="34" charset="-122"/>
                <a:cs typeface="Meiryo" pitchFamily="34" charset="-120"/>
              </a:rPr>
              <a:t>ヒアリングで伺った課題</a:t>
            </a:r>
            <a:endParaRPr lang="en-US" sz="2000" dirty="0"/>
          </a:p>
        </p:txBody>
      </p:sp>
      <p:sp>
        <p:nvSpPr>
          <p:cNvPr id="4" name="Shape 2"/>
          <p:cNvSpPr/>
          <p:nvPr/>
        </p:nvSpPr>
        <p:spPr>
          <a:xfrm>
            <a:off x="502920" y="1280160"/>
            <a:ext cx="8138160" cy="0"/>
          </a:xfrm>
          <a:prstGeom prst="line">
            <a:avLst/>
          </a:prstGeom>
          <a:noFill/>
          <a:ln w="12700">
            <a:solidFill>
              <a:srgbClr val="D5D5D5"/>
            </a:solidFill>
            <a:prstDash val="solid"/>
          </a:ln>
        </p:spPr>
      </p:sp>
      <p:sp>
        <p:nvSpPr>
          <p:cNvPr id="5" name="Text 3"/>
          <p:cNvSpPr/>
          <p:nvPr/>
        </p:nvSpPr>
        <p:spPr>
          <a:xfrm>
            <a:off x="502920" y="1417320"/>
            <a:ext cx="8138160" cy="457200"/>
          </a:xfrm>
          <a:prstGeom prst="rect">
            <a:avLst/>
          </a:prstGeom>
          <a:noFill/>
          <a:ln/>
        </p:spPr>
        <p:txBody>
          <a:bodyPr wrap="square" rtlCol="0" anchor="t"/>
          <a:lstStyle/>
          <a:p>
            <a:pPr indent="0" marL="0">
              <a:buNone/>
            </a:pPr>
            <a:r>
              <a:rPr lang="en-US" sz="1200" dirty="0">
                <a:solidFill>
                  <a:srgbClr val="1A1A1A"/>
                </a:solidFill>
                <a:latin typeface="Meiryo" pitchFamily="34" charset="0"/>
                <a:ea typeface="Meiryo" pitchFamily="34" charset="-122"/>
                <a:cs typeface="Meiryo" pitchFamily="34" charset="-120"/>
              </a:rPr>
              <a:t>2026年7月3日のヒアリングと既存仕様書から、課題を8点に整理しました。表現は伺った言葉のままです。</a:t>
            </a:r>
            <a:endParaRPr lang="en-US" sz="12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02920" y="1965960"/>
          <a:ext cx="8138160" cy="914400"/>
        </p:xfrm>
        <a:graphic>
          <a:graphicData uri="http://schemas.openxmlformats.org/drawingml/2006/table">
            <a:tbl>
              <a:tblPr/>
              <a:tblGrid>
                <a:gridCol w="2712720"/>
                <a:gridCol w="2712720"/>
                <a:gridCol w="2712720"/>
              </a:tblGrid>
              <a:tr h="0">
                <a:tc>
                  <a:txBody>
                    <a:bodyPr/>
                    <a:lstStyle/>
                    <a:p>
                      <a:pPr indent="0" marL="0">
                        <a:buNone/>
                      </a:pPr>
                      <a:r>
                        <a:rPr lang="en-US" sz="1100" b="1" dirty="0">
                          <a:solidFill>
                            <a:srgbClr val="FFFFFF"/>
                          </a:solidFill>
                          <a:latin typeface="Meiryo" pitchFamily="34" charset="0"/>
                          <a:ea typeface="Meiryo" pitchFamily="34" charset="-122"/>
                          <a:cs typeface="Meiryo" pitchFamily="34" charset="-120"/>
                        </a:rPr>
                        <a:t>#</a:t>
                      </a:r>
                      <a:endParaRPr lang="en-US" sz="1100" dirty="0">
                        <a:latin typeface="Meiryo" charset="0"/>
                        <a:ea typeface="Meiryo" charset="0"/>
                        <a:cs typeface="Meiryo" charset="0"/>
                      </a:endParaRPr>
                    </a:p>
                  </a:txBody>
                  <a:tcPr marL="91440" marR="91440" marT="45720" marB="45720">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1F3A5F"/>
                    </a:solidFill>
                  </a:tcPr>
                </a:tc>
                <a:tc>
                  <a:txBody>
                    <a:bodyPr/>
                    <a:lstStyle/>
                    <a:p>
                      <a:pPr indent="0" marL="0">
                        <a:buNone/>
                      </a:pPr>
                      <a:r>
                        <a:rPr lang="en-US" sz="1100" b="1" dirty="0">
                          <a:solidFill>
                            <a:srgbClr val="FFFFFF"/>
                          </a:solidFill>
                          <a:latin typeface="Meiryo" pitchFamily="34" charset="0"/>
                          <a:ea typeface="Meiryo" pitchFamily="34" charset="-122"/>
                          <a:cs typeface="Meiryo" pitchFamily="34" charset="-120"/>
                        </a:rPr>
                        <a:t>課題</a:t>
                      </a:r>
                      <a:endParaRPr lang="en-US" sz="1100" dirty="0">
                        <a:latin typeface="Meiryo" charset="0"/>
                        <a:ea typeface="Meiryo" charset="0"/>
                        <a:cs typeface="Meiryo" charset="0"/>
                      </a:endParaRPr>
                    </a:p>
                  </a:txBody>
                  <a:tcPr marL="91440" marR="91440" marT="45720" marB="45720">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1F3A5F"/>
                    </a:solidFill>
                  </a:tcPr>
                </a:tc>
                <a:tc>
                  <a:txBody>
                    <a:bodyPr/>
                    <a:lstStyle/>
                    <a:p>
                      <a:pPr indent="0" marL="0">
                        <a:buNone/>
                      </a:pPr>
                      <a:r>
                        <a:rPr lang="en-US" sz="1100" b="1" dirty="0">
                          <a:solidFill>
                            <a:srgbClr val="FFFFFF"/>
                          </a:solidFill>
                          <a:latin typeface="Meiryo" pitchFamily="34" charset="0"/>
                          <a:ea typeface="Meiryo" pitchFamily="34" charset="-122"/>
                          <a:cs typeface="Meiryo" pitchFamily="34" charset="-120"/>
                        </a:rPr>
                        <a:t>出所</a:t>
                      </a:r>
                      <a:endParaRPr lang="en-US" sz="1100" dirty="0">
                        <a:latin typeface="Meiryo" charset="0"/>
                        <a:ea typeface="Meiryo" charset="0"/>
                        <a:cs typeface="Meiryo" charset="0"/>
                      </a:endParaRPr>
                    </a:p>
                  </a:txBody>
                  <a:tcPr marL="91440" marR="91440" marT="45720" marB="45720">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1F3A5F"/>
                    </a:solidFill>
                  </a:tcPr>
                </a:tc>
              </a:tr>
              <a:tr h="0">
                <a:tc>
                  <a:txBody>
                    <a:bodyPr/>
                    <a:lstStyle/>
                    <a:p>
                      <a:pPr indent="0" marL="0">
                        <a:buNone/>
                      </a:pPr>
                      <a:r>
                        <a:rPr lang="en-US" sz="1100" dirty="0">
                          <a:solidFill>
                            <a:srgbClr val="1A1A1A"/>
                          </a:solidFill>
                          <a:latin typeface="Meiryo" pitchFamily="34" charset="0"/>
                          <a:ea typeface="Meiryo" pitchFamily="34" charset="-122"/>
                          <a:cs typeface="Meiryo" pitchFamily="34" charset="-120"/>
                        </a:rPr>
                        <a:t>1</a:t>
                      </a:r>
                      <a:endParaRPr lang="en-US" sz="1100" dirty="0">
                        <a:latin typeface="Meiryo" charset="0"/>
                        <a:ea typeface="Meiryo" charset="0"/>
                        <a:cs typeface="Meiryo" charset="0"/>
                      </a:endParaRPr>
                    </a:p>
                  </a:txBody>
                  <a:tcPr marL="91440" marR="91440" marT="45720" marB="45720">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tcPr>
                </a:tc>
                <a:tc>
                  <a:txBody>
                    <a:bodyPr/>
                    <a:lstStyle/>
                    <a:p>
                      <a:pPr indent="0" marL="0">
                        <a:buNone/>
                      </a:pPr>
                      <a:r>
                        <a:rPr lang="en-US" sz="1100" dirty="0">
                          <a:solidFill>
                            <a:srgbClr val="1A1A1A"/>
                          </a:solidFill>
                          <a:latin typeface="Meiryo" pitchFamily="34" charset="0"/>
                          <a:ea typeface="Meiryo" pitchFamily="34" charset="-122"/>
                          <a:cs typeface="Meiryo" pitchFamily="34" charset="-120"/>
                        </a:rPr>
                        <a:t>9割以上がスマートフォンだが、モバイル最適化が不足（実数は未検証・推定）</a:t>
                      </a:r>
                      <a:endParaRPr lang="en-US" sz="1100" dirty="0">
                        <a:latin typeface="Meiryo" charset="0"/>
                        <a:ea typeface="Meiryo" charset="0"/>
                        <a:cs typeface="Meiryo" charset="0"/>
                      </a:endParaRPr>
                    </a:p>
                  </a:txBody>
                  <a:tcPr marL="91440" marR="91440" marT="45720" marB="45720">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tcPr>
                </a:tc>
                <a:tc>
                  <a:txBody>
                    <a:bodyPr/>
                    <a:lstStyle/>
                    <a:p>
                      <a:pPr indent="0" marL="0">
                        <a:buNone/>
                      </a:pPr>
                      <a:r>
                        <a:rPr lang="en-US" sz="1100" dirty="0">
                          <a:solidFill>
                            <a:srgbClr val="1A1A1A"/>
                          </a:solidFill>
                          <a:latin typeface="Meiryo" pitchFamily="34" charset="0"/>
                          <a:ea typeface="Meiryo" pitchFamily="34" charset="-122"/>
                          <a:cs typeface="Meiryo" pitchFamily="34" charset="-120"/>
                        </a:rPr>
                        <a:t>ヒアリング</a:t>
                      </a:r>
                      <a:endParaRPr lang="en-US" sz="1100" dirty="0">
                        <a:latin typeface="Meiryo" charset="0"/>
                        <a:ea typeface="Meiryo" charset="0"/>
                        <a:cs typeface="Meiryo" charset="0"/>
                      </a:endParaRPr>
                    </a:p>
                  </a:txBody>
                  <a:tcPr marL="91440" marR="91440" marT="45720" marB="45720">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tcPr>
                </a:tc>
              </a:tr>
              <a:tr h="0">
                <a:tc>
                  <a:txBody>
                    <a:bodyPr/>
                    <a:lstStyle/>
                    <a:p>
                      <a:pPr indent="0" marL="0">
                        <a:buNone/>
                      </a:pPr>
                      <a:r>
                        <a:rPr lang="en-US" sz="1100" dirty="0">
                          <a:solidFill>
                            <a:srgbClr val="1A1A1A"/>
                          </a:solidFill>
                          <a:latin typeface="Meiryo" pitchFamily="34" charset="0"/>
                          <a:ea typeface="Meiryo" pitchFamily="34" charset="-122"/>
                          <a:cs typeface="Meiryo" pitchFamily="34" charset="-120"/>
                        </a:rPr>
                        <a:t>2</a:t>
                      </a:r>
                      <a:endParaRPr lang="en-US" sz="1100" dirty="0">
                        <a:latin typeface="Meiryo" charset="0"/>
                        <a:ea typeface="Meiryo" charset="0"/>
                        <a:cs typeface="Meiryo" charset="0"/>
                      </a:endParaRPr>
                    </a:p>
                  </a:txBody>
                  <a:tcPr marL="91440" marR="91440" marT="45720" marB="45720">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tcPr>
                </a:tc>
                <a:tc>
                  <a:txBody>
                    <a:bodyPr/>
                    <a:lstStyle/>
                    <a:p>
                      <a:pPr indent="0" marL="0">
                        <a:buNone/>
                      </a:pPr>
                      <a:r>
                        <a:rPr lang="en-US" sz="1100" dirty="0">
                          <a:solidFill>
                            <a:srgbClr val="1A1A1A"/>
                          </a:solidFill>
                          <a:latin typeface="Meiryo" pitchFamily="34" charset="0"/>
                          <a:ea typeface="Meiryo" pitchFamily="34" charset="-122"/>
                          <a:cs typeface="Meiryo" pitchFamily="34" charset="-120"/>
                        </a:rPr>
                        <a:t>フロンティアコースの情報が古い（喫緊）</a:t>
                      </a:r>
                      <a:endParaRPr lang="en-US" sz="1100" dirty="0">
                        <a:latin typeface="Meiryo" charset="0"/>
                        <a:ea typeface="Meiryo" charset="0"/>
                        <a:cs typeface="Meiryo" charset="0"/>
                      </a:endParaRPr>
                    </a:p>
                  </a:txBody>
                  <a:tcPr marL="91440" marR="91440" marT="45720" marB="45720">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tcPr>
                </a:tc>
                <a:tc>
                  <a:txBody>
                    <a:bodyPr/>
                    <a:lstStyle/>
                    <a:p>
                      <a:pPr indent="0" marL="0">
                        <a:buNone/>
                      </a:pPr>
                      <a:r>
                        <a:rPr lang="en-US" sz="1100" dirty="0">
                          <a:solidFill>
                            <a:srgbClr val="1A1A1A"/>
                          </a:solidFill>
                          <a:latin typeface="Meiryo" pitchFamily="34" charset="0"/>
                          <a:ea typeface="Meiryo" pitchFamily="34" charset="-122"/>
                          <a:cs typeface="Meiryo" pitchFamily="34" charset="-120"/>
                        </a:rPr>
                        <a:t>ヒアリング</a:t>
                      </a:r>
                      <a:endParaRPr lang="en-US" sz="1100" dirty="0">
                        <a:latin typeface="Meiryo" charset="0"/>
                        <a:ea typeface="Meiryo" charset="0"/>
                        <a:cs typeface="Meiryo" charset="0"/>
                      </a:endParaRPr>
                    </a:p>
                  </a:txBody>
                  <a:tcPr marL="91440" marR="91440" marT="45720" marB="45720">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tcPr>
                </a:tc>
              </a:tr>
              <a:tr h="0">
                <a:tc>
                  <a:txBody>
                    <a:bodyPr/>
                    <a:lstStyle/>
                    <a:p>
                      <a:pPr indent="0" marL="0">
                        <a:buNone/>
                      </a:pPr>
                      <a:r>
                        <a:rPr lang="en-US" sz="1100" dirty="0">
                          <a:solidFill>
                            <a:srgbClr val="1A1A1A"/>
                          </a:solidFill>
                          <a:latin typeface="Meiryo" pitchFamily="34" charset="0"/>
                          <a:ea typeface="Meiryo" pitchFamily="34" charset="-122"/>
                          <a:cs typeface="Meiryo" pitchFamily="34" charset="-120"/>
                        </a:rPr>
                        <a:t>3</a:t>
                      </a:r>
                      <a:endParaRPr lang="en-US" sz="1100" dirty="0">
                        <a:latin typeface="Meiryo" charset="0"/>
                        <a:ea typeface="Meiryo" charset="0"/>
                        <a:cs typeface="Meiryo" charset="0"/>
                      </a:endParaRPr>
                    </a:p>
                  </a:txBody>
                  <a:tcPr marL="91440" marR="91440" marT="45720" marB="45720">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tcPr>
                </a:tc>
                <a:tc>
                  <a:txBody>
                    <a:bodyPr/>
                    <a:lstStyle/>
                    <a:p>
                      <a:pPr indent="0" marL="0">
                        <a:buNone/>
                      </a:pPr>
                      <a:r>
                        <a:rPr lang="en-US" sz="1100" dirty="0">
                          <a:solidFill>
                            <a:srgbClr val="1A1A1A"/>
                          </a:solidFill>
                          <a:latin typeface="Meiryo" pitchFamily="34" charset="0"/>
                          <a:ea typeface="Meiryo" pitchFamily="34" charset="-122"/>
                          <a:cs typeface="Meiryo" pitchFamily="34" charset="-120"/>
                        </a:rPr>
                        <a:t>入試要項が最新化されていない（喫緊）</a:t>
                      </a:r>
                      <a:endParaRPr lang="en-US" sz="1100" dirty="0">
                        <a:latin typeface="Meiryo" charset="0"/>
                        <a:ea typeface="Meiryo" charset="0"/>
                        <a:cs typeface="Meiryo" charset="0"/>
                      </a:endParaRPr>
                    </a:p>
                  </a:txBody>
                  <a:tcPr marL="91440" marR="91440" marT="45720" marB="45720">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tcPr>
                </a:tc>
                <a:tc>
                  <a:txBody>
                    <a:bodyPr/>
                    <a:lstStyle/>
                    <a:p>
                      <a:pPr indent="0" marL="0">
                        <a:buNone/>
                      </a:pPr>
                      <a:r>
                        <a:rPr lang="en-US" sz="1100" dirty="0">
                          <a:solidFill>
                            <a:srgbClr val="1A1A1A"/>
                          </a:solidFill>
                          <a:latin typeface="Meiryo" pitchFamily="34" charset="0"/>
                          <a:ea typeface="Meiryo" pitchFamily="34" charset="-122"/>
                          <a:cs typeface="Meiryo" pitchFamily="34" charset="-120"/>
                        </a:rPr>
                        <a:t>ヒアリング</a:t>
                      </a:r>
                      <a:endParaRPr lang="en-US" sz="1100" dirty="0">
                        <a:latin typeface="Meiryo" charset="0"/>
                        <a:ea typeface="Meiryo" charset="0"/>
                        <a:cs typeface="Meiryo" charset="0"/>
                      </a:endParaRPr>
                    </a:p>
                  </a:txBody>
                  <a:tcPr marL="91440" marR="91440" marT="45720" marB="45720">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tcPr>
                </a:tc>
              </a:tr>
              <a:tr h="0">
                <a:tc>
                  <a:txBody>
                    <a:bodyPr/>
                    <a:lstStyle/>
                    <a:p>
                      <a:pPr indent="0" marL="0">
                        <a:buNone/>
                      </a:pPr>
                      <a:r>
                        <a:rPr lang="en-US" sz="1100" dirty="0">
                          <a:solidFill>
                            <a:srgbClr val="1A1A1A"/>
                          </a:solidFill>
                          <a:latin typeface="Meiryo" pitchFamily="34" charset="0"/>
                          <a:ea typeface="Meiryo" pitchFamily="34" charset="-122"/>
                          <a:cs typeface="Meiryo" pitchFamily="34" charset="-120"/>
                        </a:rPr>
                        <a:t>4</a:t>
                      </a:r>
                      <a:endParaRPr lang="en-US" sz="1100" dirty="0">
                        <a:latin typeface="Meiryo" charset="0"/>
                        <a:ea typeface="Meiryo" charset="0"/>
                        <a:cs typeface="Meiryo" charset="0"/>
                      </a:endParaRPr>
                    </a:p>
                  </a:txBody>
                  <a:tcPr marL="91440" marR="91440" marT="45720" marB="45720">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tcPr>
                </a:tc>
                <a:tc>
                  <a:txBody>
                    <a:bodyPr/>
                    <a:lstStyle/>
                    <a:p>
                      <a:pPr indent="0" marL="0">
                        <a:buNone/>
                      </a:pPr>
                      <a:r>
                        <a:rPr lang="en-US" sz="1100" dirty="0">
                          <a:solidFill>
                            <a:srgbClr val="1A1A1A"/>
                          </a:solidFill>
                          <a:latin typeface="Meiryo" pitchFamily="34" charset="0"/>
                          <a:ea typeface="Meiryo" pitchFamily="34" charset="-122"/>
                          <a:cs typeface="Meiryo" pitchFamily="34" charset="-120"/>
                        </a:rPr>
                        <a:t>PDF中心の情報配信</a:t>
                      </a:r>
                      <a:endParaRPr lang="en-US" sz="1100" dirty="0">
                        <a:latin typeface="Meiryo" charset="0"/>
                        <a:ea typeface="Meiryo" charset="0"/>
                        <a:cs typeface="Meiryo" charset="0"/>
                      </a:endParaRPr>
                    </a:p>
                  </a:txBody>
                  <a:tcPr marL="91440" marR="91440" marT="45720" marB="45720">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tcPr>
                </a:tc>
                <a:tc>
                  <a:txBody>
                    <a:bodyPr/>
                    <a:lstStyle/>
                    <a:p>
                      <a:pPr indent="0" marL="0">
                        <a:buNone/>
                      </a:pPr>
                      <a:r>
                        <a:rPr lang="en-US" sz="1100" dirty="0">
                          <a:solidFill>
                            <a:srgbClr val="1A1A1A"/>
                          </a:solidFill>
                          <a:latin typeface="Meiryo" pitchFamily="34" charset="0"/>
                          <a:ea typeface="Meiryo" pitchFamily="34" charset="-122"/>
                          <a:cs typeface="Meiryo" pitchFamily="34" charset="-120"/>
                        </a:rPr>
                        <a:t>仕様書</a:t>
                      </a:r>
                      <a:endParaRPr lang="en-US" sz="1100" dirty="0">
                        <a:latin typeface="Meiryo" charset="0"/>
                        <a:ea typeface="Meiryo" charset="0"/>
                        <a:cs typeface="Meiryo" charset="0"/>
                      </a:endParaRPr>
                    </a:p>
                  </a:txBody>
                  <a:tcPr marL="91440" marR="91440" marT="45720" marB="45720">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tcPr>
                </a:tc>
              </a:tr>
              <a:tr h="0">
                <a:tc>
                  <a:txBody>
                    <a:bodyPr/>
                    <a:lstStyle/>
                    <a:p>
                      <a:pPr indent="0" marL="0">
                        <a:buNone/>
                      </a:pPr>
                      <a:r>
                        <a:rPr lang="en-US" sz="1100" dirty="0">
                          <a:solidFill>
                            <a:srgbClr val="1A1A1A"/>
                          </a:solidFill>
                          <a:latin typeface="Meiryo" pitchFamily="34" charset="0"/>
                          <a:ea typeface="Meiryo" pitchFamily="34" charset="-122"/>
                          <a:cs typeface="Meiryo" pitchFamily="34" charset="-120"/>
                        </a:rPr>
                        <a:t>5</a:t>
                      </a:r>
                      <a:endParaRPr lang="en-US" sz="1100" dirty="0">
                        <a:latin typeface="Meiryo" charset="0"/>
                        <a:ea typeface="Meiryo" charset="0"/>
                        <a:cs typeface="Meiryo" charset="0"/>
                      </a:endParaRPr>
                    </a:p>
                  </a:txBody>
                  <a:tcPr marL="91440" marR="91440" marT="45720" marB="45720">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tcPr>
                </a:tc>
                <a:tc>
                  <a:txBody>
                    <a:bodyPr/>
                    <a:lstStyle/>
                    <a:p>
                      <a:pPr indent="0" marL="0">
                        <a:buNone/>
                      </a:pPr>
                      <a:r>
                        <a:rPr lang="en-US" sz="1100" dirty="0">
                          <a:solidFill>
                            <a:srgbClr val="1A1A1A"/>
                          </a:solidFill>
                          <a:latin typeface="Meiryo" pitchFamily="34" charset="0"/>
                          <a:ea typeface="Meiryo" pitchFamily="34" charset="-122"/>
                          <a:cs typeface="Meiryo" pitchFamily="34" charset="-120"/>
                        </a:rPr>
                        <a:t>URL体系の不統一・旧ページ残存</a:t>
                      </a:r>
                      <a:endParaRPr lang="en-US" sz="1100" dirty="0">
                        <a:latin typeface="Meiryo" charset="0"/>
                        <a:ea typeface="Meiryo" charset="0"/>
                        <a:cs typeface="Meiryo" charset="0"/>
                      </a:endParaRPr>
                    </a:p>
                  </a:txBody>
                  <a:tcPr marL="91440" marR="91440" marT="45720" marB="45720">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tcPr>
                </a:tc>
                <a:tc>
                  <a:txBody>
                    <a:bodyPr/>
                    <a:lstStyle/>
                    <a:p>
                      <a:pPr indent="0" marL="0">
                        <a:buNone/>
                      </a:pPr>
                      <a:r>
                        <a:rPr lang="en-US" sz="1100" dirty="0">
                          <a:solidFill>
                            <a:srgbClr val="1A1A1A"/>
                          </a:solidFill>
                          <a:latin typeface="Meiryo" pitchFamily="34" charset="0"/>
                          <a:ea typeface="Meiryo" pitchFamily="34" charset="-122"/>
                          <a:cs typeface="Meiryo" pitchFamily="34" charset="-120"/>
                        </a:rPr>
                        <a:t>仕様書</a:t>
                      </a:r>
                      <a:endParaRPr lang="en-US" sz="1100" dirty="0">
                        <a:latin typeface="Meiryo" charset="0"/>
                        <a:ea typeface="Meiryo" charset="0"/>
                        <a:cs typeface="Meiryo" charset="0"/>
                      </a:endParaRPr>
                    </a:p>
                  </a:txBody>
                  <a:tcPr marL="91440" marR="91440" marT="45720" marB="45720">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tcPr>
                </a:tc>
              </a:tr>
              <a:tr h="0">
                <a:tc>
                  <a:txBody>
                    <a:bodyPr/>
                    <a:lstStyle/>
                    <a:p>
                      <a:pPr indent="0" marL="0">
                        <a:buNone/>
                      </a:pPr>
                      <a:r>
                        <a:rPr lang="en-US" sz="1100" dirty="0">
                          <a:solidFill>
                            <a:srgbClr val="1A1A1A"/>
                          </a:solidFill>
                          <a:latin typeface="Meiryo" pitchFamily="34" charset="0"/>
                          <a:ea typeface="Meiryo" pitchFamily="34" charset="-122"/>
                          <a:cs typeface="Meiryo" pitchFamily="34" charset="-120"/>
                        </a:rPr>
                        <a:t>6</a:t>
                      </a:r>
                      <a:endParaRPr lang="en-US" sz="1100" dirty="0">
                        <a:latin typeface="Meiryo" charset="0"/>
                        <a:ea typeface="Meiryo" charset="0"/>
                        <a:cs typeface="Meiryo" charset="0"/>
                      </a:endParaRPr>
                    </a:p>
                  </a:txBody>
                  <a:tcPr marL="91440" marR="91440" marT="45720" marB="45720">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tcPr>
                </a:tc>
                <a:tc>
                  <a:txBody>
                    <a:bodyPr/>
                    <a:lstStyle/>
                    <a:p>
                      <a:pPr indent="0" marL="0">
                        <a:buNone/>
                      </a:pPr>
                      <a:r>
                        <a:rPr lang="en-US" sz="1100" dirty="0">
                          <a:solidFill>
                            <a:srgbClr val="1A1A1A"/>
                          </a:solidFill>
                          <a:latin typeface="Meiryo" pitchFamily="34" charset="0"/>
                          <a:ea typeface="Meiryo" pitchFamily="34" charset="-122"/>
                          <a:cs typeface="Meiryo" pitchFamily="34" charset="-120"/>
                        </a:rPr>
                        <a:t>SEO／アクセシビリティに課題</a:t>
                      </a:r>
                      <a:endParaRPr lang="en-US" sz="1100" dirty="0">
                        <a:latin typeface="Meiryo" charset="0"/>
                        <a:ea typeface="Meiryo" charset="0"/>
                        <a:cs typeface="Meiryo" charset="0"/>
                      </a:endParaRPr>
                    </a:p>
                  </a:txBody>
                  <a:tcPr marL="91440" marR="91440" marT="45720" marB="45720">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tcPr>
                </a:tc>
                <a:tc>
                  <a:txBody>
                    <a:bodyPr/>
                    <a:lstStyle/>
                    <a:p>
                      <a:pPr indent="0" marL="0">
                        <a:buNone/>
                      </a:pPr>
                      <a:r>
                        <a:rPr lang="en-US" sz="1100" dirty="0">
                          <a:solidFill>
                            <a:srgbClr val="1A1A1A"/>
                          </a:solidFill>
                          <a:latin typeface="Meiryo" pitchFamily="34" charset="0"/>
                          <a:ea typeface="Meiryo" pitchFamily="34" charset="-122"/>
                          <a:cs typeface="Meiryo" pitchFamily="34" charset="-120"/>
                        </a:rPr>
                        <a:t>仕様書</a:t>
                      </a:r>
                      <a:endParaRPr lang="en-US" sz="1100" dirty="0">
                        <a:latin typeface="Meiryo" charset="0"/>
                        <a:ea typeface="Meiryo" charset="0"/>
                        <a:cs typeface="Meiryo" charset="0"/>
                      </a:endParaRPr>
                    </a:p>
                  </a:txBody>
                  <a:tcPr marL="91440" marR="91440" marT="45720" marB="45720">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tcPr>
                </a:tc>
              </a:tr>
              <a:tr h="0">
                <a:tc>
                  <a:txBody>
                    <a:bodyPr/>
                    <a:lstStyle/>
                    <a:p>
                      <a:pPr indent="0" marL="0">
                        <a:buNone/>
                      </a:pPr>
                      <a:r>
                        <a:rPr lang="en-US" sz="1100" dirty="0">
                          <a:solidFill>
                            <a:srgbClr val="1A1A1A"/>
                          </a:solidFill>
                          <a:latin typeface="Meiryo" pitchFamily="34" charset="0"/>
                          <a:ea typeface="Meiryo" pitchFamily="34" charset="-122"/>
                          <a:cs typeface="Meiryo" pitchFamily="34" charset="-120"/>
                        </a:rPr>
                        <a:t>7</a:t>
                      </a:r>
                      <a:endParaRPr lang="en-US" sz="1100" dirty="0">
                        <a:latin typeface="Meiryo" charset="0"/>
                        <a:ea typeface="Meiryo" charset="0"/>
                        <a:cs typeface="Meiryo" charset="0"/>
                      </a:endParaRPr>
                    </a:p>
                  </a:txBody>
                  <a:tcPr marL="91440" marR="91440" marT="45720" marB="45720">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tcPr>
                </a:tc>
                <a:tc>
                  <a:txBody>
                    <a:bodyPr/>
                    <a:lstStyle/>
                    <a:p>
                      <a:pPr indent="0" marL="0">
                        <a:buNone/>
                      </a:pPr>
                      <a:r>
                        <a:rPr lang="en-US" sz="1100" dirty="0">
                          <a:solidFill>
                            <a:srgbClr val="1A1A1A"/>
                          </a:solidFill>
                          <a:latin typeface="Meiryo" pitchFamily="34" charset="0"/>
                          <a:ea typeface="Meiryo" pitchFamily="34" charset="-122"/>
                          <a:cs typeface="Meiryo" pitchFamily="34" charset="-120"/>
                        </a:rPr>
                        <a:t>ペルソナ別の導線が弱い</a:t>
                      </a:r>
                      <a:endParaRPr lang="en-US" sz="1100" dirty="0">
                        <a:latin typeface="Meiryo" charset="0"/>
                        <a:ea typeface="Meiryo" charset="0"/>
                        <a:cs typeface="Meiryo" charset="0"/>
                      </a:endParaRPr>
                    </a:p>
                  </a:txBody>
                  <a:tcPr marL="91440" marR="91440" marT="45720" marB="45720">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tcPr>
                </a:tc>
                <a:tc>
                  <a:txBody>
                    <a:bodyPr/>
                    <a:lstStyle/>
                    <a:p>
                      <a:pPr indent="0" marL="0">
                        <a:buNone/>
                      </a:pPr>
                      <a:r>
                        <a:rPr lang="en-US" sz="1100" dirty="0">
                          <a:solidFill>
                            <a:srgbClr val="1A1A1A"/>
                          </a:solidFill>
                          <a:latin typeface="Meiryo" pitchFamily="34" charset="0"/>
                          <a:ea typeface="Meiryo" pitchFamily="34" charset="-122"/>
                          <a:cs typeface="Meiryo" pitchFamily="34" charset="-120"/>
                        </a:rPr>
                        <a:t>仕様書</a:t>
                      </a:r>
                      <a:endParaRPr lang="en-US" sz="1100" dirty="0">
                        <a:latin typeface="Meiryo" charset="0"/>
                        <a:ea typeface="Meiryo" charset="0"/>
                        <a:cs typeface="Meiryo" charset="0"/>
                      </a:endParaRPr>
                    </a:p>
                  </a:txBody>
                  <a:tcPr marL="91440" marR="91440" marT="45720" marB="45720">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tcPr>
                </a:tc>
              </a:tr>
              <a:tr h="0">
                <a:tc>
                  <a:txBody>
                    <a:bodyPr/>
                    <a:lstStyle/>
                    <a:p>
                      <a:pPr indent="0" marL="0">
                        <a:buNone/>
                      </a:pPr>
                      <a:r>
                        <a:rPr lang="en-US" sz="1100" dirty="0">
                          <a:solidFill>
                            <a:srgbClr val="1A1A1A"/>
                          </a:solidFill>
                          <a:latin typeface="Meiryo" pitchFamily="34" charset="0"/>
                          <a:ea typeface="Meiryo" pitchFamily="34" charset="-122"/>
                          <a:cs typeface="Meiryo" pitchFamily="34" charset="-120"/>
                        </a:rPr>
                        <a:t>8</a:t>
                      </a:r>
                      <a:endParaRPr lang="en-US" sz="1100" dirty="0">
                        <a:latin typeface="Meiryo" charset="0"/>
                        <a:ea typeface="Meiryo" charset="0"/>
                        <a:cs typeface="Meiryo" charset="0"/>
                      </a:endParaRPr>
                    </a:p>
                  </a:txBody>
                  <a:tcPr marL="91440" marR="91440" marT="45720" marB="45720">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tcPr>
                </a:tc>
                <a:tc>
                  <a:txBody>
                    <a:bodyPr/>
                    <a:lstStyle/>
                    <a:p>
                      <a:pPr indent="0" marL="0">
                        <a:buNone/>
                      </a:pPr>
                      <a:r>
                        <a:rPr lang="en-US" sz="1100" dirty="0">
                          <a:solidFill>
                            <a:srgbClr val="1A1A1A"/>
                          </a:solidFill>
                          <a:latin typeface="Meiryo" pitchFamily="34" charset="0"/>
                          <a:ea typeface="Meiryo" pitchFamily="34" charset="-122"/>
                          <a:cs typeface="Meiryo" pitchFamily="34" charset="-120"/>
                        </a:rPr>
                        <a:t>費用対効果の検証と広告戦略の見直し</a:t>
                      </a:r>
                      <a:endParaRPr lang="en-US" sz="1100" dirty="0">
                        <a:latin typeface="Meiryo" charset="0"/>
                        <a:ea typeface="Meiryo" charset="0"/>
                        <a:cs typeface="Meiryo" charset="0"/>
                      </a:endParaRPr>
                    </a:p>
                  </a:txBody>
                  <a:tcPr marL="91440" marR="91440" marT="45720" marB="45720">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tcPr>
                </a:tc>
                <a:tc>
                  <a:txBody>
                    <a:bodyPr/>
                    <a:lstStyle/>
                    <a:p>
                      <a:pPr indent="0" marL="0">
                        <a:buNone/>
                      </a:pPr>
                      <a:r>
                        <a:rPr lang="en-US" sz="1100" dirty="0">
                          <a:solidFill>
                            <a:srgbClr val="1A1A1A"/>
                          </a:solidFill>
                          <a:latin typeface="Meiryo" pitchFamily="34" charset="0"/>
                          <a:ea typeface="Meiryo" pitchFamily="34" charset="-122"/>
                          <a:cs typeface="Meiryo" pitchFamily="34" charset="-120"/>
                        </a:rPr>
                        <a:t>ヒアリング</a:t>
                      </a:r>
                      <a:endParaRPr lang="en-US" sz="1100" dirty="0">
                        <a:latin typeface="Meiryo" charset="0"/>
                        <a:ea typeface="Meiryo" charset="0"/>
                        <a:cs typeface="Meiryo" charset="0"/>
                      </a:endParaRPr>
                    </a:p>
                  </a:txBody>
                  <a:tcPr marL="91440" marR="91440" marT="45720" marB="45720">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tcPr>
                </a:tc>
              </a:tr>
            </a:tbl>
          </a:graphicData>
        </a:graphic>
      </p:graphicFrame>
      <p:sp>
        <p:nvSpPr>
          <p:cNvPr id="7" name="Text 4"/>
          <p:cNvSpPr/>
          <p:nvPr/>
        </p:nvSpPr>
        <p:spPr>
          <a:xfrm>
            <a:off x="502920" y="4759452"/>
            <a:ext cx="6949440" cy="228600"/>
          </a:xfrm>
          <a:prstGeom prst="rect">
            <a:avLst/>
          </a:prstGeom>
          <a:noFill/>
          <a:ln/>
        </p:spPr>
        <p:txBody>
          <a:bodyPr wrap="square" rtlCol="0" anchor="ctr"/>
          <a:lstStyle/>
          <a:p>
            <a:pPr indent="0" marL="0">
              <a:buNone/>
            </a:pPr>
            <a:r>
              <a:rPr lang="en-US" sz="900" dirty="0">
                <a:solidFill>
                  <a:srgbClr val="6B6B6B"/>
                </a:solidFill>
                <a:latin typeface="Meiryo" pitchFamily="34" charset="0"/>
                <a:ea typeface="Meiryo" pitchFamily="34" charset="-122"/>
                <a:cs typeface="Meiryo" pitchFamily="34" charset="-120"/>
              </a:rPr>
              <a:t>出典: projects/johoku-saitama/research/brief.md（2026-07-03 ヒアリング・Backlog GG_ORDER-4733）</a:t>
            </a:r>
            <a:endParaRPr lang="en-US" sz="900" dirty="0"/>
          </a:p>
        </p:txBody>
      </p:sp>
      <p:sp>
        <p:nvSpPr>
          <p:cNvPr id="8" name="Text 5"/>
          <p:cNvSpPr/>
          <p:nvPr/>
        </p:nvSpPr>
        <p:spPr>
          <a:xfrm>
            <a:off x="7543800" y="4759452"/>
            <a:ext cx="1097280" cy="228600"/>
          </a:xfrm>
          <a:prstGeom prst="rect">
            <a:avLst/>
          </a:prstGeom>
          <a:noFill/>
          <a:ln/>
        </p:spPr>
        <p:txBody>
          <a:bodyPr wrap="square" rtlCol="0" anchor="ctr"/>
          <a:lstStyle/>
          <a:p>
            <a:pPr algn="r" indent="0" marL="0">
              <a:buNone/>
            </a:pPr>
            <a:r>
              <a:rPr lang="en-US" sz="900" dirty="0">
                <a:solidFill>
                  <a:srgbClr val="6B6B6B"/>
                </a:solidFill>
                <a:latin typeface="Meiryo" pitchFamily="34" charset="0"/>
                <a:ea typeface="Meiryo" pitchFamily="34" charset="-122"/>
                <a:cs typeface="Meiryo" pitchFamily="34" charset="-120"/>
              </a:rPr>
              <a:t>06|82</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502920" y="502920"/>
            <a:ext cx="8138160" cy="228600"/>
          </a:xfrm>
          <a:prstGeom prst="rect">
            <a:avLst/>
          </a:prstGeom>
          <a:noFill/>
          <a:ln/>
        </p:spPr>
        <p:txBody>
          <a:bodyPr wrap="square" rtlCol="0" anchor="ctr"/>
          <a:lstStyle/>
          <a:p>
            <a:pPr indent="0" marL="0">
              <a:buNone/>
            </a:pPr>
            <a:r>
              <a:rPr lang="en-US" sz="1000" dirty="0">
                <a:solidFill>
                  <a:srgbClr val="6B6B6B"/>
                </a:solidFill>
                <a:latin typeface="Meiryo" pitchFamily="34" charset="0"/>
                <a:ea typeface="Meiryo" pitchFamily="34" charset="-122"/>
                <a:cs typeface="Meiryo" pitchFamily="34" charset="-120"/>
              </a:rPr>
              <a:t>01 Requirement</a:t>
            </a:r>
            <a:endParaRPr lang="en-US" sz="1000" dirty="0"/>
          </a:p>
        </p:txBody>
      </p:sp>
      <p:sp>
        <p:nvSpPr>
          <p:cNvPr id="3" name="Text 1"/>
          <p:cNvSpPr/>
          <p:nvPr/>
        </p:nvSpPr>
        <p:spPr>
          <a:xfrm>
            <a:off x="502920" y="777240"/>
            <a:ext cx="8138160" cy="457200"/>
          </a:xfrm>
          <a:prstGeom prst="rect">
            <a:avLst/>
          </a:prstGeom>
          <a:noFill/>
          <a:ln/>
        </p:spPr>
        <p:txBody>
          <a:bodyPr wrap="square" rtlCol="0" anchor="ctr"/>
          <a:lstStyle/>
          <a:p>
            <a:pPr indent="0" marL="0">
              <a:buNone/>
            </a:pPr>
            <a:r>
              <a:rPr lang="en-US" sz="2000" b="1" dirty="0">
                <a:solidFill>
                  <a:srgbClr val="1A1A1A"/>
                </a:solidFill>
                <a:latin typeface="Meiryo" pitchFamily="34" charset="0"/>
                <a:ea typeface="Meiryo" pitchFamily="34" charset="-122"/>
                <a:cs typeface="Meiryo" pitchFamily="34" charset="-120"/>
              </a:rPr>
              <a:t>本提案の3つの論点</a:t>
            </a:r>
            <a:endParaRPr lang="en-US" sz="2000" dirty="0"/>
          </a:p>
        </p:txBody>
      </p:sp>
      <p:sp>
        <p:nvSpPr>
          <p:cNvPr id="4" name="Shape 2"/>
          <p:cNvSpPr/>
          <p:nvPr/>
        </p:nvSpPr>
        <p:spPr>
          <a:xfrm>
            <a:off x="502920" y="1280160"/>
            <a:ext cx="8138160" cy="0"/>
          </a:xfrm>
          <a:prstGeom prst="line">
            <a:avLst/>
          </a:prstGeom>
          <a:noFill/>
          <a:ln w="12700">
            <a:solidFill>
              <a:srgbClr val="D5D5D5"/>
            </a:solidFill>
            <a:prstDash val="solid"/>
          </a:ln>
        </p:spPr>
      </p:sp>
      <p:sp>
        <p:nvSpPr>
          <p:cNvPr id="5" name="Text 3"/>
          <p:cNvSpPr/>
          <p:nvPr/>
        </p:nvSpPr>
        <p:spPr>
          <a:xfrm>
            <a:off x="502920" y="1417320"/>
            <a:ext cx="8138160" cy="457200"/>
          </a:xfrm>
          <a:prstGeom prst="rect">
            <a:avLst/>
          </a:prstGeom>
          <a:noFill/>
          <a:ln/>
        </p:spPr>
        <p:txBody>
          <a:bodyPr wrap="square" rtlCol="0" anchor="t"/>
          <a:lstStyle/>
          <a:p>
            <a:pPr indent="0" marL="0">
              <a:buNone/>
            </a:pPr>
            <a:r>
              <a:rPr lang="en-US" sz="1200" dirty="0">
                <a:solidFill>
                  <a:srgbClr val="1A1A1A"/>
                </a:solidFill>
                <a:latin typeface="Meiryo" pitchFamily="34" charset="0"/>
                <a:ea typeface="Meiryo" pitchFamily="34" charset="-122"/>
                <a:cs typeface="Meiryo" pitchFamily="34" charset="-120"/>
              </a:rPr>
              <a:t>伺った課題を3つの論点に束ねました。以降の各章は、すべてこの3つのいずれかに属します。</a:t>
            </a:r>
            <a:endParaRPr lang="en-US" sz="12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02920" y="1965960"/>
          <a:ext cx="8138160" cy="914400"/>
        </p:xfrm>
        <a:graphic>
          <a:graphicData uri="http://schemas.openxmlformats.org/drawingml/2006/table">
            <a:tbl>
              <a:tblPr/>
              <a:tblGrid>
                <a:gridCol w="2034540"/>
                <a:gridCol w="2034540"/>
                <a:gridCol w="2034540"/>
                <a:gridCol w="2034540"/>
              </a:tblGrid>
              <a:tr h="0">
                <a:tc>
                  <a:txBody>
                    <a:bodyPr/>
                    <a:lstStyle/>
                    <a:p>
                      <a:pPr indent="0" marL="0">
                        <a:buNone/>
                      </a:pPr>
                      <a:endParaRPr lang="en-US" sz="1100" dirty="0">
                        <a:latin typeface="Meiryo" charset="0"/>
                        <a:ea typeface="Meiryo" charset="0"/>
                        <a:cs typeface="Meiryo" charset="0"/>
                      </a:endParaRPr>
                    </a:p>
                  </a:txBody>
                  <a:tcPr marL="91440" marR="91440" marT="45720" marB="45720">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1F3A5F"/>
                    </a:solidFill>
                  </a:tcPr>
                </a:tc>
                <a:tc>
                  <a:txBody>
                    <a:bodyPr/>
                    <a:lstStyle/>
                    <a:p>
                      <a:pPr indent="0" marL="0">
                        <a:buNone/>
                      </a:pPr>
                      <a:r>
                        <a:rPr lang="en-US" sz="1100" b="1" dirty="0">
                          <a:solidFill>
                            <a:srgbClr val="FFFFFF"/>
                          </a:solidFill>
                          <a:latin typeface="Meiryo" pitchFamily="34" charset="0"/>
                          <a:ea typeface="Meiryo" pitchFamily="34" charset="-122"/>
                          <a:cs typeface="Meiryo" pitchFamily="34" charset="-120"/>
                        </a:rPr>
                        <a:t>論点01</a:t>
                      </a:r>
                      <a:endParaRPr lang="en-US" sz="1100" dirty="0">
                        <a:latin typeface="Meiryo" charset="0"/>
                        <a:ea typeface="Meiryo" charset="0"/>
                        <a:cs typeface="Meiryo" charset="0"/>
                      </a:endParaRPr>
                    </a:p>
                  </a:txBody>
                  <a:tcPr marL="91440" marR="91440" marT="45720" marB="45720">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1F3A5F"/>
                    </a:solidFill>
                  </a:tcPr>
                </a:tc>
                <a:tc>
                  <a:txBody>
                    <a:bodyPr/>
                    <a:lstStyle/>
                    <a:p>
                      <a:pPr indent="0" marL="0">
                        <a:buNone/>
                      </a:pPr>
                      <a:r>
                        <a:rPr lang="en-US" sz="1100" b="1" dirty="0">
                          <a:solidFill>
                            <a:srgbClr val="FFFFFF"/>
                          </a:solidFill>
                          <a:latin typeface="Meiryo" pitchFamily="34" charset="0"/>
                          <a:ea typeface="Meiryo" pitchFamily="34" charset="-122"/>
                          <a:cs typeface="Meiryo" pitchFamily="34" charset="-120"/>
                        </a:rPr>
                        <a:t>論点02</a:t>
                      </a:r>
                      <a:endParaRPr lang="en-US" sz="1100" dirty="0">
                        <a:latin typeface="Meiryo" charset="0"/>
                        <a:ea typeface="Meiryo" charset="0"/>
                        <a:cs typeface="Meiryo" charset="0"/>
                      </a:endParaRPr>
                    </a:p>
                  </a:txBody>
                  <a:tcPr marL="91440" marR="91440" marT="45720" marB="45720">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1F3A5F"/>
                    </a:solidFill>
                  </a:tcPr>
                </a:tc>
                <a:tc>
                  <a:txBody>
                    <a:bodyPr/>
                    <a:lstStyle/>
                    <a:p>
                      <a:pPr indent="0" marL="0">
                        <a:buNone/>
                      </a:pPr>
                      <a:r>
                        <a:rPr lang="en-US" sz="1100" b="1" dirty="0">
                          <a:solidFill>
                            <a:srgbClr val="FFFFFF"/>
                          </a:solidFill>
                          <a:latin typeface="Meiryo" pitchFamily="34" charset="0"/>
                          <a:ea typeface="Meiryo" pitchFamily="34" charset="-122"/>
                          <a:cs typeface="Meiryo" pitchFamily="34" charset="-120"/>
                        </a:rPr>
                        <a:t>論点03</a:t>
                      </a:r>
                      <a:endParaRPr lang="en-US" sz="1100" dirty="0">
                        <a:latin typeface="Meiryo" charset="0"/>
                        <a:ea typeface="Meiryo" charset="0"/>
                        <a:cs typeface="Meiryo" charset="0"/>
                      </a:endParaRPr>
                    </a:p>
                  </a:txBody>
                  <a:tcPr marL="91440" marR="91440" marT="45720" marB="45720">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1F3A5F"/>
                    </a:solidFill>
                  </a:tcPr>
                </a:tc>
              </a:tr>
              <a:tr h="0">
                <a:tc>
                  <a:txBody>
                    <a:bodyPr/>
                    <a:lstStyle/>
                    <a:p>
                      <a:pPr indent="0" marL="0">
                        <a:buNone/>
                      </a:pPr>
                      <a:r>
                        <a:rPr lang="en-US" sz="1100" dirty="0">
                          <a:solidFill>
                            <a:srgbClr val="1A1A1A"/>
                          </a:solidFill>
                          <a:latin typeface="Meiryo" pitchFamily="34" charset="0"/>
                          <a:ea typeface="Meiryo" pitchFamily="34" charset="-122"/>
                          <a:cs typeface="Meiryo" pitchFamily="34" charset="-120"/>
                        </a:rPr>
                        <a:t>見出し</a:t>
                      </a:r>
                      <a:endParaRPr lang="en-US" sz="1100" dirty="0">
                        <a:latin typeface="Meiryo" charset="0"/>
                        <a:ea typeface="Meiryo" charset="0"/>
                        <a:cs typeface="Meiryo" charset="0"/>
                      </a:endParaRPr>
                    </a:p>
                  </a:txBody>
                  <a:tcPr marL="91440" marR="91440" marT="45720" marB="45720">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tcPr>
                </a:tc>
                <a:tc>
                  <a:txBody>
                    <a:bodyPr/>
                    <a:lstStyle/>
                    <a:p>
                      <a:pPr indent="0" marL="0">
                        <a:buNone/>
                      </a:pPr>
                      <a:r>
                        <a:rPr lang="en-US" sz="1100" dirty="0">
                          <a:solidFill>
                            <a:srgbClr val="1A1A1A"/>
                          </a:solidFill>
                          <a:latin typeface="Meiryo" pitchFamily="34" charset="0"/>
                          <a:ea typeface="Meiryo" pitchFamily="34" charset="-122"/>
                          <a:cs typeface="Meiryo" pitchFamily="34" charset="-120"/>
                        </a:rPr>
                        <a:t>スマホで受験生と保護者に出会えているか</a:t>
                      </a:r>
                      <a:endParaRPr lang="en-US" sz="1100" dirty="0">
                        <a:latin typeface="Meiryo" charset="0"/>
                        <a:ea typeface="Meiryo" charset="0"/>
                        <a:cs typeface="Meiryo" charset="0"/>
                      </a:endParaRPr>
                    </a:p>
                  </a:txBody>
                  <a:tcPr marL="91440" marR="91440" marT="45720" marB="45720">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tcPr>
                </a:tc>
                <a:tc>
                  <a:txBody>
                    <a:bodyPr/>
                    <a:lstStyle/>
                    <a:p>
                      <a:pPr indent="0" marL="0">
                        <a:buNone/>
                      </a:pPr>
                      <a:r>
                        <a:rPr lang="en-US" sz="1100" dirty="0">
                          <a:solidFill>
                            <a:srgbClr val="1A1A1A"/>
                          </a:solidFill>
                          <a:latin typeface="Meiryo" pitchFamily="34" charset="0"/>
                          <a:ea typeface="Meiryo" pitchFamily="34" charset="-122"/>
                          <a:cs typeface="Meiryo" pitchFamily="34" charset="-120"/>
                        </a:rPr>
                        <a:t>最新の姿を、探さずに受け取れるか</a:t>
                      </a:r>
                      <a:endParaRPr lang="en-US" sz="1100" dirty="0">
                        <a:latin typeface="Meiryo" charset="0"/>
                        <a:ea typeface="Meiryo" charset="0"/>
                        <a:cs typeface="Meiryo" charset="0"/>
                      </a:endParaRPr>
                    </a:p>
                  </a:txBody>
                  <a:tcPr marL="91440" marR="91440" marT="45720" marB="45720">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tcPr>
                </a:tc>
                <a:tc>
                  <a:txBody>
                    <a:bodyPr/>
                    <a:lstStyle/>
                    <a:p>
                      <a:pPr indent="0" marL="0">
                        <a:buNone/>
                      </a:pPr>
                      <a:r>
                        <a:rPr lang="en-US" sz="1100" dirty="0">
                          <a:solidFill>
                            <a:srgbClr val="1A1A1A"/>
                          </a:solidFill>
                          <a:latin typeface="Meiryo" pitchFamily="34" charset="0"/>
                          <a:ea typeface="Meiryo" pitchFamily="34" charset="-122"/>
                          <a:cs typeface="Meiryo" pitchFamily="34" charset="-120"/>
                        </a:rPr>
                        <a:t>学校が自分で更新し続けられるか</a:t>
                      </a:r>
                      <a:endParaRPr lang="en-US" sz="1100" dirty="0">
                        <a:latin typeface="Meiryo" charset="0"/>
                        <a:ea typeface="Meiryo" charset="0"/>
                        <a:cs typeface="Meiryo" charset="0"/>
                      </a:endParaRPr>
                    </a:p>
                  </a:txBody>
                  <a:tcPr marL="91440" marR="91440" marT="45720" marB="45720">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tcPr>
                </a:tc>
              </a:tr>
              <a:tr h="0">
                <a:tc>
                  <a:txBody>
                    <a:bodyPr/>
                    <a:lstStyle/>
                    <a:p>
                      <a:pPr indent="0" marL="0">
                        <a:buNone/>
                      </a:pPr>
                      <a:r>
                        <a:rPr lang="en-US" sz="1100" dirty="0">
                          <a:solidFill>
                            <a:srgbClr val="1A1A1A"/>
                          </a:solidFill>
                          <a:latin typeface="Meiryo" pitchFamily="34" charset="0"/>
                          <a:ea typeface="Meiryo" pitchFamily="34" charset="-122"/>
                          <a:cs typeface="Meiryo" pitchFamily="34" charset="-120"/>
                        </a:rPr>
                        <a:t>現在地</a:t>
                      </a:r>
                      <a:endParaRPr lang="en-US" sz="1100" dirty="0">
                        <a:latin typeface="Meiryo" charset="0"/>
                        <a:ea typeface="Meiryo" charset="0"/>
                        <a:cs typeface="Meiryo" charset="0"/>
                      </a:endParaRPr>
                    </a:p>
                  </a:txBody>
                  <a:tcPr marL="91440" marR="91440" marT="45720" marB="45720">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tcPr>
                </a:tc>
                <a:tc>
                  <a:txBody>
                    <a:bodyPr/>
                    <a:lstStyle/>
                    <a:p>
                      <a:pPr indent="0" marL="0">
                        <a:buNone/>
                      </a:pPr>
                      <a:r>
                        <a:rPr lang="en-US" sz="1100" dirty="0">
                          <a:solidFill>
                            <a:srgbClr val="1A1A1A"/>
                          </a:solidFill>
                          <a:latin typeface="Meiryo" pitchFamily="34" charset="0"/>
                          <a:ea typeface="Meiryo" pitchFamily="34" charset="-122"/>
                          <a:cs typeface="Meiryo" pitchFamily="34" charset="-120"/>
                        </a:rPr>
                        <a:t>9割以上がスマートフォン経由（推定・GA4未検証）ですが、現行はPC前提の情報量です。受験生向けCTAは旧ナビの不具合で壊れています。</a:t>
                      </a:r>
                      <a:endParaRPr lang="en-US" sz="1100" dirty="0">
                        <a:latin typeface="Meiryo" charset="0"/>
                        <a:ea typeface="Meiryo" charset="0"/>
                        <a:cs typeface="Meiryo" charset="0"/>
                      </a:endParaRPr>
                    </a:p>
                  </a:txBody>
                  <a:tcPr marL="91440" marR="91440" marT="45720" marB="45720">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tcPr>
                </a:tc>
                <a:tc>
                  <a:txBody>
                    <a:bodyPr/>
                    <a:lstStyle/>
                    <a:p>
                      <a:pPr indent="0" marL="0">
                        <a:buNone/>
                      </a:pPr>
                      <a:r>
                        <a:rPr lang="en-US" sz="1100" dirty="0">
                          <a:solidFill>
                            <a:srgbClr val="1A1A1A"/>
                          </a:solidFill>
                          <a:latin typeface="Meiryo" pitchFamily="34" charset="0"/>
                          <a:ea typeface="Meiryo" pitchFamily="34" charset="-122"/>
                          <a:cs typeface="Meiryo" pitchFamily="34" charset="-120"/>
                        </a:rPr>
                        <a:t>フロンティアコースと入試要項が古いまま残り、重要な情報がPDFに閉じています。</a:t>
                      </a:r>
                      <a:endParaRPr lang="en-US" sz="1100" dirty="0">
                        <a:latin typeface="Meiryo" charset="0"/>
                        <a:ea typeface="Meiryo" charset="0"/>
                        <a:cs typeface="Meiryo" charset="0"/>
                      </a:endParaRPr>
                    </a:p>
                  </a:txBody>
                  <a:tcPr marL="91440" marR="91440" marT="45720" marB="45720">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tcPr>
                </a:tc>
                <a:tc>
                  <a:txBody>
                    <a:bodyPr/>
                    <a:lstStyle/>
                    <a:p>
                      <a:pPr indent="0" marL="0">
                        <a:buNone/>
                      </a:pPr>
                      <a:r>
                        <a:rPr lang="en-US" sz="1100" dirty="0">
                          <a:solidFill>
                            <a:srgbClr val="1A1A1A"/>
                          </a:solidFill>
                          <a:latin typeface="Meiryo" pitchFamily="34" charset="0"/>
                          <a:ea typeface="Meiryo" pitchFamily="34" charset="-122"/>
                          <a:cs typeface="Meiryo" pitchFamily="34" charset="-120"/>
                        </a:rPr>
                        <a:t>6年間で構造が崩れ、コメントアウトしたはずの旧ナビが生きたリンクとして残っています。</a:t>
                      </a:r>
                      <a:endParaRPr lang="en-US" sz="1100" dirty="0">
                        <a:latin typeface="Meiryo" charset="0"/>
                        <a:ea typeface="Meiryo" charset="0"/>
                        <a:cs typeface="Meiryo" charset="0"/>
                      </a:endParaRPr>
                    </a:p>
                  </a:txBody>
                  <a:tcPr marL="91440" marR="91440" marT="45720" marB="45720">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tcPr>
                </a:tc>
              </a:tr>
              <a:tr h="0">
                <a:tc>
                  <a:txBody>
                    <a:bodyPr/>
                    <a:lstStyle/>
                    <a:p>
                      <a:pPr indent="0" marL="0">
                        <a:buNone/>
                      </a:pPr>
                      <a:r>
                        <a:rPr lang="en-US" sz="1100" dirty="0">
                          <a:solidFill>
                            <a:srgbClr val="1A1A1A"/>
                          </a:solidFill>
                          <a:latin typeface="Meiryo" pitchFamily="34" charset="0"/>
                          <a:ea typeface="Meiryo" pitchFamily="34" charset="-122"/>
                          <a:cs typeface="Meiryo" pitchFamily="34" charset="-120"/>
                        </a:rPr>
                        <a:t>本提案</a:t>
                      </a:r>
                      <a:endParaRPr lang="en-US" sz="1100" dirty="0">
                        <a:latin typeface="Meiryo" charset="0"/>
                        <a:ea typeface="Meiryo" charset="0"/>
                        <a:cs typeface="Meiryo" charset="0"/>
                      </a:endParaRPr>
                    </a:p>
                  </a:txBody>
                  <a:tcPr marL="91440" marR="91440" marT="45720" marB="45720">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tcPr>
                </a:tc>
                <a:tc>
                  <a:txBody>
                    <a:bodyPr/>
                    <a:lstStyle/>
                    <a:p>
                      <a:pPr indent="0" marL="0">
                        <a:buNone/>
                      </a:pPr>
                      <a:r>
                        <a:rPr lang="en-US" sz="1100" dirty="0">
                          <a:solidFill>
                            <a:srgbClr val="1A1A1A"/>
                          </a:solidFill>
                          <a:latin typeface="Meiryo" pitchFamily="34" charset="0"/>
                          <a:ea typeface="Meiryo" pitchFamily="34" charset="-122"/>
                          <a:cs typeface="Meiryo" pitchFamily="34" charset="-120"/>
                        </a:rPr>
                        <a:t>スマートフォンを基準に情報量と導線を設計し直し、受験生と保護者の入口を分けます。</a:t>
                      </a:r>
                      <a:endParaRPr lang="en-US" sz="1100" dirty="0">
                        <a:latin typeface="Meiryo" charset="0"/>
                        <a:ea typeface="Meiryo" charset="0"/>
                        <a:cs typeface="Meiryo" charset="0"/>
                      </a:endParaRPr>
                    </a:p>
                  </a:txBody>
                  <a:tcPr marL="91440" marR="91440" marT="45720" marB="45720">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tcPr>
                </a:tc>
                <a:tc>
                  <a:txBody>
                    <a:bodyPr/>
                    <a:lstStyle/>
                    <a:p>
                      <a:pPr indent="0" marL="0">
                        <a:buNone/>
                      </a:pPr>
                      <a:r>
                        <a:rPr lang="en-US" sz="1100" dirty="0">
                          <a:solidFill>
                            <a:srgbClr val="1A1A1A"/>
                          </a:solidFill>
                          <a:latin typeface="Meiryo" pitchFamily="34" charset="0"/>
                          <a:ea typeface="Meiryo" pitchFamily="34" charset="-122"/>
                          <a:cs typeface="Meiryo" pitchFamily="34" charset="-120"/>
                        </a:rPr>
                        <a:t>入試・コース情報をページ化し、更新性◎で毎年回る作りにします。</a:t>
                      </a:r>
                      <a:endParaRPr lang="en-US" sz="1100" dirty="0">
                        <a:latin typeface="Meiryo" charset="0"/>
                        <a:ea typeface="Meiryo" charset="0"/>
                        <a:cs typeface="Meiryo" charset="0"/>
                      </a:endParaRPr>
                    </a:p>
                  </a:txBody>
                  <a:tcPr marL="91440" marR="91440" marT="45720" marB="45720">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tcPr>
                </a:tc>
                <a:tc>
                  <a:txBody>
                    <a:bodyPr/>
                    <a:lstStyle/>
                    <a:p>
                      <a:pPr indent="0" marL="0">
                        <a:buNone/>
                      </a:pPr>
                      <a:r>
                        <a:rPr lang="en-US" sz="1100" dirty="0">
                          <a:solidFill>
                            <a:srgbClr val="1A1A1A"/>
                          </a:solidFill>
                          <a:latin typeface="Meiryo" pitchFamily="34" charset="0"/>
                          <a:ea typeface="Meiryo" pitchFamily="34" charset="-122"/>
                          <a:cs typeface="Meiryo" pitchFamily="34" charset="-120"/>
                        </a:rPr>
                        <a:t>更新頻度でページを分類し、項目化した管理画面で学校が直接触れる範囲を定義します。</a:t>
                      </a:r>
                      <a:endParaRPr lang="en-US" sz="1100" dirty="0">
                        <a:latin typeface="Meiryo" charset="0"/>
                        <a:ea typeface="Meiryo" charset="0"/>
                        <a:cs typeface="Meiryo" charset="0"/>
                      </a:endParaRPr>
                    </a:p>
                  </a:txBody>
                  <a:tcPr marL="91440" marR="91440" marT="45720" marB="45720">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tcPr>
                </a:tc>
              </a:tr>
              <a:tr h="0">
                <a:tc>
                  <a:txBody>
                    <a:bodyPr/>
                    <a:lstStyle/>
                    <a:p>
                      <a:pPr indent="0" marL="0">
                        <a:buNone/>
                      </a:pPr>
                      <a:r>
                        <a:rPr lang="en-US" sz="1100" dirty="0">
                          <a:solidFill>
                            <a:srgbClr val="1A1A1A"/>
                          </a:solidFill>
                          <a:latin typeface="Meiryo" pitchFamily="34" charset="0"/>
                          <a:ea typeface="Meiryo" pitchFamily="34" charset="-122"/>
                          <a:cs typeface="Meiryo" pitchFamily="34" charset="-120"/>
                        </a:rPr>
                        <a:t>参照</a:t>
                      </a:r>
                      <a:endParaRPr lang="en-US" sz="1100" dirty="0">
                        <a:latin typeface="Meiryo" charset="0"/>
                        <a:ea typeface="Meiryo" charset="0"/>
                        <a:cs typeface="Meiryo" charset="0"/>
                      </a:endParaRPr>
                    </a:p>
                  </a:txBody>
                  <a:tcPr marL="91440" marR="91440" marT="45720" marB="45720">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tcPr>
                </a:tc>
                <a:tc>
                  <a:txBody>
                    <a:bodyPr/>
                    <a:lstStyle/>
                    <a:p>
                      <a:pPr indent="0" marL="0">
                        <a:buNone/>
                      </a:pPr>
                      <a:r>
                        <a:rPr lang="en-US" sz="1100" dirty="0">
                          <a:solidFill>
                            <a:srgbClr val="1A1A1A"/>
                          </a:solidFill>
                          <a:latin typeface="Meiryo" pitchFamily="34" charset="0"/>
                          <a:ea typeface="Meiryo" pitchFamily="34" charset="-122"/>
                          <a:cs typeface="Meiryo" pitchFamily="34" charset="-120"/>
                        </a:rPr>
                        <a:t>02・03・05章</a:t>
                      </a:r>
                      <a:endParaRPr lang="en-US" sz="1100" dirty="0">
                        <a:latin typeface="Meiryo" charset="0"/>
                        <a:ea typeface="Meiryo" charset="0"/>
                        <a:cs typeface="Meiryo" charset="0"/>
                      </a:endParaRPr>
                    </a:p>
                  </a:txBody>
                  <a:tcPr marL="91440" marR="91440" marT="45720" marB="45720">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tcPr>
                </a:tc>
                <a:tc>
                  <a:txBody>
                    <a:bodyPr/>
                    <a:lstStyle/>
                    <a:p>
                      <a:pPr indent="0" marL="0">
                        <a:buNone/>
                      </a:pPr>
                      <a:r>
                        <a:rPr lang="en-US" sz="1100" dirty="0">
                          <a:solidFill>
                            <a:srgbClr val="1A1A1A"/>
                          </a:solidFill>
                          <a:latin typeface="Meiryo" pitchFamily="34" charset="0"/>
                          <a:ea typeface="Meiryo" pitchFamily="34" charset="-122"/>
                          <a:cs typeface="Meiryo" pitchFamily="34" charset="-120"/>
                        </a:rPr>
                        <a:t>03・06章</a:t>
                      </a:r>
                      <a:endParaRPr lang="en-US" sz="1100" dirty="0">
                        <a:latin typeface="Meiryo" charset="0"/>
                        <a:ea typeface="Meiryo" charset="0"/>
                        <a:cs typeface="Meiryo" charset="0"/>
                      </a:endParaRPr>
                    </a:p>
                  </a:txBody>
                  <a:tcPr marL="91440" marR="91440" marT="45720" marB="45720">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tcPr>
                </a:tc>
                <a:tc>
                  <a:txBody>
                    <a:bodyPr/>
                    <a:lstStyle/>
                    <a:p>
                      <a:pPr indent="0" marL="0">
                        <a:buNone/>
                      </a:pPr>
                      <a:r>
                        <a:rPr lang="en-US" sz="1100" dirty="0">
                          <a:solidFill>
                            <a:srgbClr val="1A1A1A"/>
                          </a:solidFill>
                          <a:latin typeface="Meiryo" pitchFamily="34" charset="0"/>
                          <a:ea typeface="Meiryo" pitchFamily="34" charset="-122"/>
                          <a:cs typeface="Meiryo" pitchFamily="34" charset="-120"/>
                        </a:rPr>
                        <a:t>03・08・11章</a:t>
                      </a:r>
                      <a:endParaRPr lang="en-US" sz="1100" dirty="0">
                        <a:latin typeface="Meiryo" charset="0"/>
                        <a:ea typeface="Meiryo" charset="0"/>
                        <a:cs typeface="Meiryo" charset="0"/>
                      </a:endParaRPr>
                    </a:p>
                  </a:txBody>
                  <a:tcPr marL="91440" marR="91440" marT="45720" marB="45720">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tcPr>
                </a:tc>
              </a:tr>
            </a:tbl>
          </a:graphicData>
        </a:graphic>
      </p:graphicFrame>
      <p:sp>
        <p:nvSpPr>
          <p:cNvPr id="7" name="Text 4"/>
          <p:cNvSpPr/>
          <p:nvPr/>
        </p:nvSpPr>
        <p:spPr>
          <a:xfrm>
            <a:off x="7543800" y="4759452"/>
            <a:ext cx="1097280" cy="228600"/>
          </a:xfrm>
          <a:prstGeom prst="rect">
            <a:avLst/>
          </a:prstGeom>
          <a:noFill/>
          <a:ln/>
        </p:spPr>
        <p:txBody>
          <a:bodyPr wrap="square" rtlCol="0" anchor="ctr"/>
          <a:lstStyle/>
          <a:p>
            <a:pPr algn="r" indent="0" marL="0">
              <a:buNone/>
            </a:pPr>
            <a:r>
              <a:rPr lang="en-US" sz="900" dirty="0">
                <a:solidFill>
                  <a:srgbClr val="6B6B6B"/>
                </a:solidFill>
                <a:latin typeface="Meiryo" pitchFamily="34" charset="0"/>
                <a:ea typeface="Meiryo" pitchFamily="34" charset="-122"/>
                <a:cs typeface="Meiryo" pitchFamily="34" charset="-120"/>
              </a:rPr>
              <a:t>07|82</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502920" y="502920"/>
            <a:ext cx="8138160" cy="228600"/>
          </a:xfrm>
          <a:prstGeom prst="rect">
            <a:avLst/>
          </a:prstGeom>
          <a:noFill/>
          <a:ln/>
        </p:spPr>
        <p:txBody>
          <a:bodyPr wrap="square" rtlCol="0" anchor="ctr"/>
          <a:lstStyle/>
          <a:p>
            <a:pPr indent="0" marL="0">
              <a:buNone/>
            </a:pPr>
            <a:r>
              <a:rPr lang="en-US" sz="1000" dirty="0">
                <a:solidFill>
                  <a:srgbClr val="6B6B6B"/>
                </a:solidFill>
                <a:latin typeface="Meiryo" pitchFamily="34" charset="0"/>
                <a:ea typeface="Meiryo" pitchFamily="34" charset="-122"/>
                <a:cs typeface="Meiryo" pitchFamily="34" charset="-120"/>
              </a:rPr>
              <a:t>01 Requirement</a:t>
            </a:r>
            <a:endParaRPr lang="en-US" sz="1000" dirty="0"/>
          </a:p>
        </p:txBody>
      </p:sp>
      <p:sp>
        <p:nvSpPr>
          <p:cNvPr id="3" name="Text 1"/>
          <p:cNvSpPr/>
          <p:nvPr/>
        </p:nvSpPr>
        <p:spPr>
          <a:xfrm>
            <a:off x="502920" y="777240"/>
            <a:ext cx="8138160" cy="457200"/>
          </a:xfrm>
          <a:prstGeom prst="rect">
            <a:avLst/>
          </a:prstGeom>
          <a:noFill/>
          <a:ln/>
        </p:spPr>
        <p:txBody>
          <a:bodyPr wrap="square" rtlCol="0" anchor="ctr"/>
          <a:lstStyle/>
          <a:p>
            <a:pPr indent="0" marL="0">
              <a:buNone/>
            </a:pPr>
            <a:r>
              <a:rPr lang="en-US" sz="2000" b="1" dirty="0">
                <a:solidFill>
                  <a:srgbClr val="1A1A1A"/>
                </a:solidFill>
                <a:latin typeface="Meiryo" pitchFamily="34" charset="0"/>
                <a:ea typeface="Meiryo" pitchFamily="34" charset="-122"/>
                <a:cs typeface="Meiryo" pitchFamily="34" charset="-120"/>
              </a:rPr>
              <a:t>本提案の前提</a:t>
            </a:r>
            <a:endParaRPr lang="en-US" sz="2000" dirty="0"/>
          </a:p>
        </p:txBody>
      </p:sp>
      <p:sp>
        <p:nvSpPr>
          <p:cNvPr id="4" name="Shape 2"/>
          <p:cNvSpPr/>
          <p:nvPr/>
        </p:nvSpPr>
        <p:spPr>
          <a:xfrm>
            <a:off x="502920" y="1280160"/>
            <a:ext cx="8138160" cy="0"/>
          </a:xfrm>
          <a:prstGeom prst="line">
            <a:avLst/>
          </a:prstGeom>
          <a:noFill/>
          <a:ln w="12700">
            <a:solidFill>
              <a:srgbClr val="D5D5D5"/>
            </a:solidFill>
            <a:prstDash val="solid"/>
          </a:ln>
        </p:spPr>
      </p:sp>
      <p:sp>
        <p:nvSpPr>
          <p:cNvPr id="5" name="Text 3"/>
          <p:cNvSpPr/>
          <p:nvPr/>
        </p:nvSpPr>
        <p:spPr>
          <a:xfrm>
            <a:off x="502920" y="1417320"/>
            <a:ext cx="8138160" cy="457200"/>
          </a:xfrm>
          <a:prstGeom prst="rect">
            <a:avLst/>
          </a:prstGeom>
          <a:noFill/>
          <a:ln/>
        </p:spPr>
        <p:txBody>
          <a:bodyPr wrap="square" rtlCol="0" anchor="t"/>
          <a:lstStyle/>
          <a:p>
            <a:pPr indent="0" marL="0">
              <a:buNone/>
            </a:pPr>
            <a:r>
              <a:rPr lang="en-US" sz="1200" dirty="0">
                <a:solidFill>
                  <a:srgbClr val="1A1A1A"/>
                </a:solidFill>
                <a:latin typeface="Meiryo" pitchFamily="34" charset="0"/>
                <a:ea typeface="Meiryo" pitchFamily="34" charset="-122"/>
                <a:cs typeface="Meiryo" pitchFamily="34" charset="-120"/>
              </a:rPr>
              <a:t>認識違いが起きうる項目を、着手前に明示します。ここに記載のない事項は別途ご相談とさせてください。</a:t>
            </a:r>
            <a:endParaRPr lang="en-US" sz="1200" dirty="0"/>
          </a:p>
        </p:txBody>
      </p:sp>
      <p:sp>
        <p:nvSpPr>
          <p:cNvPr id="6" name="Text 4"/>
          <p:cNvSpPr/>
          <p:nvPr/>
        </p:nvSpPr>
        <p:spPr>
          <a:xfrm>
            <a:off x="502920" y="1965960"/>
            <a:ext cx="8138160" cy="2628900"/>
          </a:xfrm>
          <a:prstGeom prst="rect">
            <a:avLst/>
          </a:prstGeom>
          <a:noFill/>
          <a:ln/>
        </p:spPr>
        <p:txBody>
          <a:bodyPr wrap="square" rtlCol="0" anchor="t"/>
          <a:lstStyle/>
          <a:p>
            <a:pPr marL="342900" indent="-342900">
              <a:lnSpc>
                <a:spcPct val="130000"/>
              </a:lnSpc>
              <a:buSzPct val="100000"/>
              <a:buChar char="•"/>
            </a:pPr>
            <a:r>
              <a:rPr lang="en-US" sz="1300" dirty="0">
                <a:solidFill>
                  <a:srgbClr val="1A1A1A"/>
                </a:solidFill>
                <a:latin typeface="Meiryo" pitchFamily="34" charset="0"/>
                <a:ea typeface="Meiryo" pitchFamily="34" charset="-122"/>
                <a:cs typeface="Meiryo" pitchFamily="34" charset="-120"/>
              </a:rPr>
              <a:t>前提01: 新サイトは新規構築とし、現行サイトのテンプレート・内部リンク構造は引き継ぎません</a:t>
            </a:r>
            <a:endParaRPr lang="en-US" sz="1300" dirty="0"/>
          </a:p>
          <a:p>
            <a:pPr marL="342900" indent="-342900">
              <a:lnSpc>
                <a:spcPct val="130000"/>
              </a:lnSpc>
              <a:buSzPct val="100000"/>
              <a:buChar char="•"/>
            </a:pPr>
            <a:r>
              <a:rPr lang="en-US" sz="1300" dirty="0">
                <a:solidFill>
                  <a:srgbClr val="1A1A1A"/>
                </a:solidFill>
                <a:latin typeface="Meiryo" pitchFamily="34" charset="0"/>
                <a:ea typeface="Meiryo" pitchFamily="34" charset="-122"/>
                <a:cs typeface="Meiryo" pitchFamily="34" charset="-120"/>
              </a:rPr>
              <a:t>前提02: 本資料の数値目標は仮置きしていません。GA4の実数を確認した後に確定します</a:t>
            </a:r>
            <a:endParaRPr lang="en-US" sz="1300" dirty="0"/>
          </a:p>
          <a:p>
            <a:pPr marL="342900" indent="-342900">
              <a:lnSpc>
                <a:spcPct val="130000"/>
              </a:lnSpc>
              <a:buSzPct val="100000"/>
              <a:buChar char="•"/>
            </a:pPr>
            <a:r>
              <a:rPr lang="en-US" sz="1300" dirty="0">
                <a:solidFill>
                  <a:srgbClr val="1A1A1A"/>
                </a:solidFill>
                <a:latin typeface="Meiryo" pitchFamily="34" charset="0"/>
                <a:ea typeface="Meiryo" pitchFamily="34" charset="-122"/>
                <a:cs typeface="Meiryo" pitchFamily="34" charset="-120"/>
              </a:rPr>
              <a:t>前提03: 記事の流し込み件数は、実数の確定をもって最終確定とします（現時点で2件の数字が併存しています）</a:t>
            </a:r>
            <a:endParaRPr lang="en-US" sz="1300" dirty="0"/>
          </a:p>
          <a:p>
            <a:pPr marL="342900" indent="-342900">
              <a:lnSpc>
                <a:spcPct val="130000"/>
              </a:lnSpc>
              <a:buSzPct val="100000"/>
              <a:buChar char="•"/>
            </a:pPr>
            <a:r>
              <a:rPr lang="en-US" sz="1300" dirty="0">
                <a:solidFill>
                  <a:srgbClr val="1A1A1A"/>
                </a:solidFill>
                <a:latin typeface="Meiryo" pitchFamily="34" charset="0"/>
                <a:ea typeface="Meiryo" pitchFamily="34" charset="-122"/>
                <a:cs typeface="Meiryo" pitchFamily="34" charset="-120"/>
              </a:rPr>
              <a:t>前提04: デザインの方向性は、参考サイトのご提示をいただいてから別紙でご提案します</a:t>
            </a:r>
            <a:endParaRPr lang="en-US" sz="1300" dirty="0"/>
          </a:p>
          <a:p>
            <a:pPr marL="342900" indent="-342900">
              <a:lnSpc>
                <a:spcPct val="130000"/>
              </a:lnSpc>
              <a:buSzPct val="100000"/>
              <a:buChar char="•"/>
            </a:pPr>
            <a:r>
              <a:rPr lang="en-US" sz="1300" dirty="0">
                <a:solidFill>
                  <a:srgbClr val="1A1A1A"/>
                </a:solidFill>
                <a:latin typeface="Meiryo" pitchFamily="34" charset="0"/>
                <a:ea typeface="Meiryo" pitchFamily="34" charset="-122"/>
                <a:cs typeface="Meiryo" pitchFamily="34" charset="-120"/>
              </a:rPr>
              <a:t>前提05: 周年（2026年 中学25周年／2030年 高校50周年）をサイトで扱うかは未確定です。扱う場合はページ数が増えます</a:t>
            </a:r>
            <a:endParaRPr lang="en-US" sz="1300" dirty="0"/>
          </a:p>
          <a:p>
            <a:pPr marL="342900" indent="-342900">
              <a:lnSpc>
                <a:spcPct val="130000"/>
              </a:lnSpc>
              <a:buSzPct val="100000"/>
              <a:buChar char="•"/>
            </a:pPr>
            <a:r>
              <a:rPr lang="en-US" sz="1300" dirty="0">
                <a:solidFill>
                  <a:srgbClr val="1A1A1A"/>
                </a:solidFill>
                <a:latin typeface="Meiryo" pitchFamily="34" charset="0"/>
                <a:ea typeface="Meiryo" pitchFamily="34" charset="-122"/>
                <a:cs typeface="Meiryo" pitchFamily="34" charset="-120"/>
              </a:rPr>
              <a:t>前提06: 制作は弊社内で一貫して行います（デザイン・コーディングとも外注しません）</a:t>
            </a:r>
            <a:endParaRPr lang="en-US" sz="1300" dirty="0"/>
          </a:p>
        </p:txBody>
      </p:sp>
      <p:sp>
        <p:nvSpPr>
          <p:cNvPr id="7" name="Text 5"/>
          <p:cNvSpPr/>
          <p:nvPr/>
        </p:nvSpPr>
        <p:spPr>
          <a:xfrm>
            <a:off x="502920" y="4759452"/>
            <a:ext cx="6949440" cy="228600"/>
          </a:xfrm>
          <a:prstGeom prst="rect">
            <a:avLst/>
          </a:prstGeom>
          <a:noFill/>
          <a:ln/>
        </p:spPr>
        <p:txBody>
          <a:bodyPr wrap="square" rtlCol="0" anchor="ctr"/>
          <a:lstStyle/>
          <a:p>
            <a:pPr indent="0" marL="0">
              <a:buNone/>
            </a:pPr>
            <a:r>
              <a:rPr lang="en-US" sz="900" dirty="0">
                <a:solidFill>
                  <a:srgbClr val="6B6B6B"/>
                </a:solidFill>
                <a:latin typeface="Meiryo" pitchFamily="34" charset="0"/>
                <a:ea typeface="Meiryo" pitchFamily="34" charset="-122"/>
                <a:cs typeface="Meiryo" pitchFamily="34" charset="-120"/>
              </a:rPr>
              <a:t>出典: projects/johoku-saitama/research/brief.md（2026-07-03 ヒアリング・Backlog GG_ORDER-4733）</a:t>
            </a:r>
            <a:endParaRPr lang="en-US" sz="900" dirty="0"/>
          </a:p>
        </p:txBody>
      </p:sp>
      <p:sp>
        <p:nvSpPr>
          <p:cNvPr id="8" name="Text 6"/>
          <p:cNvSpPr/>
          <p:nvPr/>
        </p:nvSpPr>
        <p:spPr>
          <a:xfrm>
            <a:off x="7543800" y="4759452"/>
            <a:ext cx="1097280" cy="228600"/>
          </a:xfrm>
          <a:prstGeom prst="rect">
            <a:avLst/>
          </a:prstGeom>
          <a:noFill/>
          <a:ln/>
        </p:spPr>
        <p:txBody>
          <a:bodyPr wrap="square" rtlCol="0" anchor="ctr"/>
          <a:lstStyle/>
          <a:p>
            <a:pPr algn="r" indent="0" marL="0">
              <a:buNone/>
            </a:pPr>
            <a:r>
              <a:rPr lang="en-US" sz="900" dirty="0">
                <a:solidFill>
                  <a:srgbClr val="6B6B6B"/>
                </a:solidFill>
                <a:latin typeface="Meiryo" pitchFamily="34" charset="0"/>
                <a:ea typeface="Meiryo" pitchFamily="34" charset="-122"/>
                <a:cs typeface="Meiryo" pitchFamily="34" charset="-120"/>
              </a:rPr>
              <a:t>08|82</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502920" y="502920"/>
            <a:ext cx="8138160" cy="228600"/>
          </a:xfrm>
          <a:prstGeom prst="rect">
            <a:avLst/>
          </a:prstGeom>
          <a:noFill/>
          <a:ln/>
        </p:spPr>
        <p:txBody>
          <a:bodyPr wrap="square" rtlCol="0" anchor="ctr"/>
          <a:lstStyle/>
          <a:p>
            <a:pPr indent="0" marL="0">
              <a:buNone/>
            </a:pPr>
            <a:r>
              <a:rPr lang="en-US" sz="1000" dirty="0">
                <a:solidFill>
                  <a:srgbClr val="6B6B6B"/>
                </a:solidFill>
                <a:latin typeface="Meiryo" pitchFamily="34" charset="0"/>
                <a:ea typeface="Meiryo" pitchFamily="34" charset="-122"/>
                <a:cs typeface="Meiryo" pitchFamily="34" charset="-120"/>
              </a:rPr>
              <a:t>01 Requirement</a:t>
            </a:r>
            <a:endParaRPr lang="en-US" sz="1000" dirty="0"/>
          </a:p>
        </p:txBody>
      </p:sp>
      <p:sp>
        <p:nvSpPr>
          <p:cNvPr id="3" name="Text 1"/>
          <p:cNvSpPr/>
          <p:nvPr/>
        </p:nvSpPr>
        <p:spPr>
          <a:xfrm>
            <a:off x="502920" y="777240"/>
            <a:ext cx="8138160" cy="457200"/>
          </a:xfrm>
          <a:prstGeom prst="rect">
            <a:avLst/>
          </a:prstGeom>
          <a:noFill/>
          <a:ln/>
        </p:spPr>
        <p:txBody>
          <a:bodyPr wrap="square" rtlCol="0" anchor="ctr"/>
          <a:lstStyle/>
          <a:p>
            <a:pPr indent="0" marL="0">
              <a:buNone/>
            </a:pPr>
            <a:r>
              <a:rPr lang="en-US" sz="2000" b="1" dirty="0">
                <a:solidFill>
                  <a:srgbClr val="1A1A1A"/>
                </a:solidFill>
                <a:latin typeface="Meiryo" pitchFamily="34" charset="0"/>
                <a:ea typeface="Meiryo" pitchFamily="34" charset="-122"/>
                <a:cs typeface="Meiryo" pitchFamily="34" charset="-120"/>
              </a:rPr>
              <a:t>ご確認をお願いしたい事項</a:t>
            </a:r>
            <a:endParaRPr lang="en-US" sz="2000" dirty="0"/>
          </a:p>
        </p:txBody>
      </p:sp>
      <p:sp>
        <p:nvSpPr>
          <p:cNvPr id="4" name="Shape 2"/>
          <p:cNvSpPr/>
          <p:nvPr/>
        </p:nvSpPr>
        <p:spPr>
          <a:xfrm>
            <a:off x="502920" y="1280160"/>
            <a:ext cx="8138160" cy="0"/>
          </a:xfrm>
          <a:prstGeom prst="line">
            <a:avLst/>
          </a:prstGeom>
          <a:noFill/>
          <a:ln w="12700">
            <a:solidFill>
              <a:srgbClr val="D5D5D5"/>
            </a:solidFill>
            <a:prstDash val="solid"/>
          </a:ln>
        </p:spPr>
      </p:sp>
      <p:sp>
        <p:nvSpPr>
          <p:cNvPr id="5" name="Text 3"/>
          <p:cNvSpPr/>
          <p:nvPr/>
        </p:nvSpPr>
        <p:spPr>
          <a:xfrm>
            <a:off x="502920" y="1417320"/>
            <a:ext cx="8138160" cy="457200"/>
          </a:xfrm>
          <a:prstGeom prst="rect">
            <a:avLst/>
          </a:prstGeom>
          <a:noFill/>
          <a:ln/>
        </p:spPr>
        <p:txBody>
          <a:bodyPr wrap="square" rtlCol="0" anchor="t"/>
          <a:lstStyle/>
          <a:p>
            <a:pPr indent="0" marL="0">
              <a:buNone/>
            </a:pPr>
            <a:r>
              <a:rPr lang="en-US" sz="1200" dirty="0">
                <a:solidFill>
                  <a:srgbClr val="1A1A1A"/>
                </a:solidFill>
                <a:latin typeface="Meiryo" pitchFamily="34" charset="0"/>
                <a:ea typeface="Meiryo" pitchFamily="34" charset="-122"/>
                <a:cs typeface="Meiryo" pitchFamily="34" charset="-120"/>
              </a:rPr>
              <a:t>次の5件について、ご回答またはご対応をお願いします。いずれもサイトマップと見積の確定に必要です。</a:t>
            </a:r>
            <a:endParaRPr lang="en-US" sz="12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02920" y="1965960"/>
          <a:ext cx="8138160" cy="914400"/>
        </p:xfrm>
        <a:graphic>
          <a:graphicData uri="http://schemas.openxmlformats.org/drawingml/2006/table">
            <a:tbl>
              <a:tblPr/>
              <a:tblGrid>
                <a:gridCol w="2034540"/>
                <a:gridCol w="2034540"/>
                <a:gridCol w="2034540"/>
                <a:gridCol w="2034540"/>
              </a:tblGrid>
              <a:tr h="0">
                <a:tc>
                  <a:txBody>
                    <a:bodyPr/>
                    <a:lstStyle/>
                    <a:p>
                      <a:pPr indent="0" marL="0">
                        <a:buNone/>
                      </a:pPr>
                      <a:r>
                        <a:rPr lang="en-US" sz="1100" b="1" dirty="0">
                          <a:solidFill>
                            <a:srgbClr val="FFFFFF"/>
                          </a:solidFill>
                          <a:latin typeface="Meiryo" pitchFamily="34" charset="0"/>
                          <a:ea typeface="Meiryo" pitchFamily="34" charset="-122"/>
                          <a:cs typeface="Meiryo" pitchFamily="34" charset="-120"/>
                        </a:rPr>
                        <a:t>#</a:t>
                      </a:r>
                      <a:endParaRPr lang="en-US" sz="1100" dirty="0">
                        <a:latin typeface="Meiryo" charset="0"/>
                        <a:ea typeface="Meiryo" charset="0"/>
                        <a:cs typeface="Meiryo" charset="0"/>
                      </a:endParaRPr>
                    </a:p>
                  </a:txBody>
                  <a:tcPr marL="91440" marR="91440" marT="45720" marB="45720">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1F3A5F"/>
                    </a:solidFill>
                  </a:tcPr>
                </a:tc>
                <a:tc>
                  <a:txBody>
                    <a:bodyPr/>
                    <a:lstStyle/>
                    <a:p>
                      <a:pPr indent="0" marL="0">
                        <a:buNone/>
                      </a:pPr>
                      <a:r>
                        <a:rPr lang="en-US" sz="1100" b="1" dirty="0">
                          <a:solidFill>
                            <a:srgbClr val="FFFFFF"/>
                          </a:solidFill>
                          <a:latin typeface="Meiryo" pitchFamily="34" charset="0"/>
                          <a:ea typeface="Meiryo" pitchFamily="34" charset="-122"/>
                          <a:cs typeface="Meiryo" pitchFamily="34" charset="-120"/>
                        </a:rPr>
                        <a:t>確認事項</a:t>
                      </a:r>
                      <a:endParaRPr lang="en-US" sz="1100" dirty="0">
                        <a:latin typeface="Meiryo" charset="0"/>
                        <a:ea typeface="Meiryo" charset="0"/>
                        <a:cs typeface="Meiryo" charset="0"/>
                      </a:endParaRPr>
                    </a:p>
                  </a:txBody>
                  <a:tcPr marL="91440" marR="91440" marT="45720" marB="45720">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1F3A5F"/>
                    </a:solidFill>
                  </a:tcPr>
                </a:tc>
                <a:tc>
                  <a:txBody>
                    <a:bodyPr/>
                    <a:lstStyle/>
                    <a:p>
                      <a:pPr indent="0" marL="0">
                        <a:buNone/>
                      </a:pPr>
                      <a:r>
                        <a:rPr lang="en-US" sz="1100" b="1" dirty="0">
                          <a:solidFill>
                            <a:srgbClr val="FFFFFF"/>
                          </a:solidFill>
                          <a:latin typeface="Meiryo" pitchFamily="34" charset="0"/>
                          <a:ea typeface="Meiryo" pitchFamily="34" charset="-122"/>
                          <a:cs typeface="Meiryo" pitchFamily="34" charset="-120"/>
                        </a:rPr>
                        <a:t>ご依頼先</a:t>
                      </a:r>
                      <a:endParaRPr lang="en-US" sz="1100" dirty="0">
                        <a:latin typeface="Meiryo" charset="0"/>
                        <a:ea typeface="Meiryo" charset="0"/>
                        <a:cs typeface="Meiryo" charset="0"/>
                      </a:endParaRPr>
                    </a:p>
                  </a:txBody>
                  <a:tcPr marL="91440" marR="91440" marT="45720" marB="45720">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1F3A5F"/>
                    </a:solidFill>
                  </a:tcPr>
                </a:tc>
                <a:tc>
                  <a:txBody>
                    <a:bodyPr/>
                    <a:lstStyle/>
                    <a:p>
                      <a:pPr indent="0" marL="0">
                        <a:buNone/>
                      </a:pPr>
                      <a:r>
                        <a:rPr lang="en-US" sz="1100" b="1" dirty="0">
                          <a:solidFill>
                            <a:srgbClr val="FFFFFF"/>
                          </a:solidFill>
                          <a:latin typeface="Meiryo" pitchFamily="34" charset="0"/>
                          <a:ea typeface="Meiryo" pitchFamily="34" charset="-122"/>
                          <a:cs typeface="Meiryo" pitchFamily="34" charset="-120"/>
                        </a:rPr>
                        <a:t>確定しないと困ること</a:t>
                      </a:r>
                      <a:endParaRPr lang="en-US" sz="1100" dirty="0">
                        <a:latin typeface="Meiryo" charset="0"/>
                        <a:ea typeface="Meiryo" charset="0"/>
                        <a:cs typeface="Meiryo" charset="0"/>
                      </a:endParaRPr>
                    </a:p>
                  </a:txBody>
                  <a:tcPr marL="91440" marR="91440" marT="45720" marB="45720">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1F3A5F"/>
                    </a:solidFill>
                  </a:tcPr>
                </a:tc>
              </a:tr>
              <a:tr h="0">
                <a:tc>
                  <a:txBody>
                    <a:bodyPr/>
                    <a:lstStyle/>
                    <a:p>
                      <a:pPr indent="0" marL="0">
                        <a:buNone/>
                      </a:pPr>
                      <a:r>
                        <a:rPr lang="en-US" sz="1100" dirty="0">
                          <a:solidFill>
                            <a:srgbClr val="1A1A1A"/>
                          </a:solidFill>
                          <a:latin typeface="Meiryo" pitchFamily="34" charset="0"/>
                          <a:ea typeface="Meiryo" pitchFamily="34" charset="-122"/>
                          <a:cs typeface="Meiryo" pitchFamily="34" charset="-120"/>
                        </a:rPr>
                        <a:t>1</a:t>
                      </a:r>
                      <a:endParaRPr lang="en-US" sz="1100" dirty="0">
                        <a:latin typeface="Meiryo" charset="0"/>
                        <a:ea typeface="Meiryo" charset="0"/>
                        <a:cs typeface="Meiryo" charset="0"/>
                      </a:endParaRPr>
                    </a:p>
                  </a:txBody>
                  <a:tcPr marL="91440" marR="91440" marT="45720" marB="45720">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tcPr>
                </a:tc>
                <a:tc>
                  <a:txBody>
                    <a:bodyPr/>
                    <a:lstStyle/>
                    <a:p>
                      <a:pPr indent="0" marL="0">
                        <a:buNone/>
                      </a:pPr>
                      <a:r>
                        <a:rPr lang="en-US" sz="1100" dirty="0">
                          <a:solidFill>
                            <a:srgbClr val="1A1A1A"/>
                          </a:solidFill>
                          <a:latin typeface="Meiryo" pitchFamily="34" charset="0"/>
                          <a:ea typeface="Meiryo" pitchFamily="34" charset="-122"/>
                          <a:cs typeface="Meiryo" pitchFamily="34" charset="-120"/>
                        </a:rPr>
                        <a:t>GA4のアクセス権付与（スマートフォン比率・現状セッションの確認）</a:t>
                      </a:r>
                      <a:endParaRPr lang="en-US" sz="1100" dirty="0">
                        <a:latin typeface="Meiryo" charset="0"/>
                        <a:ea typeface="Meiryo" charset="0"/>
                        <a:cs typeface="Meiryo" charset="0"/>
                      </a:endParaRPr>
                    </a:p>
                  </a:txBody>
                  <a:tcPr marL="91440" marR="91440" marT="45720" marB="45720">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tcPr>
                </a:tc>
                <a:tc>
                  <a:txBody>
                    <a:bodyPr/>
                    <a:lstStyle/>
                    <a:p>
                      <a:pPr indent="0" marL="0">
                        <a:buNone/>
                      </a:pPr>
                      <a:r>
                        <a:rPr lang="en-US" sz="1100" dirty="0">
                          <a:solidFill>
                            <a:srgbClr val="1A1A1A"/>
                          </a:solidFill>
                          <a:latin typeface="Meiryo" pitchFamily="34" charset="0"/>
                          <a:ea typeface="Meiryo" pitchFamily="34" charset="-122"/>
                          <a:cs typeface="Meiryo" pitchFamily="34" charset="-120"/>
                        </a:rPr>
                        <a:t>貴校</a:t>
                      </a:r>
                      <a:endParaRPr lang="en-US" sz="1100" dirty="0">
                        <a:latin typeface="Meiryo" charset="0"/>
                        <a:ea typeface="Meiryo" charset="0"/>
                        <a:cs typeface="Meiryo" charset="0"/>
                      </a:endParaRPr>
                    </a:p>
                  </a:txBody>
                  <a:tcPr marL="91440" marR="91440" marT="45720" marB="45720">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tcPr>
                </a:tc>
                <a:tc>
                  <a:txBody>
                    <a:bodyPr/>
                    <a:lstStyle/>
                    <a:p>
                      <a:pPr indent="0" marL="0">
                        <a:buNone/>
                      </a:pPr>
                      <a:r>
                        <a:rPr lang="en-US" sz="1100" dirty="0">
                          <a:solidFill>
                            <a:srgbClr val="1A1A1A"/>
                          </a:solidFill>
                          <a:latin typeface="Meiryo" pitchFamily="34" charset="0"/>
                          <a:ea typeface="Meiryo" pitchFamily="34" charset="-122"/>
                          <a:cs typeface="Meiryo" pitchFamily="34" charset="-120"/>
                        </a:rPr>
                        <a:t>数値目標が置けません</a:t>
                      </a:r>
                      <a:endParaRPr lang="en-US" sz="1100" dirty="0">
                        <a:latin typeface="Meiryo" charset="0"/>
                        <a:ea typeface="Meiryo" charset="0"/>
                        <a:cs typeface="Meiryo" charset="0"/>
                      </a:endParaRPr>
                    </a:p>
                  </a:txBody>
                  <a:tcPr marL="91440" marR="91440" marT="45720" marB="45720">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tcPr>
                </a:tc>
              </a:tr>
              <a:tr h="0">
                <a:tc>
                  <a:txBody>
                    <a:bodyPr/>
                    <a:lstStyle/>
                    <a:p>
                      <a:pPr indent="0" marL="0">
                        <a:buNone/>
                      </a:pPr>
                      <a:r>
                        <a:rPr lang="en-US" sz="1100" dirty="0">
                          <a:solidFill>
                            <a:srgbClr val="1A1A1A"/>
                          </a:solidFill>
                          <a:latin typeface="Meiryo" pitchFamily="34" charset="0"/>
                          <a:ea typeface="Meiryo" pitchFamily="34" charset="-122"/>
                          <a:cs typeface="Meiryo" pitchFamily="34" charset="-120"/>
                        </a:rPr>
                        <a:t>2</a:t>
                      </a:r>
                      <a:endParaRPr lang="en-US" sz="1100" dirty="0">
                        <a:latin typeface="Meiryo" charset="0"/>
                        <a:ea typeface="Meiryo" charset="0"/>
                        <a:cs typeface="Meiryo" charset="0"/>
                      </a:endParaRPr>
                    </a:p>
                  </a:txBody>
                  <a:tcPr marL="91440" marR="91440" marT="45720" marB="45720">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tcPr>
                </a:tc>
                <a:tc>
                  <a:txBody>
                    <a:bodyPr/>
                    <a:lstStyle/>
                    <a:p>
                      <a:pPr indent="0" marL="0">
                        <a:buNone/>
                      </a:pPr>
                      <a:r>
                        <a:rPr lang="en-US" sz="1100" dirty="0">
                          <a:solidFill>
                            <a:srgbClr val="1A1A1A"/>
                          </a:solidFill>
                          <a:latin typeface="Meiryo" pitchFamily="34" charset="0"/>
                          <a:ea typeface="Meiryo" pitchFamily="34" charset="-122"/>
                          <a:cs typeface="Meiryo" pitchFamily="34" charset="-120"/>
                        </a:rPr>
                        <a:t>記事の実数（2,365件と2,321件の差44件）</a:t>
                      </a:r>
                      <a:endParaRPr lang="en-US" sz="1100" dirty="0">
                        <a:latin typeface="Meiryo" charset="0"/>
                        <a:ea typeface="Meiryo" charset="0"/>
                        <a:cs typeface="Meiryo" charset="0"/>
                      </a:endParaRPr>
                    </a:p>
                  </a:txBody>
                  <a:tcPr marL="91440" marR="91440" marT="45720" marB="45720">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tcPr>
                </a:tc>
                <a:tc>
                  <a:txBody>
                    <a:bodyPr/>
                    <a:lstStyle/>
                    <a:p>
                      <a:pPr indent="0" marL="0">
                        <a:buNone/>
                      </a:pPr>
                      <a:r>
                        <a:rPr lang="en-US" sz="1100" dirty="0">
                          <a:solidFill>
                            <a:srgbClr val="1A1A1A"/>
                          </a:solidFill>
                          <a:latin typeface="Meiryo" pitchFamily="34" charset="0"/>
                          <a:ea typeface="Meiryo" pitchFamily="34" charset="-122"/>
                          <a:cs typeface="Meiryo" pitchFamily="34" charset="-120"/>
                        </a:rPr>
                        <a:t>弊社内で照合</a:t>
                      </a:r>
                      <a:endParaRPr lang="en-US" sz="1100" dirty="0">
                        <a:latin typeface="Meiryo" charset="0"/>
                        <a:ea typeface="Meiryo" charset="0"/>
                        <a:cs typeface="Meiryo" charset="0"/>
                      </a:endParaRPr>
                    </a:p>
                  </a:txBody>
                  <a:tcPr marL="91440" marR="91440" marT="45720" marB="45720">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tcPr>
                </a:tc>
                <a:tc>
                  <a:txBody>
                    <a:bodyPr/>
                    <a:lstStyle/>
                    <a:p>
                      <a:pPr indent="0" marL="0">
                        <a:buNone/>
                      </a:pPr>
                      <a:r>
                        <a:rPr lang="en-US" sz="1100" dirty="0">
                          <a:solidFill>
                            <a:srgbClr val="1A1A1A"/>
                          </a:solidFill>
                          <a:latin typeface="Meiryo" pitchFamily="34" charset="0"/>
                          <a:ea typeface="Meiryo" pitchFamily="34" charset="-122"/>
                          <a:cs typeface="Meiryo" pitchFamily="34" charset="-120"/>
                        </a:rPr>
                        <a:t>移行見積の根拠が定まりません</a:t>
                      </a:r>
                      <a:endParaRPr lang="en-US" sz="1100" dirty="0">
                        <a:latin typeface="Meiryo" charset="0"/>
                        <a:ea typeface="Meiryo" charset="0"/>
                        <a:cs typeface="Meiryo" charset="0"/>
                      </a:endParaRPr>
                    </a:p>
                  </a:txBody>
                  <a:tcPr marL="91440" marR="91440" marT="45720" marB="45720">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tcPr>
                </a:tc>
              </a:tr>
              <a:tr h="0">
                <a:tc>
                  <a:txBody>
                    <a:bodyPr/>
                    <a:lstStyle/>
                    <a:p>
                      <a:pPr indent="0" marL="0">
                        <a:buNone/>
                      </a:pPr>
                      <a:r>
                        <a:rPr lang="en-US" sz="1100" dirty="0">
                          <a:solidFill>
                            <a:srgbClr val="1A1A1A"/>
                          </a:solidFill>
                          <a:latin typeface="Meiryo" pitchFamily="34" charset="0"/>
                          <a:ea typeface="Meiryo" pitchFamily="34" charset="-122"/>
                          <a:cs typeface="Meiryo" pitchFamily="34" charset="-120"/>
                        </a:rPr>
                        <a:t>3</a:t>
                      </a:r>
                      <a:endParaRPr lang="en-US" sz="1100" dirty="0">
                        <a:latin typeface="Meiryo" charset="0"/>
                        <a:ea typeface="Meiryo" charset="0"/>
                        <a:cs typeface="Meiryo" charset="0"/>
                      </a:endParaRPr>
                    </a:p>
                  </a:txBody>
                  <a:tcPr marL="91440" marR="91440" marT="45720" marB="45720">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tcPr>
                </a:tc>
                <a:tc>
                  <a:txBody>
                    <a:bodyPr/>
                    <a:lstStyle/>
                    <a:p>
                      <a:pPr indent="0" marL="0">
                        <a:buNone/>
                      </a:pPr>
                      <a:r>
                        <a:rPr lang="en-US" sz="1100" dirty="0">
                          <a:solidFill>
                            <a:srgbClr val="1A1A1A"/>
                          </a:solidFill>
                          <a:latin typeface="Meiryo" pitchFamily="34" charset="0"/>
                          <a:ea typeface="Meiryo" pitchFamily="34" charset="-122"/>
                          <a:cs typeface="Meiryo" pitchFamily="34" charset="-120"/>
                        </a:rPr>
                        <a:t>ご発注プランの確定（設計16P・デザイン11Pの対応行）</a:t>
                      </a:r>
                      <a:endParaRPr lang="en-US" sz="1100" dirty="0">
                        <a:latin typeface="Meiryo" charset="0"/>
                        <a:ea typeface="Meiryo" charset="0"/>
                        <a:cs typeface="Meiryo" charset="0"/>
                      </a:endParaRPr>
                    </a:p>
                  </a:txBody>
                  <a:tcPr marL="91440" marR="91440" marT="45720" marB="45720">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tcPr>
                </a:tc>
                <a:tc>
                  <a:txBody>
                    <a:bodyPr/>
                    <a:lstStyle/>
                    <a:p>
                      <a:pPr indent="0" marL="0">
                        <a:buNone/>
                      </a:pPr>
                      <a:r>
                        <a:rPr lang="en-US" sz="1100" dirty="0">
                          <a:solidFill>
                            <a:srgbClr val="1A1A1A"/>
                          </a:solidFill>
                          <a:latin typeface="Meiryo" pitchFamily="34" charset="0"/>
                          <a:ea typeface="Meiryo" pitchFamily="34" charset="-122"/>
                          <a:cs typeface="Meiryo" pitchFamily="34" charset="-120"/>
                        </a:rPr>
                        <a:t>弊社内</a:t>
                      </a:r>
                      <a:endParaRPr lang="en-US" sz="1100" dirty="0">
                        <a:latin typeface="Meiryo" charset="0"/>
                        <a:ea typeface="Meiryo" charset="0"/>
                        <a:cs typeface="Meiryo" charset="0"/>
                      </a:endParaRPr>
                    </a:p>
                  </a:txBody>
                  <a:tcPr marL="91440" marR="91440" marT="45720" marB="45720">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tcPr>
                </a:tc>
                <a:tc>
                  <a:txBody>
                    <a:bodyPr/>
                    <a:lstStyle/>
                    <a:p>
                      <a:pPr indent="0" marL="0">
                        <a:buNone/>
                      </a:pPr>
                      <a:r>
                        <a:rPr lang="en-US" sz="1100" dirty="0">
                          <a:solidFill>
                            <a:srgbClr val="1A1A1A"/>
                          </a:solidFill>
                          <a:latin typeface="Meiryo" pitchFamily="34" charset="0"/>
                          <a:ea typeface="Meiryo" pitchFamily="34" charset="-122"/>
                          <a:cs typeface="Meiryo" pitchFamily="34" charset="-120"/>
                        </a:rPr>
                        <a:t>制作範囲の線引きが定まりません</a:t>
                      </a:r>
                      <a:endParaRPr lang="en-US" sz="1100" dirty="0">
                        <a:latin typeface="Meiryo" charset="0"/>
                        <a:ea typeface="Meiryo" charset="0"/>
                        <a:cs typeface="Meiryo" charset="0"/>
                      </a:endParaRPr>
                    </a:p>
                  </a:txBody>
                  <a:tcPr marL="91440" marR="91440" marT="45720" marB="45720">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tcPr>
                </a:tc>
              </a:tr>
              <a:tr h="0">
                <a:tc>
                  <a:txBody>
                    <a:bodyPr/>
                    <a:lstStyle/>
                    <a:p>
                      <a:pPr indent="0" marL="0">
                        <a:buNone/>
                      </a:pPr>
                      <a:r>
                        <a:rPr lang="en-US" sz="1100" dirty="0">
                          <a:solidFill>
                            <a:srgbClr val="1A1A1A"/>
                          </a:solidFill>
                          <a:latin typeface="Meiryo" pitchFamily="34" charset="0"/>
                          <a:ea typeface="Meiryo" pitchFamily="34" charset="-122"/>
                          <a:cs typeface="Meiryo" pitchFamily="34" charset="-120"/>
                        </a:rPr>
                        <a:t>4</a:t>
                      </a:r>
                      <a:endParaRPr lang="en-US" sz="1100" dirty="0">
                        <a:latin typeface="Meiryo" charset="0"/>
                        <a:ea typeface="Meiryo" charset="0"/>
                        <a:cs typeface="Meiryo" charset="0"/>
                      </a:endParaRPr>
                    </a:p>
                  </a:txBody>
                  <a:tcPr marL="91440" marR="91440" marT="45720" marB="45720">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tcPr>
                </a:tc>
                <a:tc>
                  <a:txBody>
                    <a:bodyPr/>
                    <a:lstStyle/>
                    <a:p>
                      <a:pPr indent="0" marL="0">
                        <a:buNone/>
                      </a:pPr>
                      <a:r>
                        <a:rPr lang="en-US" sz="1100" dirty="0">
                          <a:solidFill>
                            <a:srgbClr val="1A1A1A"/>
                          </a:solidFill>
                          <a:latin typeface="Meiryo" pitchFamily="34" charset="0"/>
                          <a:ea typeface="Meiryo" pitchFamily="34" charset="-122"/>
                          <a:cs typeface="Meiryo" pitchFamily="34" charset="-120"/>
                        </a:rPr>
                        <a:t>周年をサイトで扱うかどうか</a:t>
                      </a:r>
                      <a:endParaRPr lang="en-US" sz="1100" dirty="0">
                        <a:latin typeface="Meiryo" charset="0"/>
                        <a:ea typeface="Meiryo" charset="0"/>
                        <a:cs typeface="Meiryo" charset="0"/>
                      </a:endParaRPr>
                    </a:p>
                  </a:txBody>
                  <a:tcPr marL="91440" marR="91440" marT="45720" marB="45720">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tcPr>
                </a:tc>
                <a:tc>
                  <a:txBody>
                    <a:bodyPr/>
                    <a:lstStyle/>
                    <a:p>
                      <a:pPr indent="0" marL="0">
                        <a:buNone/>
                      </a:pPr>
                      <a:r>
                        <a:rPr lang="en-US" sz="1100" dirty="0">
                          <a:solidFill>
                            <a:srgbClr val="1A1A1A"/>
                          </a:solidFill>
                          <a:latin typeface="Meiryo" pitchFamily="34" charset="0"/>
                          <a:ea typeface="Meiryo" pitchFamily="34" charset="-122"/>
                          <a:cs typeface="Meiryo" pitchFamily="34" charset="-120"/>
                        </a:rPr>
                        <a:t>貴校</a:t>
                      </a:r>
                      <a:endParaRPr lang="en-US" sz="1100" dirty="0">
                        <a:latin typeface="Meiryo" charset="0"/>
                        <a:ea typeface="Meiryo" charset="0"/>
                        <a:cs typeface="Meiryo" charset="0"/>
                      </a:endParaRPr>
                    </a:p>
                  </a:txBody>
                  <a:tcPr marL="91440" marR="91440" marT="45720" marB="45720">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tcPr>
                </a:tc>
                <a:tc>
                  <a:txBody>
                    <a:bodyPr/>
                    <a:lstStyle/>
                    <a:p>
                      <a:pPr indent="0" marL="0">
                        <a:buNone/>
                      </a:pPr>
                      <a:r>
                        <a:rPr lang="en-US" sz="1100" dirty="0">
                          <a:solidFill>
                            <a:srgbClr val="1A1A1A"/>
                          </a:solidFill>
                          <a:latin typeface="Meiryo" pitchFamily="34" charset="0"/>
                          <a:ea typeface="Meiryo" pitchFamily="34" charset="-122"/>
                          <a:cs typeface="Meiryo" pitchFamily="34" charset="-120"/>
                        </a:rPr>
                        <a:t>ページ数が変わります</a:t>
                      </a:r>
                      <a:endParaRPr lang="en-US" sz="1100" dirty="0">
                        <a:latin typeface="Meiryo" charset="0"/>
                        <a:ea typeface="Meiryo" charset="0"/>
                        <a:cs typeface="Meiryo" charset="0"/>
                      </a:endParaRPr>
                    </a:p>
                  </a:txBody>
                  <a:tcPr marL="91440" marR="91440" marT="45720" marB="45720">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tcPr>
                </a:tc>
              </a:tr>
              <a:tr h="0">
                <a:tc>
                  <a:txBody>
                    <a:bodyPr/>
                    <a:lstStyle/>
                    <a:p>
                      <a:pPr indent="0" marL="0">
                        <a:buNone/>
                      </a:pPr>
                      <a:r>
                        <a:rPr lang="en-US" sz="1100" dirty="0">
                          <a:solidFill>
                            <a:srgbClr val="1A1A1A"/>
                          </a:solidFill>
                          <a:latin typeface="Meiryo" pitchFamily="34" charset="0"/>
                          <a:ea typeface="Meiryo" pitchFamily="34" charset="-122"/>
                          <a:cs typeface="Meiryo" pitchFamily="34" charset="-120"/>
                        </a:rPr>
                        <a:t>5</a:t>
                      </a:r>
                      <a:endParaRPr lang="en-US" sz="1100" dirty="0">
                        <a:latin typeface="Meiryo" charset="0"/>
                        <a:ea typeface="Meiryo" charset="0"/>
                        <a:cs typeface="Meiryo" charset="0"/>
                      </a:endParaRPr>
                    </a:p>
                  </a:txBody>
                  <a:tcPr marL="91440" marR="91440" marT="45720" marB="45720">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tcPr>
                </a:tc>
                <a:tc>
                  <a:txBody>
                    <a:bodyPr/>
                    <a:lstStyle/>
                    <a:p>
                      <a:pPr indent="0" marL="0">
                        <a:buNone/>
                      </a:pPr>
                      <a:r>
                        <a:rPr lang="en-US" sz="1100" dirty="0">
                          <a:solidFill>
                            <a:srgbClr val="1A1A1A"/>
                          </a:solidFill>
                          <a:latin typeface="Meiryo" pitchFamily="34" charset="0"/>
                          <a:ea typeface="Meiryo" pitchFamily="34" charset="-122"/>
                          <a:cs typeface="Meiryo" pitchFamily="34" charset="-120"/>
                        </a:rPr>
                        <a:t>参考サイト・デザインの方向性</a:t>
                      </a:r>
                      <a:endParaRPr lang="en-US" sz="1100" dirty="0">
                        <a:latin typeface="Meiryo" charset="0"/>
                        <a:ea typeface="Meiryo" charset="0"/>
                        <a:cs typeface="Meiryo" charset="0"/>
                      </a:endParaRPr>
                    </a:p>
                  </a:txBody>
                  <a:tcPr marL="91440" marR="91440" marT="45720" marB="45720">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tcPr>
                </a:tc>
                <a:tc>
                  <a:txBody>
                    <a:bodyPr/>
                    <a:lstStyle/>
                    <a:p>
                      <a:pPr indent="0" marL="0">
                        <a:buNone/>
                      </a:pPr>
                      <a:r>
                        <a:rPr lang="en-US" sz="1100" dirty="0">
                          <a:solidFill>
                            <a:srgbClr val="1A1A1A"/>
                          </a:solidFill>
                          <a:latin typeface="Meiryo" pitchFamily="34" charset="0"/>
                          <a:ea typeface="Meiryo" pitchFamily="34" charset="-122"/>
                          <a:cs typeface="Meiryo" pitchFamily="34" charset="-120"/>
                        </a:rPr>
                        <a:t>貴校</a:t>
                      </a:r>
                      <a:endParaRPr lang="en-US" sz="1100" dirty="0">
                        <a:latin typeface="Meiryo" charset="0"/>
                        <a:ea typeface="Meiryo" charset="0"/>
                        <a:cs typeface="Meiryo" charset="0"/>
                      </a:endParaRPr>
                    </a:p>
                  </a:txBody>
                  <a:tcPr marL="91440" marR="91440" marT="45720" marB="45720">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tcPr>
                </a:tc>
                <a:tc>
                  <a:txBody>
                    <a:bodyPr/>
                    <a:lstStyle/>
                    <a:p>
                      <a:pPr indent="0" marL="0">
                        <a:buNone/>
                      </a:pPr>
                      <a:r>
                        <a:rPr lang="en-US" sz="1100" dirty="0">
                          <a:solidFill>
                            <a:srgbClr val="1A1A1A"/>
                          </a:solidFill>
                          <a:latin typeface="Meiryo" pitchFamily="34" charset="0"/>
                          <a:ea typeface="Meiryo" pitchFamily="34" charset="-122"/>
                          <a:cs typeface="Meiryo" pitchFamily="34" charset="-120"/>
                        </a:rPr>
                        <a:t>デザイン工程に入れません</a:t>
                      </a:r>
                      <a:endParaRPr lang="en-US" sz="1100" dirty="0">
                        <a:latin typeface="Meiryo" charset="0"/>
                        <a:ea typeface="Meiryo" charset="0"/>
                        <a:cs typeface="Meiryo" charset="0"/>
                      </a:endParaRPr>
                    </a:p>
                  </a:txBody>
                  <a:tcPr marL="91440" marR="91440" marT="45720" marB="45720">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tcPr>
                </a:tc>
              </a:tr>
            </a:tbl>
          </a:graphicData>
        </a:graphic>
      </p:graphicFrame>
      <p:sp>
        <p:nvSpPr>
          <p:cNvPr id="7" name="Text 4"/>
          <p:cNvSpPr/>
          <p:nvPr/>
        </p:nvSpPr>
        <p:spPr>
          <a:xfrm>
            <a:off x="502920" y="4759452"/>
            <a:ext cx="6949440" cy="228600"/>
          </a:xfrm>
          <a:prstGeom prst="rect">
            <a:avLst/>
          </a:prstGeom>
          <a:noFill/>
          <a:ln/>
        </p:spPr>
        <p:txBody>
          <a:bodyPr wrap="square" rtlCol="0" anchor="ctr"/>
          <a:lstStyle/>
          <a:p>
            <a:pPr indent="0" marL="0">
              <a:buNone/>
            </a:pPr>
            <a:r>
              <a:rPr lang="en-US" sz="900" dirty="0">
                <a:solidFill>
                  <a:srgbClr val="6B6B6B"/>
                </a:solidFill>
                <a:latin typeface="Meiryo" pitchFamily="34" charset="0"/>
                <a:ea typeface="Meiryo" pitchFamily="34" charset="-122"/>
                <a:cs typeface="Meiryo" pitchFamily="34" charset="-120"/>
              </a:rPr>
              <a:t>出典: projects/johoku-saitama/research/brief.md（2026-07-03 ヒアリング・Backlog GG_ORDER-4733）</a:t>
            </a:r>
            <a:endParaRPr lang="en-US" sz="900" dirty="0"/>
          </a:p>
        </p:txBody>
      </p:sp>
      <p:sp>
        <p:nvSpPr>
          <p:cNvPr id="8" name="Text 5"/>
          <p:cNvSpPr/>
          <p:nvPr/>
        </p:nvSpPr>
        <p:spPr>
          <a:xfrm>
            <a:off x="7543800" y="4759452"/>
            <a:ext cx="1097280" cy="228600"/>
          </a:xfrm>
          <a:prstGeom prst="rect">
            <a:avLst/>
          </a:prstGeom>
          <a:noFill/>
          <a:ln/>
        </p:spPr>
        <p:txBody>
          <a:bodyPr wrap="square" rtlCol="0" anchor="ctr"/>
          <a:lstStyle/>
          <a:p>
            <a:pPr algn="r" indent="0" marL="0">
              <a:buNone/>
            </a:pPr>
            <a:r>
              <a:rPr lang="en-US" sz="900" dirty="0">
                <a:solidFill>
                  <a:srgbClr val="6B6B6B"/>
                </a:solidFill>
                <a:latin typeface="Meiryo" pitchFamily="34" charset="0"/>
                <a:ea typeface="Meiryo" pitchFamily="34" charset="-122"/>
                <a:cs typeface="Meiryo" pitchFamily="34" charset="-120"/>
              </a:rPr>
              <a:t>09|82</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F3A5F"/>
        </a:solidFill>
      </p:bgPr>
    </p:bg>
    <p:spTree>
      <p:nvGrpSpPr>
        <p:cNvPr id="1" name=""/>
        <p:cNvGrpSpPr/>
        <p:nvPr/>
      </p:nvGrpSpPr>
      <p:grpSpPr>
        <a:xfrm>
          <a:off x="0" y="0"/>
          <a:ext cx="0" cy="0"/>
          <a:chOff x="0" y="0"/>
          <a:chExt cx="0" cy="0"/>
        </a:xfrm>
      </p:grpSpPr>
      <p:sp>
        <p:nvSpPr>
          <p:cNvPr id="2" name="Text 0"/>
          <p:cNvSpPr/>
          <p:nvPr/>
        </p:nvSpPr>
        <p:spPr>
          <a:xfrm>
            <a:off x="502920" y="1737360"/>
            <a:ext cx="1280160" cy="640080"/>
          </a:xfrm>
          <a:prstGeom prst="rect">
            <a:avLst/>
          </a:prstGeom>
          <a:noFill/>
          <a:ln/>
        </p:spPr>
        <p:txBody>
          <a:bodyPr wrap="square" rtlCol="0" anchor="ctr"/>
          <a:lstStyle/>
          <a:p>
            <a:pPr indent="0" marL="0">
              <a:buNone/>
            </a:pPr>
            <a:r>
              <a:rPr lang="en-US" sz="3400" b="1" dirty="0">
                <a:solidFill>
                  <a:srgbClr val="FFFFFF"/>
                </a:solidFill>
                <a:latin typeface="Meiryo" pitchFamily="34" charset="0"/>
                <a:ea typeface="Meiryo" pitchFamily="34" charset="-122"/>
                <a:cs typeface="Meiryo" pitchFamily="34" charset="-120"/>
              </a:rPr>
              <a:t>02</a:t>
            </a:r>
            <a:endParaRPr lang="en-US" sz="3400" dirty="0"/>
          </a:p>
        </p:txBody>
      </p:sp>
      <p:sp>
        <p:nvSpPr>
          <p:cNvPr id="3" name="Text 1"/>
          <p:cNvSpPr/>
          <p:nvPr/>
        </p:nvSpPr>
        <p:spPr>
          <a:xfrm>
            <a:off x="502920" y="2377440"/>
            <a:ext cx="8138160" cy="365760"/>
          </a:xfrm>
          <a:prstGeom prst="rect">
            <a:avLst/>
          </a:prstGeom>
          <a:noFill/>
          <a:ln/>
        </p:spPr>
        <p:txBody>
          <a:bodyPr wrap="square" rtlCol="0" anchor="ctr"/>
          <a:lstStyle/>
          <a:p>
            <a:pPr indent="0" marL="0">
              <a:buNone/>
            </a:pPr>
            <a:r>
              <a:rPr lang="en-US" sz="1300" dirty="0">
                <a:solidFill>
                  <a:srgbClr val="FFFFFF"/>
                </a:solidFill>
                <a:latin typeface="Meiryo" pitchFamily="34" charset="0"/>
                <a:ea typeface="Meiryo" pitchFamily="34" charset="-122"/>
                <a:cs typeface="Meiryo" pitchFamily="34" charset="-120"/>
              </a:rPr>
              <a:t>Analysis</a:t>
            </a:r>
            <a:endParaRPr lang="en-US" sz="1300" dirty="0"/>
          </a:p>
        </p:txBody>
      </p:sp>
      <p:sp>
        <p:nvSpPr>
          <p:cNvPr id="4" name="Text 2"/>
          <p:cNvSpPr/>
          <p:nvPr/>
        </p:nvSpPr>
        <p:spPr>
          <a:xfrm>
            <a:off x="502920" y="2743200"/>
            <a:ext cx="8138160" cy="548640"/>
          </a:xfrm>
          <a:prstGeom prst="rect">
            <a:avLst/>
          </a:prstGeom>
          <a:noFill/>
          <a:ln/>
        </p:spPr>
        <p:txBody>
          <a:bodyPr wrap="square" rtlCol="0" anchor="ctr"/>
          <a:lstStyle/>
          <a:p>
            <a:pPr indent="0" marL="0">
              <a:buNone/>
            </a:pPr>
            <a:r>
              <a:rPr lang="en-US" sz="2400" b="1" dirty="0">
                <a:solidFill>
                  <a:srgbClr val="FFFFFF"/>
                </a:solidFill>
                <a:latin typeface="Meiryo" pitchFamily="34" charset="0"/>
                <a:ea typeface="Meiryo" pitchFamily="34" charset="-122"/>
                <a:cs typeface="Meiryo" pitchFamily="34" charset="-120"/>
              </a:rPr>
              <a:t>現状分析</a:t>
            </a:r>
            <a:endParaRPr lang="en-US" sz="2400" dirty="0"/>
          </a:p>
        </p:txBody>
      </p:sp>
      <p:sp>
        <p:nvSpPr>
          <p:cNvPr id="5" name="Text 3"/>
          <p:cNvSpPr/>
          <p:nvPr/>
        </p:nvSpPr>
        <p:spPr>
          <a:xfrm>
            <a:off x="7543800" y="4759452"/>
            <a:ext cx="1097280" cy="228600"/>
          </a:xfrm>
          <a:prstGeom prst="rect">
            <a:avLst/>
          </a:prstGeom>
          <a:noFill/>
          <a:ln/>
        </p:spPr>
        <p:txBody>
          <a:bodyPr wrap="square" rtlCol="0" anchor="ctr"/>
          <a:lstStyle/>
          <a:p>
            <a:pPr algn="r" indent="0" marL="0">
              <a:buNone/>
            </a:pPr>
            <a:r>
              <a:rPr lang="en-US" sz="900" dirty="0">
                <a:solidFill>
                  <a:srgbClr val="6B6B6B"/>
                </a:solidFill>
                <a:latin typeface="Meiryo" pitchFamily="34" charset="0"/>
                <a:ea typeface="Meiryo" pitchFamily="34" charset="-122"/>
                <a:cs typeface="Meiryo" pitchFamily="34" charset="-120"/>
              </a:rPr>
              <a:t>10|82</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502920" y="502920"/>
            <a:ext cx="8138160" cy="228600"/>
          </a:xfrm>
          <a:prstGeom prst="rect">
            <a:avLst/>
          </a:prstGeom>
          <a:noFill/>
          <a:ln/>
        </p:spPr>
        <p:txBody>
          <a:bodyPr wrap="square" rtlCol="0" anchor="ctr"/>
          <a:lstStyle/>
          <a:p>
            <a:pPr indent="0" marL="0">
              <a:buNone/>
            </a:pPr>
            <a:r>
              <a:rPr lang="en-US" sz="1000" dirty="0">
                <a:solidFill>
                  <a:srgbClr val="6B6B6B"/>
                </a:solidFill>
                <a:latin typeface="Meiryo" pitchFamily="34" charset="0"/>
                <a:ea typeface="Meiryo" pitchFamily="34" charset="-122"/>
                <a:cs typeface="Meiryo" pitchFamily="34" charset="-120"/>
              </a:rPr>
              <a:t>02 Analysis</a:t>
            </a:r>
            <a:endParaRPr lang="en-US" sz="1000" dirty="0"/>
          </a:p>
        </p:txBody>
      </p:sp>
      <p:sp>
        <p:nvSpPr>
          <p:cNvPr id="3" name="Text 1"/>
          <p:cNvSpPr/>
          <p:nvPr/>
        </p:nvSpPr>
        <p:spPr>
          <a:xfrm>
            <a:off x="502920" y="777240"/>
            <a:ext cx="8138160" cy="457200"/>
          </a:xfrm>
          <a:prstGeom prst="rect">
            <a:avLst/>
          </a:prstGeom>
          <a:noFill/>
          <a:ln/>
        </p:spPr>
        <p:txBody>
          <a:bodyPr wrap="square" rtlCol="0" anchor="ctr"/>
          <a:lstStyle/>
          <a:p>
            <a:pPr indent="0" marL="0">
              <a:buNone/>
            </a:pPr>
            <a:r>
              <a:rPr lang="en-US" sz="2000" b="1" dirty="0">
                <a:solidFill>
                  <a:srgbClr val="1A1A1A"/>
                </a:solidFill>
                <a:latin typeface="Meiryo" pitchFamily="34" charset="0"/>
                <a:ea typeface="Meiryo" pitchFamily="34" charset="-122"/>
                <a:cs typeface="Meiryo" pitchFamily="34" charset="-120"/>
              </a:rPr>
              <a:t>現状分析は、実際にサイトを巡回して行いました</a:t>
            </a:r>
            <a:endParaRPr lang="en-US" sz="2000" dirty="0"/>
          </a:p>
        </p:txBody>
      </p:sp>
      <p:sp>
        <p:nvSpPr>
          <p:cNvPr id="4" name="Shape 2"/>
          <p:cNvSpPr/>
          <p:nvPr/>
        </p:nvSpPr>
        <p:spPr>
          <a:xfrm>
            <a:off x="502920" y="1280160"/>
            <a:ext cx="8138160" cy="0"/>
          </a:xfrm>
          <a:prstGeom prst="line">
            <a:avLst/>
          </a:prstGeom>
          <a:noFill/>
          <a:ln w="12700">
            <a:solidFill>
              <a:srgbClr val="D5D5D5"/>
            </a:solidFill>
            <a:prstDash val="solid"/>
          </a:ln>
        </p:spPr>
      </p:sp>
      <p:sp>
        <p:nvSpPr>
          <p:cNvPr id="5" name="Text 3"/>
          <p:cNvSpPr/>
          <p:nvPr/>
        </p:nvSpPr>
        <p:spPr>
          <a:xfrm>
            <a:off x="502920" y="1417320"/>
            <a:ext cx="8138160" cy="457200"/>
          </a:xfrm>
          <a:prstGeom prst="rect">
            <a:avLst/>
          </a:prstGeom>
          <a:noFill/>
          <a:ln/>
        </p:spPr>
        <p:txBody>
          <a:bodyPr wrap="square" rtlCol="0" anchor="t"/>
          <a:lstStyle/>
          <a:p>
            <a:pPr indent="0" marL="0">
              <a:buNone/>
            </a:pPr>
            <a:r>
              <a:rPr lang="en-US" sz="1200" dirty="0">
                <a:solidFill>
                  <a:srgbClr val="1A1A1A"/>
                </a:solidFill>
                <a:latin typeface="Meiryo" pitchFamily="34" charset="0"/>
                <a:ea typeface="Meiryo" pitchFamily="34" charset="-122"/>
                <a:cs typeface="Meiryo" pitchFamily="34" charset="-120"/>
              </a:rPr>
              <a:t>2026年9月18日に現行サイトを機械的に巡回し、URL・HTML・HTTPヘッダを取得して確認しました。以下はその実測です。</a:t>
            </a:r>
            <a:endParaRPr lang="en-US" sz="1200" dirty="0"/>
          </a:p>
        </p:txBody>
      </p:sp>
      <p:sp>
        <p:nvSpPr>
          <p:cNvPr id="6" name="Text 4"/>
          <p:cNvSpPr/>
          <p:nvPr/>
        </p:nvSpPr>
        <p:spPr>
          <a:xfrm>
            <a:off x="502920" y="1965960"/>
            <a:ext cx="8138160" cy="2628900"/>
          </a:xfrm>
          <a:prstGeom prst="rect">
            <a:avLst/>
          </a:prstGeom>
          <a:noFill/>
          <a:ln/>
        </p:spPr>
        <p:txBody>
          <a:bodyPr wrap="square" rtlCol="0" anchor="t"/>
          <a:lstStyle/>
          <a:p>
            <a:pPr marL="342900" indent="-342900">
              <a:lnSpc>
                <a:spcPct val="130000"/>
              </a:lnSpc>
              <a:buSzPct val="100000"/>
              <a:buChar char="•"/>
            </a:pPr>
            <a:r>
              <a:rPr lang="en-US" sz="1300" dirty="0">
                <a:solidFill>
                  <a:srgbClr val="1A1A1A"/>
                </a:solidFill>
                <a:latin typeface="Meiryo" pitchFamily="34" charset="0"/>
                <a:ea typeface="Meiryo" pitchFamily="34" charset="-122"/>
                <a:cs typeface="Meiryo" pitchFamily="34" charset="-120"/>
              </a:rPr>
              <a:t>調査日: 2026年9月18日</a:t>
            </a:r>
            <a:endParaRPr lang="en-US" sz="1300" dirty="0"/>
          </a:p>
          <a:p>
            <a:pPr marL="342900" indent="-342900">
              <a:lnSpc>
                <a:spcPct val="130000"/>
              </a:lnSpc>
              <a:buSzPct val="100000"/>
              <a:buChar char="•"/>
            </a:pPr>
            <a:r>
              <a:rPr lang="en-US" sz="1300" dirty="0">
                <a:solidFill>
                  <a:srgbClr val="1A1A1A"/>
                </a:solidFill>
                <a:latin typeface="Meiryo" pitchFamily="34" charset="0"/>
                <a:ea typeface="Meiryo" pitchFamily="34" charset="-122"/>
                <a:cs typeface="Meiryo" pitchFamily="34" charset="-120"/>
              </a:rPr>
              <a:t>方法: クローラによる巡回（深度3）。190URLに到達し、142ページを取得</a:t>
            </a:r>
            <a:endParaRPr lang="en-US" sz="1300" dirty="0"/>
          </a:p>
          <a:p>
            <a:pPr marL="342900" indent="-342900">
              <a:lnSpc>
                <a:spcPct val="130000"/>
              </a:lnSpc>
              <a:buSzPct val="100000"/>
              <a:buChar char="•"/>
            </a:pPr>
            <a:r>
              <a:rPr lang="en-US" sz="1300" dirty="0">
                <a:solidFill>
                  <a:srgbClr val="1A1A1A"/>
                </a:solidFill>
                <a:latin typeface="Meiryo" pitchFamily="34" charset="0"/>
                <a:ea typeface="Meiryo" pitchFamily="34" charset="-122"/>
                <a:cs typeface="Meiryo" pitchFamily="34" charset="-120"/>
              </a:rPr>
              <a:t>あわせて確認したもの: HTTPレスポンスヘッダ、トップページのHTMLソース（95,161文字）</a:t>
            </a:r>
            <a:endParaRPr lang="en-US" sz="1300" dirty="0"/>
          </a:p>
          <a:p>
            <a:pPr marL="342900" indent="-342900">
              <a:lnSpc>
                <a:spcPct val="130000"/>
              </a:lnSpc>
              <a:buSzPct val="100000"/>
              <a:buChar char="•"/>
            </a:pPr>
            <a:r>
              <a:rPr lang="en-US" sz="1300" dirty="0">
                <a:solidFill>
                  <a:srgbClr val="1A1A1A"/>
                </a:solidFill>
                <a:latin typeface="Meiryo" pitchFamily="34" charset="0"/>
                <a:ea typeface="Meiryo" pitchFamily="34" charset="-122"/>
                <a:cs typeface="Meiryo" pitchFamily="34" charset="-120"/>
              </a:rPr>
              <a:t>現時点で取得できていないもの: GA4の実数、PDF掲載数、現行サーバーの契約内容</a:t>
            </a:r>
            <a:endParaRPr lang="en-US" sz="1300" dirty="0"/>
          </a:p>
          <a:p>
            <a:pPr marL="342900" indent="-342900">
              <a:lnSpc>
                <a:spcPct val="130000"/>
              </a:lnSpc>
              <a:buSzPct val="100000"/>
              <a:buChar char="•"/>
            </a:pPr>
            <a:r>
              <a:rPr lang="en-US" sz="1300" dirty="0">
                <a:solidFill>
                  <a:srgbClr val="1A1A1A"/>
                </a:solidFill>
                <a:latin typeface="Meiryo" pitchFamily="34" charset="0"/>
                <a:ea typeface="Meiryo" pitchFamily="34" charset="-122"/>
                <a:cs typeface="Meiryo" pitchFamily="34" charset="-120"/>
              </a:rPr>
              <a:t>取得できていない項目については、本資料で数値を置いていません</a:t>
            </a:r>
            <a:endParaRPr lang="en-US" sz="1300" dirty="0"/>
          </a:p>
        </p:txBody>
      </p:sp>
      <p:sp>
        <p:nvSpPr>
          <p:cNvPr id="7" name="Text 5"/>
          <p:cNvSpPr/>
          <p:nvPr/>
        </p:nvSpPr>
        <p:spPr>
          <a:xfrm>
            <a:off x="502920" y="4759452"/>
            <a:ext cx="6949440" cy="228600"/>
          </a:xfrm>
          <a:prstGeom prst="rect">
            <a:avLst/>
          </a:prstGeom>
          <a:noFill/>
          <a:ln/>
        </p:spPr>
        <p:txBody>
          <a:bodyPr wrap="square" rtlCol="0" anchor="ctr"/>
          <a:lstStyle/>
          <a:p>
            <a:pPr indent="0" marL="0">
              <a:buNone/>
            </a:pPr>
            <a:r>
              <a:rPr lang="en-US" sz="900" dirty="0">
                <a:solidFill>
                  <a:srgbClr val="6B6B6B"/>
                </a:solidFill>
                <a:latin typeface="Meiryo" pitchFamily="34" charset="0"/>
                <a:ea typeface="Meiryo" pitchFamily="34" charset="-122"/>
                <a:cs typeface="Meiryo" pitchFamily="34" charset="-120"/>
              </a:rPr>
              <a:t>出典: gg-manager site_crawl（2026-09-18、深度3、190URL到達／142ページ取得）</a:t>
            </a:r>
            <a:endParaRPr lang="en-US" sz="900" dirty="0"/>
          </a:p>
        </p:txBody>
      </p:sp>
      <p:sp>
        <p:nvSpPr>
          <p:cNvPr id="8" name="Text 6"/>
          <p:cNvSpPr/>
          <p:nvPr/>
        </p:nvSpPr>
        <p:spPr>
          <a:xfrm>
            <a:off x="7543800" y="4759452"/>
            <a:ext cx="1097280" cy="228600"/>
          </a:xfrm>
          <a:prstGeom prst="rect">
            <a:avLst/>
          </a:prstGeom>
          <a:noFill/>
          <a:ln/>
        </p:spPr>
        <p:txBody>
          <a:bodyPr wrap="square" rtlCol="0" anchor="ctr"/>
          <a:lstStyle/>
          <a:p>
            <a:pPr algn="r" indent="0" marL="0">
              <a:buNone/>
            </a:pPr>
            <a:r>
              <a:rPr lang="en-US" sz="900" dirty="0">
                <a:solidFill>
                  <a:srgbClr val="6B6B6B"/>
                </a:solidFill>
                <a:latin typeface="Meiryo" pitchFamily="34" charset="0"/>
                <a:ea typeface="Meiryo" pitchFamily="34" charset="-122"/>
                <a:cs typeface="Meiryo" pitchFamily="34" charset="-120"/>
              </a:rPr>
              <a:t>11|82</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502920" y="502920"/>
            <a:ext cx="8138160" cy="228600"/>
          </a:xfrm>
          <a:prstGeom prst="rect">
            <a:avLst/>
          </a:prstGeom>
          <a:noFill/>
          <a:ln/>
        </p:spPr>
        <p:txBody>
          <a:bodyPr wrap="square" rtlCol="0" anchor="ctr"/>
          <a:lstStyle/>
          <a:p>
            <a:pPr indent="0" marL="0">
              <a:buNone/>
            </a:pPr>
            <a:r>
              <a:rPr lang="en-US" sz="1000" dirty="0">
                <a:solidFill>
                  <a:srgbClr val="6B6B6B"/>
                </a:solidFill>
                <a:latin typeface="Meiryo" pitchFamily="34" charset="0"/>
                <a:ea typeface="Meiryo" pitchFamily="34" charset="-122"/>
                <a:cs typeface="Meiryo" pitchFamily="34" charset="-120"/>
              </a:rPr>
              <a:t>02 Analysis</a:t>
            </a:r>
            <a:endParaRPr lang="en-US" sz="1000" dirty="0"/>
          </a:p>
        </p:txBody>
      </p:sp>
      <p:sp>
        <p:nvSpPr>
          <p:cNvPr id="3" name="Text 1"/>
          <p:cNvSpPr/>
          <p:nvPr/>
        </p:nvSpPr>
        <p:spPr>
          <a:xfrm>
            <a:off x="502920" y="777240"/>
            <a:ext cx="8138160" cy="457200"/>
          </a:xfrm>
          <a:prstGeom prst="rect">
            <a:avLst/>
          </a:prstGeom>
          <a:noFill/>
          <a:ln/>
        </p:spPr>
        <p:txBody>
          <a:bodyPr wrap="square" rtlCol="0" anchor="ctr"/>
          <a:lstStyle/>
          <a:p>
            <a:pPr indent="0" marL="0">
              <a:buNone/>
            </a:pPr>
            <a:r>
              <a:rPr lang="en-US" sz="2000" b="1" dirty="0">
                <a:solidFill>
                  <a:srgbClr val="1A1A1A"/>
                </a:solidFill>
                <a:latin typeface="Meiryo" pitchFamily="34" charset="0"/>
                <a:ea typeface="Meiryo" pitchFamily="34" charset="-122"/>
                <a:cs typeface="Meiryo" pitchFamily="34" charset="-120"/>
              </a:rPr>
              <a:t>テンプレートのコメント崩れで、削除済みのリンクが生きています</a:t>
            </a:r>
            <a:endParaRPr lang="en-US" sz="2000" dirty="0"/>
          </a:p>
        </p:txBody>
      </p:sp>
      <p:sp>
        <p:nvSpPr>
          <p:cNvPr id="4" name="Shape 2"/>
          <p:cNvSpPr/>
          <p:nvPr/>
        </p:nvSpPr>
        <p:spPr>
          <a:xfrm>
            <a:off x="502920" y="1280160"/>
            <a:ext cx="8138160" cy="0"/>
          </a:xfrm>
          <a:prstGeom prst="line">
            <a:avLst/>
          </a:prstGeom>
          <a:noFill/>
          <a:ln w="12700">
            <a:solidFill>
              <a:srgbClr val="D5D5D5"/>
            </a:solidFill>
            <a:prstDash val="solid"/>
          </a:ln>
        </p:spPr>
      </p:sp>
      <p:sp>
        <p:nvSpPr>
          <p:cNvPr id="5" name="Text 3"/>
          <p:cNvSpPr/>
          <p:nvPr/>
        </p:nvSpPr>
        <p:spPr>
          <a:xfrm>
            <a:off x="502920" y="1417320"/>
            <a:ext cx="8138160" cy="457200"/>
          </a:xfrm>
          <a:prstGeom prst="rect">
            <a:avLst/>
          </a:prstGeom>
          <a:noFill/>
          <a:ln/>
        </p:spPr>
        <p:txBody>
          <a:bodyPr wrap="square" rtlCol="0" anchor="t"/>
          <a:lstStyle/>
          <a:p>
            <a:pPr indent="0" marL="0">
              <a:buNone/>
            </a:pPr>
            <a:r>
              <a:rPr lang="en-US" sz="1200" dirty="0">
                <a:solidFill>
                  <a:srgbClr val="1A1A1A"/>
                </a:solidFill>
                <a:latin typeface="Meiryo" pitchFamily="34" charset="0"/>
                <a:ea typeface="Meiryo" pitchFamily="34" charset="-122"/>
                <a:cs typeface="Meiryo" pitchFamily="34" charset="-120"/>
              </a:rPr>
              <a:t>最も優先度が高い問題です。旧ナビゲーションをコメントアウトした箇所で、HTMLコメントが途中で閉じてしまい、消したはずのリンクが実リンクとして出力されています。</a:t>
            </a:r>
            <a:endParaRPr lang="en-US" sz="1200" dirty="0"/>
          </a:p>
        </p:txBody>
      </p:sp>
      <p:sp>
        <p:nvSpPr>
          <p:cNvPr id="6" name="Text 4"/>
          <p:cNvSpPr/>
          <p:nvPr/>
        </p:nvSpPr>
        <p:spPr>
          <a:xfrm>
            <a:off x="502920" y="1965960"/>
            <a:ext cx="8138160" cy="2628900"/>
          </a:xfrm>
          <a:prstGeom prst="rect">
            <a:avLst/>
          </a:prstGeom>
          <a:noFill/>
          <a:ln/>
        </p:spPr>
        <p:txBody>
          <a:bodyPr wrap="square" rtlCol="0" anchor="t"/>
          <a:lstStyle/>
          <a:p>
            <a:pPr marL="342900" indent="-342900">
              <a:lnSpc>
                <a:spcPct val="130000"/>
              </a:lnSpc>
              <a:buSzPct val="100000"/>
              <a:buChar char="•"/>
            </a:pPr>
            <a:r>
              <a:rPr lang="en-US" sz="1300" dirty="0">
                <a:solidFill>
                  <a:srgbClr val="1A1A1A"/>
                </a:solidFill>
                <a:latin typeface="Meiryo" pitchFamily="34" charset="0"/>
                <a:ea typeface="Meiryo" pitchFamily="34" charset="-122"/>
                <a:cs typeface="Meiryo" pitchFamily="34" charset="-120"/>
              </a:rPr>
              <a:t>起きていること: コメント内に出力済みの終了タグが残り、そこでコメントが終了しています</a:t>
            </a:r>
            <a:endParaRPr lang="en-US" sz="1300" dirty="0"/>
          </a:p>
          <a:p>
            <a:pPr marL="342900" indent="-342900">
              <a:lnSpc>
                <a:spcPct val="130000"/>
              </a:lnSpc>
              <a:buSzPct val="100000"/>
              <a:buChar char="•"/>
            </a:pPr>
            <a:r>
              <a:rPr lang="en-US" sz="1300" dirty="0">
                <a:solidFill>
                  <a:srgbClr val="1A1A1A"/>
                </a:solidFill>
                <a:latin typeface="Meiryo" pitchFamily="34" charset="0"/>
                <a:ea typeface="Meiryo" pitchFamily="34" charset="-122"/>
                <a:cs typeface="Meiryo" pitchFamily="34" charset="-120"/>
              </a:rPr>
              <a:t>該当箇所の例: グローバルナビ、スライドバーメニュー、受験生向けCTA</a:t>
            </a:r>
            <a:endParaRPr lang="en-US" sz="1300" dirty="0"/>
          </a:p>
          <a:p>
            <a:pPr marL="342900" indent="-342900">
              <a:lnSpc>
                <a:spcPct val="130000"/>
              </a:lnSpc>
              <a:buSzPct val="100000"/>
              <a:buChar char="•"/>
            </a:pPr>
            <a:r>
              <a:rPr lang="en-US" sz="1300" dirty="0">
                <a:solidFill>
                  <a:srgbClr val="1A1A1A"/>
                </a:solidFill>
                <a:latin typeface="Meiryo" pitchFamily="34" charset="0"/>
                <a:ea typeface="Meiryo" pitchFamily="34" charset="-122"/>
                <a:cs typeface="Meiryo" pitchFamily="34" charset="-120"/>
              </a:rPr>
              <a:t>推定される原因: PHPで出力した後のHTMLに対してコメントアウトを行ったため、終了タグが二重になったものと推定されます</a:t>
            </a:r>
            <a:endParaRPr lang="en-US" sz="1300" dirty="0"/>
          </a:p>
          <a:p>
            <a:pPr marL="342900" indent="-342900">
              <a:lnSpc>
                <a:spcPct val="130000"/>
              </a:lnSpc>
              <a:buSzPct val="100000"/>
              <a:buChar char="•"/>
            </a:pPr>
            <a:r>
              <a:rPr lang="en-US" sz="1300" dirty="0">
                <a:solidFill>
                  <a:srgbClr val="1A1A1A"/>
                </a:solidFill>
                <a:latin typeface="Meiryo" pitchFamily="34" charset="0"/>
                <a:ea typeface="Meiryo" pitchFamily="34" charset="-122"/>
                <a:cs typeface="Meiryo" pitchFamily="34" charset="-120"/>
              </a:rPr>
              <a:t>結果: 不正なURLが実リンクとして出力され、階層を跨いで増殖しています</a:t>
            </a:r>
            <a:endParaRPr lang="en-US" sz="1300" dirty="0"/>
          </a:p>
          <a:p>
            <a:pPr marL="342900" indent="-342900">
              <a:lnSpc>
                <a:spcPct val="130000"/>
              </a:lnSpc>
              <a:buSzPct val="100000"/>
              <a:buChar char="•"/>
            </a:pPr>
            <a:r>
              <a:rPr lang="en-US" sz="1300" dirty="0">
                <a:solidFill>
                  <a:srgbClr val="1A1A1A"/>
                </a:solidFill>
                <a:latin typeface="Meiryo" pitchFamily="34" charset="0"/>
                <a:ea typeface="Meiryo" pitchFamily="34" charset="-122"/>
                <a:cs typeface="Meiryo" pitchFamily="34" charset="-120"/>
              </a:rPr>
              <a:t>本件は実測で確認済みの事実です（推定と書いた箇所のみが推定です）</a:t>
            </a:r>
            <a:endParaRPr lang="en-US" sz="1300" dirty="0"/>
          </a:p>
        </p:txBody>
      </p:sp>
      <p:sp>
        <p:nvSpPr>
          <p:cNvPr id="7" name="Text 5"/>
          <p:cNvSpPr/>
          <p:nvPr/>
        </p:nvSpPr>
        <p:spPr>
          <a:xfrm>
            <a:off x="502920" y="4759452"/>
            <a:ext cx="6949440" cy="228600"/>
          </a:xfrm>
          <a:prstGeom prst="rect">
            <a:avLst/>
          </a:prstGeom>
          <a:noFill/>
          <a:ln/>
        </p:spPr>
        <p:txBody>
          <a:bodyPr wrap="square" rtlCol="0" anchor="ctr"/>
          <a:lstStyle/>
          <a:p>
            <a:pPr indent="0" marL="0">
              <a:buNone/>
            </a:pPr>
            <a:r>
              <a:rPr lang="en-US" sz="900" dirty="0">
                <a:solidFill>
                  <a:srgbClr val="6B6B6B"/>
                </a:solidFill>
                <a:latin typeface="Meiryo" pitchFamily="34" charset="0"/>
                <a:ea typeface="Meiryo" pitchFamily="34" charset="-122"/>
                <a:cs typeface="Meiryo" pitchFamily="34" charset="-120"/>
              </a:rPr>
              <a:t>出典: projects/johoku-saitama/research/current-site-audit.md（2026-09-18 実測）</a:t>
            </a:r>
            <a:endParaRPr lang="en-US" sz="900" dirty="0"/>
          </a:p>
        </p:txBody>
      </p:sp>
      <p:sp>
        <p:nvSpPr>
          <p:cNvPr id="8" name="Text 6"/>
          <p:cNvSpPr/>
          <p:nvPr/>
        </p:nvSpPr>
        <p:spPr>
          <a:xfrm>
            <a:off x="7543800" y="4759452"/>
            <a:ext cx="1097280" cy="228600"/>
          </a:xfrm>
          <a:prstGeom prst="rect">
            <a:avLst/>
          </a:prstGeom>
          <a:noFill/>
          <a:ln/>
        </p:spPr>
        <p:txBody>
          <a:bodyPr wrap="square" rtlCol="0" anchor="ctr"/>
          <a:lstStyle/>
          <a:p>
            <a:pPr algn="r" indent="0" marL="0">
              <a:buNone/>
            </a:pPr>
            <a:r>
              <a:rPr lang="en-US" sz="900" dirty="0">
                <a:solidFill>
                  <a:srgbClr val="6B6B6B"/>
                </a:solidFill>
                <a:latin typeface="Meiryo" pitchFamily="34" charset="0"/>
                <a:ea typeface="Meiryo" pitchFamily="34" charset="-122"/>
                <a:cs typeface="Meiryo" pitchFamily="34" charset="-120"/>
              </a:rPr>
              <a:t>12|82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502920" y="502920"/>
            <a:ext cx="8138160" cy="228600"/>
          </a:xfrm>
          <a:prstGeom prst="rect">
            <a:avLst/>
          </a:prstGeom>
          <a:noFill/>
          <a:ln/>
        </p:spPr>
        <p:txBody>
          <a:bodyPr wrap="square" rtlCol="0" anchor="ctr"/>
          <a:lstStyle/>
          <a:p>
            <a:pPr indent="0" marL="0">
              <a:buNone/>
            </a:pPr>
            <a:r>
              <a:rPr lang="en-US" sz="1000" dirty="0">
                <a:solidFill>
                  <a:srgbClr val="6B6B6B"/>
                </a:solidFill>
                <a:latin typeface="Meiryo" pitchFamily="34" charset="0"/>
                <a:ea typeface="Meiryo" pitchFamily="34" charset="-122"/>
                <a:cs typeface="Meiryo" pitchFamily="34" charset="-120"/>
              </a:rPr>
              <a:t>02 Analysis</a:t>
            </a:r>
            <a:endParaRPr lang="en-US" sz="1000" dirty="0"/>
          </a:p>
        </p:txBody>
      </p:sp>
      <p:sp>
        <p:nvSpPr>
          <p:cNvPr id="3" name="Text 1"/>
          <p:cNvSpPr/>
          <p:nvPr/>
        </p:nvSpPr>
        <p:spPr>
          <a:xfrm>
            <a:off x="502920" y="777240"/>
            <a:ext cx="8138160" cy="457200"/>
          </a:xfrm>
          <a:prstGeom prst="rect">
            <a:avLst/>
          </a:prstGeom>
          <a:noFill/>
          <a:ln/>
        </p:spPr>
        <p:txBody>
          <a:bodyPr wrap="square" rtlCol="0" anchor="ctr"/>
          <a:lstStyle/>
          <a:p>
            <a:pPr indent="0" marL="0">
              <a:buNone/>
            </a:pPr>
            <a:r>
              <a:rPr lang="en-US" sz="2000" b="1" dirty="0">
                <a:solidFill>
                  <a:srgbClr val="1A1A1A"/>
                </a:solidFill>
                <a:latin typeface="Meiryo" pitchFamily="34" charset="0"/>
                <a:ea typeface="Meiryo" pitchFamily="34" charset="-122"/>
                <a:cs typeface="Meiryo" pitchFamily="34" charset="-120"/>
              </a:rPr>
              <a:t>不正URLの実測</a:t>
            </a:r>
            <a:endParaRPr lang="en-US" sz="2000" dirty="0"/>
          </a:p>
        </p:txBody>
      </p:sp>
      <p:sp>
        <p:nvSpPr>
          <p:cNvPr id="4" name="Shape 2"/>
          <p:cNvSpPr/>
          <p:nvPr/>
        </p:nvSpPr>
        <p:spPr>
          <a:xfrm>
            <a:off x="502920" y="1280160"/>
            <a:ext cx="8138160" cy="0"/>
          </a:xfrm>
          <a:prstGeom prst="line">
            <a:avLst/>
          </a:prstGeom>
          <a:noFill/>
          <a:ln w="12700">
            <a:solidFill>
              <a:srgbClr val="D5D5D5"/>
            </a:solidFill>
            <a:prstDash val="solid"/>
          </a:ln>
        </p:spPr>
      </p:sp>
      <p:sp>
        <p:nvSpPr>
          <p:cNvPr id="5" name="Text 3"/>
          <p:cNvSpPr/>
          <p:nvPr/>
        </p:nvSpPr>
        <p:spPr>
          <a:xfrm>
            <a:off x="502920" y="1417320"/>
            <a:ext cx="8138160" cy="457200"/>
          </a:xfrm>
          <a:prstGeom prst="rect">
            <a:avLst/>
          </a:prstGeom>
          <a:noFill/>
          <a:ln/>
        </p:spPr>
        <p:txBody>
          <a:bodyPr wrap="square" rtlCol="0" anchor="t"/>
          <a:lstStyle/>
          <a:p>
            <a:pPr indent="0" marL="0">
              <a:buNone/>
            </a:pPr>
            <a:r>
              <a:rPr lang="en-US" sz="1200" dirty="0">
                <a:solidFill>
                  <a:srgbClr val="1A1A1A"/>
                </a:solidFill>
                <a:latin typeface="Meiryo" pitchFamily="34" charset="0"/>
                <a:ea typeface="Meiryo" pitchFamily="34" charset="-122"/>
                <a:cs typeface="Meiryo" pitchFamily="34" charset="-120"/>
              </a:rPr>
              <a:t>取得できた142ページのうち、約90本が不正URLでした。全体のおよそ47%にあたります。</a:t>
            </a:r>
            <a:endParaRPr lang="en-US" sz="12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02920" y="1965960"/>
          <a:ext cx="8138160" cy="914400"/>
        </p:xfrm>
        <a:graphic>
          <a:graphicData uri="http://schemas.openxmlformats.org/drawingml/2006/table">
            <a:tbl>
              <a:tblPr/>
              <a:tblGrid>
                <a:gridCol w="4069080"/>
                <a:gridCol w="4069080"/>
              </a:tblGrid>
              <a:tr h="0">
                <a:tc>
                  <a:txBody>
                    <a:bodyPr/>
                    <a:lstStyle/>
                    <a:p>
                      <a:pPr indent="0" marL="0">
                        <a:buNone/>
                      </a:pPr>
                      <a:r>
                        <a:rPr lang="en-US" sz="1100" b="1" dirty="0">
                          <a:solidFill>
                            <a:srgbClr val="FFFFFF"/>
                          </a:solidFill>
                          <a:latin typeface="Meiryo" pitchFamily="34" charset="0"/>
                          <a:ea typeface="Meiryo" pitchFamily="34" charset="-122"/>
                          <a:cs typeface="Meiryo" pitchFamily="34" charset="-120"/>
                        </a:rPr>
                        <a:t>項目</a:t>
                      </a:r>
                      <a:endParaRPr lang="en-US" sz="1100" dirty="0">
                        <a:latin typeface="Meiryo" charset="0"/>
                        <a:ea typeface="Meiryo" charset="0"/>
                        <a:cs typeface="Meiryo" charset="0"/>
                      </a:endParaRPr>
                    </a:p>
                  </a:txBody>
                  <a:tcPr marL="91440" marR="91440" marT="45720" marB="45720">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1F3A5F"/>
                    </a:solidFill>
                  </a:tcPr>
                </a:tc>
                <a:tc>
                  <a:txBody>
                    <a:bodyPr/>
                    <a:lstStyle/>
                    <a:p>
                      <a:pPr indent="0" marL="0">
                        <a:buNone/>
                      </a:pPr>
                      <a:r>
                        <a:rPr lang="en-US" sz="1100" b="1" dirty="0">
                          <a:solidFill>
                            <a:srgbClr val="FFFFFF"/>
                          </a:solidFill>
                          <a:latin typeface="Meiryo" pitchFamily="34" charset="0"/>
                          <a:ea typeface="Meiryo" pitchFamily="34" charset="-122"/>
                          <a:cs typeface="Meiryo" pitchFamily="34" charset="-120"/>
                        </a:rPr>
                        <a:t>実測値（2026-09-18）</a:t>
                      </a:r>
                      <a:endParaRPr lang="en-US" sz="1100" dirty="0">
                        <a:latin typeface="Meiryo" charset="0"/>
                        <a:ea typeface="Meiryo" charset="0"/>
                        <a:cs typeface="Meiryo" charset="0"/>
                      </a:endParaRPr>
                    </a:p>
                  </a:txBody>
                  <a:tcPr marL="91440" marR="91440" marT="45720" marB="45720">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1F3A5F"/>
                    </a:solidFill>
                  </a:tcPr>
                </a:tc>
              </a:tr>
              <a:tr h="0">
                <a:tc>
                  <a:txBody>
                    <a:bodyPr/>
                    <a:lstStyle/>
                    <a:p>
                      <a:pPr indent="0" marL="0">
                        <a:buNone/>
                      </a:pPr>
                      <a:r>
                        <a:rPr lang="en-US" sz="1100" dirty="0">
                          <a:solidFill>
                            <a:srgbClr val="1A1A1A"/>
                          </a:solidFill>
                          <a:latin typeface="Meiryo" pitchFamily="34" charset="0"/>
                          <a:ea typeface="Meiryo" pitchFamily="34" charset="-122"/>
                          <a:cs typeface="Meiryo" pitchFamily="34" charset="-120"/>
                        </a:rPr>
                        <a:t>クロール到達URL</a:t>
                      </a:r>
                      <a:endParaRPr lang="en-US" sz="1100" dirty="0">
                        <a:latin typeface="Meiryo" charset="0"/>
                        <a:ea typeface="Meiryo" charset="0"/>
                        <a:cs typeface="Meiryo" charset="0"/>
                      </a:endParaRPr>
                    </a:p>
                  </a:txBody>
                  <a:tcPr marL="91440" marR="91440" marT="45720" marB="45720">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tcPr>
                </a:tc>
                <a:tc>
                  <a:txBody>
                    <a:bodyPr/>
                    <a:lstStyle/>
                    <a:p>
                      <a:pPr indent="0" marL="0">
                        <a:buNone/>
                      </a:pPr>
                      <a:r>
                        <a:rPr lang="en-US" sz="1100" dirty="0">
                          <a:solidFill>
                            <a:srgbClr val="1A1A1A"/>
                          </a:solidFill>
                          <a:latin typeface="Meiryo" pitchFamily="34" charset="0"/>
                          <a:ea typeface="Meiryo" pitchFamily="34" charset="-122"/>
                          <a:cs typeface="Meiryo" pitchFamily="34" charset="-120"/>
                        </a:rPr>
                        <a:t>190（うち142件を取得）</a:t>
                      </a:r>
                      <a:endParaRPr lang="en-US" sz="1100" dirty="0">
                        <a:latin typeface="Meiryo" charset="0"/>
                        <a:ea typeface="Meiryo" charset="0"/>
                        <a:cs typeface="Meiryo" charset="0"/>
                      </a:endParaRPr>
                    </a:p>
                  </a:txBody>
                  <a:tcPr marL="91440" marR="91440" marT="45720" marB="45720">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tcPr>
                </a:tc>
              </a:tr>
              <a:tr h="0">
                <a:tc>
                  <a:txBody>
                    <a:bodyPr/>
                    <a:lstStyle/>
                    <a:p>
                      <a:pPr indent="0" marL="0">
                        <a:buNone/>
                      </a:pPr>
                      <a:r>
                        <a:rPr lang="en-US" sz="1100" dirty="0">
                          <a:solidFill>
                            <a:srgbClr val="1A1A1A"/>
                          </a:solidFill>
                          <a:latin typeface="Meiryo" pitchFamily="34" charset="0"/>
                          <a:ea typeface="Meiryo" pitchFamily="34" charset="-122"/>
                          <a:cs typeface="Meiryo" pitchFamily="34" charset="-120"/>
                        </a:rPr>
                        <a:t>不正な形のURL</a:t>
                      </a:r>
                      <a:endParaRPr lang="en-US" sz="1100" dirty="0">
                        <a:latin typeface="Meiryo" charset="0"/>
                        <a:ea typeface="Meiryo" charset="0"/>
                        <a:cs typeface="Meiryo" charset="0"/>
                      </a:endParaRPr>
                    </a:p>
                  </a:txBody>
                  <a:tcPr marL="91440" marR="91440" marT="45720" marB="45720">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tcPr>
                </a:tc>
                <a:tc>
                  <a:txBody>
                    <a:bodyPr/>
                    <a:lstStyle/>
                    <a:p>
                      <a:pPr indent="0" marL="0">
                        <a:buNone/>
                      </a:pPr>
                      <a:r>
                        <a:rPr lang="en-US" sz="1100" dirty="0">
                          <a:solidFill>
                            <a:srgbClr val="1A1A1A"/>
                          </a:solidFill>
                          <a:latin typeface="Meiryo" pitchFamily="34" charset="0"/>
                          <a:ea typeface="Meiryo" pitchFamily="34" charset="-122"/>
                          <a:cs typeface="Meiryo" pitchFamily="34" charset="-120"/>
                        </a:rPr>
                        <a:t>約90本（取得分の約47%）</a:t>
                      </a:r>
                      <a:endParaRPr lang="en-US" sz="1100" dirty="0">
                        <a:latin typeface="Meiryo" charset="0"/>
                        <a:ea typeface="Meiryo" charset="0"/>
                        <a:cs typeface="Meiryo" charset="0"/>
                      </a:endParaRPr>
                    </a:p>
                  </a:txBody>
                  <a:tcPr marL="91440" marR="91440" marT="45720" marB="45720">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tcPr>
                </a:tc>
              </a:tr>
              <a:tr h="0">
                <a:tc>
                  <a:txBody>
                    <a:bodyPr/>
                    <a:lstStyle/>
                    <a:p>
                      <a:pPr indent="0" marL="0">
                        <a:buNone/>
                      </a:pPr>
                      <a:r>
                        <a:rPr lang="en-US" sz="1100" dirty="0">
                          <a:solidFill>
                            <a:srgbClr val="1A1A1A"/>
                          </a:solidFill>
                          <a:latin typeface="Meiryo" pitchFamily="34" charset="0"/>
                          <a:ea typeface="Meiryo" pitchFamily="34" charset="-122"/>
                          <a:cs typeface="Meiryo" pitchFamily="34" charset="-120"/>
                        </a:rPr>
                        <a:t>不正URLの応答</a:t>
                      </a:r>
                      <a:endParaRPr lang="en-US" sz="1100" dirty="0">
                        <a:latin typeface="Meiryo" charset="0"/>
                        <a:ea typeface="Meiryo" charset="0"/>
                        <a:cs typeface="Meiryo" charset="0"/>
                      </a:endParaRPr>
                    </a:p>
                  </a:txBody>
                  <a:tcPr marL="91440" marR="91440" marT="45720" marB="45720">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tcPr>
                </a:tc>
                <a:tc>
                  <a:txBody>
                    <a:bodyPr/>
                    <a:lstStyle/>
                    <a:p>
                      <a:pPr indent="0" marL="0">
                        <a:buNone/>
                      </a:pPr>
                      <a:r>
                        <a:rPr lang="en-US" sz="1100" dirty="0">
                          <a:solidFill>
                            <a:srgbClr val="1A1A1A"/>
                          </a:solidFill>
                          <a:latin typeface="Meiryo" pitchFamily="34" charset="0"/>
                          <a:ea typeface="Meiryo" pitchFamily="34" charset="-122"/>
                          <a:cs typeface="Meiryo" pitchFamily="34" charset="-120"/>
                        </a:rPr>
                        <a:t>301で正規URLへ転送（例: /--&gt;&lt;!--/info → /info で200）</a:t>
                      </a:r>
                      <a:endParaRPr lang="en-US" sz="1100" dirty="0">
                        <a:latin typeface="Meiryo" charset="0"/>
                        <a:ea typeface="Meiryo" charset="0"/>
                        <a:cs typeface="Meiryo" charset="0"/>
                      </a:endParaRPr>
                    </a:p>
                  </a:txBody>
                  <a:tcPr marL="91440" marR="91440" marT="45720" marB="45720">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tcPr>
                </a:tc>
              </a:tr>
              <a:tr h="0">
                <a:tc>
                  <a:txBody>
                    <a:bodyPr/>
                    <a:lstStyle/>
                    <a:p>
                      <a:pPr indent="0" marL="0">
                        <a:buNone/>
                      </a:pPr>
                      <a:r>
                        <a:rPr lang="en-US" sz="1100" dirty="0">
                          <a:solidFill>
                            <a:srgbClr val="1A1A1A"/>
                          </a:solidFill>
                          <a:latin typeface="Meiryo" pitchFamily="34" charset="0"/>
                          <a:ea typeface="Meiryo" pitchFamily="34" charset="-122"/>
                          <a:cs typeface="Meiryo" pitchFamily="34" charset="-120"/>
                        </a:rPr>
                        <a:t>影響範囲</a:t>
                      </a:r>
                      <a:endParaRPr lang="en-US" sz="1100" dirty="0">
                        <a:latin typeface="Meiryo" charset="0"/>
                        <a:ea typeface="Meiryo" charset="0"/>
                        <a:cs typeface="Meiryo" charset="0"/>
                      </a:endParaRPr>
                    </a:p>
                  </a:txBody>
                  <a:tcPr marL="91440" marR="91440" marT="45720" marB="45720">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tcPr>
                </a:tc>
                <a:tc>
                  <a:txBody>
                    <a:bodyPr/>
                    <a:lstStyle/>
                    <a:p>
                      <a:pPr indent="0" marL="0">
                        <a:buNone/>
                      </a:pPr>
                      <a:r>
                        <a:rPr lang="en-US" sz="1100" dirty="0">
                          <a:solidFill>
                            <a:srgbClr val="1A1A1A"/>
                          </a:solidFill>
                          <a:latin typeface="Meiryo" pitchFamily="34" charset="0"/>
                          <a:ea typeface="Meiryo" pitchFamily="34" charset="-122"/>
                          <a:cs typeface="Meiryo" pitchFamily="34" charset="-120"/>
                        </a:rPr>
                        <a:t>グローバルナビ／スライドバーメニュー／受験生向けCTA</a:t>
                      </a:r>
                      <a:endParaRPr lang="en-US" sz="1100" dirty="0">
                        <a:latin typeface="Meiryo" charset="0"/>
                        <a:ea typeface="Meiryo" charset="0"/>
                        <a:cs typeface="Meiryo" charset="0"/>
                      </a:endParaRPr>
                    </a:p>
                  </a:txBody>
                  <a:tcPr marL="91440" marR="91440" marT="45720" marB="45720">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tcPr>
                </a:tc>
              </a:tr>
              <a:tr h="0">
                <a:tc>
                  <a:txBody>
                    <a:bodyPr/>
                    <a:lstStyle/>
                    <a:p>
                      <a:pPr indent="0" marL="0">
                        <a:buNone/>
                      </a:pPr>
                      <a:r>
                        <a:rPr lang="en-US" sz="1100" dirty="0">
                          <a:solidFill>
                            <a:srgbClr val="1A1A1A"/>
                          </a:solidFill>
                          <a:latin typeface="Meiryo" pitchFamily="34" charset="0"/>
                          <a:ea typeface="Meiryo" pitchFamily="34" charset="-122"/>
                          <a:cs typeface="Meiryo" pitchFamily="34" charset="-120"/>
                        </a:rPr>
                        <a:t>増殖の仕方</a:t>
                      </a:r>
                      <a:endParaRPr lang="en-US" sz="1100" dirty="0">
                        <a:latin typeface="Meiryo" charset="0"/>
                        <a:ea typeface="Meiryo" charset="0"/>
                        <a:cs typeface="Meiryo" charset="0"/>
                      </a:endParaRPr>
                    </a:p>
                  </a:txBody>
                  <a:tcPr marL="91440" marR="91440" marT="45720" marB="45720">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tcPr>
                </a:tc>
                <a:tc>
                  <a:txBody>
                    <a:bodyPr/>
                    <a:lstStyle/>
                    <a:p>
                      <a:pPr indent="0" marL="0">
                        <a:buNone/>
                      </a:pPr>
                      <a:r>
                        <a:rPr lang="en-US" sz="1100" dirty="0">
                          <a:solidFill>
                            <a:srgbClr val="1A1A1A"/>
                          </a:solidFill>
                          <a:latin typeface="Meiryo" pitchFamily="34" charset="0"/>
                          <a:ea typeface="Meiryo" pitchFamily="34" charset="-122"/>
                          <a:cs typeface="Meiryo" pitchFamily="34" charset="-120"/>
                        </a:rPr>
                        <a:t>相対解決のため、階層を跨いで増えます</a:t>
                      </a:r>
                      <a:endParaRPr lang="en-US" sz="1100" dirty="0">
                        <a:latin typeface="Meiryo" charset="0"/>
                        <a:ea typeface="Meiryo" charset="0"/>
                        <a:cs typeface="Meiryo" charset="0"/>
                      </a:endParaRPr>
                    </a:p>
                  </a:txBody>
                  <a:tcPr marL="91440" marR="91440" marT="45720" marB="45720">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tcPr>
                </a:tc>
              </a:tr>
              <a:tr h="0">
                <a:tc>
                  <a:txBody>
                    <a:bodyPr/>
                    <a:lstStyle/>
                    <a:p>
                      <a:pPr indent="0" marL="0">
                        <a:buNone/>
                      </a:pPr>
                      <a:r>
                        <a:rPr lang="en-US" sz="1100" dirty="0">
                          <a:solidFill>
                            <a:srgbClr val="1A1A1A"/>
                          </a:solidFill>
                          <a:latin typeface="Meiryo" pitchFamily="34" charset="0"/>
                          <a:ea typeface="Meiryo" pitchFamily="34" charset="-122"/>
                          <a:cs typeface="Meiryo" pitchFamily="34" charset="-120"/>
                        </a:rPr>
                        <a:t>リニューアルでの扱い</a:t>
                      </a:r>
                      <a:endParaRPr lang="en-US" sz="1100" dirty="0">
                        <a:latin typeface="Meiryo" charset="0"/>
                        <a:ea typeface="Meiryo" charset="0"/>
                        <a:cs typeface="Meiryo" charset="0"/>
                      </a:endParaRPr>
                    </a:p>
                  </a:txBody>
                  <a:tcPr marL="91440" marR="91440" marT="45720" marB="45720">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tcPr>
                </a:tc>
                <a:tc>
                  <a:txBody>
                    <a:bodyPr/>
                    <a:lstStyle/>
                    <a:p>
                      <a:pPr indent="0" marL="0">
                        <a:buNone/>
                      </a:pPr>
                      <a:r>
                        <a:rPr lang="en-US" sz="1100" dirty="0">
                          <a:solidFill>
                            <a:srgbClr val="1A1A1A"/>
                          </a:solidFill>
                          <a:latin typeface="Meiryo" pitchFamily="34" charset="0"/>
                          <a:ea typeface="Meiryo" pitchFamily="34" charset="-122"/>
                          <a:cs typeface="Meiryo" pitchFamily="34" charset="-120"/>
                        </a:rPr>
                        <a:t>新規構築のため移行対象にしません。公開前チェック項目に追加します</a:t>
                      </a:r>
                      <a:endParaRPr lang="en-US" sz="1100" dirty="0">
                        <a:latin typeface="Meiryo" charset="0"/>
                        <a:ea typeface="Meiryo" charset="0"/>
                        <a:cs typeface="Meiryo" charset="0"/>
                      </a:endParaRPr>
                    </a:p>
                  </a:txBody>
                  <a:tcPr marL="91440" marR="91440" marT="45720" marB="45720">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tcPr>
                </a:tc>
              </a:tr>
            </a:tbl>
          </a:graphicData>
        </a:graphic>
      </p:graphicFrame>
      <p:sp>
        <p:nvSpPr>
          <p:cNvPr id="7" name="Text 4"/>
          <p:cNvSpPr/>
          <p:nvPr/>
        </p:nvSpPr>
        <p:spPr>
          <a:xfrm>
            <a:off x="502920" y="4759452"/>
            <a:ext cx="6949440" cy="228600"/>
          </a:xfrm>
          <a:prstGeom prst="rect">
            <a:avLst/>
          </a:prstGeom>
          <a:noFill/>
          <a:ln/>
        </p:spPr>
        <p:txBody>
          <a:bodyPr wrap="square" rtlCol="0" anchor="ctr"/>
          <a:lstStyle/>
          <a:p>
            <a:pPr indent="0" marL="0">
              <a:buNone/>
            </a:pPr>
            <a:r>
              <a:rPr lang="en-US" sz="900" dirty="0">
                <a:solidFill>
                  <a:srgbClr val="6B6B6B"/>
                </a:solidFill>
                <a:latin typeface="Meiryo" pitchFamily="34" charset="0"/>
                <a:ea typeface="Meiryo" pitchFamily="34" charset="-122"/>
                <a:cs typeface="Meiryo" pitchFamily="34" charset="-120"/>
              </a:rPr>
              <a:t>出典: projects/johoku-saitama/research/current-site-audit.md（2026-09-18 実測）</a:t>
            </a:r>
            <a:endParaRPr lang="en-US" sz="900" dirty="0"/>
          </a:p>
        </p:txBody>
      </p:sp>
      <p:sp>
        <p:nvSpPr>
          <p:cNvPr id="8" name="Text 5"/>
          <p:cNvSpPr/>
          <p:nvPr/>
        </p:nvSpPr>
        <p:spPr>
          <a:xfrm>
            <a:off x="7543800" y="4759452"/>
            <a:ext cx="1097280" cy="228600"/>
          </a:xfrm>
          <a:prstGeom prst="rect">
            <a:avLst/>
          </a:prstGeom>
          <a:noFill/>
          <a:ln/>
        </p:spPr>
        <p:txBody>
          <a:bodyPr wrap="square" rtlCol="0" anchor="ctr"/>
          <a:lstStyle/>
          <a:p>
            <a:pPr algn="r" indent="0" marL="0">
              <a:buNone/>
            </a:pPr>
            <a:r>
              <a:rPr lang="en-US" sz="900" dirty="0">
                <a:solidFill>
                  <a:srgbClr val="6B6B6B"/>
                </a:solidFill>
                <a:latin typeface="Meiryo" pitchFamily="34" charset="0"/>
                <a:ea typeface="Meiryo" pitchFamily="34" charset="-122"/>
                <a:cs typeface="Meiryo" pitchFamily="34" charset="-120"/>
              </a:rPr>
              <a:t>13|82</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502920" y="502920"/>
            <a:ext cx="8138160" cy="228600"/>
          </a:xfrm>
          <a:prstGeom prst="rect">
            <a:avLst/>
          </a:prstGeom>
          <a:noFill/>
          <a:ln/>
        </p:spPr>
        <p:txBody>
          <a:bodyPr wrap="square" rtlCol="0" anchor="ctr"/>
          <a:lstStyle/>
          <a:p>
            <a:pPr indent="0" marL="0">
              <a:buNone/>
            </a:pPr>
            <a:r>
              <a:rPr lang="en-US" sz="1000" dirty="0">
                <a:solidFill>
                  <a:srgbClr val="6B6B6B"/>
                </a:solidFill>
                <a:latin typeface="Meiryo" pitchFamily="34" charset="0"/>
                <a:ea typeface="Meiryo" pitchFamily="34" charset="-122"/>
                <a:cs typeface="Meiryo" pitchFamily="34" charset="-120"/>
              </a:rPr>
              <a:t>02 Analysis</a:t>
            </a:r>
            <a:endParaRPr lang="en-US" sz="1000" dirty="0"/>
          </a:p>
        </p:txBody>
      </p:sp>
      <p:sp>
        <p:nvSpPr>
          <p:cNvPr id="3" name="Text 1"/>
          <p:cNvSpPr/>
          <p:nvPr/>
        </p:nvSpPr>
        <p:spPr>
          <a:xfrm>
            <a:off x="502920" y="777240"/>
            <a:ext cx="8138160" cy="457200"/>
          </a:xfrm>
          <a:prstGeom prst="rect">
            <a:avLst/>
          </a:prstGeom>
          <a:noFill/>
          <a:ln/>
        </p:spPr>
        <p:txBody>
          <a:bodyPr wrap="square" rtlCol="0" anchor="ctr"/>
          <a:lstStyle/>
          <a:p>
            <a:pPr indent="0" marL="0">
              <a:buNone/>
            </a:pPr>
            <a:r>
              <a:rPr lang="en-US" sz="2000" b="1" dirty="0">
                <a:solidFill>
                  <a:srgbClr val="1A1A1A"/>
                </a:solidFill>
                <a:latin typeface="Meiryo" pitchFamily="34" charset="0"/>
                <a:ea typeface="Meiryo" pitchFamily="34" charset="-122"/>
                <a:cs typeface="Meiryo" pitchFamily="34" charset="-120"/>
              </a:rPr>
              <a:t>現行の情報構造（実測）</a:t>
            </a:r>
            <a:endParaRPr lang="en-US" sz="2000" dirty="0"/>
          </a:p>
        </p:txBody>
      </p:sp>
      <p:sp>
        <p:nvSpPr>
          <p:cNvPr id="4" name="Shape 2"/>
          <p:cNvSpPr/>
          <p:nvPr/>
        </p:nvSpPr>
        <p:spPr>
          <a:xfrm>
            <a:off x="502920" y="1280160"/>
            <a:ext cx="8138160" cy="0"/>
          </a:xfrm>
          <a:prstGeom prst="line">
            <a:avLst/>
          </a:prstGeom>
          <a:noFill/>
          <a:ln w="12700">
            <a:solidFill>
              <a:srgbClr val="D5D5D5"/>
            </a:solidFill>
            <a:prstDash val="solid"/>
          </a:ln>
        </p:spPr>
      </p:sp>
      <p:sp>
        <p:nvSpPr>
          <p:cNvPr id="5" name="Text 3"/>
          <p:cNvSpPr/>
          <p:nvPr/>
        </p:nvSpPr>
        <p:spPr>
          <a:xfrm>
            <a:off x="502920" y="1417320"/>
            <a:ext cx="8138160" cy="457200"/>
          </a:xfrm>
          <a:prstGeom prst="rect">
            <a:avLst/>
          </a:prstGeom>
          <a:noFill/>
          <a:ln/>
        </p:spPr>
        <p:txBody>
          <a:bodyPr wrap="square" rtlCol="0" anchor="t"/>
          <a:lstStyle/>
          <a:p>
            <a:pPr indent="0" marL="0">
              <a:buNone/>
            </a:pPr>
            <a:r>
              <a:rPr lang="en-US" sz="1200" dirty="0">
                <a:solidFill>
                  <a:srgbClr val="1A1A1A"/>
                </a:solidFill>
                <a:latin typeface="Meiryo" pitchFamily="34" charset="0"/>
                <a:ea typeface="Meiryo" pitchFamily="34" charset="-122"/>
                <a:cs typeface="Meiryo" pitchFamily="34" charset="-120"/>
              </a:rPr>
              <a:t>巡回で確認できた正規URLの体系です。第1階層は次のとおりです。</a:t>
            </a:r>
            <a:endParaRPr lang="en-US" sz="12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502920" y="1965960"/>
          <a:ext cx="8138160" cy="914400"/>
        </p:xfrm>
        <a:graphic>
          <a:graphicData uri="http://schemas.openxmlformats.org/drawingml/2006/table">
            <a:tbl>
              <a:tblPr/>
              <a:tblGrid>
                <a:gridCol w="2712720"/>
                <a:gridCol w="2712720"/>
                <a:gridCol w="2712720"/>
              </a:tblGrid>
              <a:tr h="0">
                <a:tc>
                  <a:txBody>
                    <a:bodyPr/>
                    <a:lstStyle/>
                    <a:p>
                      <a:pPr indent="0" marL="0">
                        <a:buNone/>
                      </a:pPr>
                      <a:r>
                        <a:rPr lang="en-US" sz="1100" b="1" dirty="0">
                          <a:solidFill>
                            <a:srgbClr val="FFFFFF"/>
                          </a:solidFill>
                          <a:latin typeface="Meiryo" pitchFamily="34" charset="0"/>
                          <a:ea typeface="Meiryo" pitchFamily="34" charset="-122"/>
                          <a:cs typeface="Meiryo" pitchFamily="34" charset="-120"/>
                        </a:rPr>
                        <a:t>第1階層</a:t>
                      </a:r>
                      <a:endParaRPr lang="en-US" sz="1100" dirty="0">
                        <a:latin typeface="Meiryo" charset="0"/>
                        <a:ea typeface="Meiryo" charset="0"/>
                        <a:cs typeface="Meiryo" charset="0"/>
                      </a:endParaRPr>
                    </a:p>
                  </a:txBody>
                  <a:tcPr marL="91440" marR="91440" marT="45720" marB="45720">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1F3A5F"/>
                    </a:solidFill>
                  </a:tcPr>
                </a:tc>
                <a:tc>
                  <a:txBody>
                    <a:bodyPr/>
                    <a:lstStyle/>
                    <a:p>
                      <a:pPr indent="0" marL="0">
                        <a:buNone/>
                      </a:pPr>
                      <a:r>
                        <a:rPr lang="en-US" sz="1100" b="1" dirty="0">
                          <a:solidFill>
                            <a:srgbClr val="FFFFFF"/>
                          </a:solidFill>
                          <a:latin typeface="Meiryo" pitchFamily="34" charset="0"/>
                          <a:ea typeface="Meiryo" pitchFamily="34" charset="-122"/>
                          <a:cs typeface="Meiryo" pitchFamily="34" charset="-120"/>
                        </a:rPr>
                        <a:t>内容</a:t>
                      </a:r>
                      <a:endParaRPr lang="en-US" sz="1100" dirty="0">
                        <a:latin typeface="Meiryo" charset="0"/>
                        <a:ea typeface="Meiryo" charset="0"/>
                        <a:cs typeface="Meiryo" charset="0"/>
                      </a:endParaRPr>
                    </a:p>
                  </a:txBody>
                  <a:tcPr marL="91440" marR="91440" marT="45720" marB="45720">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1F3A5F"/>
                    </a:solidFill>
                  </a:tcPr>
                </a:tc>
                <a:tc>
                  <a:txBody>
                    <a:bodyPr/>
                    <a:lstStyle/>
                    <a:p>
                      <a:pPr indent="0" marL="0">
                        <a:buNone/>
                      </a:pPr>
                      <a:r>
                        <a:rPr lang="en-US" sz="1100" b="1" dirty="0">
                          <a:solidFill>
                            <a:srgbClr val="FFFFFF"/>
                          </a:solidFill>
                          <a:latin typeface="Meiryo" pitchFamily="34" charset="0"/>
                          <a:ea typeface="Meiryo" pitchFamily="34" charset="-122"/>
                          <a:cs typeface="Meiryo" pitchFamily="34" charset="-120"/>
                        </a:rPr>
                        <a:t>下層の例</a:t>
                      </a:r>
                      <a:endParaRPr lang="en-US" sz="1100" dirty="0">
                        <a:latin typeface="Meiryo" charset="0"/>
                        <a:ea typeface="Meiryo" charset="0"/>
                        <a:cs typeface="Meiryo" charset="0"/>
                      </a:endParaRPr>
                    </a:p>
                  </a:txBody>
                  <a:tcPr marL="91440" marR="91440" marT="45720" marB="45720">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1F3A5F"/>
                    </a:solidFill>
                  </a:tcPr>
                </a:tc>
              </a:tr>
              <a:tr h="0">
                <a:tc>
                  <a:txBody>
                    <a:bodyPr/>
                    <a:lstStyle/>
                    <a:p>
                      <a:pPr indent="0" marL="0">
                        <a:buNone/>
                      </a:pPr>
                      <a:r>
                        <a:rPr lang="en-US" sz="1100" dirty="0">
                          <a:solidFill>
                            <a:srgbClr val="1A1A1A"/>
                          </a:solidFill>
                          <a:latin typeface="Meiryo" pitchFamily="34" charset="0"/>
                          <a:ea typeface="Meiryo" pitchFamily="34" charset="-122"/>
                          <a:cs typeface="Meiryo" pitchFamily="34" charset="-120"/>
                        </a:rPr>
                        <a:t>/info</a:t>
                      </a:r>
                      <a:endParaRPr lang="en-US" sz="1100" dirty="0">
                        <a:latin typeface="Meiryo" charset="0"/>
                        <a:ea typeface="Meiryo" charset="0"/>
                        <a:cs typeface="Meiryo" charset="0"/>
                      </a:endParaRPr>
                    </a:p>
                  </a:txBody>
                  <a:tcPr marL="91440" marR="91440" marT="45720" marB="45720">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tcPr>
                </a:tc>
                <a:tc>
                  <a:txBody>
                    <a:bodyPr/>
                    <a:lstStyle/>
                    <a:p>
                      <a:pPr indent="0" marL="0">
                        <a:buNone/>
                      </a:pPr>
                      <a:r>
                        <a:rPr lang="en-US" sz="1100" dirty="0">
                          <a:solidFill>
                            <a:srgbClr val="1A1A1A"/>
                          </a:solidFill>
                          <a:latin typeface="Meiryo" pitchFamily="34" charset="0"/>
                          <a:ea typeface="Meiryo" pitchFamily="34" charset="-122"/>
                          <a:cs typeface="Meiryo" pitchFamily="34" charset="-120"/>
                        </a:rPr>
                        <a:t>学校案内</a:t>
                      </a:r>
                      <a:endParaRPr lang="en-US" sz="1100" dirty="0">
                        <a:latin typeface="Meiryo" charset="0"/>
                        <a:ea typeface="Meiryo" charset="0"/>
                        <a:cs typeface="Meiryo" charset="0"/>
                      </a:endParaRPr>
                    </a:p>
                  </a:txBody>
                  <a:tcPr marL="91440" marR="91440" marT="45720" marB="45720">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tcPr>
                </a:tc>
                <a:tc>
                  <a:txBody>
                    <a:bodyPr/>
                    <a:lstStyle/>
                    <a:p>
                      <a:pPr indent="0" marL="0">
                        <a:buNone/>
                      </a:pPr>
                      <a:r>
                        <a:rPr lang="en-US" sz="1100" dirty="0">
                          <a:solidFill>
                            <a:srgbClr val="1A1A1A"/>
                          </a:solidFill>
                          <a:latin typeface="Meiryo" pitchFamily="34" charset="0"/>
                          <a:ea typeface="Meiryo" pitchFamily="34" charset="-122"/>
                          <a:cs typeface="Meiryo" pitchFamily="34" charset="-120"/>
                        </a:rPr>
                        <a:t>president／philosophy／facility ほか</a:t>
                      </a:r>
                      <a:endParaRPr lang="en-US" sz="1100" dirty="0">
                        <a:latin typeface="Meiryo" charset="0"/>
                        <a:ea typeface="Meiryo" charset="0"/>
                        <a:cs typeface="Meiryo" charset="0"/>
                      </a:endParaRPr>
                    </a:p>
                  </a:txBody>
                  <a:tcPr marL="91440" marR="91440" marT="45720" marB="45720">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tcPr>
                </a:tc>
              </a:tr>
              <a:tr h="0">
                <a:tc>
                  <a:txBody>
                    <a:bodyPr/>
                    <a:lstStyle/>
                    <a:p>
                      <a:pPr indent="0" marL="0">
                        <a:buNone/>
                      </a:pPr>
                      <a:r>
                        <a:rPr lang="en-US" sz="1100" dirty="0">
                          <a:solidFill>
                            <a:srgbClr val="1A1A1A"/>
                          </a:solidFill>
                          <a:latin typeface="Meiryo" pitchFamily="34" charset="0"/>
                          <a:ea typeface="Meiryo" pitchFamily="34" charset="-122"/>
                          <a:cs typeface="Meiryo" pitchFamily="34" charset="-120"/>
                        </a:rPr>
                        <a:t>/life</a:t>
                      </a:r>
                      <a:endParaRPr lang="en-US" sz="1100" dirty="0">
                        <a:latin typeface="Meiryo" charset="0"/>
                        <a:ea typeface="Meiryo" charset="0"/>
                        <a:cs typeface="Meiryo" charset="0"/>
                      </a:endParaRPr>
                    </a:p>
                  </a:txBody>
                  <a:tcPr marL="91440" marR="91440" marT="45720" marB="45720">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tcPr>
                </a:tc>
                <a:tc>
                  <a:txBody>
                    <a:bodyPr/>
                    <a:lstStyle/>
                    <a:p>
                      <a:pPr indent="0" marL="0">
                        <a:buNone/>
                      </a:pPr>
                      <a:r>
                        <a:rPr lang="en-US" sz="1100" dirty="0">
                          <a:solidFill>
                            <a:srgbClr val="1A1A1A"/>
                          </a:solidFill>
                          <a:latin typeface="Meiryo" pitchFamily="34" charset="0"/>
                          <a:ea typeface="Meiryo" pitchFamily="34" charset="-122"/>
                          <a:cs typeface="Meiryo" pitchFamily="34" charset="-120"/>
                        </a:rPr>
                        <a:t>学校生活</a:t>
                      </a:r>
                      <a:endParaRPr lang="en-US" sz="1100" dirty="0">
                        <a:latin typeface="Meiryo" charset="0"/>
                        <a:ea typeface="Meiryo" charset="0"/>
                        <a:cs typeface="Meiryo" charset="0"/>
                      </a:endParaRPr>
                    </a:p>
                  </a:txBody>
                  <a:tcPr marL="91440" marR="91440" marT="45720" marB="45720">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tcPr>
                </a:tc>
                <a:tc>
                  <a:txBody>
                    <a:bodyPr/>
                    <a:lstStyle/>
                    <a:p>
                      <a:pPr indent="0" marL="0">
                        <a:buNone/>
                      </a:pPr>
                      <a:r>
                        <a:rPr lang="en-US" sz="1100" dirty="0">
                          <a:solidFill>
                            <a:srgbClr val="1A1A1A"/>
                          </a:solidFill>
                          <a:latin typeface="Meiryo" pitchFamily="34" charset="0"/>
                          <a:ea typeface="Meiryo" pitchFamily="34" charset="-122"/>
                          <a:cs typeface="Meiryo" pitchFamily="34" charset="-120"/>
                        </a:rPr>
                        <a:t>school-life／event／gallery</a:t>
                      </a:r>
                      <a:endParaRPr lang="en-US" sz="1100" dirty="0">
                        <a:latin typeface="Meiryo" charset="0"/>
                        <a:ea typeface="Meiryo" charset="0"/>
                        <a:cs typeface="Meiryo" charset="0"/>
                      </a:endParaRPr>
                    </a:p>
                  </a:txBody>
                  <a:tcPr marL="91440" marR="91440" marT="45720" marB="45720">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tcPr>
                </a:tc>
              </a:tr>
              <a:tr h="0">
                <a:tc>
                  <a:txBody>
                    <a:bodyPr/>
                    <a:lstStyle/>
                    <a:p>
                      <a:pPr indent="0" marL="0">
                        <a:buNone/>
                      </a:pPr>
                      <a:r>
                        <a:rPr lang="en-US" sz="1100" dirty="0">
                          <a:solidFill>
                            <a:srgbClr val="1A1A1A"/>
                          </a:solidFill>
                          <a:latin typeface="Meiryo" pitchFamily="34" charset="0"/>
                          <a:ea typeface="Meiryo" pitchFamily="34" charset="-122"/>
                          <a:cs typeface="Meiryo" pitchFamily="34" charset="-120"/>
                        </a:rPr>
                        <a:t>/junior-high-school</a:t>
                      </a:r>
                      <a:endParaRPr lang="en-US" sz="1100" dirty="0">
                        <a:latin typeface="Meiryo" charset="0"/>
                        <a:ea typeface="Meiryo" charset="0"/>
                        <a:cs typeface="Meiryo" charset="0"/>
                      </a:endParaRPr>
                    </a:p>
                  </a:txBody>
                  <a:tcPr marL="91440" marR="91440" marT="45720" marB="45720">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tcPr>
                </a:tc>
                <a:tc>
                  <a:txBody>
                    <a:bodyPr/>
                    <a:lstStyle/>
                    <a:p>
                      <a:pPr indent="0" marL="0">
                        <a:buNone/>
                      </a:pPr>
                      <a:r>
                        <a:rPr lang="en-US" sz="1100" dirty="0">
                          <a:solidFill>
                            <a:srgbClr val="1A1A1A"/>
                          </a:solidFill>
                          <a:latin typeface="Meiryo" pitchFamily="34" charset="0"/>
                          <a:ea typeface="Meiryo" pitchFamily="34" charset="-122"/>
                          <a:cs typeface="Meiryo" pitchFamily="34" charset="-120"/>
                        </a:rPr>
                        <a:t>中学校</a:t>
                      </a:r>
                      <a:endParaRPr lang="en-US" sz="1100" dirty="0">
                        <a:latin typeface="Meiryo" charset="0"/>
                        <a:ea typeface="Meiryo" charset="0"/>
                        <a:cs typeface="Meiryo" charset="0"/>
                      </a:endParaRPr>
                    </a:p>
                  </a:txBody>
                  <a:tcPr marL="91440" marR="91440" marT="45720" marB="45720">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tcPr>
                </a:tc>
                <a:tc>
                  <a:txBody>
                    <a:bodyPr/>
                    <a:lstStyle/>
                    <a:p>
                      <a:pPr indent="0" marL="0">
                        <a:buNone/>
                      </a:pPr>
                      <a:r>
                        <a:rPr lang="en-US" sz="1100" dirty="0">
                          <a:solidFill>
                            <a:srgbClr val="1A1A1A"/>
                          </a:solidFill>
                          <a:latin typeface="Meiryo" pitchFamily="34" charset="0"/>
                          <a:ea typeface="Meiryo" pitchFamily="34" charset="-122"/>
                          <a:cs typeface="Meiryo" pitchFamily="34" charset="-120"/>
                        </a:rPr>
                        <a:t>syllabus_m／plusalpha／result-junior</a:t>
                      </a:r>
                      <a:endParaRPr lang="en-US" sz="1100" dirty="0">
                        <a:latin typeface="Meiryo" charset="0"/>
                        <a:ea typeface="Meiryo" charset="0"/>
                        <a:cs typeface="Meiryo" charset="0"/>
                      </a:endParaRPr>
                    </a:p>
                  </a:txBody>
                  <a:tcPr marL="91440" marR="91440" marT="45720" marB="45720">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tcPr>
                </a:tc>
              </a:tr>
              <a:tr h="0">
                <a:tc>
                  <a:txBody>
                    <a:bodyPr/>
                    <a:lstStyle/>
                    <a:p>
                      <a:pPr indent="0" marL="0">
                        <a:buNone/>
                      </a:pPr>
                      <a:r>
                        <a:rPr lang="en-US" sz="1100" dirty="0">
                          <a:solidFill>
                            <a:srgbClr val="1A1A1A"/>
                          </a:solidFill>
                          <a:latin typeface="Meiryo" pitchFamily="34" charset="0"/>
                          <a:ea typeface="Meiryo" pitchFamily="34" charset="-122"/>
                          <a:cs typeface="Meiryo" pitchFamily="34" charset="-120"/>
                        </a:rPr>
                        <a:t>/hs-regular-course</a:t>
                      </a:r>
                      <a:endParaRPr lang="en-US" sz="1100" dirty="0">
                        <a:latin typeface="Meiryo" charset="0"/>
                        <a:ea typeface="Meiryo" charset="0"/>
                        <a:cs typeface="Meiryo" charset="0"/>
                      </a:endParaRPr>
                    </a:p>
                  </a:txBody>
                  <a:tcPr marL="91440" marR="91440" marT="45720" marB="45720">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tcPr>
                </a:tc>
                <a:tc>
                  <a:txBody>
                    <a:bodyPr/>
                    <a:lstStyle/>
                    <a:p>
                      <a:pPr indent="0" marL="0">
                        <a:buNone/>
                      </a:pPr>
                      <a:r>
                        <a:rPr lang="en-US" sz="1100" dirty="0">
                          <a:solidFill>
                            <a:srgbClr val="1A1A1A"/>
                          </a:solidFill>
                          <a:latin typeface="Meiryo" pitchFamily="34" charset="0"/>
                          <a:ea typeface="Meiryo" pitchFamily="34" charset="-122"/>
                          <a:cs typeface="Meiryo" pitchFamily="34" charset="-120"/>
                        </a:rPr>
                        <a:t>高等学校（本科）</a:t>
                      </a:r>
                      <a:endParaRPr lang="en-US" sz="1100" dirty="0">
                        <a:latin typeface="Meiryo" charset="0"/>
                        <a:ea typeface="Meiryo" charset="0"/>
                        <a:cs typeface="Meiryo" charset="0"/>
                      </a:endParaRPr>
                    </a:p>
                  </a:txBody>
                  <a:tcPr marL="91440" marR="91440" marT="45720" marB="45720">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tcPr>
                </a:tc>
                <a:tc>
                  <a:txBody>
                    <a:bodyPr/>
                    <a:lstStyle/>
                    <a:p>
                      <a:pPr indent="0" marL="0">
                        <a:buNone/>
                      </a:pPr>
                      <a:r>
                        <a:rPr lang="en-US" sz="1100" dirty="0">
                          <a:solidFill>
                            <a:srgbClr val="1A1A1A"/>
                          </a:solidFill>
                          <a:latin typeface="Meiryo" pitchFamily="34" charset="0"/>
                          <a:ea typeface="Meiryo" pitchFamily="34" charset="-122"/>
                          <a:cs typeface="Meiryo" pitchFamily="34" charset="-120"/>
                        </a:rPr>
                        <a:t>syllabus／achievement／result-high</a:t>
                      </a:r>
                      <a:endParaRPr lang="en-US" sz="1100" dirty="0">
                        <a:latin typeface="Meiryo" charset="0"/>
                        <a:ea typeface="Meiryo" charset="0"/>
                        <a:cs typeface="Meiryo" charset="0"/>
                      </a:endParaRPr>
                    </a:p>
                  </a:txBody>
                  <a:tcPr marL="91440" marR="91440" marT="45720" marB="45720">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tcPr>
                </a:tc>
              </a:tr>
              <a:tr h="0">
                <a:tc>
                  <a:txBody>
                    <a:bodyPr/>
                    <a:lstStyle/>
                    <a:p>
                      <a:pPr indent="0" marL="0">
                        <a:buNone/>
                      </a:pPr>
                      <a:r>
                        <a:rPr lang="en-US" sz="1100" dirty="0">
                          <a:solidFill>
                            <a:srgbClr val="1A1A1A"/>
                          </a:solidFill>
                          <a:latin typeface="Meiryo" pitchFamily="34" charset="0"/>
                          <a:ea typeface="Meiryo" pitchFamily="34" charset="-122"/>
                          <a:cs typeface="Meiryo" pitchFamily="34" charset="-120"/>
                        </a:rPr>
                        <a:t>/hs-frontier-course</a:t>
                      </a:r>
                      <a:endParaRPr lang="en-US" sz="1100" dirty="0">
                        <a:latin typeface="Meiryo" charset="0"/>
                        <a:ea typeface="Meiryo" charset="0"/>
                        <a:cs typeface="Meiryo" charset="0"/>
                      </a:endParaRPr>
                    </a:p>
                  </a:txBody>
                  <a:tcPr marL="91440" marR="91440" marT="45720" marB="45720">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tcPr>
                </a:tc>
                <a:tc>
                  <a:txBody>
                    <a:bodyPr/>
                    <a:lstStyle/>
                    <a:p>
                      <a:pPr indent="0" marL="0">
                        <a:buNone/>
                      </a:pPr>
                      <a:r>
                        <a:rPr lang="en-US" sz="1100" dirty="0">
                          <a:solidFill>
                            <a:srgbClr val="1A1A1A"/>
                          </a:solidFill>
                          <a:latin typeface="Meiryo" pitchFamily="34" charset="0"/>
                          <a:ea typeface="Meiryo" pitchFamily="34" charset="-122"/>
                          <a:cs typeface="Meiryo" pitchFamily="34" charset="-120"/>
                        </a:rPr>
                        <a:t>高等学校（フロンティア）</a:t>
                      </a:r>
                      <a:endParaRPr lang="en-US" sz="1100" dirty="0">
                        <a:latin typeface="Meiryo" charset="0"/>
                        <a:ea typeface="Meiryo" charset="0"/>
                        <a:cs typeface="Meiryo" charset="0"/>
                      </a:endParaRPr>
                    </a:p>
                  </a:txBody>
                  <a:tcPr marL="91440" marR="91440" marT="45720" marB="45720">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tcPr>
                </a:tc>
                <a:tc>
                  <a:txBody>
                    <a:bodyPr/>
                    <a:lstStyle/>
                    <a:p>
                      <a:pPr indent="0" marL="0">
                        <a:buNone/>
                      </a:pPr>
                      <a:r>
                        <a:rPr lang="en-US" sz="1100" dirty="0">
                          <a:solidFill>
                            <a:srgbClr val="1A1A1A"/>
                          </a:solidFill>
                          <a:latin typeface="Meiryo" pitchFamily="34" charset="0"/>
                          <a:ea typeface="Meiryo" pitchFamily="34" charset="-122"/>
                          <a:cs typeface="Meiryo" pitchFamily="34" charset="-120"/>
                        </a:rPr>
                        <a:t>learning／field-work／project-learning</a:t>
                      </a:r>
                      <a:endParaRPr lang="en-US" sz="1100" dirty="0">
                        <a:latin typeface="Meiryo" charset="0"/>
                        <a:ea typeface="Meiryo" charset="0"/>
                        <a:cs typeface="Meiryo" charset="0"/>
                      </a:endParaRPr>
                    </a:p>
                  </a:txBody>
                  <a:tcPr marL="91440" marR="91440" marT="45720" marB="45720">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tcPr>
                </a:tc>
              </a:tr>
              <a:tr h="0">
                <a:tc>
                  <a:txBody>
                    <a:bodyPr/>
                    <a:lstStyle/>
                    <a:p>
                      <a:pPr indent="0" marL="0">
                        <a:buNone/>
                      </a:pPr>
                      <a:r>
                        <a:rPr lang="en-US" sz="1100" dirty="0">
                          <a:solidFill>
                            <a:srgbClr val="1A1A1A"/>
                          </a:solidFill>
                          <a:latin typeface="Meiryo" pitchFamily="34" charset="0"/>
                          <a:ea typeface="Meiryo" pitchFamily="34" charset="-122"/>
                          <a:cs typeface="Meiryo" pitchFamily="34" charset="-120"/>
                        </a:rPr>
                        <a:t>/club・/access</a:t>
                      </a:r>
                      <a:endParaRPr lang="en-US" sz="1100" dirty="0">
                        <a:latin typeface="Meiryo" charset="0"/>
                        <a:ea typeface="Meiryo" charset="0"/>
                        <a:cs typeface="Meiryo" charset="0"/>
                      </a:endParaRPr>
                    </a:p>
                  </a:txBody>
                  <a:tcPr marL="91440" marR="91440" marT="45720" marB="45720">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tcPr>
                </a:tc>
                <a:tc>
                  <a:txBody>
                    <a:bodyPr/>
                    <a:lstStyle/>
                    <a:p>
                      <a:pPr indent="0" marL="0">
                        <a:buNone/>
                      </a:pPr>
                      <a:r>
                        <a:rPr lang="en-US" sz="1100" dirty="0">
                          <a:solidFill>
                            <a:srgbClr val="1A1A1A"/>
                          </a:solidFill>
                          <a:latin typeface="Meiryo" pitchFamily="34" charset="0"/>
                          <a:ea typeface="Meiryo" pitchFamily="34" charset="-122"/>
                          <a:cs typeface="Meiryo" pitchFamily="34" charset="-120"/>
                        </a:rPr>
                        <a:t>部活動・所在地</a:t>
                      </a:r>
                      <a:endParaRPr lang="en-US" sz="1100" dirty="0">
                        <a:latin typeface="Meiryo" charset="0"/>
                        <a:ea typeface="Meiryo" charset="0"/>
                        <a:cs typeface="Meiryo" charset="0"/>
                      </a:endParaRPr>
                    </a:p>
                  </a:txBody>
                  <a:tcPr marL="91440" marR="91440" marT="45720" marB="45720">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tcPr>
                </a:tc>
                <a:tc>
                  <a:txBody>
                    <a:bodyPr/>
                    <a:lstStyle/>
                    <a:p>
                      <a:pPr indent="0" marL="0">
                        <a:buNone/>
                      </a:pPr>
                      <a:r>
                        <a:rPr lang="en-US" sz="1100" dirty="0">
                          <a:solidFill>
                            <a:srgbClr val="1A1A1A"/>
                          </a:solidFill>
                          <a:latin typeface="Meiryo" pitchFamily="34" charset="0"/>
                          <a:ea typeface="Meiryo" pitchFamily="34" charset="-122"/>
                          <a:cs typeface="Meiryo" pitchFamily="34" charset="-120"/>
                        </a:rPr>
                        <a:t>culture／workout／honkawagoe ほか</a:t>
                      </a:r>
                      <a:endParaRPr lang="en-US" sz="1100" dirty="0">
                        <a:latin typeface="Meiryo" charset="0"/>
                        <a:ea typeface="Meiryo" charset="0"/>
                        <a:cs typeface="Meiryo" charset="0"/>
                      </a:endParaRPr>
                    </a:p>
                  </a:txBody>
                  <a:tcPr marL="91440" marR="91440" marT="45720" marB="45720">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tcPr>
                </a:tc>
              </a:tr>
              <a:tr h="0">
                <a:tc>
                  <a:txBody>
                    <a:bodyPr/>
                    <a:lstStyle/>
                    <a:p>
                      <a:pPr indent="0" marL="0">
                        <a:buNone/>
                      </a:pPr>
                      <a:r>
                        <a:rPr lang="en-US" sz="1100" dirty="0">
                          <a:solidFill>
                            <a:srgbClr val="1A1A1A"/>
                          </a:solidFill>
                          <a:latin typeface="Meiryo" pitchFamily="34" charset="0"/>
                          <a:ea typeface="Meiryo" pitchFamily="34" charset="-122"/>
                          <a:cs typeface="Meiryo" pitchFamily="34" charset="-120"/>
                        </a:rPr>
                        <a:t>/news・/briefings・/division_category</a:t>
                      </a:r>
                      <a:endParaRPr lang="en-US" sz="1100" dirty="0">
                        <a:latin typeface="Meiryo" charset="0"/>
                        <a:ea typeface="Meiryo" charset="0"/>
                        <a:cs typeface="Meiryo" charset="0"/>
                      </a:endParaRPr>
                    </a:p>
                  </a:txBody>
                  <a:tcPr marL="91440" marR="91440" marT="45720" marB="45720">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tcPr>
                </a:tc>
                <a:tc>
                  <a:txBody>
                    <a:bodyPr/>
                    <a:lstStyle/>
                    <a:p>
                      <a:pPr indent="0" marL="0">
                        <a:buNone/>
                      </a:pPr>
                      <a:r>
                        <a:rPr lang="en-US" sz="1100" dirty="0">
                          <a:solidFill>
                            <a:srgbClr val="1A1A1A"/>
                          </a:solidFill>
                          <a:latin typeface="Meiryo" pitchFamily="34" charset="0"/>
                          <a:ea typeface="Meiryo" pitchFamily="34" charset="-122"/>
                          <a:cs typeface="Meiryo" pitchFamily="34" charset="-120"/>
                        </a:rPr>
                        <a:t>更新情報・説明会・区分別アーカイブ</a:t>
                      </a:r>
                      <a:endParaRPr lang="en-US" sz="1100" dirty="0">
                        <a:latin typeface="Meiryo" charset="0"/>
                        <a:ea typeface="Meiryo" charset="0"/>
                        <a:cs typeface="Meiryo" charset="0"/>
                      </a:endParaRPr>
                    </a:p>
                  </a:txBody>
                  <a:tcPr marL="91440" marR="91440" marT="45720" marB="45720">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tcPr>
                </a:tc>
                <a:tc>
                  <a:txBody>
                    <a:bodyPr/>
                    <a:lstStyle/>
                    <a:p>
                      <a:pPr indent="0" marL="0">
                        <a:buNone/>
                      </a:pPr>
                      <a:r>
                        <a:rPr lang="en-US" sz="1100" dirty="0">
                          <a:solidFill>
                            <a:srgbClr val="1A1A1A"/>
                          </a:solidFill>
                          <a:latin typeface="Meiryo" pitchFamily="34" charset="0"/>
                          <a:ea typeface="Meiryo" pitchFamily="34" charset="-122"/>
                          <a:cs typeface="Meiryo" pitchFamily="34" charset="-120"/>
                        </a:rPr>
                        <a:t>投稿／カスタム投稿／アーカイブ</a:t>
                      </a:r>
                      <a:endParaRPr lang="en-US" sz="1100" dirty="0">
                        <a:latin typeface="Meiryo" charset="0"/>
                        <a:ea typeface="Meiryo" charset="0"/>
                        <a:cs typeface="Meiryo" charset="0"/>
                      </a:endParaRPr>
                    </a:p>
                  </a:txBody>
                  <a:tcPr marL="91440" marR="91440" marT="45720" marB="45720">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tcPr>
                </a:tc>
              </a:tr>
            </a:tbl>
          </a:graphicData>
        </a:graphic>
      </p:graphicFrame>
      <p:sp>
        <p:nvSpPr>
          <p:cNvPr id="7" name="Text 4"/>
          <p:cNvSpPr/>
          <p:nvPr/>
        </p:nvSpPr>
        <p:spPr>
          <a:xfrm>
            <a:off x="502920" y="4759452"/>
            <a:ext cx="6949440" cy="228600"/>
          </a:xfrm>
          <a:prstGeom prst="rect">
            <a:avLst/>
          </a:prstGeom>
          <a:noFill/>
          <a:ln/>
        </p:spPr>
        <p:txBody>
          <a:bodyPr wrap="square" rtlCol="0" anchor="ctr"/>
          <a:lstStyle/>
          <a:p>
            <a:pPr indent="0" marL="0">
              <a:buNone/>
            </a:pPr>
            <a:r>
              <a:rPr lang="en-US" sz="900" dirty="0">
                <a:solidFill>
                  <a:srgbClr val="6B6B6B"/>
                </a:solidFill>
                <a:latin typeface="Meiryo" pitchFamily="34" charset="0"/>
                <a:ea typeface="Meiryo" pitchFamily="34" charset="-122"/>
                <a:cs typeface="Meiryo" pitchFamily="34" charset="-120"/>
              </a:rPr>
              <a:t>出典: gg-manager site_crawl（2026-09-18、深度3、190URL到達／142ページ取得）</a:t>
            </a:r>
            <a:endParaRPr lang="en-US" sz="900" dirty="0"/>
          </a:p>
        </p:txBody>
      </p:sp>
      <p:sp>
        <p:nvSpPr>
          <p:cNvPr id="8" name="Text 5"/>
          <p:cNvSpPr/>
          <p:nvPr/>
        </p:nvSpPr>
        <p:spPr>
          <a:xfrm>
            <a:off x="7543800" y="4759452"/>
            <a:ext cx="1097280" cy="228600"/>
          </a:xfrm>
          <a:prstGeom prst="rect">
            <a:avLst/>
          </a:prstGeom>
          <a:noFill/>
          <a:ln/>
        </p:spPr>
        <p:txBody>
          <a:bodyPr wrap="square" rtlCol="0" anchor="ctr"/>
          <a:lstStyle/>
          <a:p>
            <a:pPr algn="r" indent="0" marL="0">
              <a:buNone/>
            </a:pPr>
            <a:r>
              <a:rPr lang="en-US" sz="900" dirty="0">
                <a:solidFill>
                  <a:srgbClr val="6B6B6B"/>
                </a:solidFill>
                <a:latin typeface="Meiryo" pitchFamily="34" charset="0"/>
                <a:ea typeface="Meiryo" pitchFamily="34" charset="-122"/>
                <a:cs typeface="Meiryo" pitchFamily="34" charset="-120"/>
              </a:rPr>
              <a:t>14|82</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502920" y="502920"/>
            <a:ext cx="8138160" cy="228600"/>
          </a:xfrm>
          <a:prstGeom prst="rect">
            <a:avLst/>
          </a:prstGeom>
          <a:noFill/>
          <a:ln/>
        </p:spPr>
        <p:txBody>
          <a:bodyPr wrap="square" rtlCol="0" anchor="ctr"/>
          <a:lstStyle/>
          <a:p>
            <a:pPr indent="0" marL="0">
              <a:buNone/>
            </a:pPr>
            <a:r>
              <a:rPr lang="en-US" sz="1000" dirty="0">
                <a:solidFill>
                  <a:srgbClr val="6B6B6B"/>
                </a:solidFill>
                <a:latin typeface="Meiryo" pitchFamily="34" charset="0"/>
                <a:ea typeface="Meiryo" pitchFamily="34" charset="-122"/>
                <a:cs typeface="Meiryo" pitchFamily="34" charset="-120"/>
              </a:rPr>
              <a:t>02 Analysis</a:t>
            </a:r>
            <a:endParaRPr lang="en-US" sz="1000" dirty="0"/>
          </a:p>
        </p:txBody>
      </p:sp>
      <p:sp>
        <p:nvSpPr>
          <p:cNvPr id="3" name="Text 1"/>
          <p:cNvSpPr/>
          <p:nvPr/>
        </p:nvSpPr>
        <p:spPr>
          <a:xfrm>
            <a:off x="502920" y="777240"/>
            <a:ext cx="8138160" cy="457200"/>
          </a:xfrm>
          <a:prstGeom prst="rect">
            <a:avLst/>
          </a:prstGeom>
          <a:noFill/>
          <a:ln/>
        </p:spPr>
        <p:txBody>
          <a:bodyPr wrap="square" rtlCol="0" anchor="ctr"/>
          <a:lstStyle/>
          <a:p>
            <a:pPr indent="0" marL="0">
              <a:buNone/>
            </a:pPr>
            <a:r>
              <a:rPr lang="en-US" sz="2000" b="1" dirty="0">
                <a:solidFill>
                  <a:srgbClr val="1A1A1A"/>
                </a:solidFill>
                <a:latin typeface="Meiryo" pitchFamily="34" charset="0"/>
                <a:ea typeface="Meiryo" pitchFamily="34" charset="-122"/>
                <a:cs typeface="Meiryo" pitchFamily="34" charset="-120"/>
              </a:rPr>
              <a:t>構造上の問題は4点です</a:t>
            </a:r>
            <a:endParaRPr lang="en-US" sz="2000" dirty="0"/>
          </a:p>
        </p:txBody>
      </p:sp>
      <p:sp>
        <p:nvSpPr>
          <p:cNvPr id="4" name="Shape 2"/>
          <p:cNvSpPr/>
          <p:nvPr/>
        </p:nvSpPr>
        <p:spPr>
          <a:xfrm>
            <a:off x="502920" y="1280160"/>
            <a:ext cx="8138160" cy="0"/>
          </a:xfrm>
          <a:prstGeom prst="line">
            <a:avLst/>
          </a:prstGeom>
          <a:noFill/>
          <a:ln w="12700">
            <a:solidFill>
              <a:srgbClr val="D5D5D5"/>
            </a:solidFill>
            <a:prstDash val="solid"/>
          </a:ln>
        </p:spPr>
      </p:sp>
      <p:sp>
        <p:nvSpPr>
          <p:cNvPr id="5" name="Text 3"/>
          <p:cNvSpPr/>
          <p:nvPr/>
        </p:nvSpPr>
        <p:spPr>
          <a:xfrm>
            <a:off x="502920" y="1417320"/>
            <a:ext cx="8138160" cy="457200"/>
          </a:xfrm>
          <a:prstGeom prst="rect">
            <a:avLst/>
          </a:prstGeom>
          <a:noFill/>
          <a:ln/>
        </p:spPr>
        <p:txBody>
          <a:bodyPr wrap="square" rtlCol="0" anchor="t"/>
          <a:lstStyle/>
          <a:p>
            <a:pPr indent="0" marL="0">
              <a:buNone/>
            </a:pPr>
            <a:r>
              <a:rPr lang="en-US" sz="1200" dirty="0">
                <a:solidFill>
                  <a:srgbClr val="1A1A1A"/>
                </a:solidFill>
                <a:latin typeface="Meiryo" pitchFamily="34" charset="0"/>
                <a:ea typeface="Meiryo" pitchFamily="34" charset="-122"/>
                <a:cs typeface="Meiryo" pitchFamily="34" charset="-120"/>
              </a:rPr>
              <a:t>6年間の運用で、同じ内容への入口が複数でき、命名規則も分かれています。</a:t>
            </a:r>
            <a:endParaRPr lang="en-US" sz="12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502920" y="1965960"/>
          <a:ext cx="8138160" cy="914400"/>
        </p:xfrm>
        <a:graphic>
          <a:graphicData uri="http://schemas.openxmlformats.org/drawingml/2006/table">
            <a:tbl>
              <a:tblPr/>
              <a:tblGrid>
                <a:gridCol w="2712720"/>
                <a:gridCol w="2712720"/>
                <a:gridCol w="2712720"/>
              </a:tblGrid>
              <a:tr h="0">
                <a:tc>
                  <a:txBody>
                    <a:bodyPr/>
                    <a:lstStyle/>
                    <a:p>
                      <a:pPr indent="0" marL="0">
                        <a:buNone/>
                      </a:pPr>
                      <a:r>
                        <a:rPr lang="en-US" sz="1100" b="1" dirty="0">
                          <a:solidFill>
                            <a:srgbClr val="FFFFFF"/>
                          </a:solidFill>
                          <a:latin typeface="Meiryo" pitchFamily="34" charset="0"/>
                          <a:ea typeface="Meiryo" pitchFamily="34" charset="-122"/>
                          <a:cs typeface="Meiryo" pitchFamily="34" charset="-120"/>
                        </a:rPr>
                        <a:t>#</a:t>
                      </a:r>
                      <a:endParaRPr lang="en-US" sz="1100" dirty="0">
                        <a:latin typeface="Meiryo" charset="0"/>
                        <a:ea typeface="Meiryo" charset="0"/>
                        <a:cs typeface="Meiryo" charset="0"/>
                      </a:endParaRPr>
                    </a:p>
                  </a:txBody>
                  <a:tcPr marL="91440" marR="91440" marT="45720" marB="45720">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1F3A5F"/>
                    </a:solidFill>
                  </a:tcPr>
                </a:tc>
                <a:tc>
                  <a:txBody>
                    <a:bodyPr/>
                    <a:lstStyle/>
                    <a:p>
                      <a:pPr indent="0" marL="0">
                        <a:buNone/>
                      </a:pPr>
                      <a:r>
                        <a:rPr lang="en-US" sz="1100" b="1" dirty="0">
                          <a:solidFill>
                            <a:srgbClr val="FFFFFF"/>
                          </a:solidFill>
                          <a:latin typeface="Meiryo" pitchFamily="34" charset="0"/>
                          <a:ea typeface="Meiryo" pitchFamily="34" charset="-122"/>
                          <a:cs typeface="Meiryo" pitchFamily="34" charset="-120"/>
                        </a:rPr>
                        <a:t>問題</a:t>
                      </a:r>
                      <a:endParaRPr lang="en-US" sz="1100" dirty="0">
                        <a:latin typeface="Meiryo" charset="0"/>
                        <a:ea typeface="Meiryo" charset="0"/>
                        <a:cs typeface="Meiryo" charset="0"/>
                      </a:endParaRPr>
                    </a:p>
                  </a:txBody>
                  <a:tcPr marL="91440" marR="91440" marT="45720" marB="45720">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1F3A5F"/>
                    </a:solidFill>
                  </a:tcPr>
                </a:tc>
                <a:tc>
                  <a:txBody>
                    <a:bodyPr/>
                    <a:lstStyle/>
                    <a:p>
                      <a:pPr indent="0" marL="0">
                        <a:buNone/>
                      </a:pPr>
                      <a:r>
                        <a:rPr lang="en-US" sz="1100" b="1" dirty="0">
                          <a:solidFill>
                            <a:srgbClr val="FFFFFF"/>
                          </a:solidFill>
                          <a:latin typeface="Meiryo" pitchFamily="34" charset="0"/>
                          <a:ea typeface="Meiryo" pitchFamily="34" charset="-122"/>
                          <a:cs typeface="Meiryo" pitchFamily="34" charset="-120"/>
                        </a:rPr>
                        <a:t>根拠（実測）</a:t>
                      </a:r>
                      <a:endParaRPr lang="en-US" sz="1100" dirty="0">
                        <a:latin typeface="Meiryo" charset="0"/>
                        <a:ea typeface="Meiryo" charset="0"/>
                        <a:cs typeface="Meiryo" charset="0"/>
                      </a:endParaRPr>
                    </a:p>
                  </a:txBody>
                  <a:tcPr marL="91440" marR="91440" marT="45720" marB="45720">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1F3A5F"/>
                    </a:solidFill>
                  </a:tcPr>
                </a:tc>
              </a:tr>
              <a:tr h="0">
                <a:tc>
                  <a:txBody>
                    <a:bodyPr/>
                    <a:lstStyle/>
                    <a:p>
                      <a:pPr indent="0" marL="0">
                        <a:buNone/>
                      </a:pPr>
                      <a:r>
                        <a:rPr lang="en-US" sz="1100" dirty="0">
                          <a:solidFill>
                            <a:srgbClr val="1A1A1A"/>
                          </a:solidFill>
                          <a:latin typeface="Meiryo" pitchFamily="34" charset="0"/>
                          <a:ea typeface="Meiryo" pitchFamily="34" charset="-122"/>
                          <a:cs typeface="Meiryo" pitchFamily="34" charset="-120"/>
                        </a:rPr>
                        <a:t>1</a:t>
                      </a:r>
                      <a:endParaRPr lang="en-US" sz="1100" dirty="0">
                        <a:latin typeface="Meiryo" charset="0"/>
                        <a:ea typeface="Meiryo" charset="0"/>
                        <a:cs typeface="Meiryo" charset="0"/>
                      </a:endParaRPr>
                    </a:p>
                  </a:txBody>
                  <a:tcPr marL="91440" marR="91440" marT="45720" marB="45720">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tcPr>
                </a:tc>
                <a:tc>
                  <a:txBody>
                    <a:bodyPr/>
                    <a:lstStyle/>
                    <a:p>
                      <a:pPr indent="0" marL="0">
                        <a:buNone/>
                      </a:pPr>
                      <a:r>
                        <a:rPr lang="en-US" sz="1100" dirty="0">
                          <a:solidFill>
                            <a:srgbClr val="1A1A1A"/>
                          </a:solidFill>
                          <a:latin typeface="Meiryo" pitchFamily="34" charset="0"/>
                          <a:ea typeface="Meiryo" pitchFamily="34" charset="-122"/>
                          <a:cs typeface="Meiryo" pitchFamily="34" charset="-120"/>
                        </a:rPr>
                        <a:t>同一コンテンツに複数の入口がある</a:t>
                      </a:r>
                      <a:endParaRPr lang="en-US" sz="1100" dirty="0">
                        <a:latin typeface="Meiryo" charset="0"/>
                        <a:ea typeface="Meiryo" charset="0"/>
                        <a:cs typeface="Meiryo" charset="0"/>
                      </a:endParaRPr>
                    </a:p>
                  </a:txBody>
                  <a:tcPr marL="91440" marR="91440" marT="45720" marB="45720">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tcPr>
                </a:tc>
                <a:tc>
                  <a:txBody>
                    <a:bodyPr/>
                    <a:lstStyle/>
                    <a:p>
                      <a:pPr indent="0" marL="0">
                        <a:buNone/>
                      </a:pPr>
                      <a:r>
                        <a:rPr lang="en-US" sz="1100" dirty="0">
                          <a:solidFill>
                            <a:srgbClr val="1A1A1A"/>
                          </a:solidFill>
                          <a:latin typeface="Meiryo" pitchFamily="34" charset="0"/>
                          <a:ea typeface="Meiryo" pitchFamily="34" charset="-122"/>
                          <a:cs typeface="Meiryo" pitchFamily="34" charset="-120"/>
                        </a:rPr>
                        <a:t>部活動が /club・/club/culture・/club/workout に加え、スライドバーの「同好会」も /club を指します</a:t>
                      </a:r>
                      <a:endParaRPr lang="en-US" sz="1100" dirty="0">
                        <a:latin typeface="Meiryo" charset="0"/>
                        <a:ea typeface="Meiryo" charset="0"/>
                        <a:cs typeface="Meiryo" charset="0"/>
                      </a:endParaRPr>
                    </a:p>
                  </a:txBody>
                  <a:tcPr marL="91440" marR="91440" marT="45720" marB="45720">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tcPr>
                </a:tc>
              </a:tr>
              <a:tr h="0">
                <a:tc>
                  <a:txBody>
                    <a:bodyPr/>
                    <a:lstStyle/>
                    <a:p>
                      <a:pPr indent="0" marL="0">
                        <a:buNone/>
                      </a:pPr>
                      <a:r>
                        <a:rPr lang="en-US" sz="1100" dirty="0">
                          <a:solidFill>
                            <a:srgbClr val="1A1A1A"/>
                          </a:solidFill>
                          <a:latin typeface="Meiryo" pitchFamily="34" charset="0"/>
                          <a:ea typeface="Meiryo" pitchFamily="34" charset="-122"/>
                          <a:cs typeface="Meiryo" pitchFamily="34" charset="-120"/>
                        </a:rPr>
                        <a:t>2</a:t>
                      </a:r>
                      <a:endParaRPr lang="en-US" sz="1100" dirty="0">
                        <a:latin typeface="Meiryo" charset="0"/>
                        <a:ea typeface="Meiryo" charset="0"/>
                        <a:cs typeface="Meiryo" charset="0"/>
                      </a:endParaRPr>
                    </a:p>
                  </a:txBody>
                  <a:tcPr marL="91440" marR="91440" marT="45720" marB="45720">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tcPr>
                </a:tc>
                <a:tc>
                  <a:txBody>
                    <a:bodyPr/>
                    <a:lstStyle/>
                    <a:p>
                      <a:pPr indent="0" marL="0">
                        <a:buNone/>
                      </a:pPr>
                      <a:r>
                        <a:rPr lang="en-US" sz="1100" dirty="0">
                          <a:solidFill>
                            <a:srgbClr val="1A1A1A"/>
                          </a:solidFill>
                          <a:latin typeface="Meiryo" pitchFamily="34" charset="0"/>
                          <a:ea typeface="Meiryo" pitchFamily="34" charset="-122"/>
                          <a:cs typeface="Meiryo" pitchFamily="34" charset="-120"/>
                        </a:rPr>
                        <a:t>学部区分とコース区分が混在している</a:t>
                      </a:r>
                      <a:endParaRPr lang="en-US" sz="1100" dirty="0">
                        <a:latin typeface="Meiryo" charset="0"/>
                        <a:ea typeface="Meiryo" charset="0"/>
                        <a:cs typeface="Meiryo" charset="0"/>
                      </a:endParaRPr>
                    </a:p>
                  </a:txBody>
                  <a:tcPr marL="91440" marR="91440" marT="45720" marB="45720">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tcPr>
                </a:tc>
                <a:tc>
                  <a:txBody>
                    <a:bodyPr/>
                    <a:lstStyle/>
                    <a:p>
                      <a:pPr indent="0" marL="0">
                        <a:buNone/>
                      </a:pPr>
                      <a:r>
                        <a:rPr lang="en-US" sz="1100" dirty="0">
                          <a:solidFill>
                            <a:srgbClr val="1A1A1A"/>
                          </a:solidFill>
                          <a:latin typeface="Meiryo" pitchFamily="34" charset="0"/>
                          <a:ea typeface="Meiryo" pitchFamily="34" charset="-122"/>
                          <a:cs typeface="Meiryo" pitchFamily="34" charset="-120"/>
                        </a:rPr>
                        <a:t>学部区分のURLと /division_category/* が並立し、更新情報の導線が二重です</a:t>
                      </a:r>
                      <a:endParaRPr lang="en-US" sz="1100" dirty="0">
                        <a:latin typeface="Meiryo" charset="0"/>
                        <a:ea typeface="Meiryo" charset="0"/>
                        <a:cs typeface="Meiryo" charset="0"/>
                      </a:endParaRPr>
                    </a:p>
                  </a:txBody>
                  <a:tcPr marL="91440" marR="91440" marT="45720" marB="45720">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tcPr>
                </a:tc>
              </a:tr>
              <a:tr h="0">
                <a:tc>
                  <a:txBody>
                    <a:bodyPr/>
                    <a:lstStyle/>
                    <a:p>
                      <a:pPr indent="0" marL="0">
                        <a:buNone/>
                      </a:pPr>
                      <a:r>
                        <a:rPr lang="en-US" sz="1100" dirty="0">
                          <a:solidFill>
                            <a:srgbClr val="1A1A1A"/>
                          </a:solidFill>
                          <a:latin typeface="Meiryo" pitchFamily="34" charset="0"/>
                          <a:ea typeface="Meiryo" pitchFamily="34" charset="-122"/>
                          <a:cs typeface="Meiryo" pitchFamily="34" charset="-120"/>
                        </a:rPr>
                        <a:t>3</a:t>
                      </a:r>
                      <a:endParaRPr lang="en-US" sz="1100" dirty="0">
                        <a:latin typeface="Meiryo" charset="0"/>
                        <a:ea typeface="Meiryo" charset="0"/>
                        <a:cs typeface="Meiryo" charset="0"/>
                      </a:endParaRPr>
                    </a:p>
                  </a:txBody>
                  <a:tcPr marL="91440" marR="91440" marT="45720" marB="45720">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tcPr>
                </a:tc>
                <a:tc>
                  <a:txBody>
                    <a:bodyPr/>
                    <a:lstStyle/>
                    <a:p>
                      <a:pPr indent="0" marL="0">
                        <a:buNone/>
                      </a:pPr>
                      <a:r>
                        <a:rPr lang="en-US" sz="1100" dirty="0">
                          <a:solidFill>
                            <a:srgbClr val="1A1A1A"/>
                          </a:solidFill>
                          <a:latin typeface="Meiryo" pitchFamily="34" charset="0"/>
                          <a:ea typeface="Meiryo" pitchFamily="34" charset="-122"/>
                          <a:cs typeface="Meiryo" pitchFamily="34" charset="-120"/>
                        </a:rPr>
                        <a:t>命名規則が不統一</a:t>
                      </a:r>
                      <a:endParaRPr lang="en-US" sz="1100" dirty="0">
                        <a:latin typeface="Meiryo" charset="0"/>
                        <a:ea typeface="Meiryo" charset="0"/>
                        <a:cs typeface="Meiryo" charset="0"/>
                      </a:endParaRPr>
                    </a:p>
                  </a:txBody>
                  <a:tcPr marL="91440" marR="91440" marT="45720" marB="45720">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tcPr>
                </a:tc>
                <a:tc>
                  <a:txBody>
                    <a:bodyPr/>
                    <a:lstStyle/>
                    <a:p>
                      <a:pPr indent="0" marL="0">
                        <a:buNone/>
                      </a:pPr>
                      <a:r>
                        <a:rPr lang="en-US" sz="1100" dirty="0">
                          <a:solidFill>
                            <a:srgbClr val="1A1A1A"/>
                          </a:solidFill>
                          <a:latin typeface="Meiryo" pitchFamily="34" charset="0"/>
                          <a:ea typeface="Meiryo" pitchFamily="34" charset="-122"/>
                          <a:cs typeface="Meiryo" pitchFamily="34" charset="-120"/>
                        </a:rPr>
                        <a:t>syllabus（高）と syllabus_m（中）、result-high と result-junior で語順が逆です</a:t>
                      </a:r>
                      <a:endParaRPr lang="en-US" sz="1100" dirty="0">
                        <a:latin typeface="Meiryo" charset="0"/>
                        <a:ea typeface="Meiryo" charset="0"/>
                        <a:cs typeface="Meiryo" charset="0"/>
                      </a:endParaRPr>
                    </a:p>
                  </a:txBody>
                  <a:tcPr marL="91440" marR="91440" marT="45720" marB="45720">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tcPr>
                </a:tc>
              </a:tr>
              <a:tr h="0">
                <a:tc>
                  <a:txBody>
                    <a:bodyPr/>
                    <a:lstStyle/>
                    <a:p>
                      <a:pPr indent="0" marL="0">
                        <a:buNone/>
                      </a:pPr>
                      <a:r>
                        <a:rPr lang="en-US" sz="1100" dirty="0">
                          <a:solidFill>
                            <a:srgbClr val="1A1A1A"/>
                          </a:solidFill>
                          <a:latin typeface="Meiryo" pitchFamily="34" charset="0"/>
                          <a:ea typeface="Meiryo" pitchFamily="34" charset="-122"/>
                          <a:cs typeface="Meiryo" pitchFamily="34" charset="-120"/>
                        </a:rPr>
                        <a:t>4</a:t>
                      </a:r>
                      <a:endParaRPr lang="en-US" sz="1100" dirty="0">
                        <a:latin typeface="Meiryo" charset="0"/>
                        <a:ea typeface="Meiryo" charset="0"/>
                        <a:cs typeface="Meiryo" charset="0"/>
                      </a:endParaRPr>
                    </a:p>
                  </a:txBody>
                  <a:tcPr marL="91440" marR="91440" marT="45720" marB="45720">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tcPr>
                </a:tc>
                <a:tc>
                  <a:txBody>
                    <a:bodyPr/>
                    <a:lstStyle/>
                    <a:p>
                      <a:pPr indent="0" marL="0">
                        <a:buNone/>
                      </a:pPr>
                      <a:r>
                        <a:rPr lang="en-US" sz="1100" dirty="0">
                          <a:solidFill>
                            <a:srgbClr val="1A1A1A"/>
                          </a:solidFill>
                          <a:latin typeface="Meiryo" pitchFamily="34" charset="0"/>
                          <a:ea typeface="Meiryo" pitchFamily="34" charset="-122"/>
                          <a:cs typeface="Meiryo" pitchFamily="34" charset="-120"/>
                        </a:rPr>
                        <a:t>旧構造の残骸が露出している</a:t>
                      </a:r>
                      <a:endParaRPr lang="en-US" sz="1100" dirty="0">
                        <a:latin typeface="Meiryo" charset="0"/>
                        <a:ea typeface="Meiryo" charset="0"/>
                        <a:cs typeface="Meiryo" charset="0"/>
                      </a:endParaRPr>
                    </a:p>
                  </a:txBody>
                  <a:tcPr marL="91440" marR="91440" marT="45720" marB="45720">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tcPr>
                </a:tc>
                <a:tc>
                  <a:txBody>
                    <a:bodyPr/>
                    <a:lstStyle/>
                    <a:p>
                      <a:pPr indent="0" marL="0">
                        <a:buNone/>
                      </a:pPr>
                      <a:r>
                        <a:rPr lang="en-US" sz="1100" dirty="0">
                          <a:solidFill>
                            <a:srgbClr val="1A1A1A"/>
                          </a:solidFill>
                          <a:latin typeface="Meiryo" pitchFamily="34" charset="0"/>
                          <a:ea typeface="Meiryo" pitchFamily="34" charset="-122"/>
                          <a:cs typeface="Meiryo" pitchFamily="34" charset="-120"/>
                        </a:rPr>
                        <a:t>コメントアウト済みの /education/*・/activity/* が、前ページの不具合経由で表に出ています</a:t>
                      </a:r>
                      <a:endParaRPr lang="en-US" sz="1100" dirty="0">
                        <a:latin typeface="Meiryo" charset="0"/>
                        <a:ea typeface="Meiryo" charset="0"/>
                        <a:cs typeface="Meiryo" charset="0"/>
                      </a:endParaRPr>
                    </a:p>
                  </a:txBody>
                  <a:tcPr marL="91440" marR="91440" marT="45720" marB="45720">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tcPr>
                </a:tc>
              </a:tr>
            </a:tbl>
          </a:graphicData>
        </a:graphic>
      </p:graphicFrame>
      <p:sp>
        <p:nvSpPr>
          <p:cNvPr id="7" name="Text 4"/>
          <p:cNvSpPr/>
          <p:nvPr/>
        </p:nvSpPr>
        <p:spPr>
          <a:xfrm>
            <a:off x="502920" y="4759452"/>
            <a:ext cx="6949440" cy="228600"/>
          </a:xfrm>
          <a:prstGeom prst="rect">
            <a:avLst/>
          </a:prstGeom>
          <a:noFill/>
          <a:ln/>
        </p:spPr>
        <p:txBody>
          <a:bodyPr wrap="square" rtlCol="0" anchor="ctr"/>
          <a:lstStyle/>
          <a:p>
            <a:pPr indent="0" marL="0">
              <a:buNone/>
            </a:pPr>
            <a:r>
              <a:rPr lang="en-US" sz="900" dirty="0">
                <a:solidFill>
                  <a:srgbClr val="6B6B6B"/>
                </a:solidFill>
                <a:latin typeface="Meiryo" pitchFamily="34" charset="0"/>
                <a:ea typeface="Meiryo" pitchFamily="34" charset="-122"/>
                <a:cs typeface="Meiryo" pitchFamily="34" charset="-120"/>
              </a:rPr>
              <a:t>出典: projects/johoku-saitama/research/current-site-audit.md（2026-09-18 実測）</a:t>
            </a:r>
            <a:endParaRPr lang="en-US" sz="900" dirty="0"/>
          </a:p>
        </p:txBody>
      </p:sp>
      <p:sp>
        <p:nvSpPr>
          <p:cNvPr id="8" name="Text 5"/>
          <p:cNvSpPr/>
          <p:nvPr/>
        </p:nvSpPr>
        <p:spPr>
          <a:xfrm>
            <a:off x="7543800" y="4759452"/>
            <a:ext cx="1097280" cy="228600"/>
          </a:xfrm>
          <a:prstGeom prst="rect">
            <a:avLst/>
          </a:prstGeom>
          <a:noFill/>
          <a:ln/>
        </p:spPr>
        <p:txBody>
          <a:bodyPr wrap="square" rtlCol="0" anchor="ctr"/>
          <a:lstStyle/>
          <a:p>
            <a:pPr algn="r" indent="0" marL="0">
              <a:buNone/>
            </a:pPr>
            <a:r>
              <a:rPr lang="en-US" sz="900" dirty="0">
                <a:solidFill>
                  <a:srgbClr val="6B6B6B"/>
                </a:solidFill>
                <a:latin typeface="Meiryo" pitchFamily="34" charset="0"/>
                <a:ea typeface="Meiryo" pitchFamily="34" charset="-122"/>
                <a:cs typeface="Meiryo" pitchFamily="34" charset="-120"/>
              </a:rPr>
              <a:t>15|82</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502920" y="502920"/>
            <a:ext cx="8138160" cy="228600"/>
          </a:xfrm>
          <a:prstGeom prst="rect">
            <a:avLst/>
          </a:prstGeom>
          <a:noFill/>
          <a:ln/>
        </p:spPr>
        <p:txBody>
          <a:bodyPr wrap="square" rtlCol="0" anchor="ctr"/>
          <a:lstStyle/>
          <a:p>
            <a:pPr indent="0" marL="0">
              <a:buNone/>
            </a:pPr>
            <a:r>
              <a:rPr lang="en-US" sz="1000" dirty="0">
                <a:solidFill>
                  <a:srgbClr val="6B6B6B"/>
                </a:solidFill>
                <a:latin typeface="Meiryo" pitchFamily="34" charset="0"/>
                <a:ea typeface="Meiryo" pitchFamily="34" charset="-122"/>
                <a:cs typeface="Meiryo" pitchFamily="34" charset="-120"/>
              </a:rPr>
              <a:t>02 Analysis</a:t>
            </a:r>
            <a:endParaRPr lang="en-US" sz="1000" dirty="0"/>
          </a:p>
        </p:txBody>
      </p:sp>
      <p:sp>
        <p:nvSpPr>
          <p:cNvPr id="3" name="Text 1"/>
          <p:cNvSpPr/>
          <p:nvPr/>
        </p:nvSpPr>
        <p:spPr>
          <a:xfrm>
            <a:off x="502920" y="777240"/>
            <a:ext cx="8138160" cy="457200"/>
          </a:xfrm>
          <a:prstGeom prst="rect">
            <a:avLst/>
          </a:prstGeom>
          <a:noFill/>
          <a:ln/>
        </p:spPr>
        <p:txBody>
          <a:bodyPr wrap="square" rtlCol="0" anchor="ctr"/>
          <a:lstStyle/>
          <a:p>
            <a:pPr indent="0" marL="0">
              <a:buNone/>
            </a:pPr>
            <a:r>
              <a:rPr lang="en-US" sz="2000" b="1" dirty="0">
                <a:solidFill>
                  <a:srgbClr val="1A1A1A"/>
                </a:solidFill>
                <a:latin typeface="Meiryo" pitchFamily="34" charset="0"/>
                <a:ea typeface="Meiryo" pitchFamily="34" charset="-122"/>
                <a:cs typeface="Meiryo" pitchFamily="34" charset="-120"/>
              </a:rPr>
              <a:t>技術面の棚卸し</a:t>
            </a:r>
            <a:endParaRPr lang="en-US" sz="2000" dirty="0"/>
          </a:p>
        </p:txBody>
      </p:sp>
      <p:sp>
        <p:nvSpPr>
          <p:cNvPr id="4" name="Shape 2"/>
          <p:cNvSpPr/>
          <p:nvPr/>
        </p:nvSpPr>
        <p:spPr>
          <a:xfrm>
            <a:off x="502920" y="1280160"/>
            <a:ext cx="8138160" cy="0"/>
          </a:xfrm>
          <a:prstGeom prst="line">
            <a:avLst/>
          </a:prstGeom>
          <a:noFill/>
          <a:ln w="12700">
            <a:solidFill>
              <a:srgbClr val="D5D5D5"/>
            </a:solidFill>
            <a:prstDash val="solid"/>
          </a:ln>
        </p:spPr>
      </p:sp>
      <p:sp>
        <p:nvSpPr>
          <p:cNvPr id="5" name="Text 3"/>
          <p:cNvSpPr/>
          <p:nvPr/>
        </p:nvSpPr>
        <p:spPr>
          <a:xfrm>
            <a:off x="502920" y="1417320"/>
            <a:ext cx="8138160" cy="457200"/>
          </a:xfrm>
          <a:prstGeom prst="rect">
            <a:avLst/>
          </a:prstGeom>
          <a:noFill/>
          <a:ln/>
        </p:spPr>
        <p:txBody>
          <a:bodyPr wrap="square" rtlCol="0" anchor="t"/>
          <a:lstStyle/>
          <a:p>
            <a:pPr indent="0" marL="0">
              <a:buNone/>
            </a:pPr>
            <a:r>
              <a:rPr lang="en-US" sz="1200" dirty="0">
                <a:solidFill>
                  <a:srgbClr val="1A1A1A"/>
                </a:solidFill>
                <a:latin typeface="Meiryo" pitchFamily="34" charset="0"/>
                <a:ea typeface="Meiryo" pitchFamily="34" charset="-122"/>
                <a:cs typeface="Meiryo" pitchFamily="34" charset="-120"/>
              </a:rPr>
              <a:t>土台としてのSEO設定は整っている一方、セキュリティと外部依存に是正点があります。</a:t>
            </a:r>
            <a:endParaRPr lang="en-US" sz="12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502920" y="1965960"/>
          <a:ext cx="8138160" cy="914400"/>
        </p:xfrm>
        <a:graphic>
          <a:graphicData uri="http://schemas.openxmlformats.org/drawingml/2006/table">
            <a:tbl>
              <a:tblPr/>
              <a:tblGrid>
                <a:gridCol w="2712720"/>
                <a:gridCol w="2712720"/>
                <a:gridCol w="2712720"/>
              </a:tblGrid>
              <a:tr h="0">
                <a:tc>
                  <a:txBody>
                    <a:bodyPr/>
                    <a:lstStyle/>
                    <a:p>
                      <a:pPr indent="0" marL="0">
                        <a:buNone/>
                      </a:pPr>
                      <a:r>
                        <a:rPr lang="en-US" sz="1100" b="1" dirty="0">
                          <a:solidFill>
                            <a:srgbClr val="FFFFFF"/>
                          </a:solidFill>
                          <a:latin typeface="Meiryo" pitchFamily="34" charset="0"/>
                          <a:ea typeface="Meiryo" pitchFamily="34" charset="-122"/>
                          <a:cs typeface="Meiryo" pitchFamily="34" charset="-120"/>
                        </a:rPr>
                        <a:t>項目</a:t>
                      </a:r>
                      <a:endParaRPr lang="en-US" sz="1100" dirty="0">
                        <a:latin typeface="Meiryo" charset="0"/>
                        <a:ea typeface="Meiryo" charset="0"/>
                        <a:cs typeface="Meiryo" charset="0"/>
                      </a:endParaRPr>
                    </a:p>
                  </a:txBody>
                  <a:tcPr marL="91440" marR="91440" marT="45720" marB="45720">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1F3A5F"/>
                    </a:solidFill>
                  </a:tcPr>
                </a:tc>
                <a:tc>
                  <a:txBody>
                    <a:bodyPr/>
                    <a:lstStyle/>
                    <a:p>
                      <a:pPr indent="0" marL="0">
                        <a:buNone/>
                      </a:pPr>
                      <a:r>
                        <a:rPr lang="en-US" sz="1100" b="1" dirty="0">
                          <a:solidFill>
                            <a:srgbClr val="FFFFFF"/>
                          </a:solidFill>
                          <a:latin typeface="Meiryo" pitchFamily="34" charset="0"/>
                          <a:ea typeface="Meiryo" pitchFamily="34" charset="-122"/>
                          <a:cs typeface="Meiryo" pitchFamily="34" charset="-120"/>
                        </a:rPr>
                        <a:t>現状（2026-09-18 実測）</a:t>
                      </a:r>
                      <a:endParaRPr lang="en-US" sz="1100" dirty="0">
                        <a:latin typeface="Meiryo" charset="0"/>
                        <a:ea typeface="Meiryo" charset="0"/>
                        <a:cs typeface="Meiryo" charset="0"/>
                      </a:endParaRPr>
                    </a:p>
                  </a:txBody>
                  <a:tcPr marL="91440" marR="91440" marT="45720" marB="45720">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1F3A5F"/>
                    </a:solidFill>
                  </a:tcPr>
                </a:tc>
                <a:tc>
                  <a:txBody>
                    <a:bodyPr/>
                    <a:lstStyle/>
                    <a:p>
                      <a:pPr indent="0" marL="0">
                        <a:buNone/>
                      </a:pPr>
                      <a:r>
                        <a:rPr lang="en-US" sz="1100" b="1" dirty="0">
                          <a:solidFill>
                            <a:srgbClr val="FFFFFF"/>
                          </a:solidFill>
                          <a:latin typeface="Meiryo" pitchFamily="34" charset="0"/>
                          <a:ea typeface="Meiryo" pitchFamily="34" charset="-122"/>
                          <a:cs typeface="Meiryo" pitchFamily="34" charset="-120"/>
                        </a:rPr>
                        <a:t>リニューアルでの扱い</a:t>
                      </a:r>
                      <a:endParaRPr lang="en-US" sz="1100" dirty="0">
                        <a:latin typeface="Meiryo" charset="0"/>
                        <a:ea typeface="Meiryo" charset="0"/>
                        <a:cs typeface="Meiryo" charset="0"/>
                      </a:endParaRPr>
                    </a:p>
                  </a:txBody>
                  <a:tcPr marL="91440" marR="91440" marT="45720" marB="45720">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1F3A5F"/>
                    </a:solidFill>
                  </a:tcPr>
                </a:tc>
              </a:tr>
              <a:tr h="0">
                <a:tc>
                  <a:txBody>
                    <a:bodyPr/>
                    <a:lstStyle/>
                    <a:p>
                      <a:pPr indent="0" marL="0">
                        <a:buNone/>
                      </a:pPr>
                      <a:r>
                        <a:rPr lang="en-US" sz="1100" dirty="0">
                          <a:solidFill>
                            <a:srgbClr val="1A1A1A"/>
                          </a:solidFill>
                          <a:latin typeface="Meiryo" pitchFamily="34" charset="0"/>
                          <a:ea typeface="Meiryo" pitchFamily="34" charset="-122"/>
                          <a:cs typeface="Meiryo" pitchFamily="34" charset="-120"/>
                        </a:rPr>
                        <a:t>CMS</a:t>
                      </a:r>
                      <a:endParaRPr lang="en-US" sz="1100" dirty="0">
                        <a:latin typeface="Meiryo" charset="0"/>
                        <a:ea typeface="Meiryo" charset="0"/>
                        <a:cs typeface="Meiryo" charset="0"/>
                      </a:endParaRPr>
                    </a:p>
                  </a:txBody>
                  <a:tcPr marL="91440" marR="91440" marT="45720" marB="45720">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tcPr>
                </a:tc>
                <a:tc>
                  <a:txBody>
                    <a:bodyPr/>
                    <a:lstStyle/>
                    <a:p>
                      <a:pPr indent="0" marL="0">
                        <a:buNone/>
                      </a:pPr>
                      <a:r>
                        <a:rPr lang="en-US" sz="1100" dirty="0">
                          <a:solidFill>
                            <a:srgbClr val="1A1A1A"/>
                          </a:solidFill>
                          <a:latin typeface="Meiryo" pitchFamily="34" charset="0"/>
                          <a:ea typeface="Meiryo" pitchFamily="34" charset="-122"/>
                          <a:cs typeface="Meiryo" pitchFamily="34" charset="-120"/>
                        </a:rPr>
                        <a:t>WordPress（子テーマ＋親テーマ構成）</a:t>
                      </a:r>
                      <a:endParaRPr lang="en-US" sz="1100" dirty="0">
                        <a:latin typeface="Meiryo" charset="0"/>
                        <a:ea typeface="Meiryo" charset="0"/>
                        <a:cs typeface="Meiryo" charset="0"/>
                      </a:endParaRPr>
                    </a:p>
                  </a:txBody>
                  <a:tcPr marL="91440" marR="91440" marT="45720" marB="45720">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tcPr>
                </a:tc>
                <a:tc>
                  <a:txBody>
                    <a:bodyPr/>
                    <a:lstStyle/>
                    <a:p>
                      <a:pPr indent="0" marL="0">
                        <a:buNone/>
                      </a:pPr>
                      <a:r>
                        <a:rPr lang="en-US" sz="1100" dirty="0">
                          <a:solidFill>
                            <a:srgbClr val="1A1A1A"/>
                          </a:solidFill>
                          <a:latin typeface="Meiryo" pitchFamily="34" charset="0"/>
                          <a:ea typeface="Meiryo" pitchFamily="34" charset="-122"/>
                          <a:cs typeface="Meiryo" pitchFamily="34" charset="-120"/>
                        </a:rPr>
                        <a:t>WordPressを継続します</a:t>
                      </a:r>
                      <a:endParaRPr lang="en-US" sz="1100" dirty="0">
                        <a:latin typeface="Meiryo" charset="0"/>
                        <a:ea typeface="Meiryo" charset="0"/>
                        <a:cs typeface="Meiryo" charset="0"/>
                      </a:endParaRPr>
                    </a:p>
                  </a:txBody>
                  <a:tcPr marL="91440" marR="91440" marT="45720" marB="45720">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tcPr>
                </a:tc>
              </a:tr>
              <a:tr h="0">
                <a:tc>
                  <a:txBody>
                    <a:bodyPr/>
                    <a:lstStyle/>
                    <a:p>
                      <a:pPr indent="0" marL="0">
                        <a:buNone/>
                      </a:pPr>
                      <a:r>
                        <a:rPr lang="en-US" sz="1100" dirty="0">
                          <a:solidFill>
                            <a:srgbClr val="1A1A1A"/>
                          </a:solidFill>
                          <a:latin typeface="Meiryo" pitchFamily="34" charset="0"/>
                          <a:ea typeface="Meiryo" pitchFamily="34" charset="-122"/>
                          <a:cs typeface="Meiryo" pitchFamily="34" charset="-120"/>
                        </a:rPr>
                        <a:t>SEO</a:t>
                      </a:r>
                      <a:endParaRPr lang="en-US" sz="1100" dirty="0">
                        <a:latin typeface="Meiryo" charset="0"/>
                        <a:ea typeface="Meiryo" charset="0"/>
                        <a:cs typeface="Meiryo" charset="0"/>
                      </a:endParaRPr>
                    </a:p>
                  </a:txBody>
                  <a:tcPr marL="91440" marR="91440" marT="45720" marB="45720">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tcPr>
                </a:tc>
                <a:tc>
                  <a:txBody>
                    <a:bodyPr/>
                    <a:lstStyle/>
                    <a:p>
                      <a:pPr indent="0" marL="0">
                        <a:buNone/>
                      </a:pPr>
                      <a:r>
                        <a:rPr lang="en-US" sz="1100" dirty="0">
                          <a:solidFill>
                            <a:srgbClr val="1A1A1A"/>
                          </a:solidFill>
                          <a:latin typeface="Meiryo" pitchFamily="34" charset="0"/>
                          <a:ea typeface="Meiryo" pitchFamily="34" charset="-122"/>
                          <a:cs typeface="Meiryo" pitchFamily="34" charset="-120"/>
                        </a:rPr>
                        <a:t>Yoast SEO v28.3。canonical・OGP・JSON-LDは出力済み</a:t>
                      </a:r>
                      <a:endParaRPr lang="en-US" sz="1100" dirty="0">
                        <a:latin typeface="Meiryo" charset="0"/>
                        <a:ea typeface="Meiryo" charset="0"/>
                        <a:cs typeface="Meiryo" charset="0"/>
                      </a:endParaRPr>
                    </a:p>
                  </a:txBody>
                  <a:tcPr marL="91440" marR="91440" marT="45720" marB="45720">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tcPr>
                </a:tc>
                <a:tc>
                  <a:txBody>
                    <a:bodyPr/>
                    <a:lstStyle/>
                    <a:p>
                      <a:pPr indent="0" marL="0">
                        <a:buNone/>
                      </a:pPr>
                      <a:r>
                        <a:rPr lang="en-US" sz="1100" dirty="0">
                          <a:solidFill>
                            <a:srgbClr val="1A1A1A"/>
                          </a:solidFill>
                          <a:latin typeface="Meiryo" pitchFamily="34" charset="0"/>
                          <a:ea typeface="Meiryo" pitchFamily="34" charset="-122"/>
                          <a:cs typeface="Meiryo" pitchFamily="34" charset="-120"/>
                        </a:rPr>
                        <a:t>土台は活かします</a:t>
                      </a:r>
                      <a:endParaRPr lang="en-US" sz="1100" dirty="0">
                        <a:latin typeface="Meiryo" charset="0"/>
                        <a:ea typeface="Meiryo" charset="0"/>
                        <a:cs typeface="Meiryo" charset="0"/>
                      </a:endParaRPr>
                    </a:p>
                  </a:txBody>
                  <a:tcPr marL="91440" marR="91440" marT="45720" marB="45720">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tcPr>
                </a:tc>
              </a:tr>
              <a:tr h="0">
                <a:tc>
                  <a:txBody>
                    <a:bodyPr/>
                    <a:lstStyle/>
                    <a:p>
                      <a:pPr indent="0" marL="0">
                        <a:buNone/>
                      </a:pPr>
                      <a:r>
                        <a:rPr lang="en-US" sz="1100" dirty="0">
                          <a:solidFill>
                            <a:srgbClr val="1A1A1A"/>
                          </a:solidFill>
                          <a:latin typeface="Meiryo" pitchFamily="34" charset="0"/>
                          <a:ea typeface="Meiryo" pitchFamily="34" charset="-122"/>
                          <a:cs typeface="Meiryo" pitchFamily="34" charset="-120"/>
                        </a:rPr>
                        <a:t>計測</a:t>
                      </a:r>
                      <a:endParaRPr lang="en-US" sz="1100" dirty="0">
                        <a:latin typeface="Meiryo" charset="0"/>
                        <a:ea typeface="Meiryo" charset="0"/>
                        <a:cs typeface="Meiryo" charset="0"/>
                      </a:endParaRPr>
                    </a:p>
                  </a:txBody>
                  <a:tcPr marL="91440" marR="91440" marT="45720" marB="45720">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tcPr>
                </a:tc>
                <a:tc>
                  <a:txBody>
                    <a:bodyPr/>
                    <a:lstStyle/>
                    <a:p>
                      <a:pPr indent="0" marL="0">
                        <a:buNone/>
                      </a:pPr>
                      <a:r>
                        <a:rPr lang="en-US" sz="1100" dirty="0">
                          <a:solidFill>
                            <a:srgbClr val="1A1A1A"/>
                          </a:solidFill>
                          <a:latin typeface="Meiryo" pitchFamily="34" charset="0"/>
                          <a:ea typeface="Meiryo" pitchFamily="34" charset="-122"/>
                          <a:cs typeface="Meiryo" pitchFamily="34" charset="-120"/>
                        </a:rPr>
                        <a:t>GTM導入済み。GA4の実データは未取得</a:t>
                      </a:r>
                      <a:endParaRPr lang="en-US" sz="1100" dirty="0">
                        <a:latin typeface="Meiryo" charset="0"/>
                        <a:ea typeface="Meiryo" charset="0"/>
                        <a:cs typeface="Meiryo" charset="0"/>
                      </a:endParaRPr>
                    </a:p>
                  </a:txBody>
                  <a:tcPr marL="91440" marR="91440" marT="45720" marB="45720">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tcPr>
                </a:tc>
                <a:tc>
                  <a:txBody>
                    <a:bodyPr/>
                    <a:lstStyle/>
                    <a:p>
                      <a:pPr indent="0" marL="0">
                        <a:buNone/>
                      </a:pPr>
                      <a:r>
                        <a:rPr lang="en-US" sz="1100" dirty="0">
                          <a:solidFill>
                            <a:srgbClr val="1A1A1A"/>
                          </a:solidFill>
                          <a:latin typeface="Meiryo" pitchFamily="34" charset="0"/>
                          <a:ea typeface="Meiryo" pitchFamily="34" charset="-122"/>
                          <a:cs typeface="Meiryo" pitchFamily="34" charset="-120"/>
                        </a:rPr>
                        <a:t>GA4の確認後に測定設計を確定します</a:t>
                      </a:r>
                      <a:endParaRPr lang="en-US" sz="1100" dirty="0">
                        <a:latin typeface="Meiryo" charset="0"/>
                        <a:ea typeface="Meiryo" charset="0"/>
                        <a:cs typeface="Meiryo" charset="0"/>
                      </a:endParaRPr>
                    </a:p>
                  </a:txBody>
                  <a:tcPr marL="91440" marR="91440" marT="45720" marB="45720">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tcPr>
                </a:tc>
              </a:tr>
              <a:tr h="0">
                <a:tc>
                  <a:txBody>
                    <a:bodyPr/>
                    <a:lstStyle/>
                    <a:p>
                      <a:pPr indent="0" marL="0">
                        <a:buNone/>
                      </a:pPr>
                      <a:r>
                        <a:rPr lang="en-US" sz="1100" dirty="0">
                          <a:solidFill>
                            <a:srgbClr val="1A1A1A"/>
                          </a:solidFill>
                          <a:latin typeface="Meiryo" pitchFamily="34" charset="0"/>
                          <a:ea typeface="Meiryo" pitchFamily="34" charset="-122"/>
                          <a:cs typeface="Meiryo" pitchFamily="34" charset="-120"/>
                        </a:rPr>
                        <a:t>セキュリティヘッダ</a:t>
                      </a:r>
                      <a:endParaRPr lang="en-US" sz="1100" dirty="0">
                        <a:latin typeface="Meiryo" charset="0"/>
                        <a:ea typeface="Meiryo" charset="0"/>
                        <a:cs typeface="Meiryo" charset="0"/>
                      </a:endParaRPr>
                    </a:p>
                  </a:txBody>
                  <a:tcPr marL="91440" marR="91440" marT="45720" marB="45720">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tcPr>
                </a:tc>
                <a:tc>
                  <a:txBody>
                    <a:bodyPr/>
                    <a:lstStyle/>
                    <a:p>
                      <a:pPr indent="0" marL="0">
                        <a:buNone/>
                      </a:pPr>
                      <a:r>
                        <a:rPr lang="en-US" sz="1100" dirty="0">
                          <a:solidFill>
                            <a:srgbClr val="1A1A1A"/>
                          </a:solidFill>
                          <a:latin typeface="Meiryo" pitchFamily="34" charset="0"/>
                          <a:ea typeface="Meiryo" pitchFamily="34" charset="-122"/>
                          <a:cs typeface="Meiryo" pitchFamily="34" charset="-120"/>
                        </a:rPr>
                        <a:t>HSTS・X-Frame-Options・X-Content-Type-Options が未設定</a:t>
                      </a:r>
                      <a:endParaRPr lang="en-US" sz="1100" dirty="0">
                        <a:latin typeface="Meiryo" charset="0"/>
                        <a:ea typeface="Meiryo" charset="0"/>
                        <a:cs typeface="Meiryo" charset="0"/>
                      </a:endParaRPr>
                    </a:p>
                  </a:txBody>
                  <a:tcPr marL="91440" marR="91440" marT="45720" marB="45720">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tcPr>
                </a:tc>
                <a:tc>
                  <a:txBody>
                    <a:bodyPr/>
                    <a:lstStyle/>
                    <a:p>
                      <a:pPr indent="0" marL="0">
                        <a:buNone/>
                      </a:pPr>
                      <a:r>
                        <a:rPr lang="en-US" sz="1100" dirty="0">
                          <a:solidFill>
                            <a:srgbClr val="1A1A1A"/>
                          </a:solidFill>
                          <a:latin typeface="Meiryo" pitchFamily="34" charset="0"/>
                          <a:ea typeface="Meiryo" pitchFamily="34" charset="-122"/>
                          <a:cs typeface="Meiryo" pitchFamily="34" charset="-120"/>
                        </a:rPr>
                        <a:t>3項目とも付与します</a:t>
                      </a:r>
                      <a:endParaRPr lang="en-US" sz="1100" dirty="0">
                        <a:latin typeface="Meiryo" charset="0"/>
                        <a:ea typeface="Meiryo" charset="0"/>
                        <a:cs typeface="Meiryo" charset="0"/>
                      </a:endParaRPr>
                    </a:p>
                  </a:txBody>
                  <a:tcPr marL="91440" marR="91440" marT="45720" marB="45720">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tcPr>
                </a:tc>
              </a:tr>
              <a:tr h="0">
                <a:tc>
                  <a:txBody>
                    <a:bodyPr/>
                    <a:lstStyle/>
                    <a:p>
                      <a:pPr indent="0" marL="0">
                        <a:buNone/>
                      </a:pPr>
                      <a:r>
                        <a:rPr lang="en-US" sz="1100" dirty="0">
                          <a:solidFill>
                            <a:srgbClr val="1A1A1A"/>
                          </a:solidFill>
                          <a:latin typeface="Meiryo" pitchFamily="34" charset="0"/>
                          <a:ea typeface="Meiryo" pitchFamily="34" charset="-122"/>
                          <a:cs typeface="Meiryo" pitchFamily="34" charset="-120"/>
                        </a:rPr>
                        <a:t>外部依存</a:t>
                      </a:r>
                      <a:endParaRPr lang="en-US" sz="1100" dirty="0">
                        <a:latin typeface="Meiryo" charset="0"/>
                        <a:ea typeface="Meiryo" charset="0"/>
                        <a:cs typeface="Meiryo" charset="0"/>
                      </a:endParaRPr>
                    </a:p>
                  </a:txBody>
                  <a:tcPr marL="91440" marR="91440" marT="45720" marB="45720">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tcPr>
                </a:tc>
                <a:tc>
                  <a:txBody>
                    <a:bodyPr/>
                    <a:lstStyle/>
                    <a:p>
                      <a:pPr indent="0" marL="0">
                        <a:buNone/>
                      </a:pPr>
                      <a:r>
                        <a:rPr lang="en-US" sz="1100" dirty="0">
                          <a:solidFill>
                            <a:srgbClr val="1A1A1A"/>
                          </a:solidFill>
                          <a:latin typeface="Meiryo" pitchFamily="34" charset="0"/>
                          <a:ea typeface="Meiryo" pitchFamily="34" charset="-122"/>
                          <a:cs typeface="Meiryo" pitchFamily="34" charset="-120"/>
                        </a:rPr>
                        <a:t>外部CDNからスクリプトをバージョン指定なしで直読み</a:t>
                      </a:r>
                      <a:endParaRPr lang="en-US" sz="1100" dirty="0">
                        <a:latin typeface="Meiryo" charset="0"/>
                        <a:ea typeface="Meiryo" charset="0"/>
                        <a:cs typeface="Meiryo" charset="0"/>
                      </a:endParaRPr>
                    </a:p>
                  </a:txBody>
                  <a:tcPr marL="91440" marR="91440" marT="45720" marB="45720">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tcPr>
                </a:tc>
                <a:tc>
                  <a:txBody>
                    <a:bodyPr/>
                    <a:lstStyle/>
                    <a:p>
                      <a:pPr indent="0" marL="0">
                        <a:buNone/>
                      </a:pPr>
                      <a:r>
                        <a:rPr lang="en-US" sz="1100" dirty="0">
                          <a:solidFill>
                            <a:srgbClr val="1A1A1A"/>
                          </a:solidFill>
                          <a:latin typeface="Meiryo" pitchFamily="34" charset="0"/>
                          <a:ea typeface="Meiryo" pitchFamily="34" charset="-122"/>
                          <a:cs typeface="Meiryo" pitchFamily="34" charset="-120"/>
                        </a:rPr>
                        <a:t>自己ホストに変更します</a:t>
                      </a:r>
                      <a:endParaRPr lang="en-US" sz="1100" dirty="0">
                        <a:latin typeface="Meiryo" charset="0"/>
                        <a:ea typeface="Meiryo" charset="0"/>
                        <a:cs typeface="Meiryo" charset="0"/>
                      </a:endParaRPr>
                    </a:p>
                  </a:txBody>
                  <a:tcPr marL="91440" marR="91440" marT="45720" marB="45720">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tcPr>
                </a:tc>
              </a:tr>
              <a:tr h="0">
                <a:tc>
                  <a:txBody>
                    <a:bodyPr/>
                    <a:lstStyle/>
                    <a:p>
                      <a:pPr indent="0" marL="0">
                        <a:buNone/>
                      </a:pPr>
                      <a:r>
                        <a:rPr lang="en-US" sz="1100" dirty="0">
                          <a:solidFill>
                            <a:srgbClr val="1A1A1A"/>
                          </a:solidFill>
                          <a:latin typeface="Meiryo" pitchFamily="34" charset="0"/>
                          <a:ea typeface="Meiryo" pitchFamily="34" charset="-122"/>
                          <a:cs typeface="Meiryo" pitchFamily="34" charset="-120"/>
                        </a:rPr>
                        <a:t>フォント</a:t>
                      </a:r>
                      <a:endParaRPr lang="en-US" sz="1100" dirty="0">
                        <a:latin typeface="Meiryo" charset="0"/>
                        <a:ea typeface="Meiryo" charset="0"/>
                        <a:cs typeface="Meiryo" charset="0"/>
                      </a:endParaRPr>
                    </a:p>
                  </a:txBody>
                  <a:tcPr marL="91440" marR="91440" marT="45720" marB="45720">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tcPr>
                </a:tc>
                <a:tc>
                  <a:txBody>
                    <a:bodyPr/>
                    <a:lstStyle/>
                    <a:p>
                      <a:pPr indent="0" marL="0">
                        <a:buNone/>
                      </a:pPr>
                      <a:r>
                        <a:rPr lang="en-US" sz="1100" dirty="0">
                          <a:solidFill>
                            <a:srgbClr val="1A1A1A"/>
                          </a:solidFill>
                          <a:latin typeface="Meiryo" pitchFamily="34" charset="0"/>
                          <a:ea typeface="Meiryo" pitchFamily="34" charset="-122"/>
                          <a:cs typeface="Meiryo" pitchFamily="34" charset="-120"/>
                        </a:rPr>
                        <a:t>Webフォントを4ファミリ読み込み</a:t>
                      </a:r>
                      <a:endParaRPr lang="en-US" sz="1100" dirty="0">
                        <a:latin typeface="Meiryo" charset="0"/>
                        <a:ea typeface="Meiryo" charset="0"/>
                        <a:cs typeface="Meiryo" charset="0"/>
                      </a:endParaRPr>
                    </a:p>
                  </a:txBody>
                  <a:tcPr marL="91440" marR="91440" marT="45720" marB="45720">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tcPr>
                </a:tc>
                <a:tc>
                  <a:txBody>
                    <a:bodyPr/>
                    <a:lstStyle/>
                    <a:p>
                      <a:pPr indent="0" marL="0">
                        <a:buNone/>
                      </a:pPr>
                      <a:r>
                        <a:rPr lang="en-US" sz="1100" dirty="0">
                          <a:solidFill>
                            <a:srgbClr val="1A1A1A"/>
                          </a:solidFill>
                          <a:latin typeface="Meiryo" pitchFamily="34" charset="0"/>
                          <a:ea typeface="Meiryo" pitchFamily="34" charset="-122"/>
                          <a:cs typeface="Meiryo" pitchFamily="34" charset="-120"/>
                        </a:rPr>
                        <a:t>1〜2ファミリに絞ります</a:t>
                      </a:r>
                      <a:endParaRPr lang="en-US" sz="1100" dirty="0">
                        <a:latin typeface="Meiryo" charset="0"/>
                        <a:ea typeface="Meiryo" charset="0"/>
                        <a:cs typeface="Meiryo" charset="0"/>
                      </a:endParaRPr>
                    </a:p>
                  </a:txBody>
                  <a:tcPr marL="91440" marR="91440" marT="45720" marB="45720">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tcPr>
                </a:tc>
              </a:tr>
              <a:tr h="0">
                <a:tc>
                  <a:txBody>
                    <a:bodyPr/>
                    <a:lstStyle/>
                    <a:p>
                      <a:pPr indent="0" marL="0">
                        <a:buNone/>
                      </a:pPr>
                      <a:r>
                        <a:rPr lang="en-US" sz="1100" dirty="0">
                          <a:solidFill>
                            <a:srgbClr val="1A1A1A"/>
                          </a:solidFill>
                          <a:latin typeface="Meiryo" pitchFamily="34" charset="0"/>
                          <a:ea typeface="Meiryo" pitchFamily="34" charset="-122"/>
                          <a:cs typeface="Meiryo" pitchFamily="34" charset="-120"/>
                        </a:rPr>
                        <a:t>ホスト名</a:t>
                      </a:r>
                      <a:endParaRPr lang="en-US" sz="1100" dirty="0">
                        <a:latin typeface="Meiryo" charset="0"/>
                        <a:ea typeface="Meiryo" charset="0"/>
                        <a:cs typeface="Meiryo" charset="0"/>
                      </a:endParaRPr>
                    </a:p>
                  </a:txBody>
                  <a:tcPr marL="91440" marR="91440" marT="45720" marB="45720">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tcPr>
                </a:tc>
                <a:tc>
                  <a:txBody>
                    <a:bodyPr/>
                    <a:lstStyle/>
                    <a:p>
                      <a:pPr indent="0" marL="0">
                        <a:buNone/>
                      </a:pPr>
                      <a:r>
                        <a:rPr lang="en-US" sz="1100" dirty="0">
                          <a:solidFill>
                            <a:srgbClr val="1A1A1A"/>
                          </a:solidFill>
                          <a:latin typeface="Meiryo" pitchFamily="34" charset="0"/>
                          <a:ea typeface="Meiryo" pitchFamily="34" charset="-122"/>
                          <a:cs typeface="Meiryo" pitchFamily="34" charset="-120"/>
                        </a:rPr>
                        <a:t>一部CSSがwwwなしのホストを参照</a:t>
                      </a:r>
                      <a:endParaRPr lang="en-US" sz="1100" dirty="0">
                        <a:latin typeface="Meiryo" charset="0"/>
                        <a:ea typeface="Meiryo" charset="0"/>
                        <a:cs typeface="Meiryo" charset="0"/>
                      </a:endParaRPr>
                    </a:p>
                  </a:txBody>
                  <a:tcPr marL="91440" marR="91440" marT="45720" marB="45720">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tcPr>
                </a:tc>
                <a:tc>
                  <a:txBody>
                    <a:bodyPr/>
                    <a:lstStyle/>
                    <a:p>
                      <a:pPr indent="0" marL="0">
                        <a:buNone/>
                      </a:pPr>
                      <a:r>
                        <a:rPr lang="en-US" sz="1100" dirty="0">
                          <a:solidFill>
                            <a:srgbClr val="1A1A1A"/>
                          </a:solidFill>
                          <a:latin typeface="Meiryo" pitchFamily="34" charset="0"/>
                          <a:ea typeface="Meiryo" pitchFamily="34" charset="-122"/>
                          <a:cs typeface="Meiryo" pitchFamily="34" charset="-120"/>
                        </a:rPr>
                        <a:t>www有無を統一します</a:t>
                      </a:r>
                      <a:endParaRPr lang="en-US" sz="1100" dirty="0">
                        <a:latin typeface="Meiryo" charset="0"/>
                        <a:ea typeface="Meiryo" charset="0"/>
                        <a:cs typeface="Meiryo" charset="0"/>
                      </a:endParaRPr>
                    </a:p>
                  </a:txBody>
                  <a:tcPr marL="91440" marR="91440" marT="45720" marB="45720">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tcPr>
                </a:tc>
              </a:tr>
            </a:tbl>
          </a:graphicData>
        </a:graphic>
      </p:graphicFrame>
      <p:sp>
        <p:nvSpPr>
          <p:cNvPr id="7" name="Text 4"/>
          <p:cNvSpPr/>
          <p:nvPr/>
        </p:nvSpPr>
        <p:spPr>
          <a:xfrm>
            <a:off x="502920" y="4759452"/>
            <a:ext cx="6949440" cy="228600"/>
          </a:xfrm>
          <a:prstGeom prst="rect">
            <a:avLst/>
          </a:prstGeom>
          <a:noFill/>
          <a:ln/>
        </p:spPr>
        <p:txBody>
          <a:bodyPr wrap="square" rtlCol="0" anchor="ctr"/>
          <a:lstStyle/>
          <a:p>
            <a:pPr indent="0" marL="0">
              <a:buNone/>
            </a:pPr>
            <a:r>
              <a:rPr lang="en-US" sz="900" dirty="0">
                <a:solidFill>
                  <a:srgbClr val="6B6B6B"/>
                </a:solidFill>
                <a:latin typeface="Meiryo" pitchFamily="34" charset="0"/>
                <a:ea typeface="Meiryo" pitchFamily="34" charset="-122"/>
                <a:cs typeface="Meiryo" pitchFamily="34" charset="-120"/>
              </a:rPr>
              <a:t>出典: gg-manager http_headers（2026-09-18）／HTMLソース（トップページ 2026-09-18 取得）</a:t>
            </a:r>
            <a:endParaRPr lang="en-US" sz="900" dirty="0"/>
          </a:p>
        </p:txBody>
      </p:sp>
      <p:sp>
        <p:nvSpPr>
          <p:cNvPr id="8" name="Text 5"/>
          <p:cNvSpPr/>
          <p:nvPr/>
        </p:nvSpPr>
        <p:spPr>
          <a:xfrm>
            <a:off x="7543800" y="4759452"/>
            <a:ext cx="1097280" cy="228600"/>
          </a:xfrm>
          <a:prstGeom prst="rect">
            <a:avLst/>
          </a:prstGeom>
          <a:noFill/>
          <a:ln/>
        </p:spPr>
        <p:txBody>
          <a:bodyPr wrap="square" rtlCol="0" anchor="ctr"/>
          <a:lstStyle/>
          <a:p>
            <a:pPr algn="r" indent="0" marL="0">
              <a:buNone/>
            </a:pPr>
            <a:r>
              <a:rPr lang="en-US" sz="900" dirty="0">
                <a:solidFill>
                  <a:srgbClr val="6B6B6B"/>
                </a:solidFill>
                <a:latin typeface="Meiryo" pitchFamily="34" charset="0"/>
                <a:ea typeface="Meiryo" pitchFamily="34" charset="-122"/>
                <a:cs typeface="Meiryo" pitchFamily="34" charset="-120"/>
              </a:rPr>
              <a:t>16|82</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502920" y="502920"/>
            <a:ext cx="8138160" cy="228600"/>
          </a:xfrm>
          <a:prstGeom prst="rect">
            <a:avLst/>
          </a:prstGeom>
          <a:noFill/>
          <a:ln/>
        </p:spPr>
        <p:txBody>
          <a:bodyPr wrap="square" rtlCol="0" anchor="ctr"/>
          <a:lstStyle/>
          <a:p>
            <a:pPr indent="0" marL="0">
              <a:buNone/>
            </a:pPr>
            <a:r>
              <a:rPr lang="en-US" sz="1000" dirty="0">
                <a:solidFill>
                  <a:srgbClr val="6B6B6B"/>
                </a:solidFill>
                <a:latin typeface="Meiryo" pitchFamily="34" charset="0"/>
                <a:ea typeface="Meiryo" pitchFamily="34" charset="-122"/>
                <a:cs typeface="Meiryo" pitchFamily="34" charset="-120"/>
              </a:rPr>
              <a:t>02 Analysis</a:t>
            </a:r>
            <a:endParaRPr lang="en-US" sz="1000" dirty="0"/>
          </a:p>
        </p:txBody>
      </p:sp>
      <p:sp>
        <p:nvSpPr>
          <p:cNvPr id="3" name="Text 1"/>
          <p:cNvSpPr/>
          <p:nvPr/>
        </p:nvSpPr>
        <p:spPr>
          <a:xfrm>
            <a:off x="502920" y="777240"/>
            <a:ext cx="8138160" cy="457200"/>
          </a:xfrm>
          <a:prstGeom prst="rect">
            <a:avLst/>
          </a:prstGeom>
          <a:noFill/>
          <a:ln/>
        </p:spPr>
        <p:txBody>
          <a:bodyPr wrap="square" rtlCol="0" anchor="ctr"/>
          <a:lstStyle/>
          <a:p>
            <a:pPr indent="0" marL="0">
              <a:buNone/>
            </a:pPr>
            <a:r>
              <a:rPr lang="en-US" sz="2000" b="1" dirty="0">
                <a:solidFill>
                  <a:srgbClr val="1A1A1A"/>
                </a:solidFill>
                <a:latin typeface="Meiryo" pitchFamily="34" charset="0"/>
                <a:ea typeface="Meiryo" pitchFamily="34" charset="-122"/>
                <a:cs typeface="Meiryo" pitchFamily="34" charset="-120"/>
              </a:rPr>
              <a:t>伺った課題と、実測で確認できた実体</a:t>
            </a:r>
            <a:endParaRPr lang="en-US" sz="2000" dirty="0"/>
          </a:p>
        </p:txBody>
      </p:sp>
      <p:sp>
        <p:nvSpPr>
          <p:cNvPr id="4" name="Shape 2"/>
          <p:cNvSpPr/>
          <p:nvPr/>
        </p:nvSpPr>
        <p:spPr>
          <a:xfrm>
            <a:off x="502920" y="1280160"/>
            <a:ext cx="8138160" cy="0"/>
          </a:xfrm>
          <a:prstGeom prst="line">
            <a:avLst/>
          </a:prstGeom>
          <a:noFill/>
          <a:ln w="12700">
            <a:solidFill>
              <a:srgbClr val="D5D5D5"/>
            </a:solidFill>
            <a:prstDash val="solid"/>
          </a:ln>
        </p:spPr>
      </p:sp>
      <p:sp>
        <p:nvSpPr>
          <p:cNvPr id="5" name="Text 3"/>
          <p:cNvSpPr/>
          <p:nvPr/>
        </p:nvSpPr>
        <p:spPr>
          <a:xfrm>
            <a:off x="502920" y="1417320"/>
            <a:ext cx="8138160" cy="457200"/>
          </a:xfrm>
          <a:prstGeom prst="rect">
            <a:avLst/>
          </a:prstGeom>
          <a:noFill/>
          <a:ln/>
        </p:spPr>
        <p:txBody>
          <a:bodyPr wrap="square" rtlCol="0" anchor="t"/>
          <a:lstStyle/>
          <a:p>
            <a:pPr indent="0" marL="0">
              <a:buNone/>
            </a:pPr>
            <a:r>
              <a:rPr lang="en-US" sz="1200" dirty="0">
                <a:solidFill>
                  <a:srgbClr val="1A1A1A"/>
                </a:solidFill>
                <a:latin typeface="Meiryo" pitchFamily="34" charset="0"/>
                <a:ea typeface="Meiryo" pitchFamily="34" charset="-122"/>
                <a:cs typeface="Meiryo" pitchFamily="34" charset="-120"/>
              </a:rPr>
              <a:t>伺った課題が現行サイトのどこに現れているかを対応づけました。未検証のものは「推定」と記載しています。</a:t>
            </a:r>
            <a:endParaRPr lang="en-US" sz="12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502920" y="1965960"/>
          <a:ext cx="8138160" cy="914400"/>
        </p:xfrm>
        <a:graphic>
          <a:graphicData uri="http://schemas.openxmlformats.org/drawingml/2006/table">
            <a:tbl>
              <a:tblPr/>
              <a:tblGrid>
                <a:gridCol w="2712720"/>
                <a:gridCol w="2712720"/>
                <a:gridCol w="2712720"/>
              </a:tblGrid>
              <a:tr h="0">
                <a:tc>
                  <a:txBody>
                    <a:bodyPr/>
                    <a:lstStyle/>
                    <a:p>
                      <a:pPr indent="0" marL="0">
                        <a:buNone/>
                      </a:pPr>
                      <a:r>
                        <a:rPr lang="en-US" sz="1100" b="1" dirty="0">
                          <a:solidFill>
                            <a:srgbClr val="FFFFFF"/>
                          </a:solidFill>
                          <a:latin typeface="Meiryo" pitchFamily="34" charset="0"/>
                          <a:ea typeface="Meiryo" pitchFamily="34" charset="-122"/>
                          <a:cs typeface="Meiryo" pitchFamily="34" charset="-120"/>
                        </a:rPr>
                        <a:t>伺った課題</a:t>
                      </a:r>
                      <a:endParaRPr lang="en-US" sz="1100" dirty="0">
                        <a:latin typeface="Meiryo" charset="0"/>
                        <a:ea typeface="Meiryo" charset="0"/>
                        <a:cs typeface="Meiryo" charset="0"/>
                      </a:endParaRPr>
                    </a:p>
                  </a:txBody>
                  <a:tcPr marL="91440" marR="91440" marT="45720" marB="45720">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1F3A5F"/>
                    </a:solidFill>
                  </a:tcPr>
                </a:tc>
                <a:tc>
                  <a:txBody>
                    <a:bodyPr/>
                    <a:lstStyle/>
                    <a:p>
                      <a:pPr indent="0" marL="0">
                        <a:buNone/>
                      </a:pPr>
                      <a:r>
                        <a:rPr lang="en-US" sz="1100" b="1" dirty="0">
                          <a:solidFill>
                            <a:srgbClr val="FFFFFF"/>
                          </a:solidFill>
                          <a:latin typeface="Meiryo" pitchFamily="34" charset="0"/>
                          <a:ea typeface="Meiryo" pitchFamily="34" charset="-122"/>
                          <a:cs typeface="Meiryo" pitchFamily="34" charset="-120"/>
                        </a:rPr>
                        <a:t>実測で確認できた実体</a:t>
                      </a:r>
                      <a:endParaRPr lang="en-US" sz="1100" dirty="0">
                        <a:latin typeface="Meiryo" charset="0"/>
                        <a:ea typeface="Meiryo" charset="0"/>
                        <a:cs typeface="Meiryo" charset="0"/>
                      </a:endParaRPr>
                    </a:p>
                  </a:txBody>
                  <a:tcPr marL="91440" marR="91440" marT="45720" marB="45720">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1F3A5F"/>
                    </a:solidFill>
                  </a:tcPr>
                </a:tc>
                <a:tc>
                  <a:txBody>
                    <a:bodyPr/>
                    <a:lstStyle/>
                    <a:p>
                      <a:pPr indent="0" marL="0">
                        <a:buNone/>
                      </a:pPr>
                      <a:r>
                        <a:rPr lang="en-US" sz="1100" b="1" dirty="0">
                          <a:solidFill>
                            <a:srgbClr val="FFFFFF"/>
                          </a:solidFill>
                          <a:latin typeface="Meiryo" pitchFamily="34" charset="0"/>
                          <a:ea typeface="Meiryo" pitchFamily="34" charset="-122"/>
                          <a:cs typeface="Meiryo" pitchFamily="34" charset="-120"/>
                        </a:rPr>
                        <a:t>確認状況</a:t>
                      </a:r>
                      <a:endParaRPr lang="en-US" sz="1100" dirty="0">
                        <a:latin typeface="Meiryo" charset="0"/>
                        <a:ea typeface="Meiryo" charset="0"/>
                        <a:cs typeface="Meiryo" charset="0"/>
                      </a:endParaRPr>
                    </a:p>
                  </a:txBody>
                  <a:tcPr marL="91440" marR="91440" marT="45720" marB="45720">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1F3A5F"/>
                    </a:solidFill>
                  </a:tcPr>
                </a:tc>
              </a:tr>
              <a:tr h="0">
                <a:tc>
                  <a:txBody>
                    <a:bodyPr/>
                    <a:lstStyle/>
                    <a:p>
                      <a:pPr indent="0" marL="0">
                        <a:buNone/>
                      </a:pPr>
                      <a:r>
                        <a:rPr lang="en-US" sz="1100" dirty="0">
                          <a:solidFill>
                            <a:srgbClr val="1A1A1A"/>
                          </a:solidFill>
                          <a:latin typeface="Meiryo" pitchFamily="34" charset="0"/>
                          <a:ea typeface="Meiryo" pitchFamily="34" charset="-122"/>
                          <a:cs typeface="Meiryo" pitchFamily="34" charset="-120"/>
                        </a:rPr>
                        <a:t>9割以上がスマートフォン</a:t>
                      </a:r>
                      <a:endParaRPr lang="en-US" sz="1100" dirty="0">
                        <a:latin typeface="Meiryo" charset="0"/>
                        <a:ea typeface="Meiryo" charset="0"/>
                        <a:cs typeface="Meiryo" charset="0"/>
                      </a:endParaRPr>
                    </a:p>
                  </a:txBody>
                  <a:tcPr marL="91440" marR="91440" marT="45720" marB="45720">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tcPr>
                </a:tc>
                <a:tc>
                  <a:txBody>
                    <a:bodyPr/>
                    <a:lstStyle/>
                    <a:p>
                      <a:pPr indent="0" marL="0">
                        <a:buNone/>
                      </a:pPr>
                      <a:r>
                        <a:rPr lang="en-US" sz="1100" dirty="0">
                          <a:solidFill>
                            <a:srgbClr val="1A1A1A"/>
                          </a:solidFill>
                          <a:latin typeface="Meiryo" pitchFamily="34" charset="0"/>
                          <a:ea typeface="Meiryo" pitchFamily="34" charset="-122"/>
                          <a:cs typeface="Meiryo" pitchFamily="34" charset="-120"/>
                        </a:rPr>
                        <a:t>GA4未取得のため未検証</a:t>
                      </a:r>
                      <a:endParaRPr lang="en-US" sz="1100" dirty="0">
                        <a:latin typeface="Meiryo" charset="0"/>
                        <a:ea typeface="Meiryo" charset="0"/>
                        <a:cs typeface="Meiryo" charset="0"/>
                      </a:endParaRPr>
                    </a:p>
                  </a:txBody>
                  <a:tcPr marL="91440" marR="91440" marT="45720" marB="45720">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tcPr>
                </a:tc>
                <a:tc>
                  <a:txBody>
                    <a:bodyPr/>
                    <a:lstStyle/>
                    <a:p>
                      <a:pPr indent="0" marL="0">
                        <a:buNone/>
                      </a:pPr>
                      <a:r>
                        <a:rPr lang="en-US" sz="1100" dirty="0">
                          <a:solidFill>
                            <a:srgbClr val="1A1A1A"/>
                          </a:solidFill>
                          <a:latin typeface="Meiryo" pitchFamily="34" charset="0"/>
                          <a:ea typeface="Meiryo" pitchFamily="34" charset="-122"/>
                          <a:cs typeface="Meiryo" pitchFamily="34" charset="-120"/>
                        </a:rPr>
                        <a:t>推定</a:t>
                      </a:r>
                      <a:endParaRPr lang="en-US" sz="1100" dirty="0">
                        <a:latin typeface="Meiryo" charset="0"/>
                        <a:ea typeface="Meiryo" charset="0"/>
                        <a:cs typeface="Meiryo" charset="0"/>
                      </a:endParaRPr>
                    </a:p>
                  </a:txBody>
                  <a:tcPr marL="91440" marR="91440" marT="45720" marB="45720">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tcPr>
                </a:tc>
              </a:tr>
              <a:tr h="0">
                <a:tc>
                  <a:txBody>
                    <a:bodyPr/>
                    <a:lstStyle/>
                    <a:p>
                      <a:pPr indent="0" marL="0">
                        <a:buNone/>
                      </a:pPr>
                      <a:r>
                        <a:rPr lang="en-US" sz="1100" dirty="0">
                          <a:solidFill>
                            <a:srgbClr val="1A1A1A"/>
                          </a:solidFill>
                          <a:latin typeface="Meiryo" pitchFamily="34" charset="0"/>
                          <a:ea typeface="Meiryo" pitchFamily="34" charset="-122"/>
                          <a:cs typeface="Meiryo" pitchFamily="34" charset="-120"/>
                        </a:rPr>
                        <a:t>フロンティアコースの情報が古い</a:t>
                      </a:r>
                      <a:endParaRPr lang="en-US" sz="1100" dirty="0">
                        <a:latin typeface="Meiryo" charset="0"/>
                        <a:ea typeface="Meiryo" charset="0"/>
                        <a:cs typeface="Meiryo" charset="0"/>
                      </a:endParaRPr>
                    </a:p>
                  </a:txBody>
                  <a:tcPr marL="91440" marR="91440" marT="45720" marB="45720">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tcPr>
                </a:tc>
                <a:tc>
                  <a:txBody>
                    <a:bodyPr/>
                    <a:lstStyle/>
                    <a:p>
                      <a:pPr indent="0" marL="0">
                        <a:buNone/>
                      </a:pPr>
                      <a:r>
                        <a:rPr lang="en-US" sz="1100" dirty="0">
                          <a:solidFill>
                            <a:srgbClr val="1A1A1A"/>
                          </a:solidFill>
                          <a:latin typeface="Meiryo" pitchFamily="34" charset="0"/>
                          <a:ea typeface="Meiryo" pitchFamily="34" charset="-122"/>
                          <a:cs typeface="Meiryo" pitchFamily="34" charset="-120"/>
                        </a:rPr>
                        <a:t>/hs-frontier-course 配下は存在。内容の鮮度は要ご確認</a:t>
                      </a:r>
                      <a:endParaRPr lang="en-US" sz="1100" dirty="0">
                        <a:latin typeface="Meiryo" charset="0"/>
                        <a:ea typeface="Meiryo" charset="0"/>
                        <a:cs typeface="Meiryo" charset="0"/>
                      </a:endParaRPr>
                    </a:p>
                  </a:txBody>
                  <a:tcPr marL="91440" marR="91440" marT="45720" marB="45720">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tcPr>
                </a:tc>
                <a:tc>
                  <a:txBody>
                    <a:bodyPr/>
                    <a:lstStyle/>
                    <a:p>
                      <a:pPr indent="0" marL="0">
                        <a:buNone/>
                      </a:pPr>
                      <a:r>
                        <a:rPr lang="en-US" sz="1100" dirty="0">
                          <a:solidFill>
                            <a:srgbClr val="1A1A1A"/>
                          </a:solidFill>
                          <a:latin typeface="Meiryo" pitchFamily="34" charset="0"/>
                          <a:ea typeface="Meiryo" pitchFamily="34" charset="-122"/>
                          <a:cs typeface="Meiryo" pitchFamily="34" charset="-120"/>
                        </a:rPr>
                        <a:t>要確認</a:t>
                      </a:r>
                      <a:endParaRPr lang="en-US" sz="1100" dirty="0">
                        <a:latin typeface="Meiryo" charset="0"/>
                        <a:ea typeface="Meiryo" charset="0"/>
                        <a:cs typeface="Meiryo" charset="0"/>
                      </a:endParaRPr>
                    </a:p>
                  </a:txBody>
                  <a:tcPr marL="91440" marR="91440" marT="45720" marB="45720">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tcPr>
                </a:tc>
              </a:tr>
              <a:tr h="0">
                <a:tc>
                  <a:txBody>
                    <a:bodyPr/>
                    <a:lstStyle/>
                    <a:p>
                      <a:pPr indent="0" marL="0">
                        <a:buNone/>
                      </a:pPr>
                      <a:r>
                        <a:rPr lang="en-US" sz="1100" dirty="0">
                          <a:solidFill>
                            <a:srgbClr val="1A1A1A"/>
                          </a:solidFill>
                          <a:latin typeface="Meiryo" pitchFamily="34" charset="0"/>
                          <a:ea typeface="Meiryo" pitchFamily="34" charset="-122"/>
                          <a:cs typeface="Meiryo" pitchFamily="34" charset="-120"/>
                        </a:rPr>
                        <a:t>入試要項が最新化されていない</a:t>
                      </a:r>
                      <a:endParaRPr lang="en-US" sz="1100" dirty="0">
                        <a:latin typeface="Meiryo" charset="0"/>
                        <a:ea typeface="Meiryo" charset="0"/>
                        <a:cs typeface="Meiryo" charset="0"/>
                      </a:endParaRPr>
                    </a:p>
                  </a:txBody>
                  <a:tcPr marL="91440" marR="91440" marT="45720" marB="45720">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tcPr>
                </a:tc>
                <a:tc>
                  <a:txBody>
                    <a:bodyPr/>
                    <a:lstStyle/>
                    <a:p>
                      <a:pPr indent="0" marL="0">
                        <a:buNone/>
                      </a:pPr>
                      <a:r>
                        <a:rPr lang="en-US" sz="1100" dirty="0">
                          <a:solidFill>
                            <a:srgbClr val="1A1A1A"/>
                          </a:solidFill>
                          <a:latin typeface="Meiryo" pitchFamily="34" charset="0"/>
                          <a:ea typeface="Meiryo" pitchFamily="34" charset="-122"/>
                          <a:cs typeface="Meiryo" pitchFamily="34" charset="-120"/>
                        </a:rPr>
                        <a:t>/application 単独ページのみ。年度更新の導線が不明</a:t>
                      </a:r>
                      <a:endParaRPr lang="en-US" sz="1100" dirty="0">
                        <a:latin typeface="Meiryo" charset="0"/>
                        <a:ea typeface="Meiryo" charset="0"/>
                        <a:cs typeface="Meiryo" charset="0"/>
                      </a:endParaRPr>
                    </a:p>
                  </a:txBody>
                  <a:tcPr marL="91440" marR="91440" marT="45720" marB="45720">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tcPr>
                </a:tc>
                <a:tc>
                  <a:txBody>
                    <a:bodyPr/>
                    <a:lstStyle/>
                    <a:p>
                      <a:pPr indent="0" marL="0">
                        <a:buNone/>
                      </a:pPr>
                      <a:r>
                        <a:rPr lang="en-US" sz="1100" dirty="0">
                          <a:solidFill>
                            <a:srgbClr val="1A1A1A"/>
                          </a:solidFill>
                          <a:latin typeface="Meiryo" pitchFamily="34" charset="0"/>
                          <a:ea typeface="Meiryo" pitchFamily="34" charset="-122"/>
                          <a:cs typeface="Meiryo" pitchFamily="34" charset="-120"/>
                        </a:rPr>
                        <a:t>要確認</a:t>
                      </a:r>
                      <a:endParaRPr lang="en-US" sz="1100" dirty="0">
                        <a:latin typeface="Meiryo" charset="0"/>
                        <a:ea typeface="Meiryo" charset="0"/>
                        <a:cs typeface="Meiryo" charset="0"/>
                      </a:endParaRPr>
                    </a:p>
                  </a:txBody>
                  <a:tcPr marL="91440" marR="91440" marT="45720" marB="45720">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tcPr>
                </a:tc>
              </a:tr>
              <a:tr h="0">
                <a:tc>
                  <a:txBody>
                    <a:bodyPr/>
                    <a:lstStyle/>
                    <a:p>
                      <a:pPr indent="0" marL="0">
                        <a:buNone/>
                      </a:pPr>
                      <a:r>
                        <a:rPr lang="en-US" sz="1100" dirty="0">
                          <a:solidFill>
                            <a:srgbClr val="1A1A1A"/>
                          </a:solidFill>
                          <a:latin typeface="Meiryo" pitchFamily="34" charset="0"/>
                          <a:ea typeface="Meiryo" pitchFamily="34" charset="-122"/>
                          <a:cs typeface="Meiryo" pitchFamily="34" charset="-120"/>
                        </a:rPr>
                        <a:t>PDF中心の情報配信</a:t>
                      </a:r>
                      <a:endParaRPr lang="en-US" sz="1100" dirty="0">
                        <a:latin typeface="Meiryo" charset="0"/>
                        <a:ea typeface="Meiryo" charset="0"/>
                        <a:cs typeface="Meiryo" charset="0"/>
                      </a:endParaRPr>
                    </a:p>
                  </a:txBody>
                  <a:tcPr marL="91440" marR="91440" marT="45720" marB="45720">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tcPr>
                </a:tc>
                <a:tc>
                  <a:txBody>
                    <a:bodyPr/>
                    <a:lstStyle/>
                    <a:p>
                      <a:pPr indent="0" marL="0">
                        <a:buNone/>
                      </a:pPr>
                      <a:r>
                        <a:rPr lang="en-US" sz="1100" dirty="0">
                          <a:solidFill>
                            <a:srgbClr val="1A1A1A"/>
                          </a:solidFill>
                          <a:latin typeface="Meiryo" pitchFamily="34" charset="0"/>
                          <a:ea typeface="Meiryo" pitchFamily="34" charset="-122"/>
                          <a:cs typeface="Meiryo" pitchFamily="34" charset="-120"/>
                        </a:rPr>
                        <a:t>掲載数は未計測</a:t>
                      </a:r>
                      <a:endParaRPr lang="en-US" sz="1100" dirty="0">
                        <a:latin typeface="Meiryo" charset="0"/>
                        <a:ea typeface="Meiryo" charset="0"/>
                        <a:cs typeface="Meiryo" charset="0"/>
                      </a:endParaRPr>
                    </a:p>
                  </a:txBody>
                  <a:tcPr marL="91440" marR="91440" marT="45720" marB="45720">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tcPr>
                </a:tc>
                <a:tc>
                  <a:txBody>
                    <a:bodyPr/>
                    <a:lstStyle/>
                    <a:p>
                      <a:pPr indent="0" marL="0">
                        <a:buNone/>
                      </a:pPr>
                      <a:r>
                        <a:rPr lang="en-US" sz="1100" dirty="0">
                          <a:solidFill>
                            <a:srgbClr val="1A1A1A"/>
                          </a:solidFill>
                          <a:latin typeface="Meiryo" pitchFamily="34" charset="0"/>
                          <a:ea typeface="Meiryo" pitchFamily="34" charset="-122"/>
                          <a:cs typeface="Meiryo" pitchFamily="34" charset="-120"/>
                        </a:rPr>
                        <a:t>要確認</a:t>
                      </a:r>
                      <a:endParaRPr lang="en-US" sz="1100" dirty="0">
                        <a:latin typeface="Meiryo" charset="0"/>
                        <a:ea typeface="Meiryo" charset="0"/>
                        <a:cs typeface="Meiryo" charset="0"/>
                      </a:endParaRPr>
                    </a:p>
                  </a:txBody>
                  <a:tcPr marL="91440" marR="91440" marT="45720" marB="45720">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tcPr>
                </a:tc>
              </a:tr>
              <a:tr h="0">
                <a:tc>
                  <a:txBody>
                    <a:bodyPr/>
                    <a:lstStyle/>
                    <a:p>
                      <a:pPr indent="0" marL="0">
                        <a:buNone/>
                      </a:pPr>
                      <a:r>
                        <a:rPr lang="en-US" sz="1100" dirty="0">
                          <a:solidFill>
                            <a:srgbClr val="1A1A1A"/>
                          </a:solidFill>
                          <a:latin typeface="Meiryo" pitchFamily="34" charset="0"/>
                          <a:ea typeface="Meiryo" pitchFamily="34" charset="-122"/>
                          <a:cs typeface="Meiryo" pitchFamily="34" charset="-120"/>
                        </a:rPr>
                        <a:t>URL体系の不統一・旧ページ残存</a:t>
                      </a:r>
                      <a:endParaRPr lang="en-US" sz="1100" dirty="0">
                        <a:latin typeface="Meiryo" charset="0"/>
                        <a:ea typeface="Meiryo" charset="0"/>
                        <a:cs typeface="Meiryo" charset="0"/>
                      </a:endParaRPr>
                    </a:p>
                  </a:txBody>
                  <a:tcPr marL="91440" marR="91440" marT="45720" marB="45720">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tcPr>
                </a:tc>
                <a:tc>
                  <a:txBody>
                    <a:bodyPr/>
                    <a:lstStyle/>
                    <a:p>
                      <a:pPr indent="0" marL="0">
                        <a:buNone/>
                      </a:pPr>
                      <a:r>
                        <a:rPr lang="en-US" sz="1100" dirty="0">
                          <a:solidFill>
                            <a:srgbClr val="1A1A1A"/>
                          </a:solidFill>
                          <a:latin typeface="Meiryo" pitchFamily="34" charset="0"/>
                          <a:ea typeface="Meiryo" pitchFamily="34" charset="-122"/>
                          <a:cs typeface="Meiryo" pitchFamily="34" charset="-120"/>
                        </a:rPr>
                        <a:t>不正URL約90本と命名不統一を確認</a:t>
                      </a:r>
                      <a:endParaRPr lang="en-US" sz="1100" dirty="0">
                        <a:latin typeface="Meiryo" charset="0"/>
                        <a:ea typeface="Meiryo" charset="0"/>
                        <a:cs typeface="Meiryo" charset="0"/>
                      </a:endParaRPr>
                    </a:p>
                  </a:txBody>
                  <a:tcPr marL="91440" marR="91440" marT="45720" marB="45720">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tcPr>
                </a:tc>
                <a:tc>
                  <a:txBody>
                    <a:bodyPr/>
                    <a:lstStyle/>
                    <a:p>
                      <a:pPr indent="0" marL="0">
                        <a:buNone/>
                      </a:pPr>
                      <a:r>
                        <a:rPr lang="en-US" sz="1100" dirty="0">
                          <a:solidFill>
                            <a:srgbClr val="1A1A1A"/>
                          </a:solidFill>
                          <a:latin typeface="Meiryo" pitchFamily="34" charset="0"/>
                          <a:ea typeface="Meiryo" pitchFamily="34" charset="-122"/>
                          <a:cs typeface="Meiryo" pitchFamily="34" charset="-120"/>
                        </a:rPr>
                        <a:t>実測で確認済み</a:t>
                      </a:r>
                      <a:endParaRPr lang="en-US" sz="1100" dirty="0">
                        <a:latin typeface="Meiryo" charset="0"/>
                        <a:ea typeface="Meiryo" charset="0"/>
                        <a:cs typeface="Meiryo" charset="0"/>
                      </a:endParaRPr>
                    </a:p>
                  </a:txBody>
                  <a:tcPr marL="91440" marR="91440" marT="45720" marB="45720">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tcPr>
                </a:tc>
              </a:tr>
              <a:tr h="0">
                <a:tc>
                  <a:txBody>
                    <a:bodyPr/>
                    <a:lstStyle/>
                    <a:p>
                      <a:pPr indent="0" marL="0">
                        <a:buNone/>
                      </a:pPr>
                      <a:r>
                        <a:rPr lang="en-US" sz="1100" dirty="0">
                          <a:solidFill>
                            <a:srgbClr val="1A1A1A"/>
                          </a:solidFill>
                          <a:latin typeface="Meiryo" pitchFamily="34" charset="0"/>
                          <a:ea typeface="Meiryo" pitchFamily="34" charset="-122"/>
                          <a:cs typeface="Meiryo" pitchFamily="34" charset="-120"/>
                        </a:rPr>
                        <a:t>SEO／アクセシビリティに課題</a:t>
                      </a:r>
                      <a:endParaRPr lang="en-US" sz="1100" dirty="0">
                        <a:latin typeface="Meiryo" charset="0"/>
                        <a:ea typeface="Meiryo" charset="0"/>
                        <a:cs typeface="Meiryo" charset="0"/>
                      </a:endParaRPr>
                    </a:p>
                  </a:txBody>
                  <a:tcPr marL="91440" marR="91440" marT="45720" marB="45720">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tcPr>
                </a:tc>
                <a:tc>
                  <a:txBody>
                    <a:bodyPr/>
                    <a:lstStyle/>
                    <a:p>
                      <a:pPr indent="0" marL="0">
                        <a:buNone/>
                      </a:pPr>
                      <a:r>
                        <a:rPr lang="en-US" sz="1100" dirty="0">
                          <a:solidFill>
                            <a:srgbClr val="1A1A1A"/>
                          </a:solidFill>
                          <a:latin typeface="Meiryo" pitchFamily="34" charset="0"/>
                          <a:ea typeface="Meiryo" pitchFamily="34" charset="-122"/>
                          <a:cs typeface="Meiryo" pitchFamily="34" charset="-120"/>
                        </a:rPr>
                        <a:t>HTML構文の破損とヘッダ未設定を確認</a:t>
                      </a:r>
                      <a:endParaRPr lang="en-US" sz="1100" dirty="0">
                        <a:latin typeface="Meiryo" charset="0"/>
                        <a:ea typeface="Meiryo" charset="0"/>
                        <a:cs typeface="Meiryo" charset="0"/>
                      </a:endParaRPr>
                    </a:p>
                  </a:txBody>
                  <a:tcPr marL="91440" marR="91440" marT="45720" marB="45720">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tcPr>
                </a:tc>
                <a:tc>
                  <a:txBody>
                    <a:bodyPr/>
                    <a:lstStyle/>
                    <a:p>
                      <a:pPr indent="0" marL="0">
                        <a:buNone/>
                      </a:pPr>
                      <a:r>
                        <a:rPr lang="en-US" sz="1100" dirty="0">
                          <a:solidFill>
                            <a:srgbClr val="1A1A1A"/>
                          </a:solidFill>
                          <a:latin typeface="Meiryo" pitchFamily="34" charset="0"/>
                          <a:ea typeface="Meiryo" pitchFamily="34" charset="-122"/>
                          <a:cs typeface="Meiryo" pitchFamily="34" charset="-120"/>
                        </a:rPr>
                        <a:t>実測で確認済み</a:t>
                      </a:r>
                      <a:endParaRPr lang="en-US" sz="1100" dirty="0">
                        <a:latin typeface="Meiryo" charset="0"/>
                        <a:ea typeface="Meiryo" charset="0"/>
                        <a:cs typeface="Meiryo" charset="0"/>
                      </a:endParaRPr>
                    </a:p>
                  </a:txBody>
                  <a:tcPr marL="91440" marR="91440" marT="45720" marB="45720">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tcPr>
                </a:tc>
              </a:tr>
              <a:tr h="0">
                <a:tc>
                  <a:txBody>
                    <a:bodyPr/>
                    <a:lstStyle/>
                    <a:p>
                      <a:pPr indent="0" marL="0">
                        <a:buNone/>
                      </a:pPr>
                      <a:r>
                        <a:rPr lang="en-US" sz="1100" dirty="0">
                          <a:solidFill>
                            <a:srgbClr val="1A1A1A"/>
                          </a:solidFill>
                          <a:latin typeface="Meiryo" pitchFamily="34" charset="0"/>
                          <a:ea typeface="Meiryo" pitchFamily="34" charset="-122"/>
                          <a:cs typeface="Meiryo" pitchFamily="34" charset="-120"/>
                        </a:rPr>
                        <a:t>ペルソナ別の導線が弱い</a:t>
                      </a:r>
                      <a:endParaRPr lang="en-US" sz="1100" dirty="0">
                        <a:latin typeface="Meiryo" charset="0"/>
                        <a:ea typeface="Meiryo" charset="0"/>
                        <a:cs typeface="Meiryo" charset="0"/>
                      </a:endParaRPr>
                    </a:p>
                  </a:txBody>
                  <a:tcPr marL="91440" marR="91440" marT="45720" marB="45720">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tcPr>
                </a:tc>
                <a:tc>
                  <a:txBody>
                    <a:bodyPr/>
                    <a:lstStyle/>
                    <a:p>
                      <a:pPr indent="0" marL="0">
                        <a:buNone/>
                      </a:pPr>
                      <a:r>
                        <a:rPr lang="en-US" sz="1100" dirty="0">
                          <a:solidFill>
                            <a:srgbClr val="1A1A1A"/>
                          </a:solidFill>
                          <a:latin typeface="Meiryo" pitchFamily="34" charset="0"/>
                          <a:ea typeface="Meiryo" pitchFamily="34" charset="-122"/>
                          <a:cs typeface="Meiryo" pitchFamily="34" charset="-120"/>
                        </a:rPr>
                        <a:t>同一コンテンツに複数の入口があることを確認</a:t>
                      </a:r>
                      <a:endParaRPr lang="en-US" sz="1100" dirty="0">
                        <a:latin typeface="Meiryo" charset="0"/>
                        <a:ea typeface="Meiryo" charset="0"/>
                        <a:cs typeface="Meiryo" charset="0"/>
                      </a:endParaRPr>
                    </a:p>
                  </a:txBody>
                  <a:tcPr marL="91440" marR="91440" marT="45720" marB="45720">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tcPr>
                </a:tc>
                <a:tc>
                  <a:txBody>
                    <a:bodyPr/>
                    <a:lstStyle/>
                    <a:p>
                      <a:pPr indent="0" marL="0">
                        <a:buNone/>
                      </a:pPr>
                      <a:r>
                        <a:rPr lang="en-US" sz="1100" dirty="0">
                          <a:solidFill>
                            <a:srgbClr val="1A1A1A"/>
                          </a:solidFill>
                          <a:latin typeface="Meiryo" pitchFamily="34" charset="0"/>
                          <a:ea typeface="Meiryo" pitchFamily="34" charset="-122"/>
                          <a:cs typeface="Meiryo" pitchFamily="34" charset="-120"/>
                        </a:rPr>
                        <a:t>実測で確認済み</a:t>
                      </a:r>
                      <a:endParaRPr lang="en-US" sz="1100" dirty="0">
                        <a:latin typeface="Meiryo" charset="0"/>
                        <a:ea typeface="Meiryo" charset="0"/>
                        <a:cs typeface="Meiryo" charset="0"/>
                      </a:endParaRPr>
                    </a:p>
                  </a:txBody>
                  <a:tcPr marL="91440" marR="91440" marT="45720" marB="45720">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tcPr>
                </a:tc>
              </a:tr>
            </a:tbl>
          </a:graphicData>
        </a:graphic>
      </p:graphicFrame>
      <p:sp>
        <p:nvSpPr>
          <p:cNvPr id="7" name="Text 4"/>
          <p:cNvSpPr/>
          <p:nvPr/>
        </p:nvSpPr>
        <p:spPr>
          <a:xfrm>
            <a:off x="502920" y="4759452"/>
            <a:ext cx="6949440" cy="228600"/>
          </a:xfrm>
          <a:prstGeom prst="rect">
            <a:avLst/>
          </a:prstGeom>
          <a:noFill/>
          <a:ln/>
        </p:spPr>
        <p:txBody>
          <a:bodyPr wrap="square" rtlCol="0" anchor="ctr"/>
          <a:lstStyle/>
          <a:p>
            <a:pPr indent="0" marL="0">
              <a:buNone/>
            </a:pPr>
            <a:r>
              <a:rPr lang="en-US" sz="900" dirty="0">
                <a:solidFill>
                  <a:srgbClr val="6B6B6B"/>
                </a:solidFill>
                <a:latin typeface="Meiryo" pitchFamily="34" charset="0"/>
                <a:ea typeface="Meiryo" pitchFamily="34" charset="-122"/>
                <a:cs typeface="Meiryo" pitchFamily="34" charset="-120"/>
              </a:rPr>
              <a:t>出典: projects/johoku-saitama/research/current-site-audit.md（2026-09-18 実測）</a:t>
            </a:r>
            <a:endParaRPr lang="en-US" sz="900" dirty="0"/>
          </a:p>
        </p:txBody>
      </p:sp>
      <p:sp>
        <p:nvSpPr>
          <p:cNvPr id="8" name="Text 5"/>
          <p:cNvSpPr/>
          <p:nvPr/>
        </p:nvSpPr>
        <p:spPr>
          <a:xfrm>
            <a:off x="7543800" y="4759452"/>
            <a:ext cx="1097280" cy="228600"/>
          </a:xfrm>
          <a:prstGeom prst="rect">
            <a:avLst/>
          </a:prstGeom>
          <a:noFill/>
          <a:ln/>
        </p:spPr>
        <p:txBody>
          <a:bodyPr wrap="square" rtlCol="0" anchor="ctr"/>
          <a:lstStyle/>
          <a:p>
            <a:pPr algn="r" indent="0" marL="0">
              <a:buNone/>
            </a:pPr>
            <a:r>
              <a:rPr lang="en-US" sz="900" dirty="0">
                <a:solidFill>
                  <a:srgbClr val="6B6B6B"/>
                </a:solidFill>
                <a:latin typeface="Meiryo" pitchFamily="34" charset="0"/>
                <a:ea typeface="Meiryo" pitchFamily="34" charset="-122"/>
                <a:cs typeface="Meiryo" pitchFamily="34" charset="-120"/>
              </a:rPr>
              <a:t>17|82</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1F3A5F"/>
        </a:solidFill>
      </p:bgPr>
    </p:bg>
    <p:spTree>
      <p:nvGrpSpPr>
        <p:cNvPr id="1" name=""/>
        <p:cNvGrpSpPr/>
        <p:nvPr/>
      </p:nvGrpSpPr>
      <p:grpSpPr>
        <a:xfrm>
          <a:off x="0" y="0"/>
          <a:ext cx="0" cy="0"/>
          <a:chOff x="0" y="0"/>
          <a:chExt cx="0" cy="0"/>
        </a:xfrm>
      </p:grpSpPr>
      <p:sp>
        <p:nvSpPr>
          <p:cNvPr id="2" name="Text 0"/>
          <p:cNvSpPr/>
          <p:nvPr/>
        </p:nvSpPr>
        <p:spPr>
          <a:xfrm>
            <a:off x="502920" y="1737360"/>
            <a:ext cx="1280160" cy="640080"/>
          </a:xfrm>
          <a:prstGeom prst="rect">
            <a:avLst/>
          </a:prstGeom>
          <a:noFill/>
          <a:ln/>
        </p:spPr>
        <p:txBody>
          <a:bodyPr wrap="square" rtlCol="0" anchor="ctr"/>
          <a:lstStyle/>
          <a:p>
            <a:pPr indent="0" marL="0">
              <a:buNone/>
            </a:pPr>
            <a:r>
              <a:rPr lang="en-US" sz="3400" b="1" dirty="0">
                <a:solidFill>
                  <a:srgbClr val="FFFFFF"/>
                </a:solidFill>
                <a:latin typeface="Meiryo" pitchFamily="34" charset="0"/>
                <a:ea typeface="Meiryo" pitchFamily="34" charset="-122"/>
                <a:cs typeface="Meiryo" pitchFamily="34" charset="-120"/>
              </a:rPr>
              <a:t>03</a:t>
            </a:r>
            <a:endParaRPr lang="en-US" sz="3400" dirty="0"/>
          </a:p>
        </p:txBody>
      </p:sp>
      <p:sp>
        <p:nvSpPr>
          <p:cNvPr id="3" name="Text 1"/>
          <p:cNvSpPr/>
          <p:nvPr/>
        </p:nvSpPr>
        <p:spPr>
          <a:xfrm>
            <a:off x="502920" y="2377440"/>
            <a:ext cx="8138160" cy="365760"/>
          </a:xfrm>
          <a:prstGeom prst="rect">
            <a:avLst/>
          </a:prstGeom>
          <a:noFill/>
          <a:ln/>
        </p:spPr>
        <p:txBody>
          <a:bodyPr wrap="square" rtlCol="0" anchor="ctr"/>
          <a:lstStyle/>
          <a:p>
            <a:pPr indent="0" marL="0">
              <a:buNone/>
            </a:pPr>
            <a:r>
              <a:rPr lang="en-US" sz="1300" dirty="0">
                <a:solidFill>
                  <a:srgbClr val="FFFFFF"/>
                </a:solidFill>
                <a:latin typeface="Meiryo" pitchFamily="34" charset="0"/>
                <a:ea typeface="Meiryo" pitchFamily="34" charset="-122"/>
                <a:cs typeface="Meiryo" pitchFamily="34" charset="-120"/>
              </a:rPr>
              <a:t>Strategy Design</a:t>
            </a:r>
            <a:endParaRPr lang="en-US" sz="1300" dirty="0"/>
          </a:p>
        </p:txBody>
      </p:sp>
      <p:sp>
        <p:nvSpPr>
          <p:cNvPr id="4" name="Text 2"/>
          <p:cNvSpPr/>
          <p:nvPr/>
        </p:nvSpPr>
        <p:spPr>
          <a:xfrm>
            <a:off x="502920" y="2743200"/>
            <a:ext cx="8138160" cy="548640"/>
          </a:xfrm>
          <a:prstGeom prst="rect">
            <a:avLst/>
          </a:prstGeom>
          <a:noFill/>
          <a:ln/>
        </p:spPr>
        <p:txBody>
          <a:bodyPr wrap="square" rtlCol="0" anchor="ctr"/>
          <a:lstStyle/>
          <a:p>
            <a:pPr indent="0" marL="0">
              <a:buNone/>
            </a:pPr>
            <a:r>
              <a:rPr lang="en-US" sz="2400" b="1" dirty="0">
                <a:solidFill>
                  <a:srgbClr val="FFFFFF"/>
                </a:solidFill>
                <a:latin typeface="Meiryo" pitchFamily="34" charset="0"/>
                <a:ea typeface="Meiryo" pitchFamily="34" charset="-122"/>
                <a:cs typeface="Meiryo" pitchFamily="34" charset="-120"/>
              </a:rPr>
              <a:t>戦略設計</a:t>
            </a:r>
            <a:endParaRPr lang="en-US" sz="2400" dirty="0"/>
          </a:p>
        </p:txBody>
      </p:sp>
      <p:sp>
        <p:nvSpPr>
          <p:cNvPr id="5" name="Text 3"/>
          <p:cNvSpPr/>
          <p:nvPr/>
        </p:nvSpPr>
        <p:spPr>
          <a:xfrm>
            <a:off x="7543800" y="4759452"/>
            <a:ext cx="1097280" cy="228600"/>
          </a:xfrm>
          <a:prstGeom prst="rect">
            <a:avLst/>
          </a:prstGeom>
          <a:noFill/>
          <a:ln/>
        </p:spPr>
        <p:txBody>
          <a:bodyPr wrap="square" rtlCol="0" anchor="ctr"/>
          <a:lstStyle/>
          <a:p>
            <a:pPr algn="r" indent="0" marL="0">
              <a:buNone/>
            </a:pPr>
            <a:r>
              <a:rPr lang="en-US" sz="900" dirty="0">
                <a:solidFill>
                  <a:srgbClr val="6B6B6B"/>
                </a:solidFill>
                <a:latin typeface="Meiryo" pitchFamily="34" charset="0"/>
                <a:ea typeface="Meiryo" pitchFamily="34" charset="-122"/>
                <a:cs typeface="Meiryo" pitchFamily="34" charset="-120"/>
              </a:rPr>
              <a:t>18|82</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502920" y="502920"/>
            <a:ext cx="8138160" cy="228600"/>
          </a:xfrm>
          <a:prstGeom prst="rect">
            <a:avLst/>
          </a:prstGeom>
          <a:noFill/>
          <a:ln/>
        </p:spPr>
        <p:txBody>
          <a:bodyPr wrap="square" rtlCol="0" anchor="ctr"/>
          <a:lstStyle/>
          <a:p>
            <a:pPr indent="0" marL="0">
              <a:buNone/>
            </a:pPr>
            <a:r>
              <a:rPr lang="en-US" sz="1000" dirty="0">
                <a:solidFill>
                  <a:srgbClr val="6B6B6B"/>
                </a:solidFill>
                <a:latin typeface="Meiryo" pitchFamily="34" charset="0"/>
                <a:ea typeface="Meiryo" pitchFamily="34" charset="-122"/>
                <a:cs typeface="Meiryo" pitchFamily="34" charset="-120"/>
              </a:rPr>
              <a:t>03 Strategy Design</a:t>
            </a:r>
            <a:endParaRPr lang="en-US" sz="1000" dirty="0"/>
          </a:p>
        </p:txBody>
      </p:sp>
      <p:sp>
        <p:nvSpPr>
          <p:cNvPr id="3" name="Text 1"/>
          <p:cNvSpPr/>
          <p:nvPr/>
        </p:nvSpPr>
        <p:spPr>
          <a:xfrm>
            <a:off x="502920" y="777240"/>
            <a:ext cx="8138160" cy="457200"/>
          </a:xfrm>
          <a:prstGeom prst="rect">
            <a:avLst/>
          </a:prstGeom>
          <a:noFill/>
          <a:ln/>
        </p:spPr>
        <p:txBody>
          <a:bodyPr wrap="square" rtlCol="0" anchor="ctr"/>
          <a:lstStyle/>
          <a:p>
            <a:pPr indent="0" marL="0">
              <a:buNone/>
            </a:pPr>
            <a:r>
              <a:rPr lang="en-US" sz="2000" b="1" dirty="0">
                <a:solidFill>
                  <a:srgbClr val="1A1A1A"/>
                </a:solidFill>
                <a:latin typeface="Meiryo" pitchFamily="34" charset="0"/>
                <a:ea typeface="Meiryo" pitchFamily="34" charset="-122"/>
                <a:cs typeface="Meiryo" pitchFamily="34" charset="-120"/>
              </a:rPr>
              <a:t>新サイトを、広報戦略の起点にします</a:t>
            </a:r>
            <a:endParaRPr lang="en-US" sz="2000" dirty="0"/>
          </a:p>
        </p:txBody>
      </p:sp>
      <p:sp>
        <p:nvSpPr>
          <p:cNvPr id="4" name="Shape 2"/>
          <p:cNvSpPr/>
          <p:nvPr/>
        </p:nvSpPr>
        <p:spPr>
          <a:xfrm>
            <a:off x="502920" y="1280160"/>
            <a:ext cx="8138160" cy="0"/>
          </a:xfrm>
          <a:prstGeom prst="line">
            <a:avLst/>
          </a:prstGeom>
          <a:noFill/>
          <a:ln w="12700">
            <a:solidFill>
              <a:srgbClr val="D5D5D5"/>
            </a:solidFill>
            <a:prstDash val="solid"/>
          </a:ln>
        </p:spPr>
      </p:sp>
      <p:sp>
        <p:nvSpPr>
          <p:cNvPr id="5" name="Text 3"/>
          <p:cNvSpPr/>
          <p:nvPr/>
        </p:nvSpPr>
        <p:spPr>
          <a:xfrm>
            <a:off x="502920" y="1417320"/>
            <a:ext cx="8138160" cy="457200"/>
          </a:xfrm>
          <a:prstGeom prst="rect">
            <a:avLst/>
          </a:prstGeom>
          <a:noFill/>
          <a:ln/>
        </p:spPr>
        <p:txBody>
          <a:bodyPr wrap="square" rtlCol="0" anchor="t"/>
          <a:lstStyle/>
          <a:p>
            <a:pPr indent="0" marL="0">
              <a:buNone/>
            </a:pPr>
            <a:r>
              <a:rPr lang="en-US" sz="1200" dirty="0">
                <a:solidFill>
                  <a:srgbClr val="1A1A1A"/>
                </a:solidFill>
                <a:latin typeface="Meiryo" pitchFamily="34" charset="0"/>
                <a:ea typeface="Meiryo" pitchFamily="34" charset="-122"/>
                <a:cs typeface="Meiryo" pitchFamily="34" charset="-120"/>
              </a:rPr>
              <a:t>ヒアリングで伺った「新サイトを広報戦略の起点にしたい」というお考えを、設計の軸に置きます。個別の改修ではなく、情報の持ち方から見直します。</a:t>
            </a:r>
            <a:endParaRPr lang="en-US" sz="1200" dirty="0"/>
          </a:p>
        </p:txBody>
      </p:sp>
      <p:sp>
        <p:nvSpPr>
          <p:cNvPr id="6" name="Text 4"/>
          <p:cNvSpPr/>
          <p:nvPr/>
        </p:nvSpPr>
        <p:spPr>
          <a:xfrm>
            <a:off x="502920" y="1965960"/>
            <a:ext cx="8138160" cy="2628900"/>
          </a:xfrm>
          <a:prstGeom prst="rect">
            <a:avLst/>
          </a:prstGeom>
          <a:noFill/>
          <a:ln/>
        </p:spPr>
        <p:txBody>
          <a:bodyPr wrap="square" rtlCol="0" anchor="t"/>
          <a:lstStyle/>
          <a:p>
            <a:pPr marL="342900" indent="-342900">
              <a:lnSpc>
                <a:spcPct val="130000"/>
              </a:lnSpc>
              <a:buSzPct val="100000"/>
              <a:buChar char="•"/>
            </a:pPr>
            <a:r>
              <a:rPr lang="en-US" sz="1300" dirty="0">
                <a:solidFill>
                  <a:srgbClr val="1A1A1A"/>
                </a:solidFill>
                <a:latin typeface="Meiryo" pitchFamily="34" charset="0"/>
                <a:ea typeface="Meiryo" pitchFamily="34" charset="-122"/>
                <a:cs typeface="Meiryo" pitchFamily="34" charset="-120"/>
              </a:rPr>
              <a:t>起点にするとは: サイトを最新の一次情報の置き場とし、印刷物・説明会・広告がそこを参照する形にすることです</a:t>
            </a:r>
            <a:endParaRPr lang="en-US" sz="1300" dirty="0"/>
          </a:p>
          <a:p>
            <a:pPr marL="342900" indent="-342900">
              <a:lnSpc>
                <a:spcPct val="130000"/>
              </a:lnSpc>
              <a:buSzPct val="100000"/>
              <a:buChar char="•"/>
            </a:pPr>
            <a:r>
              <a:rPr lang="en-US" sz="1300" dirty="0">
                <a:solidFill>
                  <a:srgbClr val="1A1A1A"/>
                </a:solidFill>
                <a:latin typeface="Meiryo" pitchFamily="34" charset="0"/>
                <a:ea typeface="Meiryo" pitchFamily="34" charset="-122"/>
                <a:cs typeface="Meiryo" pitchFamily="34" charset="-120"/>
              </a:rPr>
              <a:t>そのために必要なこと: (1) スマートフォンで届くこと (2) 最新であること (3) 学校が自分で更新できること</a:t>
            </a:r>
            <a:endParaRPr lang="en-US" sz="1300" dirty="0"/>
          </a:p>
          <a:p>
            <a:pPr marL="342900" indent="-342900">
              <a:lnSpc>
                <a:spcPct val="130000"/>
              </a:lnSpc>
              <a:buSzPct val="100000"/>
              <a:buChar char="•"/>
            </a:pPr>
            <a:r>
              <a:rPr lang="en-US" sz="1300" dirty="0">
                <a:solidFill>
                  <a:srgbClr val="1A1A1A"/>
                </a:solidFill>
                <a:latin typeface="Meiryo" pitchFamily="34" charset="0"/>
                <a:ea typeface="Meiryo" pitchFamily="34" charset="-122"/>
                <a:cs typeface="Meiryo" pitchFamily="34" charset="-120"/>
              </a:rPr>
              <a:t>この3点が、本提案の3つの論点そのものです</a:t>
            </a:r>
            <a:endParaRPr lang="en-US" sz="1300" dirty="0"/>
          </a:p>
          <a:p>
            <a:pPr marL="342900" indent="-342900">
              <a:lnSpc>
                <a:spcPct val="130000"/>
              </a:lnSpc>
              <a:buSzPct val="100000"/>
              <a:buChar char="•"/>
            </a:pPr>
            <a:r>
              <a:rPr lang="en-US" sz="1300" dirty="0">
                <a:solidFill>
                  <a:srgbClr val="1A1A1A"/>
                </a:solidFill>
                <a:latin typeface="Meiryo" pitchFamily="34" charset="0"/>
                <a:ea typeface="Meiryo" pitchFamily="34" charset="-122"/>
                <a:cs typeface="Meiryo" pitchFamily="34" charset="-120"/>
              </a:rPr>
              <a:t>背景: 現行サイトは6年前の制作で、組織体制の変更もございました</a:t>
            </a:r>
            <a:endParaRPr lang="en-US" sz="1300" dirty="0"/>
          </a:p>
          <a:p>
            <a:pPr marL="342900" indent="-342900">
              <a:lnSpc>
                <a:spcPct val="130000"/>
              </a:lnSpc>
              <a:buSzPct val="100000"/>
              <a:buChar char="•"/>
            </a:pPr>
            <a:r>
              <a:rPr lang="en-US" sz="1300" dirty="0">
                <a:solidFill>
                  <a:srgbClr val="1A1A1A"/>
                </a:solidFill>
                <a:latin typeface="Meiryo" pitchFamily="34" charset="0"/>
                <a:ea typeface="Meiryo" pitchFamily="34" charset="-122"/>
                <a:cs typeface="Meiryo" pitchFamily="34" charset="-120"/>
              </a:rPr>
              <a:t>節目: 2026年に中学校創立25周年、2030年に高等学校創立50周年を迎えられます</a:t>
            </a:r>
            <a:endParaRPr lang="en-US" sz="1300" dirty="0"/>
          </a:p>
        </p:txBody>
      </p:sp>
      <p:sp>
        <p:nvSpPr>
          <p:cNvPr id="7" name="Text 5"/>
          <p:cNvSpPr/>
          <p:nvPr/>
        </p:nvSpPr>
        <p:spPr>
          <a:xfrm>
            <a:off x="502920" y="4759452"/>
            <a:ext cx="6949440" cy="228600"/>
          </a:xfrm>
          <a:prstGeom prst="rect">
            <a:avLst/>
          </a:prstGeom>
          <a:noFill/>
          <a:ln/>
        </p:spPr>
        <p:txBody>
          <a:bodyPr wrap="square" rtlCol="0" anchor="ctr"/>
          <a:lstStyle/>
          <a:p>
            <a:pPr indent="0" marL="0">
              <a:buNone/>
            </a:pPr>
            <a:r>
              <a:rPr lang="en-US" sz="900" dirty="0">
                <a:solidFill>
                  <a:srgbClr val="6B6B6B"/>
                </a:solidFill>
                <a:latin typeface="Meiryo" pitchFamily="34" charset="0"/>
                <a:ea typeface="Meiryo" pitchFamily="34" charset="-122"/>
                <a:cs typeface="Meiryo" pitchFamily="34" charset="-120"/>
              </a:rPr>
              <a:t>出典: projects/johoku-saitama/research/brief.md（2026-07-03 ヒアリング・Backlog GG_ORDER-4733）</a:t>
            </a:r>
            <a:endParaRPr lang="en-US" sz="900" dirty="0"/>
          </a:p>
        </p:txBody>
      </p:sp>
      <p:sp>
        <p:nvSpPr>
          <p:cNvPr id="8" name="Text 6"/>
          <p:cNvSpPr/>
          <p:nvPr/>
        </p:nvSpPr>
        <p:spPr>
          <a:xfrm>
            <a:off x="7543800" y="4759452"/>
            <a:ext cx="1097280" cy="228600"/>
          </a:xfrm>
          <a:prstGeom prst="rect">
            <a:avLst/>
          </a:prstGeom>
          <a:noFill/>
          <a:ln/>
        </p:spPr>
        <p:txBody>
          <a:bodyPr wrap="square" rtlCol="0" anchor="ctr"/>
          <a:lstStyle/>
          <a:p>
            <a:pPr algn="r" indent="0" marL="0">
              <a:buNone/>
            </a:pPr>
            <a:r>
              <a:rPr lang="en-US" sz="900" dirty="0">
                <a:solidFill>
                  <a:srgbClr val="6B6B6B"/>
                </a:solidFill>
                <a:latin typeface="Meiryo" pitchFamily="34" charset="0"/>
                <a:ea typeface="Meiryo" pitchFamily="34" charset="-122"/>
                <a:cs typeface="Meiryo" pitchFamily="34" charset="-120"/>
              </a:rPr>
              <a:t>19|82</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502920" y="502920"/>
            <a:ext cx="8138160" cy="228600"/>
          </a:xfrm>
          <a:prstGeom prst="rect">
            <a:avLst/>
          </a:prstGeom>
          <a:noFill/>
          <a:ln/>
        </p:spPr>
        <p:txBody>
          <a:bodyPr wrap="square" rtlCol="0" anchor="ctr"/>
          <a:lstStyle/>
          <a:p>
            <a:pPr indent="0" marL="0">
              <a:buNone/>
            </a:pPr>
            <a:r>
              <a:rPr lang="en-US" sz="1000" dirty="0">
                <a:solidFill>
                  <a:srgbClr val="6B6B6B"/>
                </a:solidFill>
                <a:latin typeface="Meiryo" pitchFamily="34" charset="0"/>
                <a:ea typeface="Meiryo" pitchFamily="34" charset="-122"/>
                <a:cs typeface="Meiryo" pitchFamily="34" charset="-120"/>
              </a:rPr>
              <a:t>03 Strategy Design</a:t>
            </a:r>
            <a:endParaRPr lang="en-US" sz="1000" dirty="0"/>
          </a:p>
        </p:txBody>
      </p:sp>
      <p:sp>
        <p:nvSpPr>
          <p:cNvPr id="3" name="Text 1"/>
          <p:cNvSpPr/>
          <p:nvPr/>
        </p:nvSpPr>
        <p:spPr>
          <a:xfrm>
            <a:off x="502920" y="777240"/>
            <a:ext cx="8138160" cy="457200"/>
          </a:xfrm>
          <a:prstGeom prst="rect">
            <a:avLst/>
          </a:prstGeom>
          <a:noFill/>
          <a:ln/>
        </p:spPr>
        <p:txBody>
          <a:bodyPr wrap="square" rtlCol="0" anchor="ctr"/>
          <a:lstStyle/>
          <a:p>
            <a:pPr indent="0" marL="0">
              <a:buNone/>
            </a:pPr>
            <a:r>
              <a:rPr lang="en-US" sz="2000" b="1" dirty="0">
                <a:solidFill>
                  <a:srgbClr val="1A1A1A"/>
                </a:solidFill>
                <a:latin typeface="Meiryo" pitchFamily="34" charset="0"/>
                <a:ea typeface="Meiryo" pitchFamily="34" charset="-122"/>
                <a:cs typeface="Meiryo" pitchFamily="34" charset="-120"/>
              </a:rPr>
              <a:t>対象読者と優先順位</a:t>
            </a:r>
            <a:endParaRPr lang="en-US" sz="2000" dirty="0"/>
          </a:p>
        </p:txBody>
      </p:sp>
      <p:sp>
        <p:nvSpPr>
          <p:cNvPr id="4" name="Shape 2"/>
          <p:cNvSpPr/>
          <p:nvPr/>
        </p:nvSpPr>
        <p:spPr>
          <a:xfrm>
            <a:off x="502920" y="1280160"/>
            <a:ext cx="8138160" cy="0"/>
          </a:xfrm>
          <a:prstGeom prst="line">
            <a:avLst/>
          </a:prstGeom>
          <a:noFill/>
          <a:ln w="12700">
            <a:solidFill>
              <a:srgbClr val="D5D5D5"/>
            </a:solidFill>
            <a:prstDash val="solid"/>
          </a:ln>
        </p:spPr>
      </p:sp>
      <p:sp>
        <p:nvSpPr>
          <p:cNvPr id="5" name="Text 3"/>
          <p:cNvSpPr/>
          <p:nvPr/>
        </p:nvSpPr>
        <p:spPr>
          <a:xfrm>
            <a:off x="502920" y="1417320"/>
            <a:ext cx="8138160" cy="457200"/>
          </a:xfrm>
          <a:prstGeom prst="rect">
            <a:avLst/>
          </a:prstGeom>
          <a:noFill/>
          <a:ln/>
        </p:spPr>
        <p:txBody>
          <a:bodyPr wrap="square" rtlCol="0" anchor="t"/>
          <a:lstStyle/>
          <a:p>
            <a:pPr indent="0" marL="0">
              <a:buNone/>
            </a:pPr>
            <a:r>
              <a:rPr lang="en-US" sz="1200" dirty="0">
                <a:solidFill>
                  <a:srgbClr val="1A1A1A"/>
                </a:solidFill>
                <a:latin typeface="Meiryo" pitchFamily="34" charset="0"/>
                <a:ea typeface="Meiryo" pitchFamily="34" charset="-122"/>
                <a:cs typeface="Meiryo" pitchFamily="34" charset="-120"/>
              </a:rPr>
              <a:t>限られたページ数で成果を出すため、対象読者に優先順位をつけます。設計16Pの配分もこの順に従います。</a:t>
            </a:r>
            <a:endParaRPr lang="en-US" sz="120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502920" y="1965960"/>
          <a:ext cx="8138160" cy="914400"/>
        </p:xfrm>
        <a:graphic>
          <a:graphicData uri="http://schemas.openxmlformats.org/drawingml/2006/table">
            <a:tbl>
              <a:tblPr/>
              <a:tblGrid>
                <a:gridCol w="2712720"/>
                <a:gridCol w="2712720"/>
                <a:gridCol w="2712720"/>
              </a:tblGrid>
              <a:tr h="0">
                <a:tc>
                  <a:txBody>
                    <a:bodyPr/>
                    <a:lstStyle/>
                    <a:p>
                      <a:pPr indent="0" marL="0">
                        <a:buNone/>
                      </a:pPr>
                      <a:r>
                        <a:rPr lang="en-US" sz="1100" b="1" dirty="0">
                          <a:solidFill>
                            <a:srgbClr val="FFFFFF"/>
                          </a:solidFill>
                          <a:latin typeface="Meiryo" pitchFamily="34" charset="0"/>
                          <a:ea typeface="Meiryo" pitchFamily="34" charset="-122"/>
                          <a:cs typeface="Meiryo" pitchFamily="34" charset="-120"/>
                        </a:rPr>
                        <a:t>優先</a:t>
                      </a:r>
                      <a:endParaRPr lang="en-US" sz="1100" dirty="0">
                        <a:latin typeface="Meiryo" charset="0"/>
                        <a:ea typeface="Meiryo" charset="0"/>
                        <a:cs typeface="Meiryo" charset="0"/>
                      </a:endParaRPr>
                    </a:p>
                  </a:txBody>
                  <a:tcPr marL="91440" marR="91440" marT="45720" marB="45720">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1F3A5F"/>
                    </a:solidFill>
                  </a:tcPr>
                </a:tc>
                <a:tc>
                  <a:txBody>
                    <a:bodyPr/>
                    <a:lstStyle/>
                    <a:p>
                      <a:pPr indent="0" marL="0">
                        <a:buNone/>
                      </a:pPr>
                      <a:r>
                        <a:rPr lang="en-US" sz="1100" b="1" dirty="0">
                          <a:solidFill>
                            <a:srgbClr val="FFFFFF"/>
                          </a:solidFill>
                          <a:latin typeface="Meiryo" pitchFamily="34" charset="0"/>
                          <a:ea typeface="Meiryo" pitchFamily="34" charset="-122"/>
                          <a:cs typeface="Meiryo" pitchFamily="34" charset="-120"/>
                        </a:rPr>
                        <a:t>対象読者</a:t>
                      </a:r>
                      <a:endParaRPr lang="en-US" sz="1100" dirty="0">
                        <a:latin typeface="Meiryo" charset="0"/>
                        <a:ea typeface="Meiryo" charset="0"/>
                        <a:cs typeface="Meiryo" charset="0"/>
                      </a:endParaRPr>
                    </a:p>
                  </a:txBody>
                  <a:tcPr marL="91440" marR="91440" marT="45720" marB="45720">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1F3A5F"/>
                    </a:solidFill>
                  </a:tcPr>
                </a:tc>
                <a:tc>
                  <a:txBody>
                    <a:bodyPr/>
                    <a:lstStyle/>
                    <a:p>
                      <a:pPr indent="0" marL="0">
                        <a:buNone/>
                      </a:pPr>
                      <a:r>
                        <a:rPr lang="en-US" sz="1100" b="1" dirty="0">
                          <a:solidFill>
                            <a:srgbClr val="FFFFFF"/>
                          </a:solidFill>
                          <a:latin typeface="Meiryo" pitchFamily="34" charset="0"/>
                          <a:ea typeface="Meiryo" pitchFamily="34" charset="-122"/>
                          <a:cs typeface="Meiryo" pitchFamily="34" charset="-120"/>
                        </a:rPr>
                        <a:t>そのページで達したいこと</a:t>
                      </a:r>
                      <a:endParaRPr lang="en-US" sz="1100" dirty="0">
                        <a:latin typeface="Meiryo" charset="0"/>
                        <a:ea typeface="Meiryo" charset="0"/>
                        <a:cs typeface="Meiryo" charset="0"/>
                      </a:endParaRPr>
                    </a:p>
                  </a:txBody>
                  <a:tcPr marL="91440" marR="91440" marT="45720" marB="45720">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1F3A5F"/>
                    </a:solidFill>
                  </a:tcPr>
                </a:tc>
              </a:tr>
              <a:tr h="0">
                <a:tc>
                  <a:txBody>
                    <a:bodyPr/>
                    <a:lstStyle/>
                    <a:p>
                      <a:pPr indent="0" marL="0">
                        <a:buNone/>
                      </a:pPr>
                      <a:r>
                        <a:rPr lang="en-US" sz="1100" dirty="0">
                          <a:solidFill>
                            <a:srgbClr val="1A1A1A"/>
                          </a:solidFill>
                          <a:latin typeface="Meiryo" pitchFamily="34" charset="0"/>
                          <a:ea typeface="Meiryo" pitchFamily="34" charset="-122"/>
                          <a:cs typeface="Meiryo" pitchFamily="34" charset="-120"/>
                        </a:rPr>
                        <a:t>1</a:t>
                      </a:r>
                      <a:endParaRPr lang="en-US" sz="1100" dirty="0">
                        <a:latin typeface="Meiryo" charset="0"/>
                        <a:ea typeface="Meiryo" charset="0"/>
                        <a:cs typeface="Meiryo" charset="0"/>
                      </a:endParaRPr>
                    </a:p>
                  </a:txBody>
                  <a:tcPr marL="91440" marR="91440" marT="45720" marB="45720">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tcPr>
                </a:tc>
                <a:tc>
                  <a:txBody>
                    <a:bodyPr/>
                    <a:lstStyle/>
                    <a:p>
                      <a:pPr indent="0" marL="0">
                        <a:buNone/>
                      </a:pPr>
                      <a:r>
                        <a:rPr lang="en-US" sz="1100" dirty="0">
                          <a:solidFill>
                            <a:srgbClr val="1A1A1A"/>
                          </a:solidFill>
                          <a:latin typeface="Meiryo" pitchFamily="34" charset="0"/>
                          <a:ea typeface="Meiryo" pitchFamily="34" charset="-122"/>
                          <a:cs typeface="Meiryo" pitchFamily="34" charset="-120"/>
                        </a:rPr>
                        <a:t>受験生（小学生・中学生）</a:t>
                      </a:r>
                      <a:endParaRPr lang="en-US" sz="1100" dirty="0">
                        <a:latin typeface="Meiryo" charset="0"/>
                        <a:ea typeface="Meiryo" charset="0"/>
                        <a:cs typeface="Meiryo" charset="0"/>
                      </a:endParaRPr>
                    </a:p>
                  </a:txBody>
                  <a:tcPr marL="91440" marR="91440" marT="45720" marB="45720">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tcPr>
                </a:tc>
                <a:tc>
                  <a:txBody>
                    <a:bodyPr/>
                    <a:lstStyle/>
                    <a:p>
                      <a:pPr indent="0" marL="0">
                        <a:buNone/>
                      </a:pPr>
                      <a:r>
                        <a:rPr lang="en-US" sz="1100" dirty="0">
                          <a:solidFill>
                            <a:srgbClr val="1A1A1A"/>
                          </a:solidFill>
                          <a:latin typeface="Meiryo" pitchFamily="34" charset="0"/>
                          <a:ea typeface="Meiryo" pitchFamily="34" charset="-122"/>
                          <a:cs typeface="Meiryo" pitchFamily="34" charset="-120"/>
                        </a:rPr>
                        <a:t>学校の雰囲気とコースの違いが、スマートフォンで短時間に分かること</a:t>
                      </a:r>
                      <a:endParaRPr lang="en-US" sz="1100" dirty="0">
                        <a:latin typeface="Meiryo" charset="0"/>
                        <a:ea typeface="Meiryo" charset="0"/>
                        <a:cs typeface="Meiryo" charset="0"/>
                      </a:endParaRPr>
                    </a:p>
                  </a:txBody>
                  <a:tcPr marL="91440" marR="91440" marT="45720" marB="45720">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tcPr>
                </a:tc>
              </a:tr>
              <a:tr h="0">
                <a:tc>
                  <a:txBody>
                    <a:bodyPr/>
                    <a:lstStyle/>
                    <a:p>
                      <a:pPr indent="0" marL="0">
                        <a:buNone/>
                      </a:pPr>
                      <a:r>
                        <a:rPr lang="en-US" sz="1100" dirty="0">
                          <a:solidFill>
                            <a:srgbClr val="1A1A1A"/>
                          </a:solidFill>
                          <a:latin typeface="Meiryo" pitchFamily="34" charset="0"/>
                          <a:ea typeface="Meiryo" pitchFamily="34" charset="-122"/>
                          <a:cs typeface="Meiryo" pitchFamily="34" charset="-120"/>
                        </a:rPr>
                        <a:t>2</a:t>
                      </a:r>
                      <a:endParaRPr lang="en-US" sz="1100" dirty="0">
                        <a:latin typeface="Meiryo" charset="0"/>
                        <a:ea typeface="Meiryo" charset="0"/>
                        <a:cs typeface="Meiryo" charset="0"/>
                      </a:endParaRPr>
                    </a:p>
                  </a:txBody>
                  <a:tcPr marL="91440" marR="91440" marT="45720" marB="45720">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tcPr>
                </a:tc>
                <a:tc>
                  <a:txBody>
                    <a:bodyPr/>
                    <a:lstStyle/>
                    <a:p>
                      <a:pPr indent="0" marL="0">
                        <a:buNone/>
                      </a:pPr>
                      <a:r>
                        <a:rPr lang="en-US" sz="1100" dirty="0">
                          <a:solidFill>
                            <a:srgbClr val="1A1A1A"/>
                          </a:solidFill>
                          <a:latin typeface="Meiryo" pitchFamily="34" charset="0"/>
                          <a:ea typeface="Meiryo" pitchFamily="34" charset="-122"/>
                          <a:cs typeface="Meiryo" pitchFamily="34" charset="-120"/>
                        </a:rPr>
                        <a:t>受験生の保護者</a:t>
                      </a:r>
                      <a:endParaRPr lang="en-US" sz="1100" dirty="0">
                        <a:latin typeface="Meiryo" charset="0"/>
                        <a:ea typeface="Meiryo" charset="0"/>
                        <a:cs typeface="Meiryo" charset="0"/>
                      </a:endParaRPr>
                    </a:p>
                  </a:txBody>
                  <a:tcPr marL="91440" marR="91440" marT="45720" marB="45720">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tcPr>
                </a:tc>
                <a:tc>
                  <a:txBody>
                    <a:bodyPr/>
                    <a:lstStyle/>
                    <a:p>
                      <a:pPr indent="0" marL="0">
                        <a:buNone/>
                      </a:pPr>
                      <a:r>
                        <a:rPr lang="en-US" sz="1100" dirty="0">
                          <a:solidFill>
                            <a:srgbClr val="1A1A1A"/>
                          </a:solidFill>
                          <a:latin typeface="Meiryo" pitchFamily="34" charset="0"/>
                          <a:ea typeface="Meiryo" pitchFamily="34" charset="-122"/>
                          <a:cs typeface="Meiryo" pitchFamily="34" charset="-120"/>
                        </a:rPr>
                        <a:t>入試要項・説明会日程・進学実績に、探さずに到達できること</a:t>
                      </a:r>
                      <a:endParaRPr lang="en-US" sz="1100" dirty="0">
                        <a:latin typeface="Meiryo" charset="0"/>
                        <a:ea typeface="Meiryo" charset="0"/>
                        <a:cs typeface="Meiryo" charset="0"/>
                      </a:endParaRPr>
                    </a:p>
                  </a:txBody>
                  <a:tcPr marL="91440" marR="91440" marT="45720" marB="45720">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tcPr>
                </a:tc>
              </a:tr>
              <a:tr h="0">
                <a:tc>
                  <a:txBody>
                    <a:bodyPr/>
                    <a:lstStyle/>
                    <a:p>
                      <a:pPr indent="0" marL="0">
                        <a:buNone/>
                      </a:pPr>
                      <a:r>
                        <a:rPr lang="en-US" sz="1100" dirty="0">
                          <a:solidFill>
                            <a:srgbClr val="1A1A1A"/>
                          </a:solidFill>
                          <a:latin typeface="Meiryo" pitchFamily="34" charset="0"/>
                          <a:ea typeface="Meiryo" pitchFamily="34" charset="-122"/>
                          <a:cs typeface="Meiryo" pitchFamily="34" charset="-120"/>
                        </a:rPr>
                        <a:t>3</a:t>
                      </a:r>
                      <a:endParaRPr lang="en-US" sz="1100" dirty="0">
                        <a:latin typeface="Meiryo" charset="0"/>
                        <a:ea typeface="Meiryo" charset="0"/>
                        <a:cs typeface="Meiryo" charset="0"/>
                      </a:endParaRPr>
                    </a:p>
                  </a:txBody>
                  <a:tcPr marL="91440" marR="91440" marT="45720" marB="45720">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tcPr>
                </a:tc>
                <a:tc>
                  <a:txBody>
                    <a:bodyPr/>
                    <a:lstStyle/>
                    <a:p>
                      <a:pPr indent="0" marL="0">
                        <a:buNone/>
                      </a:pPr>
                      <a:r>
                        <a:rPr lang="en-US" sz="1100" dirty="0">
                          <a:solidFill>
                            <a:srgbClr val="1A1A1A"/>
                          </a:solidFill>
                          <a:latin typeface="Meiryo" pitchFamily="34" charset="0"/>
                          <a:ea typeface="Meiryo" pitchFamily="34" charset="-122"/>
                          <a:cs typeface="Meiryo" pitchFamily="34" charset="-120"/>
                        </a:rPr>
                        <a:t>在校生の保護者</a:t>
                      </a:r>
                      <a:endParaRPr lang="en-US" sz="1100" dirty="0">
                        <a:latin typeface="Meiryo" charset="0"/>
                        <a:ea typeface="Meiryo" charset="0"/>
                        <a:cs typeface="Meiryo" charset="0"/>
                      </a:endParaRPr>
                    </a:p>
                  </a:txBody>
                  <a:tcPr marL="91440" marR="91440" marT="45720" marB="45720">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tcPr>
                </a:tc>
                <a:tc>
                  <a:txBody>
                    <a:bodyPr/>
                    <a:lstStyle/>
                    <a:p>
                      <a:pPr indent="0" marL="0">
                        <a:buNone/>
                      </a:pPr>
                      <a:r>
                        <a:rPr lang="en-US" sz="1100" dirty="0">
                          <a:solidFill>
                            <a:srgbClr val="1A1A1A"/>
                          </a:solidFill>
                          <a:latin typeface="Meiryo" pitchFamily="34" charset="0"/>
                          <a:ea typeface="Meiryo" pitchFamily="34" charset="-122"/>
                          <a:cs typeface="Meiryo" pitchFamily="34" charset="-120"/>
                        </a:rPr>
                        <a:t>行事・部活動・連絡事項を、日常的に確認できること</a:t>
                      </a:r>
                      <a:endParaRPr lang="en-US" sz="1100" dirty="0">
                        <a:latin typeface="Meiryo" charset="0"/>
                        <a:ea typeface="Meiryo" charset="0"/>
                        <a:cs typeface="Meiryo" charset="0"/>
                      </a:endParaRPr>
                    </a:p>
                  </a:txBody>
                  <a:tcPr marL="91440" marR="91440" marT="45720" marB="45720">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tcPr>
                </a:tc>
              </a:tr>
              <a:tr h="0">
                <a:tc>
                  <a:txBody>
                    <a:bodyPr/>
                    <a:lstStyle/>
                    <a:p>
                      <a:pPr indent="0" marL="0">
                        <a:buNone/>
                      </a:pPr>
                      <a:r>
                        <a:rPr lang="en-US" sz="1100" dirty="0">
                          <a:solidFill>
                            <a:srgbClr val="1A1A1A"/>
                          </a:solidFill>
                          <a:latin typeface="Meiryo" pitchFamily="34" charset="0"/>
                          <a:ea typeface="Meiryo" pitchFamily="34" charset="-122"/>
                          <a:cs typeface="Meiryo" pitchFamily="34" charset="-120"/>
                        </a:rPr>
                        <a:t>4</a:t>
                      </a:r>
                      <a:endParaRPr lang="en-US" sz="1100" dirty="0">
                        <a:latin typeface="Meiryo" charset="0"/>
                        <a:ea typeface="Meiryo" charset="0"/>
                        <a:cs typeface="Meiryo" charset="0"/>
                      </a:endParaRPr>
                    </a:p>
                  </a:txBody>
                  <a:tcPr marL="91440" marR="91440" marT="45720" marB="45720">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tcPr>
                </a:tc>
                <a:tc>
                  <a:txBody>
                    <a:bodyPr/>
                    <a:lstStyle/>
                    <a:p>
                      <a:pPr indent="0" marL="0">
                        <a:buNone/>
                      </a:pPr>
                      <a:r>
                        <a:rPr lang="en-US" sz="1100" dirty="0">
                          <a:solidFill>
                            <a:srgbClr val="1A1A1A"/>
                          </a:solidFill>
                          <a:latin typeface="Meiryo" pitchFamily="34" charset="0"/>
                          <a:ea typeface="Meiryo" pitchFamily="34" charset="-122"/>
                          <a:cs typeface="Meiryo" pitchFamily="34" charset="-120"/>
                        </a:rPr>
                        <a:t>卒業生・ご寄付をお考えの方</a:t>
                      </a:r>
                      <a:endParaRPr lang="en-US" sz="1100" dirty="0">
                        <a:latin typeface="Meiryo" charset="0"/>
                        <a:ea typeface="Meiryo" charset="0"/>
                        <a:cs typeface="Meiryo" charset="0"/>
                      </a:endParaRPr>
                    </a:p>
                  </a:txBody>
                  <a:tcPr marL="91440" marR="91440" marT="45720" marB="45720">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tcPr>
                </a:tc>
                <a:tc>
                  <a:txBody>
                    <a:bodyPr/>
                    <a:lstStyle/>
                    <a:p>
                      <a:pPr indent="0" marL="0">
                        <a:buNone/>
                      </a:pPr>
                      <a:r>
                        <a:rPr lang="en-US" sz="1100" dirty="0">
                          <a:solidFill>
                            <a:srgbClr val="1A1A1A"/>
                          </a:solidFill>
                          <a:latin typeface="Meiryo" pitchFamily="34" charset="0"/>
                          <a:ea typeface="Meiryo" pitchFamily="34" charset="-122"/>
                          <a:cs typeface="Meiryo" pitchFamily="34" charset="-120"/>
                        </a:rPr>
                        <a:t>同窓・寄付の導線が明示されていること</a:t>
                      </a:r>
                      <a:endParaRPr lang="en-US" sz="1100" dirty="0">
                        <a:latin typeface="Meiryo" charset="0"/>
                        <a:ea typeface="Meiryo" charset="0"/>
                        <a:cs typeface="Meiryo" charset="0"/>
                      </a:endParaRPr>
                    </a:p>
                  </a:txBody>
                  <a:tcPr marL="91440" marR="91440" marT="45720" marB="45720">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tcPr>
                </a:tc>
              </a:tr>
              <a:tr h="0">
                <a:tc>
                  <a:txBody>
                    <a:bodyPr/>
                    <a:lstStyle/>
                    <a:p>
                      <a:pPr indent="0" marL="0">
                        <a:buNone/>
                      </a:pPr>
                      <a:r>
                        <a:rPr lang="en-US" sz="1100" dirty="0">
                          <a:solidFill>
                            <a:srgbClr val="1A1A1A"/>
                          </a:solidFill>
                          <a:latin typeface="Meiryo" pitchFamily="34" charset="0"/>
                          <a:ea typeface="Meiryo" pitchFamily="34" charset="-122"/>
                          <a:cs typeface="Meiryo" pitchFamily="34" charset="-120"/>
                        </a:rPr>
                        <a:t>5</a:t>
                      </a:r>
                      <a:endParaRPr lang="en-US" sz="1100" dirty="0">
                        <a:latin typeface="Meiryo" charset="0"/>
                        <a:ea typeface="Meiryo" charset="0"/>
                        <a:cs typeface="Meiryo" charset="0"/>
                      </a:endParaRPr>
                    </a:p>
                  </a:txBody>
                  <a:tcPr marL="91440" marR="91440" marT="45720" marB="45720">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tcPr>
                </a:tc>
                <a:tc>
                  <a:txBody>
                    <a:bodyPr/>
                    <a:lstStyle/>
                    <a:p>
                      <a:pPr indent="0" marL="0">
                        <a:buNone/>
                      </a:pPr>
                      <a:r>
                        <a:rPr lang="en-US" sz="1100" dirty="0">
                          <a:solidFill>
                            <a:srgbClr val="1A1A1A"/>
                          </a:solidFill>
                          <a:latin typeface="Meiryo" pitchFamily="34" charset="0"/>
                          <a:ea typeface="Meiryo" pitchFamily="34" charset="-122"/>
                          <a:cs typeface="Meiryo" pitchFamily="34" charset="-120"/>
                        </a:rPr>
                        <a:t>教職員採用の応募者</a:t>
                      </a:r>
                      <a:endParaRPr lang="en-US" sz="1100" dirty="0">
                        <a:latin typeface="Meiryo" charset="0"/>
                        <a:ea typeface="Meiryo" charset="0"/>
                        <a:cs typeface="Meiryo" charset="0"/>
                      </a:endParaRPr>
                    </a:p>
                  </a:txBody>
                  <a:tcPr marL="91440" marR="91440" marT="45720" marB="45720">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tcPr>
                </a:tc>
                <a:tc>
                  <a:txBody>
                    <a:bodyPr/>
                    <a:lstStyle/>
                    <a:p>
                      <a:pPr indent="0" marL="0">
                        <a:buNone/>
                      </a:pPr>
                      <a:r>
                        <a:rPr lang="en-US" sz="1100" dirty="0">
                          <a:solidFill>
                            <a:srgbClr val="1A1A1A"/>
                          </a:solidFill>
                          <a:latin typeface="Meiryo" pitchFamily="34" charset="0"/>
                          <a:ea typeface="Meiryo" pitchFamily="34" charset="-122"/>
                          <a:cs typeface="Meiryo" pitchFamily="34" charset="-120"/>
                        </a:rPr>
                        <a:t>募集要項に到達できること</a:t>
                      </a:r>
                      <a:endParaRPr lang="en-US" sz="1100" dirty="0">
                        <a:latin typeface="Meiryo" charset="0"/>
                        <a:ea typeface="Meiryo" charset="0"/>
                        <a:cs typeface="Meiryo" charset="0"/>
                      </a:endParaRPr>
                    </a:p>
                  </a:txBody>
                  <a:tcPr marL="91440" marR="91440" marT="45720" marB="45720">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tcPr>
                </a:tc>
              </a:tr>
            </a:tbl>
          </a:graphicData>
        </a:graphic>
      </p:graphicFrame>
      <p:sp>
        <p:nvSpPr>
          <p:cNvPr id="7" name="Text 4"/>
          <p:cNvSpPr/>
          <p:nvPr/>
        </p:nvSpPr>
        <p:spPr>
          <a:xfrm>
            <a:off x="502920" y="4759452"/>
            <a:ext cx="6949440" cy="228600"/>
          </a:xfrm>
          <a:prstGeom prst="rect">
            <a:avLst/>
          </a:prstGeom>
          <a:noFill/>
          <a:ln/>
        </p:spPr>
        <p:txBody>
          <a:bodyPr wrap="square" rtlCol="0" anchor="ctr"/>
          <a:lstStyle/>
          <a:p>
            <a:pPr indent="0" marL="0">
              <a:buNone/>
            </a:pPr>
            <a:r>
              <a:rPr lang="en-US" sz="900" dirty="0">
                <a:solidFill>
                  <a:srgbClr val="6B6B6B"/>
                </a:solidFill>
                <a:latin typeface="Meiryo" pitchFamily="34" charset="0"/>
                <a:ea typeface="Meiryo" pitchFamily="34" charset="-122"/>
                <a:cs typeface="Meiryo" pitchFamily="34" charset="-120"/>
              </a:rPr>
              <a:t>出典: projects/johoku-saitama/research/brief.md（2026-07-03 ヒアリング・Backlog GG_ORDER-4733）</a:t>
            </a:r>
            <a:endParaRPr lang="en-US" sz="900" dirty="0"/>
          </a:p>
        </p:txBody>
      </p:sp>
      <p:sp>
        <p:nvSpPr>
          <p:cNvPr id="8" name="Text 5"/>
          <p:cNvSpPr/>
          <p:nvPr/>
        </p:nvSpPr>
        <p:spPr>
          <a:xfrm>
            <a:off x="7543800" y="4759452"/>
            <a:ext cx="1097280" cy="228600"/>
          </a:xfrm>
          <a:prstGeom prst="rect">
            <a:avLst/>
          </a:prstGeom>
          <a:noFill/>
          <a:ln/>
        </p:spPr>
        <p:txBody>
          <a:bodyPr wrap="square" rtlCol="0" anchor="ctr"/>
          <a:lstStyle/>
          <a:p>
            <a:pPr algn="r" indent="0" marL="0">
              <a:buNone/>
            </a:pPr>
            <a:r>
              <a:rPr lang="en-US" sz="900" dirty="0">
                <a:solidFill>
                  <a:srgbClr val="6B6B6B"/>
                </a:solidFill>
                <a:latin typeface="Meiryo" pitchFamily="34" charset="0"/>
                <a:ea typeface="Meiryo" pitchFamily="34" charset="-122"/>
                <a:cs typeface="Meiryo" pitchFamily="34" charset="-120"/>
              </a:rPr>
              <a:t>20|82</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502920" y="502920"/>
            <a:ext cx="8138160" cy="228600"/>
          </a:xfrm>
          <a:prstGeom prst="rect">
            <a:avLst/>
          </a:prstGeom>
          <a:noFill/>
          <a:ln/>
        </p:spPr>
        <p:txBody>
          <a:bodyPr wrap="square" rtlCol="0" anchor="ctr"/>
          <a:lstStyle/>
          <a:p>
            <a:pPr indent="0" marL="0">
              <a:buNone/>
            </a:pPr>
            <a:r>
              <a:rPr lang="en-US" sz="1000" dirty="0">
                <a:solidFill>
                  <a:srgbClr val="6B6B6B"/>
                </a:solidFill>
                <a:latin typeface="Meiryo" pitchFamily="34" charset="0"/>
                <a:ea typeface="Meiryo" pitchFamily="34" charset="-122"/>
                <a:cs typeface="Meiryo" pitchFamily="34" charset="-120"/>
              </a:rPr>
              <a:t>03 Strategy Design</a:t>
            </a:r>
            <a:endParaRPr lang="en-US" sz="1000" dirty="0"/>
          </a:p>
        </p:txBody>
      </p:sp>
      <p:sp>
        <p:nvSpPr>
          <p:cNvPr id="3" name="Text 1"/>
          <p:cNvSpPr/>
          <p:nvPr/>
        </p:nvSpPr>
        <p:spPr>
          <a:xfrm>
            <a:off x="502920" y="777240"/>
            <a:ext cx="8138160" cy="457200"/>
          </a:xfrm>
          <a:prstGeom prst="rect">
            <a:avLst/>
          </a:prstGeom>
          <a:noFill/>
          <a:ln/>
        </p:spPr>
        <p:txBody>
          <a:bodyPr wrap="square" rtlCol="0" anchor="ctr"/>
          <a:lstStyle/>
          <a:p>
            <a:pPr indent="0" marL="0">
              <a:buNone/>
            </a:pPr>
            <a:r>
              <a:rPr lang="en-US" sz="2000" b="1" dirty="0">
                <a:solidFill>
                  <a:srgbClr val="1A1A1A"/>
                </a:solidFill>
                <a:latin typeface="Meiryo" pitchFamily="34" charset="0"/>
                <a:ea typeface="Meiryo" pitchFamily="34" charset="-122"/>
                <a:cs typeface="Meiryo" pitchFamily="34" charset="-120"/>
              </a:rPr>
              <a:t>論点01への打ち手：スマートフォンを基準に設計します</a:t>
            </a:r>
            <a:endParaRPr lang="en-US" sz="2000" dirty="0"/>
          </a:p>
        </p:txBody>
      </p:sp>
      <p:sp>
        <p:nvSpPr>
          <p:cNvPr id="4" name="Shape 2"/>
          <p:cNvSpPr/>
          <p:nvPr/>
        </p:nvSpPr>
        <p:spPr>
          <a:xfrm>
            <a:off x="502920" y="1280160"/>
            <a:ext cx="8138160" cy="0"/>
          </a:xfrm>
          <a:prstGeom prst="line">
            <a:avLst/>
          </a:prstGeom>
          <a:noFill/>
          <a:ln w="12700">
            <a:solidFill>
              <a:srgbClr val="D5D5D5"/>
            </a:solidFill>
            <a:prstDash val="solid"/>
          </a:ln>
        </p:spPr>
      </p:sp>
      <p:sp>
        <p:nvSpPr>
          <p:cNvPr id="5" name="Text 3"/>
          <p:cNvSpPr/>
          <p:nvPr/>
        </p:nvSpPr>
        <p:spPr>
          <a:xfrm>
            <a:off x="502920" y="1417320"/>
            <a:ext cx="8138160" cy="457200"/>
          </a:xfrm>
          <a:prstGeom prst="rect">
            <a:avLst/>
          </a:prstGeom>
          <a:noFill/>
          <a:ln/>
        </p:spPr>
        <p:txBody>
          <a:bodyPr wrap="square" rtlCol="0" anchor="t"/>
          <a:lstStyle/>
          <a:p>
            <a:pPr indent="0" marL="0">
              <a:buNone/>
            </a:pPr>
            <a:r>
              <a:rPr lang="en-US" sz="1200" dirty="0">
                <a:solidFill>
                  <a:srgbClr val="1A1A1A"/>
                </a:solidFill>
                <a:latin typeface="Meiryo" pitchFamily="34" charset="0"/>
                <a:ea typeface="Meiryo" pitchFamily="34" charset="-122"/>
                <a:cs typeface="Meiryo" pitchFamily="34" charset="-120"/>
              </a:rPr>
              <a:t>現行はPCを前提とした情報量です。これを反転させ、スマートフォンで見たときに成立する情報量を基準にします。</a:t>
            </a:r>
            <a:endParaRPr lang="en-US" sz="1200" dirty="0"/>
          </a:p>
        </p:txBody>
      </p:sp>
      <p:sp>
        <p:nvSpPr>
          <p:cNvPr id="6" name="Text 4"/>
          <p:cNvSpPr/>
          <p:nvPr/>
        </p:nvSpPr>
        <p:spPr>
          <a:xfrm>
            <a:off x="502920" y="1965960"/>
            <a:ext cx="8138160" cy="2628900"/>
          </a:xfrm>
          <a:prstGeom prst="rect">
            <a:avLst/>
          </a:prstGeom>
          <a:noFill/>
          <a:ln/>
        </p:spPr>
        <p:txBody>
          <a:bodyPr wrap="square" rtlCol="0" anchor="t"/>
          <a:lstStyle/>
          <a:p>
            <a:pPr marL="342900" indent="-342900">
              <a:lnSpc>
                <a:spcPct val="130000"/>
              </a:lnSpc>
              <a:buSzPct val="100000"/>
              <a:buChar char="•"/>
            </a:pPr>
            <a:r>
              <a:rPr lang="en-US" sz="1300" dirty="0">
                <a:solidFill>
                  <a:srgbClr val="1A1A1A"/>
                </a:solidFill>
                <a:latin typeface="Meiryo" pitchFamily="34" charset="0"/>
                <a:ea typeface="Meiryo" pitchFamily="34" charset="-122"/>
                <a:cs typeface="Meiryo" pitchFamily="34" charset="-120"/>
              </a:rPr>
              <a:t>情報量: 1ページあたりの要素を絞り、PCではなくスマートフォンを基準に決めます</a:t>
            </a:r>
            <a:endParaRPr lang="en-US" sz="1300" dirty="0"/>
          </a:p>
          <a:p>
            <a:pPr marL="342900" indent="-342900">
              <a:lnSpc>
                <a:spcPct val="130000"/>
              </a:lnSpc>
              <a:buSzPct val="100000"/>
              <a:buChar char="•"/>
            </a:pPr>
            <a:r>
              <a:rPr lang="en-US" sz="1300" dirty="0">
                <a:solidFill>
                  <a:srgbClr val="1A1A1A"/>
                </a:solidFill>
                <a:latin typeface="Meiryo" pitchFamily="34" charset="0"/>
                <a:ea typeface="Meiryo" pitchFamily="34" charset="-122"/>
                <a:cs typeface="Meiryo" pitchFamily="34" charset="-120"/>
              </a:rPr>
              <a:t>導線: 受験生と保護者で入口を分け、トップからの到達段数を浅くします</a:t>
            </a:r>
            <a:endParaRPr lang="en-US" sz="1300" dirty="0"/>
          </a:p>
          <a:p>
            <a:pPr marL="342900" indent="-342900">
              <a:lnSpc>
                <a:spcPct val="130000"/>
              </a:lnSpc>
              <a:buSzPct val="100000"/>
              <a:buChar char="•"/>
            </a:pPr>
            <a:r>
              <a:rPr lang="en-US" sz="1300" dirty="0">
                <a:solidFill>
                  <a:srgbClr val="1A1A1A"/>
                </a:solidFill>
                <a:latin typeface="Meiryo" pitchFamily="34" charset="0"/>
                <a:ea typeface="Meiryo" pitchFamily="34" charset="-122"/>
                <a:cs typeface="Meiryo" pitchFamily="34" charset="-120"/>
              </a:rPr>
              <a:t>CTA: 資料請求・説明会申込を常時到達可能にします（現行は旧ナビの不具合で壊れています）</a:t>
            </a:r>
            <a:endParaRPr lang="en-US" sz="1300" dirty="0"/>
          </a:p>
          <a:p>
            <a:pPr marL="342900" indent="-342900">
              <a:lnSpc>
                <a:spcPct val="130000"/>
              </a:lnSpc>
              <a:buSzPct val="100000"/>
              <a:buChar char="•"/>
            </a:pPr>
            <a:r>
              <a:rPr lang="en-US" sz="1300" dirty="0">
                <a:solidFill>
                  <a:srgbClr val="1A1A1A"/>
                </a:solidFill>
                <a:latin typeface="Meiryo" pitchFamily="34" charset="0"/>
                <a:ea typeface="Meiryo" pitchFamily="34" charset="-122"/>
                <a:cs typeface="Meiryo" pitchFamily="34" charset="-120"/>
              </a:rPr>
              <a:t>検証: 公開前に実機で主要導線を確認します</a:t>
            </a:r>
            <a:endParaRPr lang="en-US" sz="1300" dirty="0"/>
          </a:p>
          <a:p>
            <a:pPr marL="342900" indent="-342900">
              <a:lnSpc>
                <a:spcPct val="130000"/>
              </a:lnSpc>
              <a:buSzPct val="100000"/>
              <a:buChar char="•"/>
            </a:pPr>
            <a:r>
              <a:rPr lang="en-US" sz="1300" dirty="0">
                <a:solidFill>
                  <a:srgbClr val="1A1A1A"/>
                </a:solidFill>
                <a:latin typeface="Meiryo" pitchFamily="34" charset="0"/>
                <a:ea typeface="Meiryo" pitchFamily="34" charset="-122"/>
                <a:cs typeface="Meiryo" pitchFamily="34" charset="-120"/>
              </a:rPr>
              <a:t>該当章: 02章（現状）・05章（URL設計）</a:t>
            </a:r>
            <a:endParaRPr lang="en-US" sz="1300" dirty="0"/>
          </a:p>
        </p:txBody>
      </p:sp>
      <p:sp>
        <p:nvSpPr>
          <p:cNvPr id="7" name="Text 5"/>
          <p:cNvSpPr/>
          <p:nvPr/>
        </p:nvSpPr>
        <p:spPr>
          <a:xfrm>
            <a:off x="7543800" y="4759452"/>
            <a:ext cx="1097280" cy="228600"/>
          </a:xfrm>
          <a:prstGeom prst="rect">
            <a:avLst/>
          </a:prstGeom>
          <a:noFill/>
          <a:ln/>
        </p:spPr>
        <p:txBody>
          <a:bodyPr wrap="square" rtlCol="0" anchor="ctr"/>
          <a:lstStyle/>
          <a:p>
            <a:pPr algn="r" indent="0" marL="0">
              <a:buNone/>
            </a:pPr>
            <a:r>
              <a:rPr lang="en-US" sz="900" dirty="0">
                <a:solidFill>
                  <a:srgbClr val="6B6B6B"/>
                </a:solidFill>
                <a:latin typeface="Meiryo" pitchFamily="34" charset="0"/>
                <a:ea typeface="Meiryo" pitchFamily="34" charset="-122"/>
                <a:cs typeface="Meiryo" pitchFamily="34" charset="-120"/>
              </a:rPr>
              <a:t>21|82</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502920" y="502920"/>
            <a:ext cx="8138160" cy="228600"/>
          </a:xfrm>
          <a:prstGeom prst="rect">
            <a:avLst/>
          </a:prstGeom>
          <a:noFill/>
          <a:ln/>
        </p:spPr>
        <p:txBody>
          <a:bodyPr wrap="square" rtlCol="0" anchor="ctr"/>
          <a:lstStyle/>
          <a:p>
            <a:pPr indent="0" marL="0">
              <a:buNone/>
            </a:pPr>
            <a:r>
              <a:rPr lang="en-US" sz="1000" dirty="0">
                <a:solidFill>
                  <a:srgbClr val="6B6B6B"/>
                </a:solidFill>
                <a:latin typeface="Meiryo" pitchFamily="34" charset="0"/>
                <a:ea typeface="Meiryo" pitchFamily="34" charset="-122"/>
                <a:cs typeface="Meiryo" pitchFamily="34" charset="-120"/>
              </a:rPr>
              <a:t>03 Strategy Design</a:t>
            </a:r>
            <a:endParaRPr lang="en-US" sz="1000" dirty="0"/>
          </a:p>
        </p:txBody>
      </p:sp>
      <p:sp>
        <p:nvSpPr>
          <p:cNvPr id="3" name="Text 1"/>
          <p:cNvSpPr/>
          <p:nvPr/>
        </p:nvSpPr>
        <p:spPr>
          <a:xfrm>
            <a:off x="502920" y="777240"/>
            <a:ext cx="8138160" cy="457200"/>
          </a:xfrm>
          <a:prstGeom prst="rect">
            <a:avLst/>
          </a:prstGeom>
          <a:noFill/>
          <a:ln/>
        </p:spPr>
        <p:txBody>
          <a:bodyPr wrap="square" rtlCol="0" anchor="ctr"/>
          <a:lstStyle/>
          <a:p>
            <a:pPr indent="0" marL="0">
              <a:buNone/>
            </a:pPr>
            <a:r>
              <a:rPr lang="en-US" sz="2000" b="1" dirty="0">
                <a:solidFill>
                  <a:srgbClr val="1A1A1A"/>
                </a:solidFill>
                <a:latin typeface="Meiryo" pitchFamily="34" charset="0"/>
                <a:ea typeface="Meiryo" pitchFamily="34" charset="-122"/>
                <a:cs typeface="Meiryo" pitchFamily="34" charset="-120"/>
              </a:rPr>
              <a:t>論点02への打ち手：最新の姿を、探さずに受け取れるようにします</a:t>
            </a:r>
            <a:endParaRPr lang="en-US" sz="2000" dirty="0"/>
          </a:p>
        </p:txBody>
      </p:sp>
      <p:sp>
        <p:nvSpPr>
          <p:cNvPr id="4" name="Shape 2"/>
          <p:cNvSpPr/>
          <p:nvPr/>
        </p:nvSpPr>
        <p:spPr>
          <a:xfrm>
            <a:off x="502920" y="1280160"/>
            <a:ext cx="8138160" cy="0"/>
          </a:xfrm>
          <a:prstGeom prst="line">
            <a:avLst/>
          </a:prstGeom>
          <a:noFill/>
          <a:ln w="12700">
            <a:solidFill>
              <a:srgbClr val="D5D5D5"/>
            </a:solidFill>
            <a:prstDash val="solid"/>
          </a:ln>
        </p:spPr>
      </p:sp>
      <p:sp>
        <p:nvSpPr>
          <p:cNvPr id="5" name="Text 3"/>
          <p:cNvSpPr/>
          <p:nvPr/>
        </p:nvSpPr>
        <p:spPr>
          <a:xfrm>
            <a:off x="502920" y="1417320"/>
            <a:ext cx="8138160" cy="457200"/>
          </a:xfrm>
          <a:prstGeom prst="rect">
            <a:avLst/>
          </a:prstGeom>
          <a:noFill/>
          <a:ln/>
        </p:spPr>
        <p:txBody>
          <a:bodyPr wrap="square" rtlCol="0" anchor="t"/>
          <a:lstStyle/>
          <a:p>
            <a:pPr indent="0" marL="0">
              <a:buNone/>
            </a:pPr>
            <a:r>
              <a:rPr lang="en-US" sz="1200" dirty="0">
                <a:solidFill>
                  <a:srgbClr val="1A1A1A"/>
                </a:solidFill>
                <a:latin typeface="Meiryo" pitchFamily="34" charset="0"/>
                <a:ea typeface="Meiryo" pitchFamily="34" charset="-122"/>
                <a:cs typeface="Meiryo" pitchFamily="34" charset="-120"/>
              </a:rPr>
              <a:t>喫緊とお聞きしている入試要項とフロンティアコースを、毎年更新が回る作りにします。</a:t>
            </a:r>
            <a:endParaRPr lang="en-US" sz="1200" dirty="0"/>
          </a:p>
        </p:txBody>
      </p:sp>
      <p:sp>
        <p:nvSpPr>
          <p:cNvPr id="6" name="Text 4"/>
          <p:cNvSpPr/>
          <p:nvPr/>
        </p:nvSpPr>
        <p:spPr>
          <a:xfrm>
            <a:off x="502920" y="1965960"/>
            <a:ext cx="8138160" cy="2628900"/>
          </a:xfrm>
          <a:prstGeom prst="rect">
            <a:avLst/>
          </a:prstGeom>
          <a:noFill/>
          <a:ln/>
        </p:spPr>
        <p:txBody>
          <a:bodyPr wrap="square" rtlCol="0" anchor="t"/>
          <a:lstStyle/>
          <a:p>
            <a:pPr marL="342900" indent="-342900">
              <a:lnSpc>
                <a:spcPct val="130000"/>
              </a:lnSpc>
              <a:buSzPct val="100000"/>
              <a:buChar char="•"/>
            </a:pPr>
            <a:r>
              <a:rPr lang="en-US" sz="1300" dirty="0">
                <a:solidFill>
                  <a:srgbClr val="1A1A1A"/>
                </a:solidFill>
                <a:latin typeface="Meiryo" pitchFamily="34" charset="0"/>
                <a:ea typeface="Meiryo" pitchFamily="34" charset="-122"/>
                <a:cs typeface="Meiryo" pitchFamily="34" charset="-120"/>
              </a:rPr>
              <a:t>入試要項: PDFの添付ではなくページとして持ち、年度切り替えを前提に項目化します</a:t>
            </a:r>
            <a:endParaRPr lang="en-US" sz="1300" dirty="0"/>
          </a:p>
          <a:p>
            <a:pPr marL="342900" indent="-342900">
              <a:lnSpc>
                <a:spcPct val="130000"/>
              </a:lnSpc>
              <a:buSzPct val="100000"/>
              <a:buChar char="•"/>
            </a:pPr>
            <a:r>
              <a:rPr lang="en-US" sz="1300" dirty="0">
                <a:solidFill>
                  <a:srgbClr val="1A1A1A"/>
                </a:solidFill>
                <a:latin typeface="Meiryo" pitchFamily="34" charset="0"/>
                <a:ea typeface="Meiryo" pitchFamily="34" charset="-122"/>
                <a:cs typeface="Meiryo" pitchFamily="34" charset="-120"/>
              </a:rPr>
              <a:t>フロンティアコース: 探究・PBLの内容を、活動単位で更新できる形にします</a:t>
            </a:r>
            <a:endParaRPr lang="en-US" sz="1300" dirty="0"/>
          </a:p>
          <a:p>
            <a:pPr marL="342900" indent="-342900">
              <a:lnSpc>
                <a:spcPct val="130000"/>
              </a:lnSpc>
              <a:buSzPct val="100000"/>
              <a:buChar char="•"/>
            </a:pPr>
            <a:r>
              <a:rPr lang="en-US" sz="1300" dirty="0">
                <a:solidFill>
                  <a:srgbClr val="1A1A1A"/>
                </a:solidFill>
                <a:latin typeface="Meiryo" pitchFamily="34" charset="0"/>
                <a:ea typeface="Meiryo" pitchFamily="34" charset="-122"/>
                <a:cs typeface="Meiryo" pitchFamily="34" charset="-120"/>
              </a:rPr>
              <a:t>PDF: 一次情報はHTML、配布・印刷が要るものだけPDFを併置します</a:t>
            </a:r>
            <a:endParaRPr lang="en-US" sz="1300" dirty="0"/>
          </a:p>
          <a:p>
            <a:pPr marL="342900" indent="-342900">
              <a:lnSpc>
                <a:spcPct val="130000"/>
              </a:lnSpc>
              <a:buSzPct val="100000"/>
              <a:buChar char="•"/>
            </a:pPr>
            <a:r>
              <a:rPr lang="en-US" sz="1300" dirty="0">
                <a:solidFill>
                  <a:srgbClr val="1A1A1A"/>
                </a:solidFill>
                <a:latin typeface="Meiryo" pitchFamily="34" charset="0"/>
                <a:ea typeface="Meiryo" pitchFamily="34" charset="-122"/>
                <a:cs typeface="Meiryo" pitchFamily="34" charset="-120"/>
              </a:rPr>
              <a:t>更新情報: 学部区分とコース区分の二重導線を整理し、1本にまとめます</a:t>
            </a:r>
            <a:endParaRPr lang="en-US" sz="1300" dirty="0"/>
          </a:p>
          <a:p>
            <a:pPr marL="342900" indent="-342900">
              <a:lnSpc>
                <a:spcPct val="130000"/>
              </a:lnSpc>
              <a:buSzPct val="100000"/>
              <a:buChar char="•"/>
            </a:pPr>
            <a:r>
              <a:rPr lang="en-US" sz="1300" dirty="0">
                <a:solidFill>
                  <a:srgbClr val="1A1A1A"/>
                </a:solidFill>
                <a:latin typeface="Meiryo" pitchFamily="34" charset="0"/>
                <a:ea typeface="Meiryo" pitchFamily="34" charset="-122"/>
                <a:cs typeface="Meiryo" pitchFamily="34" charset="-120"/>
              </a:rPr>
              <a:t>該当章: 06章（コンテンツ）</a:t>
            </a:r>
            <a:endParaRPr lang="en-US" sz="1300" dirty="0"/>
          </a:p>
        </p:txBody>
      </p:sp>
      <p:sp>
        <p:nvSpPr>
          <p:cNvPr id="7" name="Text 5"/>
          <p:cNvSpPr/>
          <p:nvPr/>
        </p:nvSpPr>
        <p:spPr>
          <a:xfrm>
            <a:off x="7543800" y="4759452"/>
            <a:ext cx="1097280" cy="228600"/>
          </a:xfrm>
          <a:prstGeom prst="rect">
            <a:avLst/>
          </a:prstGeom>
          <a:noFill/>
          <a:ln/>
        </p:spPr>
        <p:txBody>
          <a:bodyPr wrap="square" rtlCol="0" anchor="ctr"/>
          <a:lstStyle/>
          <a:p>
            <a:pPr algn="r" indent="0" marL="0">
              <a:buNone/>
            </a:pPr>
            <a:r>
              <a:rPr lang="en-US" sz="900" dirty="0">
                <a:solidFill>
                  <a:srgbClr val="6B6B6B"/>
                </a:solidFill>
                <a:latin typeface="Meiryo" pitchFamily="34" charset="0"/>
                <a:ea typeface="Meiryo" pitchFamily="34" charset="-122"/>
                <a:cs typeface="Meiryo" pitchFamily="34" charset="-120"/>
              </a:rPr>
              <a:t>22|82</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502920" y="502920"/>
            <a:ext cx="8138160" cy="228600"/>
          </a:xfrm>
          <a:prstGeom prst="rect">
            <a:avLst/>
          </a:prstGeom>
          <a:noFill/>
          <a:ln/>
        </p:spPr>
        <p:txBody>
          <a:bodyPr wrap="square" rtlCol="0" anchor="ctr"/>
          <a:lstStyle/>
          <a:p>
            <a:pPr indent="0" marL="0">
              <a:buNone/>
            </a:pPr>
            <a:r>
              <a:rPr lang="en-US" sz="1000" dirty="0">
                <a:solidFill>
                  <a:srgbClr val="6B6B6B"/>
                </a:solidFill>
                <a:latin typeface="Meiryo" pitchFamily="34" charset="0"/>
                <a:ea typeface="Meiryo" pitchFamily="34" charset="-122"/>
                <a:cs typeface="Meiryo" pitchFamily="34" charset="-120"/>
              </a:rPr>
              <a:t>03 Strategy Design</a:t>
            </a:r>
            <a:endParaRPr lang="en-US" sz="1000" dirty="0"/>
          </a:p>
        </p:txBody>
      </p:sp>
      <p:sp>
        <p:nvSpPr>
          <p:cNvPr id="3" name="Text 1"/>
          <p:cNvSpPr/>
          <p:nvPr/>
        </p:nvSpPr>
        <p:spPr>
          <a:xfrm>
            <a:off x="502920" y="777240"/>
            <a:ext cx="8138160" cy="457200"/>
          </a:xfrm>
          <a:prstGeom prst="rect">
            <a:avLst/>
          </a:prstGeom>
          <a:noFill/>
          <a:ln/>
        </p:spPr>
        <p:txBody>
          <a:bodyPr wrap="square" rtlCol="0" anchor="ctr"/>
          <a:lstStyle/>
          <a:p>
            <a:pPr indent="0" marL="0">
              <a:buNone/>
            </a:pPr>
            <a:r>
              <a:rPr lang="en-US" sz="2000" b="1" dirty="0">
                <a:solidFill>
                  <a:srgbClr val="1A1A1A"/>
                </a:solidFill>
                <a:latin typeface="Meiryo" pitchFamily="34" charset="0"/>
                <a:ea typeface="Meiryo" pitchFamily="34" charset="-122"/>
                <a:cs typeface="Meiryo" pitchFamily="34" charset="-120"/>
              </a:rPr>
              <a:t>論点03への打ち手：学校が自分で更新し続けられるようにします</a:t>
            </a:r>
            <a:endParaRPr lang="en-US" sz="2000" dirty="0"/>
          </a:p>
        </p:txBody>
      </p:sp>
      <p:sp>
        <p:nvSpPr>
          <p:cNvPr id="4" name="Shape 2"/>
          <p:cNvSpPr/>
          <p:nvPr/>
        </p:nvSpPr>
        <p:spPr>
          <a:xfrm>
            <a:off x="502920" y="1280160"/>
            <a:ext cx="8138160" cy="0"/>
          </a:xfrm>
          <a:prstGeom prst="line">
            <a:avLst/>
          </a:prstGeom>
          <a:noFill/>
          <a:ln w="12700">
            <a:solidFill>
              <a:srgbClr val="D5D5D5"/>
            </a:solidFill>
            <a:prstDash val="solid"/>
          </a:ln>
        </p:spPr>
      </p:sp>
      <p:sp>
        <p:nvSpPr>
          <p:cNvPr id="5" name="Text 3"/>
          <p:cNvSpPr/>
          <p:nvPr/>
        </p:nvSpPr>
        <p:spPr>
          <a:xfrm>
            <a:off x="502920" y="1417320"/>
            <a:ext cx="8138160" cy="457200"/>
          </a:xfrm>
          <a:prstGeom prst="rect">
            <a:avLst/>
          </a:prstGeom>
          <a:noFill/>
          <a:ln/>
        </p:spPr>
        <p:txBody>
          <a:bodyPr wrap="square" rtlCol="0" anchor="t"/>
          <a:lstStyle/>
          <a:p>
            <a:pPr indent="0" marL="0">
              <a:buNone/>
            </a:pPr>
            <a:r>
              <a:rPr lang="en-US" sz="1200" dirty="0">
                <a:solidFill>
                  <a:srgbClr val="1A1A1A"/>
                </a:solidFill>
                <a:latin typeface="Meiryo" pitchFamily="34" charset="0"/>
                <a:ea typeface="Meiryo" pitchFamily="34" charset="-122"/>
                <a:cs typeface="Meiryo" pitchFamily="34" charset="-120"/>
              </a:rPr>
              <a:t>6年間で構造が崩れた原因は、更新の手段がテンプレート直接編集に寄っていたことにあると考えています。触る場所を管理画面に限定します。</a:t>
            </a:r>
            <a:endParaRPr lang="en-US" sz="1200" dirty="0"/>
          </a:p>
        </p:txBody>
      </p:sp>
      <p:sp>
        <p:nvSpPr>
          <p:cNvPr id="6" name="Text 4"/>
          <p:cNvSpPr/>
          <p:nvPr/>
        </p:nvSpPr>
        <p:spPr>
          <a:xfrm>
            <a:off x="502920" y="1965960"/>
            <a:ext cx="8138160" cy="2628900"/>
          </a:xfrm>
          <a:prstGeom prst="rect">
            <a:avLst/>
          </a:prstGeom>
          <a:noFill/>
          <a:ln/>
        </p:spPr>
        <p:txBody>
          <a:bodyPr wrap="square" rtlCol="0" anchor="t"/>
          <a:lstStyle/>
          <a:p>
            <a:pPr marL="342900" indent="-342900">
              <a:lnSpc>
                <a:spcPct val="130000"/>
              </a:lnSpc>
              <a:buSzPct val="100000"/>
              <a:buChar char="•"/>
            </a:pPr>
            <a:r>
              <a:rPr lang="en-US" sz="1300" dirty="0">
                <a:solidFill>
                  <a:srgbClr val="1A1A1A"/>
                </a:solidFill>
                <a:latin typeface="Meiryo" pitchFamily="34" charset="0"/>
                <a:ea typeface="Meiryo" pitchFamily="34" charset="-122"/>
                <a:cs typeface="Meiryo" pitchFamily="34" charset="-120"/>
              </a:rPr>
              <a:t>分類: 全ページを更新頻度（◎○△×）で分類し、◎○を管理画面から更新できる範囲とします</a:t>
            </a:r>
            <a:endParaRPr lang="en-US" sz="1300" dirty="0"/>
          </a:p>
          <a:p>
            <a:pPr marL="342900" indent="-342900">
              <a:lnSpc>
                <a:spcPct val="130000"/>
              </a:lnSpc>
              <a:buSzPct val="100000"/>
              <a:buChar char="•"/>
            </a:pPr>
            <a:r>
              <a:rPr lang="en-US" sz="1300" dirty="0">
                <a:solidFill>
                  <a:srgbClr val="1A1A1A"/>
                </a:solidFill>
                <a:latin typeface="Meiryo" pitchFamily="34" charset="0"/>
                <a:ea typeface="Meiryo" pitchFamily="34" charset="-122"/>
                <a:cs typeface="Meiryo" pitchFamily="34" charset="-120"/>
              </a:rPr>
              <a:t>項目化: 自由入力のHTMLを減らし、項目ごとの入力欄として用意します</a:t>
            </a:r>
            <a:endParaRPr lang="en-US" sz="1300" dirty="0"/>
          </a:p>
          <a:p>
            <a:pPr marL="342900" indent="-342900">
              <a:lnSpc>
                <a:spcPct val="130000"/>
              </a:lnSpc>
              <a:buSzPct val="100000"/>
              <a:buChar char="•"/>
            </a:pPr>
            <a:r>
              <a:rPr lang="en-US" sz="1300" dirty="0">
                <a:solidFill>
                  <a:srgbClr val="1A1A1A"/>
                </a:solidFill>
                <a:latin typeface="Meiryo" pitchFamily="34" charset="0"/>
                <a:ea typeface="Meiryo" pitchFamily="34" charset="-122"/>
                <a:cs typeface="Meiryo" pitchFamily="34" charset="-120"/>
              </a:rPr>
              <a:t>結果として: テンプレートを直接編集する必要がなくなり、今回のようなコメント崩れが起きにくくなります</a:t>
            </a:r>
            <a:endParaRPr lang="en-US" sz="1300" dirty="0"/>
          </a:p>
          <a:p>
            <a:pPr marL="342900" indent="-342900">
              <a:lnSpc>
                <a:spcPct val="130000"/>
              </a:lnSpc>
              <a:buSzPct val="100000"/>
              <a:buChar char="•"/>
            </a:pPr>
            <a:r>
              <a:rPr lang="en-US" sz="1300" dirty="0">
                <a:solidFill>
                  <a:srgbClr val="1A1A1A"/>
                </a:solidFill>
                <a:latin typeface="Meiryo" pitchFamily="34" charset="0"/>
                <a:ea typeface="Meiryo" pitchFamily="34" charset="-122"/>
                <a:cs typeface="Meiryo" pitchFamily="34" charset="-120"/>
              </a:rPr>
              <a:t>公開前チェック: HTMLコメント内に終了タグが混入していないかを、チェック項目に入れます</a:t>
            </a:r>
            <a:endParaRPr lang="en-US" sz="1300" dirty="0"/>
          </a:p>
          <a:p>
            <a:pPr marL="342900" indent="-342900">
              <a:lnSpc>
                <a:spcPct val="130000"/>
              </a:lnSpc>
              <a:buSzPct val="100000"/>
              <a:buChar char="•"/>
            </a:pPr>
            <a:r>
              <a:rPr lang="en-US" sz="1300" dirty="0">
                <a:solidFill>
                  <a:srgbClr val="1A1A1A"/>
                </a:solidFill>
                <a:latin typeface="Meiryo" pitchFamily="34" charset="0"/>
                <a:ea typeface="Meiryo" pitchFamily="34" charset="-122"/>
                <a:cs typeface="Meiryo" pitchFamily="34" charset="-120"/>
              </a:rPr>
              <a:t>該当章: 08章（機能）・11章（アフターサポート）</a:t>
            </a:r>
            <a:endParaRPr lang="en-US" sz="1300" dirty="0"/>
          </a:p>
        </p:txBody>
      </p:sp>
      <p:sp>
        <p:nvSpPr>
          <p:cNvPr id="7" name="Text 5"/>
          <p:cNvSpPr/>
          <p:nvPr/>
        </p:nvSpPr>
        <p:spPr>
          <a:xfrm>
            <a:off x="7543800" y="4759452"/>
            <a:ext cx="1097280" cy="228600"/>
          </a:xfrm>
          <a:prstGeom prst="rect">
            <a:avLst/>
          </a:prstGeom>
          <a:noFill/>
          <a:ln/>
        </p:spPr>
        <p:txBody>
          <a:bodyPr wrap="square" rtlCol="0" anchor="ctr"/>
          <a:lstStyle/>
          <a:p>
            <a:pPr algn="r" indent="0" marL="0">
              <a:buNone/>
            </a:pPr>
            <a:r>
              <a:rPr lang="en-US" sz="900" dirty="0">
                <a:solidFill>
                  <a:srgbClr val="6B6B6B"/>
                </a:solidFill>
                <a:latin typeface="Meiryo" pitchFamily="34" charset="0"/>
                <a:ea typeface="Meiryo" pitchFamily="34" charset="-122"/>
                <a:cs typeface="Meiryo" pitchFamily="34" charset="-120"/>
              </a:rPr>
              <a:t>23|82</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502920" y="502920"/>
            <a:ext cx="8138160" cy="228600"/>
          </a:xfrm>
          <a:prstGeom prst="rect">
            <a:avLst/>
          </a:prstGeom>
          <a:noFill/>
          <a:ln/>
        </p:spPr>
        <p:txBody>
          <a:bodyPr wrap="square" rtlCol="0" anchor="ctr"/>
          <a:lstStyle/>
          <a:p>
            <a:pPr indent="0" marL="0">
              <a:buNone/>
            </a:pPr>
            <a:r>
              <a:rPr lang="en-US" sz="1000" dirty="0">
                <a:solidFill>
                  <a:srgbClr val="6B6B6B"/>
                </a:solidFill>
                <a:latin typeface="Meiryo" pitchFamily="34" charset="0"/>
                <a:ea typeface="Meiryo" pitchFamily="34" charset="-122"/>
                <a:cs typeface="Meiryo" pitchFamily="34" charset="-120"/>
              </a:rPr>
              <a:t>03 Strategy Design</a:t>
            </a:r>
            <a:endParaRPr lang="en-US" sz="1000" dirty="0"/>
          </a:p>
        </p:txBody>
      </p:sp>
      <p:sp>
        <p:nvSpPr>
          <p:cNvPr id="3" name="Text 1"/>
          <p:cNvSpPr/>
          <p:nvPr/>
        </p:nvSpPr>
        <p:spPr>
          <a:xfrm>
            <a:off x="502920" y="777240"/>
            <a:ext cx="8138160" cy="457200"/>
          </a:xfrm>
          <a:prstGeom prst="rect">
            <a:avLst/>
          </a:prstGeom>
          <a:noFill/>
          <a:ln/>
        </p:spPr>
        <p:txBody>
          <a:bodyPr wrap="square" rtlCol="0" anchor="ctr"/>
          <a:lstStyle/>
          <a:p>
            <a:pPr indent="0" marL="0">
              <a:buNone/>
            </a:pPr>
            <a:r>
              <a:rPr lang="en-US" sz="2000" b="1" dirty="0">
                <a:solidFill>
                  <a:srgbClr val="1A1A1A"/>
                </a:solidFill>
                <a:latin typeface="Meiryo" pitchFamily="34" charset="0"/>
                <a:ea typeface="Meiryo" pitchFamily="34" charset="-122"/>
                <a:cs typeface="Meiryo" pitchFamily="34" charset="-120"/>
              </a:rPr>
              <a:t>周年の扱いは、ご意向を確認させてください</a:t>
            </a:r>
            <a:endParaRPr lang="en-US" sz="2000" dirty="0"/>
          </a:p>
        </p:txBody>
      </p:sp>
      <p:sp>
        <p:nvSpPr>
          <p:cNvPr id="4" name="Shape 2"/>
          <p:cNvSpPr/>
          <p:nvPr/>
        </p:nvSpPr>
        <p:spPr>
          <a:xfrm>
            <a:off x="502920" y="1280160"/>
            <a:ext cx="8138160" cy="0"/>
          </a:xfrm>
          <a:prstGeom prst="line">
            <a:avLst/>
          </a:prstGeom>
          <a:noFill/>
          <a:ln w="12700">
            <a:solidFill>
              <a:srgbClr val="D5D5D5"/>
            </a:solidFill>
            <a:prstDash val="solid"/>
          </a:ln>
        </p:spPr>
      </p:sp>
      <p:sp>
        <p:nvSpPr>
          <p:cNvPr id="5" name="Text 3"/>
          <p:cNvSpPr/>
          <p:nvPr/>
        </p:nvSpPr>
        <p:spPr>
          <a:xfrm>
            <a:off x="502920" y="1417320"/>
            <a:ext cx="8138160" cy="457200"/>
          </a:xfrm>
          <a:prstGeom prst="rect">
            <a:avLst/>
          </a:prstGeom>
          <a:noFill/>
          <a:ln/>
        </p:spPr>
        <p:txBody>
          <a:bodyPr wrap="square" rtlCol="0" anchor="t"/>
          <a:lstStyle/>
          <a:p>
            <a:pPr indent="0" marL="0">
              <a:buNone/>
            </a:pPr>
            <a:r>
              <a:rPr lang="en-US" sz="1200" dirty="0">
                <a:solidFill>
                  <a:srgbClr val="1A1A1A"/>
                </a:solidFill>
                <a:latin typeface="Meiryo" pitchFamily="34" charset="0"/>
                <a:ea typeface="Meiryo" pitchFamily="34" charset="-122"/>
                <a:cs typeface="Meiryo" pitchFamily="34" charset="-120"/>
              </a:rPr>
              <a:t>2026年に中学校創立25周年、2030年に高等学校創立50周年を迎えられます。サイトで扱うかどうかで、ページ数が変わります。</a:t>
            </a:r>
            <a:endParaRPr lang="en-US" sz="1200" dirty="0"/>
          </a:p>
        </p:txBody>
      </p:sp>
      <p:sp>
        <p:nvSpPr>
          <p:cNvPr id="6" name="Text 4"/>
          <p:cNvSpPr/>
          <p:nvPr/>
        </p:nvSpPr>
        <p:spPr>
          <a:xfrm>
            <a:off x="502920" y="1965960"/>
            <a:ext cx="8138160" cy="2628900"/>
          </a:xfrm>
          <a:prstGeom prst="rect">
            <a:avLst/>
          </a:prstGeom>
          <a:noFill/>
          <a:ln/>
        </p:spPr>
        <p:txBody>
          <a:bodyPr wrap="square" rtlCol="0" anchor="t"/>
          <a:lstStyle/>
          <a:p>
            <a:pPr marL="342900" indent="-342900">
              <a:lnSpc>
                <a:spcPct val="130000"/>
              </a:lnSpc>
              <a:buSzPct val="100000"/>
              <a:buChar char="•"/>
            </a:pPr>
            <a:r>
              <a:rPr lang="en-US" sz="1300" dirty="0">
                <a:solidFill>
                  <a:srgbClr val="1A1A1A"/>
                </a:solidFill>
                <a:latin typeface="Meiryo" pitchFamily="34" charset="0"/>
                <a:ea typeface="Meiryo" pitchFamily="34" charset="-122"/>
                <a:cs typeface="Meiryo" pitchFamily="34" charset="-120"/>
              </a:rPr>
              <a:t>扱わない場合: 現在の設計16Pの範囲で進めます</a:t>
            </a:r>
            <a:endParaRPr lang="en-US" sz="1300" dirty="0"/>
          </a:p>
          <a:p>
            <a:pPr marL="342900" indent="-342900">
              <a:lnSpc>
                <a:spcPct val="130000"/>
              </a:lnSpc>
              <a:buSzPct val="100000"/>
              <a:buChar char="•"/>
            </a:pPr>
            <a:r>
              <a:rPr lang="en-US" sz="1300" dirty="0">
                <a:solidFill>
                  <a:srgbClr val="1A1A1A"/>
                </a:solidFill>
                <a:latin typeface="Meiryo" pitchFamily="34" charset="0"/>
                <a:ea typeface="Meiryo" pitchFamily="34" charset="-122"/>
                <a:cs typeface="Meiryo" pitchFamily="34" charset="-120"/>
              </a:rPr>
              <a:t>扱う場合: 特設ページが必要となり、ページ数と工程が増えます</a:t>
            </a:r>
            <a:endParaRPr lang="en-US" sz="1300" dirty="0"/>
          </a:p>
          <a:p>
            <a:pPr marL="342900" indent="-342900">
              <a:lnSpc>
                <a:spcPct val="130000"/>
              </a:lnSpc>
              <a:buSzPct val="100000"/>
              <a:buChar char="•"/>
            </a:pPr>
            <a:r>
              <a:rPr lang="en-US" sz="1300" dirty="0">
                <a:solidFill>
                  <a:srgbClr val="1A1A1A"/>
                </a:solidFill>
                <a:latin typeface="Meiryo" pitchFamily="34" charset="0"/>
                <a:ea typeface="Meiryo" pitchFamily="34" charset="-122"/>
                <a:cs typeface="Meiryo" pitchFamily="34" charset="-120"/>
              </a:rPr>
              <a:t>判断のお願い先: 貴校</a:t>
            </a:r>
            <a:endParaRPr lang="en-US" sz="1300" dirty="0"/>
          </a:p>
          <a:p>
            <a:pPr marL="342900" indent="-342900">
              <a:lnSpc>
                <a:spcPct val="130000"/>
              </a:lnSpc>
              <a:buSzPct val="100000"/>
              <a:buChar char="•"/>
            </a:pPr>
            <a:r>
              <a:rPr lang="en-US" sz="1300" dirty="0">
                <a:solidFill>
                  <a:srgbClr val="1A1A1A"/>
                </a:solidFill>
                <a:latin typeface="Meiryo" pitchFamily="34" charset="0"/>
                <a:ea typeface="Meiryo" pitchFamily="34" charset="-122"/>
                <a:cs typeface="Meiryo" pitchFamily="34" charset="-120"/>
              </a:rPr>
              <a:t>判断が必要な時期: サイトマップ確定前（10月中）</a:t>
            </a:r>
            <a:endParaRPr lang="en-US" sz="1300" dirty="0"/>
          </a:p>
          <a:p>
            <a:pPr marL="342900" indent="-342900">
              <a:lnSpc>
                <a:spcPct val="130000"/>
              </a:lnSpc>
              <a:buSzPct val="100000"/>
              <a:buChar char="•"/>
            </a:pPr>
            <a:r>
              <a:rPr lang="en-US" sz="1300" dirty="0">
                <a:solidFill>
                  <a:srgbClr val="1A1A1A"/>
                </a:solidFill>
                <a:latin typeface="Meiryo" pitchFamily="34" charset="0"/>
                <a:ea typeface="Meiryo" pitchFamily="34" charset="-122"/>
                <a:cs typeface="Meiryo" pitchFamily="34" charset="-120"/>
              </a:rPr>
              <a:t>本件は未確定事項です。本資料では、扱わない前提でページ数を数えています</a:t>
            </a:r>
            <a:endParaRPr lang="en-US" sz="1300" dirty="0"/>
          </a:p>
        </p:txBody>
      </p:sp>
      <p:sp>
        <p:nvSpPr>
          <p:cNvPr id="7" name="Text 5"/>
          <p:cNvSpPr/>
          <p:nvPr/>
        </p:nvSpPr>
        <p:spPr>
          <a:xfrm>
            <a:off x="502920" y="4759452"/>
            <a:ext cx="6949440" cy="228600"/>
          </a:xfrm>
          <a:prstGeom prst="rect">
            <a:avLst/>
          </a:prstGeom>
          <a:noFill/>
          <a:ln/>
        </p:spPr>
        <p:txBody>
          <a:bodyPr wrap="square" rtlCol="0" anchor="ctr"/>
          <a:lstStyle/>
          <a:p>
            <a:pPr indent="0" marL="0">
              <a:buNone/>
            </a:pPr>
            <a:r>
              <a:rPr lang="en-US" sz="900" dirty="0">
                <a:solidFill>
                  <a:srgbClr val="6B6B6B"/>
                </a:solidFill>
                <a:latin typeface="Meiryo" pitchFamily="34" charset="0"/>
                <a:ea typeface="Meiryo" pitchFamily="34" charset="-122"/>
                <a:cs typeface="Meiryo" pitchFamily="34" charset="-120"/>
              </a:rPr>
              <a:t>出典: projects/johoku-saitama/research/brief.md（2026-07-03 ヒアリング・Backlog GG_ORDER-4733）</a:t>
            </a:r>
            <a:endParaRPr lang="en-US" sz="900" dirty="0"/>
          </a:p>
        </p:txBody>
      </p:sp>
      <p:sp>
        <p:nvSpPr>
          <p:cNvPr id="8" name="Text 6"/>
          <p:cNvSpPr/>
          <p:nvPr/>
        </p:nvSpPr>
        <p:spPr>
          <a:xfrm>
            <a:off x="7543800" y="4759452"/>
            <a:ext cx="1097280" cy="228600"/>
          </a:xfrm>
          <a:prstGeom prst="rect">
            <a:avLst/>
          </a:prstGeom>
          <a:noFill/>
          <a:ln/>
        </p:spPr>
        <p:txBody>
          <a:bodyPr wrap="square" rtlCol="0" anchor="ctr"/>
          <a:lstStyle/>
          <a:p>
            <a:pPr algn="r" indent="0" marL="0">
              <a:buNone/>
            </a:pPr>
            <a:r>
              <a:rPr lang="en-US" sz="900" dirty="0">
                <a:solidFill>
                  <a:srgbClr val="6B6B6B"/>
                </a:solidFill>
                <a:latin typeface="Meiryo" pitchFamily="34" charset="0"/>
                <a:ea typeface="Meiryo" pitchFamily="34" charset="-122"/>
                <a:cs typeface="Meiryo" pitchFamily="34" charset="-120"/>
              </a:rPr>
              <a:t>24|82</a:t>
            </a:r>
            <a:endParaRPr lang="en-US" sz="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1F3A5F"/>
        </a:solidFill>
      </p:bgPr>
    </p:bg>
    <p:spTree>
      <p:nvGrpSpPr>
        <p:cNvPr id="1" name=""/>
        <p:cNvGrpSpPr/>
        <p:nvPr/>
      </p:nvGrpSpPr>
      <p:grpSpPr>
        <a:xfrm>
          <a:off x="0" y="0"/>
          <a:ext cx="0" cy="0"/>
          <a:chOff x="0" y="0"/>
          <a:chExt cx="0" cy="0"/>
        </a:xfrm>
      </p:grpSpPr>
      <p:sp>
        <p:nvSpPr>
          <p:cNvPr id="2" name="Text 0"/>
          <p:cNvSpPr/>
          <p:nvPr/>
        </p:nvSpPr>
        <p:spPr>
          <a:xfrm>
            <a:off x="502920" y="1737360"/>
            <a:ext cx="1280160" cy="640080"/>
          </a:xfrm>
          <a:prstGeom prst="rect">
            <a:avLst/>
          </a:prstGeom>
          <a:noFill/>
          <a:ln/>
        </p:spPr>
        <p:txBody>
          <a:bodyPr wrap="square" rtlCol="0" anchor="ctr"/>
          <a:lstStyle/>
          <a:p>
            <a:pPr indent="0" marL="0">
              <a:buNone/>
            </a:pPr>
            <a:r>
              <a:rPr lang="en-US" sz="3400" b="1" dirty="0">
                <a:solidFill>
                  <a:srgbClr val="FFFFFF"/>
                </a:solidFill>
                <a:latin typeface="Meiryo" pitchFamily="34" charset="0"/>
                <a:ea typeface="Meiryo" pitchFamily="34" charset="-122"/>
                <a:cs typeface="Meiryo" pitchFamily="34" charset="-120"/>
              </a:rPr>
              <a:t>04</a:t>
            </a:r>
            <a:endParaRPr lang="en-US" sz="3400" dirty="0"/>
          </a:p>
        </p:txBody>
      </p:sp>
      <p:sp>
        <p:nvSpPr>
          <p:cNvPr id="3" name="Text 1"/>
          <p:cNvSpPr/>
          <p:nvPr/>
        </p:nvSpPr>
        <p:spPr>
          <a:xfrm>
            <a:off x="502920" y="2377440"/>
            <a:ext cx="8138160" cy="365760"/>
          </a:xfrm>
          <a:prstGeom prst="rect">
            <a:avLst/>
          </a:prstGeom>
          <a:noFill/>
          <a:ln/>
        </p:spPr>
        <p:txBody>
          <a:bodyPr wrap="square" rtlCol="0" anchor="ctr"/>
          <a:lstStyle/>
          <a:p>
            <a:pPr indent="0" marL="0">
              <a:buNone/>
            </a:pPr>
            <a:r>
              <a:rPr lang="en-US" sz="1300" dirty="0">
                <a:solidFill>
                  <a:srgbClr val="FFFFFF"/>
                </a:solidFill>
                <a:latin typeface="Meiryo" pitchFamily="34" charset="0"/>
                <a:ea typeface="Meiryo" pitchFamily="34" charset="-122"/>
                <a:cs typeface="Meiryo" pitchFamily="34" charset="-120"/>
              </a:rPr>
              <a:t>KPI</a:t>
            </a:r>
            <a:endParaRPr lang="en-US" sz="1300" dirty="0"/>
          </a:p>
        </p:txBody>
      </p:sp>
      <p:sp>
        <p:nvSpPr>
          <p:cNvPr id="4" name="Text 2"/>
          <p:cNvSpPr/>
          <p:nvPr/>
        </p:nvSpPr>
        <p:spPr>
          <a:xfrm>
            <a:off x="502920" y="2743200"/>
            <a:ext cx="8138160" cy="548640"/>
          </a:xfrm>
          <a:prstGeom prst="rect">
            <a:avLst/>
          </a:prstGeom>
          <a:noFill/>
          <a:ln/>
        </p:spPr>
        <p:txBody>
          <a:bodyPr wrap="square" rtlCol="0" anchor="ctr"/>
          <a:lstStyle/>
          <a:p>
            <a:pPr indent="0" marL="0">
              <a:buNone/>
            </a:pPr>
            <a:r>
              <a:rPr lang="en-US" sz="2400" b="1" dirty="0">
                <a:solidFill>
                  <a:srgbClr val="FFFFFF"/>
                </a:solidFill>
                <a:latin typeface="Meiryo" pitchFamily="34" charset="0"/>
                <a:ea typeface="Meiryo" pitchFamily="34" charset="-122"/>
                <a:cs typeface="Meiryo" pitchFamily="34" charset="-120"/>
              </a:rPr>
              <a:t>数値目標</a:t>
            </a:r>
            <a:endParaRPr lang="en-US" sz="2400" dirty="0"/>
          </a:p>
        </p:txBody>
      </p:sp>
      <p:sp>
        <p:nvSpPr>
          <p:cNvPr id="5" name="Text 3"/>
          <p:cNvSpPr/>
          <p:nvPr/>
        </p:nvSpPr>
        <p:spPr>
          <a:xfrm>
            <a:off x="7543800" y="4759452"/>
            <a:ext cx="1097280" cy="228600"/>
          </a:xfrm>
          <a:prstGeom prst="rect">
            <a:avLst/>
          </a:prstGeom>
          <a:noFill/>
          <a:ln/>
        </p:spPr>
        <p:txBody>
          <a:bodyPr wrap="square" rtlCol="0" anchor="ctr"/>
          <a:lstStyle/>
          <a:p>
            <a:pPr algn="r" indent="0" marL="0">
              <a:buNone/>
            </a:pPr>
            <a:r>
              <a:rPr lang="en-US" sz="900" dirty="0">
                <a:solidFill>
                  <a:srgbClr val="6B6B6B"/>
                </a:solidFill>
                <a:latin typeface="Meiryo" pitchFamily="34" charset="0"/>
                <a:ea typeface="Meiryo" pitchFamily="34" charset="-122"/>
                <a:cs typeface="Meiryo" pitchFamily="34" charset="-120"/>
              </a:rPr>
              <a:t>25|82</a:t>
            </a:r>
            <a:endParaRPr lang="en-US" sz="9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502920" y="502920"/>
            <a:ext cx="8138160" cy="228600"/>
          </a:xfrm>
          <a:prstGeom prst="rect">
            <a:avLst/>
          </a:prstGeom>
          <a:noFill/>
          <a:ln/>
        </p:spPr>
        <p:txBody>
          <a:bodyPr wrap="square" rtlCol="0" anchor="ctr"/>
          <a:lstStyle/>
          <a:p>
            <a:pPr indent="0" marL="0">
              <a:buNone/>
            </a:pPr>
            <a:r>
              <a:rPr lang="en-US" sz="1000" dirty="0">
                <a:solidFill>
                  <a:srgbClr val="6B6B6B"/>
                </a:solidFill>
                <a:latin typeface="Meiryo" pitchFamily="34" charset="0"/>
                <a:ea typeface="Meiryo" pitchFamily="34" charset="-122"/>
                <a:cs typeface="Meiryo" pitchFamily="34" charset="-120"/>
              </a:rPr>
              <a:t>04 KPI</a:t>
            </a:r>
            <a:endParaRPr lang="en-US" sz="1000" dirty="0"/>
          </a:p>
        </p:txBody>
      </p:sp>
      <p:sp>
        <p:nvSpPr>
          <p:cNvPr id="3" name="Text 1"/>
          <p:cNvSpPr/>
          <p:nvPr/>
        </p:nvSpPr>
        <p:spPr>
          <a:xfrm>
            <a:off x="502920" y="777240"/>
            <a:ext cx="8138160" cy="457200"/>
          </a:xfrm>
          <a:prstGeom prst="rect">
            <a:avLst/>
          </a:prstGeom>
          <a:noFill/>
          <a:ln/>
        </p:spPr>
        <p:txBody>
          <a:bodyPr wrap="square" rtlCol="0" anchor="ctr"/>
          <a:lstStyle/>
          <a:p>
            <a:pPr indent="0" marL="0">
              <a:buNone/>
            </a:pPr>
            <a:r>
              <a:rPr lang="en-US" sz="2000" b="1" dirty="0">
                <a:solidFill>
                  <a:srgbClr val="1A1A1A"/>
                </a:solidFill>
                <a:latin typeface="Meiryo" pitchFamily="34" charset="0"/>
                <a:ea typeface="Meiryo" pitchFamily="34" charset="-122"/>
                <a:cs typeface="Meiryo" pitchFamily="34" charset="-120"/>
              </a:rPr>
              <a:t>数値目標は、GA4の実数を確認してから確定します</a:t>
            </a:r>
            <a:endParaRPr lang="en-US" sz="2000" dirty="0"/>
          </a:p>
        </p:txBody>
      </p:sp>
      <p:sp>
        <p:nvSpPr>
          <p:cNvPr id="4" name="Shape 2"/>
          <p:cNvSpPr/>
          <p:nvPr/>
        </p:nvSpPr>
        <p:spPr>
          <a:xfrm>
            <a:off x="502920" y="1280160"/>
            <a:ext cx="8138160" cy="0"/>
          </a:xfrm>
          <a:prstGeom prst="line">
            <a:avLst/>
          </a:prstGeom>
          <a:noFill/>
          <a:ln w="12700">
            <a:solidFill>
              <a:srgbClr val="D5D5D5"/>
            </a:solidFill>
            <a:prstDash val="solid"/>
          </a:ln>
        </p:spPr>
      </p:sp>
      <p:sp>
        <p:nvSpPr>
          <p:cNvPr id="5" name="Text 3"/>
          <p:cNvSpPr/>
          <p:nvPr/>
        </p:nvSpPr>
        <p:spPr>
          <a:xfrm>
            <a:off x="502920" y="1417320"/>
            <a:ext cx="8138160" cy="457200"/>
          </a:xfrm>
          <a:prstGeom prst="rect">
            <a:avLst/>
          </a:prstGeom>
          <a:noFill/>
          <a:ln/>
        </p:spPr>
        <p:txBody>
          <a:bodyPr wrap="square" rtlCol="0" anchor="t"/>
          <a:lstStyle/>
          <a:p>
            <a:pPr indent="0" marL="0">
              <a:buNone/>
            </a:pPr>
            <a:r>
              <a:rPr lang="en-US" sz="1200" dirty="0">
                <a:solidFill>
                  <a:srgbClr val="1A1A1A"/>
                </a:solidFill>
                <a:latin typeface="Meiryo" pitchFamily="34" charset="0"/>
                <a:ea typeface="Meiryo" pitchFamily="34" charset="-122"/>
                <a:cs typeface="Meiryo" pitchFamily="34" charset="-120"/>
              </a:rPr>
              <a:t>現時点では現状値が取得できていないため、目標値を置いていません。仮の数字を目標として扱わないための判断です。</a:t>
            </a:r>
            <a:endParaRPr lang="en-US" sz="1200" dirty="0"/>
          </a:p>
        </p:txBody>
      </p:sp>
      <p:sp>
        <p:nvSpPr>
          <p:cNvPr id="6" name="Text 4"/>
          <p:cNvSpPr/>
          <p:nvPr/>
        </p:nvSpPr>
        <p:spPr>
          <a:xfrm>
            <a:off x="502920" y="1965960"/>
            <a:ext cx="8138160" cy="2628900"/>
          </a:xfrm>
          <a:prstGeom prst="rect">
            <a:avLst/>
          </a:prstGeom>
          <a:noFill/>
          <a:ln/>
        </p:spPr>
        <p:txBody>
          <a:bodyPr wrap="square" rtlCol="0" anchor="t"/>
          <a:lstStyle/>
          <a:p>
            <a:pPr marL="342900" indent="-342900">
              <a:lnSpc>
                <a:spcPct val="130000"/>
              </a:lnSpc>
              <a:buSzPct val="100000"/>
              <a:buChar char="•"/>
            </a:pPr>
            <a:r>
              <a:rPr lang="en-US" sz="1300" dirty="0">
                <a:solidFill>
                  <a:srgbClr val="1A1A1A"/>
                </a:solidFill>
                <a:latin typeface="Meiryo" pitchFamily="34" charset="0"/>
                <a:ea typeface="Meiryo" pitchFamily="34" charset="-122"/>
                <a:cs typeface="Meiryo" pitchFamily="34" charset="-120"/>
              </a:rPr>
              <a:t>現状: 既存仕様書の数値目標欄はサンプル値のままです</a:t>
            </a:r>
            <a:endParaRPr lang="en-US" sz="1300" dirty="0"/>
          </a:p>
          <a:p>
            <a:pPr marL="342900" indent="-342900">
              <a:lnSpc>
                <a:spcPct val="130000"/>
              </a:lnSpc>
              <a:buSzPct val="100000"/>
              <a:buChar char="•"/>
            </a:pPr>
            <a:r>
              <a:rPr lang="en-US" sz="1300" dirty="0">
                <a:solidFill>
                  <a:srgbClr val="1A1A1A"/>
                </a:solidFill>
                <a:latin typeface="Meiryo" pitchFamily="34" charset="0"/>
                <a:ea typeface="Meiryo" pitchFamily="34" charset="-122"/>
                <a:cs typeface="Meiryo" pitchFamily="34" charset="-120"/>
              </a:rPr>
              <a:t>不足しているもの: セッション数、デバイス比率、主要ページの離脱、問い合わせ・資料請求の件数</a:t>
            </a:r>
            <a:endParaRPr lang="en-US" sz="1300" dirty="0"/>
          </a:p>
          <a:p>
            <a:pPr marL="342900" indent="-342900">
              <a:lnSpc>
                <a:spcPct val="130000"/>
              </a:lnSpc>
              <a:buSzPct val="100000"/>
              <a:buChar char="•"/>
            </a:pPr>
            <a:r>
              <a:rPr lang="en-US" sz="1300" dirty="0">
                <a:solidFill>
                  <a:srgbClr val="1A1A1A"/>
                </a:solidFill>
                <a:latin typeface="Meiryo" pitchFamily="34" charset="0"/>
                <a:ea typeface="Meiryo" pitchFamily="34" charset="-122"/>
                <a:cs typeface="Meiryo" pitchFamily="34" charset="-120"/>
              </a:rPr>
              <a:t>ヒアリングで伺った「9割以上がスマートフォン」も、現時点では推定です</a:t>
            </a:r>
            <a:endParaRPr lang="en-US" sz="1300" dirty="0"/>
          </a:p>
          <a:p>
            <a:pPr marL="342900" indent="-342900">
              <a:lnSpc>
                <a:spcPct val="130000"/>
              </a:lnSpc>
              <a:buSzPct val="100000"/>
              <a:buChar char="•"/>
            </a:pPr>
            <a:r>
              <a:rPr lang="en-US" sz="1300" dirty="0">
                <a:solidFill>
                  <a:srgbClr val="1A1A1A"/>
                </a:solidFill>
                <a:latin typeface="Meiryo" pitchFamily="34" charset="0"/>
                <a:ea typeface="Meiryo" pitchFamily="34" charset="-122"/>
                <a:cs typeface="Meiryo" pitchFamily="34" charset="-120"/>
              </a:rPr>
              <a:t>お願い: GA4プロパティへのアクセス権を付与してください（章01 確認事項1）</a:t>
            </a:r>
            <a:endParaRPr lang="en-US" sz="1300" dirty="0"/>
          </a:p>
          <a:p>
            <a:pPr marL="342900" indent="-342900">
              <a:lnSpc>
                <a:spcPct val="130000"/>
              </a:lnSpc>
              <a:buSzPct val="100000"/>
              <a:buChar char="•"/>
            </a:pPr>
            <a:r>
              <a:rPr lang="en-US" sz="1300" dirty="0">
                <a:solidFill>
                  <a:srgbClr val="1A1A1A"/>
                </a:solidFill>
                <a:latin typeface="Meiryo" pitchFamily="34" charset="0"/>
                <a:ea typeface="Meiryo" pitchFamily="34" charset="-122"/>
                <a:cs typeface="Meiryo" pitchFamily="34" charset="-120"/>
              </a:rPr>
              <a:t>確定時期: アクセス権をいただいた後、2週間以内に現状値と目標値をご提示します</a:t>
            </a:r>
            <a:endParaRPr lang="en-US" sz="1300" dirty="0"/>
          </a:p>
        </p:txBody>
      </p:sp>
      <p:sp>
        <p:nvSpPr>
          <p:cNvPr id="7" name="Text 5"/>
          <p:cNvSpPr/>
          <p:nvPr/>
        </p:nvSpPr>
        <p:spPr>
          <a:xfrm>
            <a:off x="502920" y="4759452"/>
            <a:ext cx="6949440" cy="228600"/>
          </a:xfrm>
          <a:prstGeom prst="rect">
            <a:avLst/>
          </a:prstGeom>
          <a:noFill/>
          <a:ln/>
        </p:spPr>
        <p:txBody>
          <a:bodyPr wrap="square" rtlCol="0" anchor="ctr"/>
          <a:lstStyle/>
          <a:p>
            <a:pPr indent="0" marL="0">
              <a:buNone/>
            </a:pPr>
            <a:r>
              <a:rPr lang="en-US" sz="900" dirty="0">
                <a:solidFill>
                  <a:srgbClr val="6B6B6B"/>
                </a:solidFill>
                <a:latin typeface="Meiryo" pitchFamily="34" charset="0"/>
                <a:ea typeface="Meiryo" pitchFamily="34" charset="-122"/>
                <a:cs typeface="Meiryo" pitchFamily="34" charset="-120"/>
              </a:rPr>
              <a:t>出典: projects/johoku-saitama/research/brief.md（2026-07-03 ヒアリング・Backlog GG_ORDER-4733）</a:t>
            </a:r>
            <a:endParaRPr lang="en-US" sz="900" dirty="0"/>
          </a:p>
        </p:txBody>
      </p:sp>
      <p:sp>
        <p:nvSpPr>
          <p:cNvPr id="8" name="Text 6"/>
          <p:cNvSpPr/>
          <p:nvPr/>
        </p:nvSpPr>
        <p:spPr>
          <a:xfrm>
            <a:off x="7543800" y="4759452"/>
            <a:ext cx="1097280" cy="228600"/>
          </a:xfrm>
          <a:prstGeom prst="rect">
            <a:avLst/>
          </a:prstGeom>
          <a:noFill/>
          <a:ln/>
        </p:spPr>
        <p:txBody>
          <a:bodyPr wrap="square" rtlCol="0" anchor="ctr"/>
          <a:lstStyle/>
          <a:p>
            <a:pPr algn="r" indent="0" marL="0">
              <a:buNone/>
            </a:pPr>
            <a:r>
              <a:rPr lang="en-US" sz="900" dirty="0">
                <a:solidFill>
                  <a:srgbClr val="6B6B6B"/>
                </a:solidFill>
                <a:latin typeface="Meiryo" pitchFamily="34" charset="0"/>
                <a:ea typeface="Meiryo" pitchFamily="34" charset="-122"/>
                <a:cs typeface="Meiryo" pitchFamily="34" charset="-120"/>
              </a:rPr>
              <a:t>26|82</a:t>
            </a:r>
            <a:endParaRPr lang="en-US" sz="9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502920" y="502920"/>
            <a:ext cx="8138160" cy="228600"/>
          </a:xfrm>
          <a:prstGeom prst="rect">
            <a:avLst/>
          </a:prstGeom>
          <a:noFill/>
          <a:ln/>
        </p:spPr>
        <p:txBody>
          <a:bodyPr wrap="square" rtlCol="0" anchor="ctr"/>
          <a:lstStyle/>
          <a:p>
            <a:pPr indent="0" marL="0">
              <a:buNone/>
            </a:pPr>
            <a:r>
              <a:rPr lang="en-US" sz="1000" dirty="0">
                <a:solidFill>
                  <a:srgbClr val="6B6B6B"/>
                </a:solidFill>
                <a:latin typeface="Meiryo" pitchFamily="34" charset="0"/>
                <a:ea typeface="Meiryo" pitchFamily="34" charset="-122"/>
                <a:cs typeface="Meiryo" pitchFamily="34" charset="-120"/>
              </a:rPr>
              <a:t>04 KPI</a:t>
            </a:r>
            <a:endParaRPr lang="en-US" sz="1000" dirty="0"/>
          </a:p>
        </p:txBody>
      </p:sp>
      <p:sp>
        <p:nvSpPr>
          <p:cNvPr id="3" name="Text 1"/>
          <p:cNvSpPr/>
          <p:nvPr/>
        </p:nvSpPr>
        <p:spPr>
          <a:xfrm>
            <a:off x="502920" y="777240"/>
            <a:ext cx="8138160" cy="457200"/>
          </a:xfrm>
          <a:prstGeom prst="rect">
            <a:avLst/>
          </a:prstGeom>
          <a:noFill/>
          <a:ln/>
        </p:spPr>
        <p:txBody>
          <a:bodyPr wrap="square" rtlCol="0" anchor="ctr"/>
          <a:lstStyle/>
          <a:p>
            <a:pPr indent="0" marL="0">
              <a:buNone/>
            </a:pPr>
            <a:r>
              <a:rPr lang="en-US" sz="2000" b="1" dirty="0">
                <a:solidFill>
                  <a:srgbClr val="1A1A1A"/>
                </a:solidFill>
                <a:latin typeface="Meiryo" pitchFamily="34" charset="0"/>
                <a:ea typeface="Meiryo" pitchFamily="34" charset="-122"/>
                <a:cs typeface="Meiryo" pitchFamily="34" charset="-120"/>
              </a:rPr>
              <a:t>測定設計</a:t>
            </a:r>
            <a:endParaRPr lang="en-US" sz="2000" dirty="0"/>
          </a:p>
        </p:txBody>
      </p:sp>
      <p:sp>
        <p:nvSpPr>
          <p:cNvPr id="4" name="Shape 2"/>
          <p:cNvSpPr/>
          <p:nvPr/>
        </p:nvSpPr>
        <p:spPr>
          <a:xfrm>
            <a:off x="502920" y="1280160"/>
            <a:ext cx="8138160" cy="0"/>
          </a:xfrm>
          <a:prstGeom prst="line">
            <a:avLst/>
          </a:prstGeom>
          <a:noFill/>
          <a:ln w="12700">
            <a:solidFill>
              <a:srgbClr val="D5D5D5"/>
            </a:solidFill>
            <a:prstDash val="solid"/>
          </a:ln>
        </p:spPr>
      </p:sp>
      <p:sp>
        <p:nvSpPr>
          <p:cNvPr id="5" name="Text 3"/>
          <p:cNvSpPr/>
          <p:nvPr/>
        </p:nvSpPr>
        <p:spPr>
          <a:xfrm>
            <a:off x="502920" y="1417320"/>
            <a:ext cx="8138160" cy="457200"/>
          </a:xfrm>
          <a:prstGeom prst="rect">
            <a:avLst/>
          </a:prstGeom>
          <a:noFill/>
          <a:ln/>
        </p:spPr>
        <p:txBody>
          <a:bodyPr wrap="square" rtlCol="0" anchor="t"/>
          <a:lstStyle/>
          <a:p>
            <a:pPr indent="0" marL="0">
              <a:buNone/>
            </a:pPr>
            <a:r>
              <a:rPr lang="en-US" sz="1200" dirty="0">
                <a:solidFill>
                  <a:srgbClr val="1A1A1A"/>
                </a:solidFill>
                <a:latin typeface="Meiryo" pitchFamily="34" charset="0"/>
                <a:ea typeface="Meiryo" pitchFamily="34" charset="-122"/>
                <a:cs typeface="Meiryo" pitchFamily="34" charset="-120"/>
              </a:rPr>
              <a:t>公開後に効果を検証できる状態を、設計段階で用意します。導入済みのものは活かします。</a:t>
            </a:r>
            <a:endParaRPr lang="en-US" sz="1200" dirty="0"/>
          </a:p>
        </p:txBody>
      </p:sp>
      <p:graphicFrame>
        <p:nvGraphicFramePr>
          <p:cNvPr id="28" name="Table 0"/>
          <p:cNvGraphicFramePr>
            <a:graphicFrameLocks noGrp="1"/>
          </p:cNvGraphicFramePr>
          <p:nvPr>
            <p:extLst>
              <p:ext uri="{D42A27DB-BD31-4B8C-83A1-F6EECF244321}">
                <p14:modId xmlns:p14="http://schemas.microsoft.com/office/powerpoint/2010/main" val="1579011935"/>
              </p:ext>
            </p:extLst>
          </p:nvPr>
        </p:nvGraphicFramePr>
        <p:xfrm>
          <a:off x="502920" y="1965960"/>
          <a:ext cx="8138160" cy="914400"/>
        </p:xfrm>
        <a:graphic>
          <a:graphicData uri="http://schemas.openxmlformats.org/drawingml/2006/table">
            <a:tbl>
              <a:tblPr/>
              <a:tblGrid>
                <a:gridCol w="2712720"/>
                <a:gridCol w="2712720"/>
                <a:gridCol w="2712720"/>
              </a:tblGrid>
              <a:tr h="0">
                <a:tc>
                  <a:txBody>
                    <a:bodyPr/>
                    <a:lstStyle/>
                    <a:p>
                      <a:pPr indent="0" marL="0">
                        <a:buNone/>
                      </a:pPr>
                      <a:r>
                        <a:rPr lang="en-US" sz="1100" b="1" dirty="0">
                          <a:solidFill>
                            <a:srgbClr val="FFFFFF"/>
                          </a:solidFill>
                          <a:latin typeface="Meiryo" pitchFamily="34" charset="0"/>
                          <a:ea typeface="Meiryo" pitchFamily="34" charset="-122"/>
                          <a:cs typeface="Meiryo" pitchFamily="34" charset="-120"/>
                        </a:rPr>
                        <a:t>ツール</a:t>
                      </a:r>
                      <a:endParaRPr lang="en-US" sz="1100" dirty="0">
                        <a:latin typeface="Meiryo" charset="0"/>
                        <a:ea typeface="Meiryo" charset="0"/>
                        <a:cs typeface="Meiryo" charset="0"/>
                      </a:endParaRPr>
                    </a:p>
                  </a:txBody>
                  <a:tcPr marL="91440" marR="91440" marT="45720" marB="45720">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1F3A5F"/>
                    </a:solidFill>
                  </a:tcPr>
                </a:tc>
                <a:tc>
                  <a:txBody>
                    <a:bodyPr/>
                    <a:lstStyle/>
                    <a:p>
                      <a:pPr indent="0" marL="0">
                        <a:buNone/>
                      </a:pPr>
                      <a:r>
                        <a:rPr lang="en-US" sz="1100" b="1" dirty="0">
                          <a:solidFill>
                            <a:srgbClr val="FFFFFF"/>
                          </a:solidFill>
                          <a:latin typeface="Meiryo" pitchFamily="34" charset="0"/>
                          <a:ea typeface="Meiryo" pitchFamily="34" charset="-122"/>
                          <a:cs typeface="Meiryo" pitchFamily="34" charset="-120"/>
                        </a:rPr>
                        <a:t>役割</a:t>
                      </a:r>
                      <a:endParaRPr lang="en-US" sz="1100" dirty="0">
                        <a:latin typeface="Meiryo" charset="0"/>
                        <a:ea typeface="Meiryo" charset="0"/>
                        <a:cs typeface="Meiryo" charset="0"/>
                      </a:endParaRPr>
                    </a:p>
                  </a:txBody>
                  <a:tcPr marL="91440" marR="91440" marT="45720" marB="45720">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1F3A5F"/>
                    </a:solidFill>
                  </a:tcPr>
                </a:tc>
                <a:tc>
                  <a:txBody>
                    <a:bodyPr/>
                    <a:lstStyle/>
                    <a:p>
                      <a:pPr indent="0" marL="0">
                        <a:buNone/>
                      </a:pPr>
                      <a:r>
                        <a:rPr lang="en-US" sz="1100" b="1" dirty="0">
                          <a:solidFill>
                            <a:srgbClr val="FFFFFF"/>
                          </a:solidFill>
                          <a:latin typeface="Meiryo" pitchFamily="34" charset="0"/>
                          <a:ea typeface="Meiryo" pitchFamily="34" charset="-122"/>
                          <a:cs typeface="Meiryo" pitchFamily="34" charset="-120"/>
                        </a:rPr>
                        <a:t>確認する指標</a:t>
                      </a:r>
                      <a:endParaRPr lang="en-US" sz="1100" dirty="0">
                        <a:latin typeface="Meiryo" charset="0"/>
                        <a:ea typeface="Meiryo" charset="0"/>
                        <a:cs typeface="Meiryo" charset="0"/>
                      </a:endParaRPr>
                    </a:p>
                  </a:txBody>
                  <a:tcPr marL="91440" marR="91440" marT="45720" marB="45720">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1F3A5F"/>
                    </a:solidFill>
                  </a:tcPr>
                </a:tc>
              </a:tr>
              <a:tr h="0">
                <a:tc>
                  <a:txBody>
                    <a:bodyPr/>
                    <a:lstStyle/>
                    <a:p>
                      <a:pPr indent="0" marL="0">
                        <a:buNone/>
                      </a:pPr>
                      <a:r>
                        <a:rPr lang="en-US" sz="1100" dirty="0">
                          <a:solidFill>
                            <a:srgbClr val="1A1A1A"/>
                          </a:solidFill>
                          <a:latin typeface="Meiryo" pitchFamily="34" charset="0"/>
                          <a:ea typeface="Meiryo" pitchFamily="34" charset="-122"/>
                          <a:cs typeface="Meiryo" pitchFamily="34" charset="-120"/>
                        </a:rPr>
                        <a:t>GA4</a:t>
                      </a:r>
                      <a:endParaRPr lang="en-US" sz="1100" dirty="0">
                        <a:latin typeface="Meiryo" charset="0"/>
                        <a:ea typeface="Meiryo" charset="0"/>
                        <a:cs typeface="Meiryo" charset="0"/>
                      </a:endParaRPr>
                    </a:p>
                  </a:txBody>
                  <a:tcPr marL="91440" marR="91440" marT="45720" marB="45720">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tcPr>
                </a:tc>
                <a:tc>
                  <a:txBody>
                    <a:bodyPr/>
                    <a:lstStyle/>
                    <a:p>
                      <a:pPr indent="0" marL="0">
                        <a:buNone/>
                      </a:pPr>
                      <a:r>
                        <a:rPr lang="en-US" sz="1100" dirty="0">
                          <a:solidFill>
                            <a:srgbClr val="1A1A1A"/>
                          </a:solidFill>
                          <a:latin typeface="Meiryo" pitchFamily="34" charset="0"/>
                          <a:ea typeface="Meiryo" pitchFamily="34" charset="-122"/>
                          <a:cs typeface="Meiryo" pitchFamily="34" charset="-120"/>
                        </a:rPr>
                        <a:t>利用状況の把握</a:t>
                      </a:r>
                      <a:endParaRPr lang="en-US" sz="1100" dirty="0">
                        <a:latin typeface="Meiryo" charset="0"/>
                        <a:ea typeface="Meiryo" charset="0"/>
                        <a:cs typeface="Meiryo" charset="0"/>
                      </a:endParaRPr>
                    </a:p>
                  </a:txBody>
                  <a:tcPr marL="91440" marR="91440" marT="45720" marB="45720">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tcPr>
                </a:tc>
                <a:tc>
                  <a:txBody>
                    <a:bodyPr/>
                    <a:lstStyle/>
                    <a:p>
                      <a:pPr indent="0" marL="0">
                        <a:buNone/>
                      </a:pPr>
                      <a:r>
                        <a:rPr lang="en-US" sz="1100" dirty="0">
                          <a:solidFill>
                            <a:srgbClr val="1A1A1A"/>
                          </a:solidFill>
                          <a:latin typeface="Meiryo" pitchFamily="34" charset="0"/>
                          <a:ea typeface="Meiryo" pitchFamily="34" charset="-122"/>
                          <a:cs typeface="Meiryo" pitchFamily="34" charset="-120"/>
                        </a:rPr>
                        <a:t>セッション／デバイス比率／主要ページの離脱</a:t>
                      </a:r>
                      <a:endParaRPr lang="en-US" sz="1100" dirty="0">
                        <a:latin typeface="Meiryo" charset="0"/>
                        <a:ea typeface="Meiryo" charset="0"/>
                        <a:cs typeface="Meiryo" charset="0"/>
                      </a:endParaRPr>
                    </a:p>
                  </a:txBody>
                  <a:tcPr marL="91440" marR="91440" marT="45720" marB="45720">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tcPr>
                </a:tc>
              </a:tr>
              <a:tr h="0">
                <a:tc>
                  <a:txBody>
                    <a:bodyPr/>
                    <a:lstStyle/>
                    <a:p>
                      <a:pPr indent="0" marL="0">
                        <a:buNone/>
                      </a:pPr>
                      <a:r>
                        <a:rPr lang="en-US" sz="1100" dirty="0">
                          <a:solidFill>
                            <a:srgbClr val="1A1A1A"/>
                          </a:solidFill>
                          <a:latin typeface="Meiryo" pitchFamily="34" charset="0"/>
                          <a:ea typeface="Meiryo" pitchFamily="34" charset="-122"/>
                          <a:cs typeface="Meiryo" pitchFamily="34" charset="-120"/>
                        </a:rPr>
                        <a:t>Google タグ マネージャー</a:t>
                      </a:r>
                      <a:endParaRPr lang="en-US" sz="1100" dirty="0">
                        <a:latin typeface="Meiryo" charset="0"/>
                        <a:ea typeface="Meiryo" charset="0"/>
                        <a:cs typeface="Meiryo" charset="0"/>
                      </a:endParaRPr>
                    </a:p>
                  </a:txBody>
                  <a:tcPr marL="91440" marR="91440" marT="45720" marB="45720">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tcPr>
                </a:tc>
                <a:tc>
                  <a:txBody>
                    <a:bodyPr/>
                    <a:lstStyle/>
                    <a:p>
                      <a:pPr indent="0" marL="0">
                        <a:buNone/>
                      </a:pPr>
                      <a:r>
                        <a:rPr lang="en-US" sz="1100" dirty="0">
                          <a:solidFill>
                            <a:srgbClr val="1A1A1A"/>
                          </a:solidFill>
                          <a:latin typeface="Meiryo" pitchFamily="34" charset="0"/>
                          <a:ea typeface="Meiryo" pitchFamily="34" charset="-122"/>
                          <a:cs typeface="Meiryo" pitchFamily="34" charset="-120"/>
                        </a:rPr>
                        <a:t>計測タグの管理（導入済み）</a:t>
                      </a:r>
                      <a:endParaRPr lang="en-US" sz="1100" dirty="0">
                        <a:latin typeface="Meiryo" charset="0"/>
                        <a:ea typeface="Meiryo" charset="0"/>
                        <a:cs typeface="Meiryo" charset="0"/>
                      </a:endParaRPr>
                    </a:p>
                  </a:txBody>
                  <a:tcPr marL="91440" marR="91440" marT="45720" marB="45720">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tcPr>
                </a:tc>
                <a:tc>
                  <a:txBody>
                    <a:bodyPr/>
                    <a:lstStyle/>
                    <a:p>
                      <a:pPr indent="0" marL="0">
                        <a:buNone/>
                      </a:pPr>
                      <a:r>
                        <a:rPr lang="en-US" sz="1100" dirty="0">
                          <a:solidFill>
                            <a:srgbClr val="1A1A1A"/>
                          </a:solidFill>
                          <a:latin typeface="Meiryo" pitchFamily="34" charset="0"/>
                          <a:ea typeface="Meiryo" pitchFamily="34" charset="-122"/>
                          <a:cs typeface="Meiryo" pitchFamily="34" charset="-120"/>
                        </a:rPr>
                        <a:t>イベント設定の一元管理</a:t>
                      </a:r>
                      <a:endParaRPr lang="en-US" sz="1100" dirty="0">
                        <a:latin typeface="Meiryo" charset="0"/>
                        <a:ea typeface="Meiryo" charset="0"/>
                        <a:cs typeface="Meiryo" charset="0"/>
                      </a:endParaRPr>
                    </a:p>
                  </a:txBody>
                  <a:tcPr marL="91440" marR="91440" marT="45720" marB="45720">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tcPr>
                </a:tc>
              </a:tr>
              <a:tr h="0">
                <a:tc>
                  <a:txBody>
                    <a:bodyPr/>
                    <a:lstStyle/>
                    <a:p>
                      <a:pPr indent="0" marL="0">
                        <a:buNone/>
                      </a:pPr>
                      <a:r>
                        <a:rPr lang="en-US" sz="1100" dirty="0">
                          <a:solidFill>
                            <a:srgbClr val="1A1A1A"/>
                          </a:solidFill>
                          <a:latin typeface="Meiryo" pitchFamily="34" charset="0"/>
                          <a:ea typeface="Meiryo" pitchFamily="34" charset="-122"/>
                          <a:cs typeface="Meiryo" pitchFamily="34" charset="-120"/>
                        </a:rPr>
                        <a:t>Google Search Console</a:t>
                      </a:r>
                      <a:endParaRPr lang="en-US" sz="1100" dirty="0">
                        <a:latin typeface="Meiryo" charset="0"/>
                        <a:ea typeface="Meiryo" charset="0"/>
                        <a:cs typeface="Meiryo" charset="0"/>
                      </a:endParaRPr>
                    </a:p>
                  </a:txBody>
                  <a:tcPr marL="91440" marR="91440" marT="45720" marB="45720">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tcPr>
                </a:tc>
                <a:tc>
                  <a:txBody>
                    <a:bodyPr/>
                    <a:lstStyle/>
                    <a:p>
                      <a:pPr indent="0" marL="0">
                        <a:buNone/>
                      </a:pPr>
                      <a:r>
                        <a:rPr lang="en-US" sz="1100" dirty="0">
                          <a:solidFill>
                            <a:srgbClr val="1A1A1A"/>
                          </a:solidFill>
                          <a:latin typeface="Meiryo" pitchFamily="34" charset="0"/>
                          <a:ea typeface="Meiryo" pitchFamily="34" charset="-122"/>
                          <a:cs typeface="Meiryo" pitchFamily="34" charset="-120"/>
                        </a:rPr>
                        <a:t>検索からの到達の把握</a:t>
                      </a:r>
                      <a:endParaRPr lang="en-US" sz="1100" dirty="0">
                        <a:latin typeface="Meiryo" charset="0"/>
                        <a:ea typeface="Meiryo" charset="0"/>
                        <a:cs typeface="Meiryo" charset="0"/>
                      </a:endParaRPr>
                    </a:p>
                  </a:txBody>
                  <a:tcPr marL="91440" marR="91440" marT="45720" marB="45720">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tcPr>
                </a:tc>
                <a:tc>
                  <a:txBody>
                    <a:bodyPr/>
                    <a:lstStyle/>
                    <a:p>
                      <a:pPr indent="0" marL="0">
                        <a:buNone/>
                      </a:pPr>
                      <a:r>
                        <a:rPr lang="en-US" sz="1100" dirty="0">
                          <a:solidFill>
                            <a:srgbClr val="1A1A1A"/>
                          </a:solidFill>
                          <a:latin typeface="Meiryo" pitchFamily="34" charset="0"/>
                          <a:ea typeface="Meiryo" pitchFamily="34" charset="-122"/>
                          <a:cs typeface="Meiryo" pitchFamily="34" charset="-120"/>
                        </a:rPr>
                        <a:t>検索クエリ／インデックス状況／URL移行後の推移</a:t>
                      </a:r>
                      <a:endParaRPr lang="en-US" sz="1100" dirty="0">
                        <a:latin typeface="Meiryo" charset="0"/>
                        <a:ea typeface="Meiryo" charset="0"/>
                        <a:cs typeface="Meiryo" charset="0"/>
                      </a:endParaRPr>
                    </a:p>
                  </a:txBody>
                  <a:tcPr marL="91440" marR="91440" marT="45720" marB="45720">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tcPr>
                </a:tc>
              </a:tr>
              <a:tr h="0">
                <a:tc>
                  <a:txBody>
                    <a:bodyPr/>
                    <a:lstStyle/>
                    <a:p>
                      <a:pPr indent="0" marL="0">
                        <a:buNone/>
                      </a:pPr>
                      <a:r>
                        <a:rPr lang="en-US" sz="1100" dirty="0">
                          <a:solidFill>
                            <a:srgbClr val="1A1A1A"/>
                          </a:solidFill>
                          <a:latin typeface="Meiryo" pitchFamily="34" charset="0"/>
                          <a:ea typeface="Meiryo" pitchFamily="34" charset="-122"/>
                          <a:cs typeface="Meiryo" pitchFamily="34" charset="-120"/>
                        </a:rPr>
                        <a:t>コンバージョン定義</a:t>
                      </a:r>
                      <a:endParaRPr lang="en-US" sz="1100" dirty="0">
                        <a:latin typeface="Meiryo" charset="0"/>
                        <a:ea typeface="Meiryo" charset="0"/>
                        <a:cs typeface="Meiryo" charset="0"/>
                      </a:endParaRPr>
                    </a:p>
                  </a:txBody>
                  <a:tcPr marL="91440" marR="91440" marT="45720" marB="45720">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tcPr>
                </a:tc>
                <a:tc>
                  <a:txBody>
                    <a:bodyPr/>
                    <a:lstStyle/>
                    <a:p>
                      <a:pPr indent="0" marL="0">
                        <a:buNone/>
                      </a:pPr>
                      <a:r>
                        <a:rPr lang="en-US" sz="1100" dirty="0">
                          <a:solidFill>
                            <a:srgbClr val="1A1A1A"/>
                          </a:solidFill>
                          <a:latin typeface="Meiryo" pitchFamily="34" charset="0"/>
                          <a:ea typeface="Meiryo" pitchFamily="34" charset="-122"/>
                          <a:cs typeface="Meiryo" pitchFamily="34" charset="-120"/>
                        </a:rPr>
                        <a:t>成果の定義</a:t>
                      </a:r>
                      <a:endParaRPr lang="en-US" sz="1100" dirty="0">
                        <a:latin typeface="Meiryo" charset="0"/>
                        <a:ea typeface="Meiryo" charset="0"/>
                        <a:cs typeface="Meiryo" charset="0"/>
                      </a:endParaRPr>
                    </a:p>
                  </a:txBody>
                  <a:tcPr marL="91440" marR="91440" marT="45720" marB="45720">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tcPr>
                </a:tc>
                <a:tc>
                  <a:txBody>
                    <a:bodyPr/>
                    <a:lstStyle/>
                    <a:p>
                      <a:pPr indent="0" marL="0">
                        <a:buNone/>
                      </a:pPr>
                      <a:r>
                        <a:rPr lang="en-US" sz="1100" dirty="0">
                          <a:solidFill>
                            <a:srgbClr val="1A1A1A"/>
                          </a:solidFill>
                          <a:latin typeface="Meiryo" pitchFamily="34" charset="0"/>
                          <a:ea typeface="Meiryo" pitchFamily="34" charset="-122"/>
                          <a:cs typeface="Meiryo" pitchFamily="34" charset="-120"/>
                        </a:rPr>
                        <a:t>資料請求／説明会申込（定義は貴校と確定します）</a:t>
                      </a:r>
                      <a:endParaRPr lang="en-US" sz="1100" dirty="0">
                        <a:latin typeface="Meiryo" charset="0"/>
                        <a:ea typeface="Meiryo" charset="0"/>
                        <a:cs typeface="Meiryo" charset="0"/>
                      </a:endParaRPr>
                    </a:p>
                  </a:txBody>
                  <a:tcPr marL="91440" marR="91440" marT="45720" marB="45720">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tcPr>
                </a:tc>
              </a:tr>
            </a:tbl>
          </a:graphicData>
        </a:graphic>
      </p:graphicFrame>
      <p:sp>
        <p:nvSpPr>
          <p:cNvPr id="7" name="Text 4"/>
          <p:cNvSpPr/>
          <p:nvPr/>
        </p:nvSpPr>
        <p:spPr>
          <a:xfrm>
            <a:off x="502920" y="4759452"/>
            <a:ext cx="6949440" cy="228600"/>
          </a:xfrm>
          <a:prstGeom prst="rect">
            <a:avLst/>
          </a:prstGeom>
          <a:noFill/>
          <a:ln/>
        </p:spPr>
        <p:txBody>
          <a:bodyPr wrap="square" rtlCol="0" anchor="ctr"/>
          <a:lstStyle/>
          <a:p>
            <a:pPr indent="0" marL="0">
              <a:buNone/>
            </a:pPr>
            <a:r>
              <a:rPr lang="en-US" sz="900" dirty="0">
                <a:solidFill>
                  <a:srgbClr val="6B6B6B"/>
                </a:solidFill>
                <a:latin typeface="Meiryo" pitchFamily="34" charset="0"/>
                <a:ea typeface="Meiryo" pitchFamily="34" charset="-122"/>
                <a:cs typeface="Meiryo" pitchFamily="34" charset="-120"/>
              </a:rPr>
              <a:t>出典: projects/johoku-saitama/research/current-site-audit.md（2026-09-18 実測）</a:t>
            </a:r>
            <a:endParaRPr lang="en-US" sz="900" dirty="0"/>
          </a:p>
        </p:txBody>
      </p:sp>
      <p:sp>
        <p:nvSpPr>
          <p:cNvPr id="8" name="Text 5"/>
          <p:cNvSpPr/>
          <p:nvPr/>
        </p:nvSpPr>
        <p:spPr>
          <a:xfrm>
            <a:off x="7543800" y="4759452"/>
            <a:ext cx="1097280" cy="228600"/>
          </a:xfrm>
          <a:prstGeom prst="rect">
            <a:avLst/>
          </a:prstGeom>
          <a:noFill/>
          <a:ln/>
        </p:spPr>
        <p:txBody>
          <a:bodyPr wrap="square" rtlCol="0" anchor="ctr"/>
          <a:lstStyle/>
          <a:p>
            <a:pPr algn="r" indent="0" marL="0">
              <a:buNone/>
            </a:pPr>
            <a:r>
              <a:rPr lang="en-US" sz="900" dirty="0">
                <a:solidFill>
                  <a:srgbClr val="6B6B6B"/>
                </a:solidFill>
                <a:latin typeface="Meiryo" pitchFamily="34" charset="0"/>
                <a:ea typeface="Meiryo" pitchFamily="34" charset="-122"/>
                <a:cs typeface="Meiryo" pitchFamily="34" charset="-120"/>
              </a:rPr>
              <a:t>27|82</a:t>
            </a:r>
            <a:endParaRPr lang="en-US" sz="9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502920" y="502920"/>
            <a:ext cx="8138160" cy="228600"/>
          </a:xfrm>
          <a:prstGeom prst="rect">
            <a:avLst/>
          </a:prstGeom>
          <a:noFill/>
          <a:ln/>
        </p:spPr>
        <p:txBody>
          <a:bodyPr wrap="square" rtlCol="0" anchor="ctr"/>
          <a:lstStyle/>
          <a:p>
            <a:pPr indent="0" marL="0">
              <a:buNone/>
            </a:pPr>
            <a:r>
              <a:rPr lang="en-US" sz="1000" dirty="0">
                <a:solidFill>
                  <a:srgbClr val="6B6B6B"/>
                </a:solidFill>
                <a:latin typeface="Meiryo" pitchFamily="34" charset="0"/>
                <a:ea typeface="Meiryo" pitchFamily="34" charset="-122"/>
                <a:cs typeface="Meiryo" pitchFamily="34" charset="-120"/>
              </a:rPr>
              <a:t>04 KPI</a:t>
            </a:r>
            <a:endParaRPr lang="en-US" sz="1000" dirty="0"/>
          </a:p>
        </p:txBody>
      </p:sp>
      <p:sp>
        <p:nvSpPr>
          <p:cNvPr id="3" name="Text 1"/>
          <p:cNvSpPr/>
          <p:nvPr/>
        </p:nvSpPr>
        <p:spPr>
          <a:xfrm>
            <a:off x="502920" y="777240"/>
            <a:ext cx="8138160" cy="457200"/>
          </a:xfrm>
          <a:prstGeom prst="rect">
            <a:avLst/>
          </a:prstGeom>
          <a:noFill/>
          <a:ln/>
        </p:spPr>
        <p:txBody>
          <a:bodyPr wrap="square" rtlCol="0" anchor="ctr"/>
          <a:lstStyle/>
          <a:p>
            <a:pPr indent="0" marL="0">
              <a:buNone/>
            </a:pPr>
            <a:r>
              <a:rPr lang="en-US" sz="2000" b="1" dirty="0">
                <a:solidFill>
                  <a:srgbClr val="1A1A1A"/>
                </a:solidFill>
                <a:latin typeface="Meiryo" pitchFamily="34" charset="0"/>
                <a:ea typeface="Meiryo" pitchFamily="34" charset="-122"/>
                <a:cs typeface="Meiryo" pitchFamily="34" charset="-120"/>
              </a:rPr>
              <a:t>実測から確定できる改善見込み（推定・レンジ）</a:t>
            </a:r>
            <a:endParaRPr lang="en-US" sz="2000" dirty="0"/>
          </a:p>
        </p:txBody>
      </p:sp>
      <p:sp>
        <p:nvSpPr>
          <p:cNvPr id="4" name="Shape 2"/>
          <p:cNvSpPr/>
          <p:nvPr/>
        </p:nvSpPr>
        <p:spPr>
          <a:xfrm>
            <a:off x="502920" y="1280160"/>
            <a:ext cx="8138160" cy="0"/>
          </a:xfrm>
          <a:prstGeom prst="line">
            <a:avLst/>
          </a:prstGeom>
          <a:noFill/>
          <a:ln w="12700">
            <a:solidFill>
              <a:srgbClr val="D5D5D5"/>
            </a:solidFill>
            <a:prstDash val="solid"/>
          </a:ln>
        </p:spPr>
      </p:sp>
      <p:sp>
        <p:nvSpPr>
          <p:cNvPr id="5" name="Text 3"/>
          <p:cNvSpPr/>
          <p:nvPr/>
        </p:nvSpPr>
        <p:spPr>
          <a:xfrm>
            <a:off x="502920" y="1417320"/>
            <a:ext cx="8138160" cy="457200"/>
          </a:xfrm>
          <a:prstGeom prst="rect">
            <a:avLst/>
          </a:prstGeom>
          <a:noFill/>
          <a:ln/>
        </p:spPr>
        <p:txBody>
          <a:bodyPr wrap="square" rtlCol="0" anchor="t"/>
          <a:lstStyle/>
          <a:p>
            <a:pPr indent="0" marL="0">
              <a:buNone/>
            </a:pPr>
            <a:r>
              <a:rPr lang="en-US" sz="1200" dirty="0">
                <a:solidFill>
                  <a:srgbClr val="1A1A1A"/>
                </a:solidFill>
                <a:latin typeface="Meiryo" pitchFamily="34" charset="0"/>
                <a:ea typeface="Meiryo" pitchFamily="34" charset="-122"/>
                <a:cs typeface="Meiryo" pitchFamily="34" charset="-120"/>
              </a:rPr>
              <a:t>交通量の予測は、現状値がないため置きません。ここに挙げるのは実測値から算出できる項目のみです。見込みは推定値です。</a:t>
            </a:r>
            <a:endParaRPr lang="en-US" sz="1200" dirty="0"/>
          </a:p>
        </p:txBody>
      </p:sp>
      <p:graphicFrame>
        <p:nvGraphicFramePr>
          <p:cNvPr id="29" name="Table 0"/>
          <p:cNvGraphicFramePr>
            <a:graphicFrameLocks noGrp="1"/>
          </p:cNvGraphicFramePr>
          <p:nvPr>
            <p:extLst>
              <p:ext uri="{D42A27DB-BD31-4B8C-83A1-F6EECF244321}">
                <p14:modId xmlns:p14="http://schemas.microsoft.com/office/powerpoint/2010/main" val="1579011935"/>
              </p:ext>
            </p:extLst>
          </p:nvPr>
        </p:nvGraphicFramePr>
        <p:xfrm>
          <a:off x="502920" y="1965960"/>
          <a:ext cx="8138160" cy="914400"/>
        </p:xfrm>
        <a:graphic>
          <a:graphicData uri="http://schemas.openxmlformats.org/drawingml/2006/table">
            <a:tbl>
              <a:tblPr/>
              <a:tblGrid>
                <a:gridCol w="2034540"/>
                <a:gridCol w="2034540"/>
                <a:gridCol w="2034540"/>
                <a:gridCol w="2034540"/>
              </a:tblGrid>
              <a:tr h="0">
                <a:tc>
                  <a:txBody>
                    <a:bodyPr/>
                    <a:lstStyle/>
                    <a:p>
                      <a:pPr indent="0" marL="0">
                        <a:buNone/>
                      </a:pPr>
                      <a:r>
                        <a:rPr lang="en-US" sz="1100" b="1" dirty="0">
                          <a:solidFill>
                            <a:srgbClr val="FFFFFF"/>
                          </a:solidFill>
                          <a:latin typeface="Meiryo" pitchFamily="34" charset="0"/>
                          <a:ea typeface="Meiryo" pitchFamily="34" charset="-122"/>
                          <a:cs typeface="Meiryo" pitchFamily="34" charset="-120"/>
                        </a:rPr>
                        <a:t>指標</a:t>
                      </a:r>
                      <a:endParaRPr lang="en-US" sz="1100" dirty="0">
                        <a:latin typeface="Meiryo" charset="0"/>
                        <a:ea typeface="Meiryo" charset="0"/>
                        <a:cs typeface="Meiryo" charset="0"/>
                      </a:endParaRPr>
                    </a:p>
                  </a:txBody>
                  <a:tcPr marL="91440" marR="91440" marT="45720" marB="45720">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1F3A5F"/>
                    </a:solidFill>
                  </a:tcPr>
                </a:tc>
                <a:tc>
                  <a:txBody>
                    <a:bodyPr/>
                    <a:lstStyle/>
                    <a:p>
                      <a:pPr indent="0" marL="0">
                        <a:buNone/>
                      </a:pPr>
                      <a:r>
                        <a:rPr lang="en-US" sz="1100" b="1" dirty="0">
                          <a:solidFill>
                            <a:srgbClr val="FFFFFF"/>
                          </a:solidFill>
                          <a:latin typeface="Meiryo" pitchFamily="34" charset="0"/>
                          <a:ea typeface="Meiryo" pitchFamily="34" charset="-122"/>
                          <a:cs typeface="Meiryo" pitchFamily="34" charset="-120"/>
                        </a:rPr>
                        <a:t>現状（2026-09-18 実測）</a:t>
                      </a:r>
                      <a:endParaRPr lang="en-US" sz="1100" dirty="0">
                        <a:latin typeface="Meiryo" charset="0"/>
                        <a:ea typeface="Meiryo" charset="0"/>
                        <a:cs typeface="Meiryo" charset="0"/>
                      </a:endParaRPr>
                    </a:p>
                  </a:txBody>
                  <a:tcPr marL="91440" marR="91440" marT="45720" marB="45720">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1F3A5F"/>
                    </a:solidFill>
                  </a:tcPr>
                </a:tc>
                <a:tc>
                  <a:txBody>
                    <a:bodyPr/>
                    <a:lstStyle/>
                    <a:p>
                      <a:pPr indent="0" marL="0">
                        <a:buNone/>
                      </a:pPr>
                      <a:r>
                        <a:rPr lang="en-US" sz="1100" b="1" dirty="0">
                          <a:solidFill>
                            <a:srgbClr val="FFFFFF"/>
                          </a:solidFill>
                          <a:latin typeface="Meiryo" pitchFamily="34" charset="0"/>
                          <a:ea typeface="Meiryo" pitchFamily="34" charset="-122"/>
                          <a:cs typeface="Meiryo" pitchFamily="34" charset="-120"/>
                        </a:rPr>
                        <a:t>見込み（推定）</a:t>
                      </a:r>
                      <a:endParaRPr lang="en-US" sz="1100" dirty="0">
                        <a:latin typeface="Meiryo" charset="0"/>
                        <a:ea typeface="Meiryo" charset="0"/>
                        <a:cs typeface="Meiryo" charset="0"/>
                      </a:endParaRPr>
                    </a:p>
                  </a:txBody>
                  <a:tcPr marL="91440" marR="91440" marT="45720" marB="45720">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1F3A5F"/>
                    </a:solidFill>
                  </a:tcPr>
                </a:tc>
                <a:tc>
                  <a:txBody>
                    <a:bodyPr/>
                    <a:lstStyle/>
                    <a:p>
                      <a:pPr indent="0" marL="0">
                        <a:buNone/>
                      </a:pPr>
                      <a:r>
                        <a:rPr lang="en-US" sz="1100" b="1" dirty="0">
                          <a:solidFill>
                            <a:srgbClr val="FFFFFF"/>
                          </a:solidFill>
                          <a:latin typeface="Meiryo" pitchFamily="34" charset="0"/>
                          <a:ea typeface="Meiryo" pitchFamily="34" charset="-122"/>
                          <a:cs typeface="Meiryo" pitchFamily="34" charset="-120"/>
                        </a:rPr>
                        <a:t>前提</a:t>
                      </a:r>
                      <a:endParaRPr lang="en-US" sz="1100" dirty="0">
                        <a:latin typeface="Meiryo" charset="0"/>
                        <a:ea typeface="Meiryo" charset="0"/>
                        <a:cs typeface="Meiryo" charset="0"/>
                      </a:endParaRPr>
                    </a:p>
                  </a:txBody>
                  <a:tcPr marL="91440" marR="91440" marT="45720" marB="45720">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1F3A5F"/>
                    </a:solidFill>
                  </a:tcPr>
                </a:tc>
              </a:tr>
              <a:tr h="0">
                <a:tc>
                  <a:txBody>
                    <a:bodyPr/>
                    <a:lstStyle/>
                    <a:p>
                      <a:pPr indent="0" marL="0">
                        <a:buNone/>
                      </a:pPr>
                      <a:r>
                        <a:rPr lang="en-US" sz="1100" dirty="0">
                          <a:solidFill>
                            <a:srgbClr val="1A1A1A"/>
                          </a:solidFill>
                          <a:latin typeface="Meiryo" pitchFamily="34" charset="0"/>
                          <a:ea typeface="Meiryo" pitchFamily="34" charset="-122"/>
                          <a:cs typeface="Meiryo" pitchFamily="34" charset="-120"/>
                        </a:rPr>
                        <a:t>内部リンクのうち不正URL</a:t>
                      </a:r>
                      <a:endParaRPr lang="en-US" sz="1100" dirty="0">
                        <a:latin typeface="Meiryo" charset="0"/>
                        <a:ea typeface="Meiryo" charset="0"/>
                        <a:cs typeface="Meiryo" charset="0"/>
                      </a:endParaRPr>
                    </a:p>
                  </a:txBody>
                  <a:tcPr marL="91440" marR="91440" marT="45720" marB="45720">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tcPr>
                </a:tc>
                <a:tc>
                  <a:txBody>
                    <a:bodyPr/>
                    <a:lstStyle/>
                    <a:p>
                      <a:pPr indent="0" marL="0">
                        <a:buNone/>
                      </a:pPr>
                      <a:r>
                        <a:rPr lang="en-US" sz="1100" dirty="0">
                          <a:solidFill>
                            <a:srgbClr val="1A1A1A"/>
                          </a:solidFill>
                          <a:latin typeface="Meiryo" pitchFamily="34" charset="0"/>
                          <a:ea typeface="Meiryo" pitchFamily="34" charset="-122"/>
                          <a:cs typeface="Meiryo" pitchFamily="34" charset="-120"/>
                        </a:rPr>
                        <a:t>約90本</a:t>
                      </a:r>
                      <a:endParaRPr lang="en-US" sz="1100" dirty="0">
                        <a:latin typeface="Meiryo" charset="0"/>
                        <a:ea typeface="Meiryo" charset="0"/>
                        <a:cs typeface="Meiryo" charset="0"/>
                      </a:endParaRPr>
                    </a:p>
                  </a:txBody>
                  <a:tcPr marL="91440" marR="91440" marT="45720" marB="45720">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tcPr>
                </a:tc>
                <a:tc>
                  <a:txBody>
                    <a:bodyPr/>
                    <a:lstStyle/>
                    <a:p>
                      <a:pPr indent="0" marL="0">
                        <a:buNone/>
                      </a:pPr>
                      <a:r>
                        <a:rPr lang="en-US" sz="1100" dirty="0">
                          <a:solidFill>
                            <a:srgbClr val="1A1A1A"/>
                          </a:solidFill>
                          <a:latin typeface="Meiryo" pitchFamily="34" charset="0"/>
                          <a:ea typeface="Meiryo" pitchFamily="34" charset="-122"/>
                          <a:cs typeface="Meiryo" pitchFamily="34" charset="-120"/>
                        </a:rPr>
                        <a:t>0本</a:t>
                      </a:r>
                      <a:endParaRPr lang="en-US" sz="1100" dirty="0">
                        <a:latin typeface="Meiryo" charset="0"/>
                        <a:ea typeface="Meiryo" charset="0"/>
                        <a:cs typeface="Meiryo" charset="0"/>
                      </a:endParaRPr>
                    </a:p>
                  </a:txBody>
                  <a:tcPr marL="91440" marR="91440" marT="45720" marB="45720">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tcPr>
                </a:tc>
                <a:tc>
                  <a:txBody>
                    <a:bodyPr/>
                    <a:lstStyle/>
                    <a:p>
                      <a:pPr indent="0" marL="0">
                        <a:buNone/>
                      </a:pPr>
                      <a:r>
                        <a:rPr lang="en-US" sz="1100" dirty="0">
                          <a:solidFill>
                            <a:srgbClr val="1A1A1A"/>
                          </a:solidFill>
                          <a:latin typeface="Meiryo" pitchFamily="34" charset="0"/>
                          <a:ea typeface="Meiryo" pitchFamily="34" charset="-122"/>
                          <a:cs typeface="Meiryo" pitchFamily="34" charset="-120"/>
                        </a:rPr>
                        <a:t>新規構築のため現行の内部リンク構造を引き継ぎません</a:t>
                      </a:r>
                      <a:endParaRPr lang="en-US" sz="1100" dirty="0">
                        <a:latin typeface="Meiryo" charset="0"/>
                        <a:ea typeface="Meiryo" charset="0"/>
                        <a:cs typeface="Meiryo" charset="0"/>
                      </a:endParaRPr>
                    </a:p>
                  </a:txBody>
                  <a:tcPr marL="91440" marR="91440" marT="45720" marB="45720">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tcPr>
                </a:tc>
              </a:tr>
              <a:tr h="0">
                <a:tc>
                  <a:txBody>
                    <a:bodyPr/>
                    <a:lstStyle/>
                    <a:p>
                      <a:pPr indent="0" marL="0">
                        <a:buNone/>
                      </a:pPr>
                      <a:r>
                        <a:rPr lang="en-US" sz="1100" dirty="0">
                          <a:solidFill>
                            <a:srgbClr val="1A1A1A"/>
                          </a:solidFill>
                          <a:latin typeface="Meiryo" pitchFamily="34" charset="0"/>
                          <a:ea typeface="Meiryo" pitchFamily="34" charset="-122"/>
                          <a:cs typeface="Meiryo" pitchFamily="34" charset="-120"/>
                        </a:rPr>
                        <a:t>読み込むWebフォント</a:t>
                      </a:r>
                      <a:endParaRPr lang="en-US" sz="1100" dirty="0">
                        <a:latin typeface="Meiryo" charset="0"/>
                        <a:ea typeface="Meiryo" charset="0"/>
                        <a:cs typeface="Meiryo" charset="0"/>
                      </a:endParaRPr>
                    </a:p>
                  </a:txBody>
                  <a:tcPr marL="91440" marR="91440" marT="45720" marB="45720">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tcPr>
                </a:tc>
                <a:tc>
                  <a:txBody>
                    <a:bodyPr/>
                    <a:lstStyle/>
                    <a:p>
                      <a:pPr indent="0" marL="0">
                        <a:buNone/>
                      </a:pPr>
                      <a:r>
                        <a:rPr lang="en-US" sz="1100" dirty="0">
                          <a:solidFill>
                            <a:srgbClr val="1A1A1A"/>
                          </a:solidFill>
                          <a:latin typeface="Meiryo" pitchFamily="34" charset="0"/>
                          <a:ea typeface="Meiryo" pitchFamily="34" charset="-122"/>
                          <a:cs typeface="Meiryo" pitchFamily="34" charset="-120"/>
                        </a:rPr>
                        <a:t>4ファミリ</a:t>
                      </a:r>
                      <a:endParaRPr lang="en-US" sz="1100" dirty="0">
                        <a:latin typeface="Meiryo" charset="0"/>
                        <a:ea typeface="Meiryo" charset="0"/>
                        <a:cs typeface="Meiryo" charset="0"/>
                      </a:endParaRPr>
                    </a:p>
                  </a:txBody>
                  <a:tcPr marL="91440" marR="91440" marT="45720" marB="45720">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tcPr>
                </a:tc>
                <a:tc>
                  <a:txBody>
                    <a:bodyPr/>
                    <a:lstStyle/>
                    <a:p>
                      <a:pPr indent="0" marL="0">
                        <a:buNone/>
                      </a:pPr>
                      <a:r>
                        <a:rPr lang="en-US" sz="1100" dirty="0">
                          <a:solidFill>
                            <a:srgbClr val="1A1A1A"/>
                          </a:solidFill>
                          <a:latin typeface="Meiryo" pitchFamily="34" charset="0"/>
                          <a:ea typeface="Meiryo" pitchFamily="34" charset="-122"/>
                          <a:cs typeface="Meiryo" pitchFamily="34" charset="-120"/>
                        </a:rPr>
                        <a:t>1〜2ファミリ</a:t>
                      </a:r>
                      <a:endParaRPr lang="en-US" sz="1100" dirty="0">
                        <a:latin typeface="Meiryo" charset="0"/>
                        <a:ea typeface="Meiryo" charset="0"/>
                        <a:cs typeface="Meiryo" charset="0"/>
                      </a:endParaRPr>
                    </a:p>
                  </a:txBody>
                  <a:tcPr marL="91440" marR="91440" marT="45720" marB="45720">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tcPr>
                </a:tc>
                <a:tc>
                  <a:txBody>
                    <a:bodyPr/>
                    <a:lstStyle/>
                    <a:p>
                      <a:pPr indent="0" marL="0">
                        <a:buNone/>
                      </a:pPr>
                      <a:r>
                        <a:rPr lang="en-US" sz="1100" dirty="0">
                          <a:solidFill>
                            <a:srgbClr val="1A1A1A"/>
                          </a:solidFill>
                          <a:latin typeface="Meiryo" pitchFamily="34" charset="0"/>
                          <a:ea typeface="Meiryo" pitchFamily="34" charset="-122"/>
                          <a:cs typeface="Meiryo" pitchFamily="34" charset="-120"/>
                        </a:rPr>
                        <a:t>和文1・欧文1に絞ります</a:t>
                      </a:r>
                      <a:endParaRPr lang="en-US" sz="1100" dirty="0">
                        <a:latin typeface="Meiryo" charset="0"/>
                        <a:ea typeface="Meiryo" charset="0"/>
                        <a:cs typeface="Meiryo" charset="0"/>
                      </a:endParaRPr>
                    </a:p>
                  </a:txBody>
                  <a:tcPr marL="91440" marR="91440" marT="45720" marB="45720">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tcPr>
                </a:tc>
              </a:tr>
              <a:tr h="0">
                <a:tc>
                  <a:txBody>
                    <a:bodyPr/>
                    <a:lstStyle/>
                    <a:p>
                      <a:pPr indent="0" marL="0">
                        <a:buNone/>
                      </a:pPr>
                      <a:r>
                        <a:rPr lang="en-US" sz="1100" dirty="0">
                          <a:solidFill>
                            <a:srgbClr val="1A1A1A"/>
                          </a:solidFill>
                          <a:latin typeface="Meiryo" pitchFamily="34" charset="0"/>
                          <a:ea typeface="Meiryo" pitchFamily="34" charset="-122"/>
                          <a:cs typeface="Meiryo" pitchFamily="34" charset="-120"/>
                        </a:rPr>
                        <a:t>外部CDNの直読み</a:t>
                      </a:r>
                      <a:endParaRPr lang="en-US" sz="1100" dirty="0">
                        <a:latin typeface="Meiryo" charset="0"/>
                        <a:ea typeface="Meiryo" charset="0"/>
                        <a:cs typeface="Meiryo" charset="0"/>
                      </a:endParaRPr>
                    </a:p>
                  </a:txBody>
                  <a:tcPr marL="91440" marR="91440" marT="45720" marB="45720">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tcPr>
                </a:tc>
                <a:tc>
                  <a:txBody>
                    <a:bodyPr/>
                    <a:lstStyle/>
                    <a:p>
                      <a:pPr indent="0" marL="0">
                        <a:buNone/>
                      </a:pPr>
                      <a:r>
                        <a:rPr lang="en-US" sz="1100" dirty="0">
                          <a:solidFill>
                            <a:srgbClr val="1A1A1A"/>
                          </a:solidFill>
                          <a:latin typeface="Meiryo" pitchFamily="34" charset="0"/>
                          <a:ea typeface="Meiryo" pitchFamily="34" charset="-122"/>
                          <a:cs typeface="Meiryo" pitchFamily="34" charset="-120"/>
                        </a:rPr>
                        <a:t>1件（バージョン指定なし）</a:t>
                      </a:r>
                      <a:endParaRPr lang="en-US" sz="1100" dirty="0">
                        <a:latin typeface="Meiryo" charset="0"/>
                        <a:ea typeface="Meiryo" charset="0"/>
                        <a:cs typeface="Meiryo" charset="0"/>
                      </a:endParaRPr>
                    </a:p>
                  </a:txBody>
                  <a:tcPr marL="91440" marR="91440" marT="45720" marB="45720">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tcPr>
                </a:tc>
                <a:tc>
                  <a:txBody>
                    <a:bodyPr/>
                    <a:lstStyle/>
                    <a:p>
                      <a:pPr indent="0" marL="0">
                        <a:buNone/>
                      </a:pPr>
                      <a:r>
                        <a:rPr lang="en-US" sz="1100" dirty="0">
                          <a:solidFill>
                            <a:srgbClr val="1A1A1A"/>
                          </a:solidFill>
                          <a:latin typeface="Meiryo" pitchFamily="34" charset="0"/>
                          <a:ea typeface="Meiryo" pitchFamily="34" charset="-122"/>
                          <a:cs typeface="Meiryo" pitchFamily="34" charset="-120"/>
                        </a:rPr>
                        <a:t>0件</a:t>
                      </a:r>
                      <a:endParaRPr lang="en-US" sz="1100" dirty="0">
                        <a:latin typeface="Meiryo" charset="0"/>
                        <a:ea typeface="Meiryo" charset="0"/>
                        <a:cs typeface="Meiryo" charset="0"/>
                      </a:endParaRPr>
                    </a:p>
                  </a:txBody>
                  <a:tcPr marL="91440" marR="91440" marT="45720" marB="45720">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tcPr>
                </a:tc>
                <a:tc>
                  <a:txBody>
                    <a:bodyPr/>
                    <a:lstStyle/>
                    <a:p>
                      <a:pPr indent="0" marL="0">
                        <a:buNone/>
                      </a:pPr>
                      <a:r>
                        <a:rPr lang="en-US" sz="1100" dirty="0">
                          <a:solidFill>
                            <a:srgbClr val="1A1A1A"/>
                          </a:solidFill>
                          <a:latin typeface="Meiryo" pitchFamily="34" charset="0"/>
                          <a:ea typeface="Meiryo" pitchFamily="34" charset="-122"/>
                          <a:cs typeface="Meiryo" pitchFamily="34" charset="-120"/>
                        </a:rPr>
                        <a:t>自己ホストに変更します</a:t>
                      </a:r>
                      <a:endParaRPr lang="en-US" sz="1100" dirty="0">
                        <a:latin typeface="Meiryo" charset="0"/>
                        <a:ea typeface="Meiryo" charset="0"/>
                        <a:cs typeface="Meiryo" charset="0"/>
                      </a:endParaRPr>
                    </a:p>
                  </a:txBody>
                  <a:tcPr marL="91440" marR="91440" marT="45720" marB="45720">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tcPr>
                </a:tc>
              </a:tr>
              <a:tr h="0">
                <a:tc>
                  <a:txBody>
                    <a:bodyPr/>
                    <a:lstStyle/>
                    <a:p>
                      <a:pPr indent="0" marL="0">
                        <a:buNone/>
                      </a:pPr>
                      <a:r>
                        <a:rPr lang="en-US" sz="1100" dirty="0">
                          <a:solidFill>
                            <a:srgbClr val="1A1A1A"/>
                          </a:solidFill>
                          <a:latin typeface="Meiryo" pitchFamily="34" charset="0"/>
                          <a:ea typeface="Meiryo" pitchFamily="34" charset="-122"/>
                          <a:cs typeface="Meiryo" pitchFamily="34" charset="-120"/>
                        </a:rPr>
                        <a:t>セキュリティヘッダ</a:t>
                      </a:r>
                      <a:endParaRPr lang="en-US" sz="1100" dirty="0">
                        <a:latin typeface="Meiryo" charset="0"/>
                        <a:ea typeface="Meiryo" charset="0"/>
                        <a:cs typeface="Meiryo" charset="0"/>
                      </a:endParaRPr>
                    </a:p>
                  </a:txBody>
                  <a:tcPr marL="91440" marR="91440" marT="45720" marB="45720">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tcPr>
                </a:tc>
                <a:tc>
                  <a:txBody>
                    <a:bodyPr/>
                    <a:lstStyle/>
                    <a:p>
                      <a:pPr indent="0" marL="0">
                        <a:buNone/>
                      </a:pPr>
                      <a:r>
                        <a:rPr lang="en-US" sz="1100" dirty="0">
                          <a:solidFill>
                            <a:srgbClr val="1A1A1A"/>
                          </a:solidFill>
                          <a:latin typeface="Meiryo" pitchFamily="34" charset="0"/>
                          <a:ea typeface="Meiryo" pitchFamily="34" charset="-122"/>
                          <a:cs typeface="Meiryo" pitchFamily="34" charset="-120"/>
                        </a:rPr>
                        <a:t>3項目とも未設定</a:t>
                      </a:r>
                      <a:endParaRPr lang="en-US" sz="1100" dirty="0">
                        <a:latin typeface="Meiryo" charset="0"/>
                        <a:ea typeface="Meiryo" charset="0"/>
                        <a:cs typeface="Meiryo" charset="0"/>
                      </a:endParaRPr>
                    </a:p>
                  </a:txBody>
                  <a:tcPr marL="91440" marR="91440" marT="45720" marB="45720">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tcPr>
                </a:tc>
                <a:tc>
                  <a:txBody>
                    <a:bodyPr/>
                    <a:lstStyle/>
                    <a:p>
                      <a:pPr indent="0" marL="0">
                        <a:buNone/>
                      </a:pPr>
                      <a:r>
                        <a:rPr lang="en-US" sz="1100" dirty="0">
                          <a:solidFill>
                            <a:srgbClr val="1A1A1A"/>
                          </a:solidFill>
                          <a:latin typeface="Meiryo" pitchFamily="34" charset="0"/>
                          <a:ea typeface="Meiryo" pitchFamily="34" charset="-122"/>
                          <a:cs typeface="Meiryo" pitchFamily="34" charset="-120"/>
                        </a:rPr>
                        <a:t>3項目とも設定</a:t>
                      </a:r>
                      <a:endParaRPr lang="en-US" sz="1100" dirty="0">
                        <a:latin typeface="Meiryo" charset="0"/>
                        <a:ea typeface="Meiryo" charset="0"/>
                        <a:cs typeface="Meiryo" charset="0"/>
                      </a:endParaRPr>
                    </a:p>
                  </a:txBody>
                  <a:tcPr marL="91440" marR="91440" marT="45720" marB="45720">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tcPr>
                </a:tc>
                <a:tc>
                  <a:txBody>
                    <a:bodyPr/>
                    <a:lstStyle/>
                    <a:p>
                      <a:pPr indent="0" marL="0">
                        <a:buNone/>
                      </a:pPr>
                      <a:r>
                        <a:rPr lang="en-US" sz="1100" dirty="0">
                          <a:solidFill>
                            <a:srgbClr val="1A1A1A"/>
                          </a:solidFill>
                          <a:latin typeface="Meiryo" pitchFamily="34" charset="0"/>
                          <a:ea typeface="Meiryo" pitchFamily="34" charset="-122"/>
                          <a:cs typeface="Meiryo" pitchFamily="34" charset="-120"/>
                        </a:rPr>
                        <a:t>HSTS／X-Frame-Options／X-Content-Type-Options</a:t>
                      </a:r>
                      <a:endParaRPr lang="en-US" sz="1100" dirty="0">
                        <a:latin typeface="Meiryo" charset="0"/>
                        <a:ea typeface="Meiryo" charset="0"/>
                        <a:cs typeface="Meiryo" charset="0"/>
                      </a:endParaRPr>
                    </a:p>
                  </a:txBody>
                  <a:tcPr marL="91440" marR="91440" marT="45720" marB="45720">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tcPr>
                </a:tc>
              </a:tr>
              <a:tr h="0">
                <a:tc>
                  <a:txBody>
                    <a:bodyPr/>
                    <a:lstStyle/>
                    <a:p>
                      <a:pPr indent="0" marL="0">
                        <a:buNone/>
                      </a:pPr>
                      <a:r>
                        <a:rPr lang="en-US" sz="1100" dirty="0">
                          <a:solidFill>
                            <a:srgbClr val="1A1A1A"/>
                          </a:solidFill>
                          <a:latin typeface="Meiryo" pitchFamily="34" charset="0"/>
                          <a:ea typeface="Meiryo" pitchFamily="34" charset="-122"/>
                          <a:cs typeface="Meiryo" pitchFamily="34" charset="-120"/>
                        </a:rPr>
                        <a:t>重要情報のPDF比率</a:t>
                      </a:r>
                      <a:endParaRPr lang="en-US" sz="1100" dirty="0">
                        <a:latin typeface="Meiryo" charset="0"/>
                        <a:ea typeface="Meiryo" charset="0"/>
                        <a:cs typeface="Meiryo" charset="0"/>
                      </a:endParaRPr>
                    </a:p>
                  </a:txBody>
                  <a:tcPr marL="91440" marR="91440" marT="45720" marB="45720">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tcPr>
                </a:tc>
                <a:tc>
                  <a:txBody>
                    <a:bodyPr/>
                    <a:lstStyle/>
                    <a:p>
                      <a:pPr indent="0" marL="0">
                        <a:buNone/>
                      </a:pPr>
                      <a:r>
                        <a:rPr lang="en-US" sz="1100" dirty="0">
                          <a:solidFill>
                            <a:srgbClr val="1A1A1A"/>
                          </a:solidFill>
                          <a:latin typeface="Meiryo" pitchFamily="34" charset="0"/>
                          <a:ea typeface="Meiryo" pitchFamily="34" charset="-122"/>
                          <a:cs typeface="Meiryo" pitchFamily="34" charset="-120"/>
                        </a:rPr>
                        <a:t>未計測</a:t>
                      </a:r>
                      <a:endParaRPr lang="en-US" sz="1100" dirty="0">
                        <a:latin typeface="Meiryo" charset="0"/>
                        <a:ea typeface="Meiryo" charset="0"/>
                        <a:cs typeface="Meiryo" charset="0"/>
                      </a:endParaRPr>
                    </a:p>
                  </a:txBody>
                  <a:tcPr marL="91440" marR="91440" marT="45720" marB="45720">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tcPr>
                </a:tc>
                <a:tc>
                  <a:txBody>
                    <a:bodyPr/>
                    <a:lstStyle/>
                    <a:p>
                      <a:pPr indent="0" marL="0">
                        <a:buNone/>
                      </a:pPr>
                      <a:r>
                        <a:rPr lang="en-US" sz="1100" dirty="0">
                          <a:solidFill>
                            <a:srgbClr val="1A1A1A"/>
                          </a:solidFill>
                          <a:latin typeface="Meiryo" pitchFamily="34" charset="0"/>
                          <a:ea typeface="Meiryo" pitchFamily="34" charset="-122"/>
                          <a:cs typeface="Meiryo" pitchFamily="34" charset="-120"/>
                        </a:rPr>
                        <a:t>棚卸し後に設定</a:t>
                      </a:r>
                      <a:endParaRPr lang="en-US" sz="1100" dirty="0">
                        <a:latin typeface="Meiryo" charset="0"/>
                        <a:ea typeface="Meiryo" charset="0"/>
                        <a:cs typeface="Meiryo" charset="0"/>
                      </a:endParaRPr>
                    </a:p>
                  </a:txBody>
                  <a:tcPr marL="91440" marR="91440" marT="45720" marB="45720">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tcPr>
                </a:tc>
                <a:tc>
                  <a:txBody>
                    <a:bodyPr/>
                    <a:lstStyle/>
                    <a:p>
                      <a:pPr indent="0" marL="0">
                        <a:buNone/>
                      </a:pPr>
                      <a:r>
                        <a:rPr lang="en-US" sz="1100" dirty="0">
                          <a:solidFill>
                            <a:srgbClr val="1A1A1A"/>
                          </a:solidFill>
                          <a:latin typeface="Meiryo" pitchFamily="34" charset="0"/>
                          <a:ea typeface="Meiryo" pitchFamily="34" charset="-122"/>
                          <a:cs typeface="Meiryo" pitchFamily="34" charset="-120"/>
                        </a:rPr>
                        <a:t>掲載数の確認が必要です（要確認）</a:t>
                      </a:r>
                      <a:endParaRPr lang="en-US" sz="1100" dirty="0">
                        <a:latin typeface="Meiryo" charset="0"/>
                        <a:ea typeface="Meiryo" charset="0"/>
                        <a:cs typeface="Meiryo" charset="0"/>
                      </a:endParaRPr>
                    </a:p>
                  </a:txBody>
                  <a:tcPr marL="91440" marR="91440" marT="45720" marB="45720">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tcPr>
                </a:tc>
              </a:tr>
            </a:tbl>
          </a:graphicData>
        </a:graphic>
      </p:graphicFrame>
      <p:sp>
        <p:nvSpPr>
          <p:cNvPr id="7" name="Text 4"/>
          <p:cNvSpPr/>
          <p:nvPr/>
        </p:nvSpPr>
        <p:spPr>
          <a:xfrm>
            <a:off x="502920" y="4759452"/>
            <a:ext cx="6949440" cy="228600"/>
          </a:xfrm>
          <a:prstGeom prst="rect">
            <a:avLst/>
          </a:prstGeom>
          <a:noFill/>
          <a:ln/>
        </p:spPr>
        <p:txBody>
          <a:bodyPr wrap="square" rtlCol="0" anchor="ctr"/>
          <a:lstStyle/>
          <a:p>
            <a:pPr indent="0" marL="0">
              <a:buNone/>
            </a:pPr>
            <a:r>
              <a:rPr lang="en-US" sz="900" dirty="0">
                <a:solidFill>
                  <a:srgbClr val="6B6B6B"/>
                </a:solidFill>
                <a:latin typeface="Meiryo" pitchFamily="34" charset="0"/>
                <a:ea typeface="Meiryo" pitchFamily="34" charset="-122"/>
                <a:cs typeface="Meiryo" pitchFamily="34" charset="-120"/>
              </a:rPr>
              <a:t>出典: projects/johoku-saitama/research/current-site-audit.md（2026-09-18 実測）</a:t>
            </a:r>
            <a:endParaRPr lang="en-US" sz="900" dirty="0"/>
          </a:p>
        </p:txBody>
      </p:sp>
      <p:sp>
        <p:nvSpPr>
          <p:cNvPr id="8" name="Text 5"/>
          <p:cNvSpPr/>
          <p:nvPr/>
        </p:nvSpPr>
        <p:spPr>
          <a:xfrm>
            <a:off x="7543800" y="4759452"/>
            <a:ext cx="1097280" cy="228600"/>
          </a:xfrm>
          <a:prstGeom prst="rect">
            <a:avLst/>
          </a:prstGeom>
          <a:noFill/>
          <a:ln/>
        </p:spPr>
        <p:txBody>
          <a:bodyPr wrap="square" rtlCol="0" anchor="ctr"/>
          <a:lstStyle/>
          <a:p>
            <a:pPr algn="r" indent="0" marL="0">
              <a:buNone/>
            </a:pPr>
            <a:r>
              <a:rPr lang="en-US" sz="900" dirty="0">
                <a:solidFill>
                  <a:srgbClr val="6B6B6B"/>
                </a:solidFill>
                <a:latin typeface="Meiryo" pitchFamily="34" charset="0"/>
                <a:ea typeface="Meiryo" pitchFamily="34" charset="-122"/>
                <a:cs typeface="Meiryo" pitchFamily="34" charset="-120"/>
              </a:rPr>
              <a:t>28|82</a:t>
            </a:r>
            <a:endParaRPr lang="en-US" sz="9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1F3A5F"/>
        </a:solidFill>
      </p:bgPr>
    </p:bg>
    <p:spTree>
      <p:nvGrpSpPr>
        <p:cNvPr id="1" name=""/>
        <p:cNvGrpSpPr/>
        <p:nvPr/>
      </p:nvGrpSpPr>
      <p:grpSpPr>
        <a:xfrm>
          <a:off x="0" y="0"/>
          <a:ext cx="0" cy="0"/>
          <a:chOff x="0" y="0"/>
          <a:chExt cx="0" cy="0"/>
        </a:xfrm>
      </p:grpSpPr>
      <p:sp>
        <p:nvSpPr>
          <p:cNvPr id="2" name="Text 0"/>
          <p:cNvSpPr/>
          <p:nvPr/>
        </p:nvSpPr>
        <p:spPr>
          <a:xfrm>
            <a:off x="502920" y="1737360"/>
            <a:ext cx="1280160" cy="640080"/>
          </a:xfrm>
          <a:prstGeom prst="rect">
            <a:avLst/>
          </a:prstGeom>
          <a:noFill/>
          <a:ln/>
        </p:spPr>
        <p:txBody>
          <a:bodyPr wrap="square" rtlCol="0" anchor="ctr"/>
          <a:lstStyle/>
          <a:p>
            <a:pPr indent="0" marL="0">
              <a:buNone/>
            </a:pPr>
            <a:r>
              <a:rPr lang="en-US" sz="3400" b="1" dirty="0">
                <a:solidFill>
                  <a:srgbClr val="FFFFFF"/>
                </a:solidFill>
                <a:latin typeface="Meiryo" pitchFamily="34" charset="0"/>
                <a:ea typeface="Meiryo" pitchFamily="34" charset="-122"/>
                <a:cs typeface="Meiryo" pitchFamily="34" charset="-120"/>
              </a:rPr>
              <a:t>05</a:t>
            </a:r>
            <a:endParaRPr lang="en-US" sz="3400" dirty="0"/>
          </a:p>
        </p:txBody>
      </p:sp>
      <p:sp>
        <p:nvSpPr>
          <p:cNvPr id="3" name="Text 1"/>
          <p:cNvSpPr/>
          <p:nvPr/>
        </p:nvSpPr>
        <p:spPr>
          <a:xfrm>
            <a:off x="502920" y="2377440"/>
            <a:ext cx="8138160" cy="365760"/>
          </a:xfrm>
          <a:prstGeom prst="rect">
            <a:avLst/>
          </a:prstGeom>
          <a:noFill/>
          <a:ln/>
        </p:spPr>
        <p:txBody>
          <a:bodyPr wrap="square" rtlCol="0" anchor="ctr"/>
          <a:lstStyle/>
          <a:p>
            <a:pPr indent="0" marL="0">
              <a:buNone/>
            </a:pPr>
            <a:r>
              <a:rPr lang="en-US" sz="1300" dirty="0">
                <a:solidFill>
                  <a:srgbClr val="FFFFFF"/>
                </a:solidFill>
                <a:latin typeface="Meiryo" pitchFamily="34" charset="0"/>
                <a:ea typeface="Meiryo" pitchFamily="34" charset="-122"/>
                <a:cs typeface="Meiryo" pitchFamily="34" charset="-120"/>
              </a:rPr>
              <a:t>SEO / Acquisition</a:t>
            </a:r>
            <a:endParaRPr lang="en-US" sz="1300" dirty="0"/>
          </a:p>
        </p:txBody>
      </p:sp>
      <p:sp>
        <p:nvSpPr>
          <p:cNvPr id="4" name="Text 2"/>
          <p:cNvSpPr/>
          <p:nvPr/>
        </p:nvSpPr>
        <p:spPr>
          <a:xfrm>
            <a:off x="502920" y="2743200"/>
            <a:ext cx="8138160" cy="548640"/>
          </a:xfrm>
          <a:prstGeom prst="rect">
            <a:avLst/>
          </a:prstGeom>
          <a:noFill/>
          <a:ln/>
        </p:spPr>
        <p:txBody>
          <a:bodyPr wrap="square" rtlCol="0" anchor="ctr"/>
          <a:lstStyle/>
          <a:p>
            <a:pPr indent="0" marL="0">
              <a:buNone/>
            </a:pPr>
            <a:r>
              <a:rPr lang="en-US" sz="2400" b="1" dirty="0">
                <a:solidFill>
                  <a:srgbClr val="FFFFFF"/>
                </a:solidFill>
                <a:latin typeface="Meiryo" pitchFamily="34" charset="0"/>
                <a:ea typeface="Meiryo" pitchFamily="34" charset="-122"/>
                <a:cs typeface="Meiryo" pitchFamily="34" charset="-120"/>
              </a:rPr>
              <a:t>集客・SEO</a:t>
            </a:r>
            <a:endParaRPr lang="en-US" sz="2400" dirty="0"/>
          </a:p>
        </p:txBody>
      </p:sp>
      <p:sp>
        <p:nvSpPr>
          <p:cNvPr id="5" name="Text 3"/>
          <p:cNvSpPr/>
          <p:nvPr/>
        </p:nvSpPr>
        <p:spPr>
          <a:xfrm>
            <a:off x="7543800" y="4759452"/>
            <a:ext cx="1097280" cy="228600"/>
          </a:xfrm>
          <a:prstGeom prst="rect">
            <a:avLst/>
          </a:prstGeom>
          <a:noFill/>
          <a:ln/>
        </p:spPr>
        <p:txBody>
          <a:bodyPr wrap="square" rtlCol="0" anchor="ctr"/>
          <a:lstStyle/>
          <a:p>
            <a:pPr algn="r" indent="0" marL="0">
              <a:buNone/>
            </a:pPr>
            <a:r>
              <a:rPr lang="en-US" sz="900" dirty="0">
                <a:solidFill>
                  <a:srgbClr val="6B6B6B"/>
                </a:solidFill>
                <a:latin typeface="Meiryo" pitchFamily="34" charset="0"/>
                <a:ea typeface="Meiryo" pitchFamily="34" charset="-122"/>
                <a:cs typeface="Meiryo" pitchFamily="34" charset="-120"/>
              </a:rPr>
              <a:t>29|82</a:t>
            </a:r>
            <a:endParaRPr lang="en-US" sz="9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502920" y="502920"/>
            <a:ext cx="8138160" cy="228600"/>
          </a:xfrm>
          <a:prstGeom prst="rect">
            <a:avLst/>
          </a:prstGeom>
          <a:noFill/>
          <a:ln/>
        </p:spPr>
        <p:txBody>
          <a:bodyPr wrap="square" rtlCol="0" anchor="ctr"/>
          <a:lstStyle/>
          <a:p>
            <a:pPr indent="0" marL="0">
              <a:buNone/>
            </a:pPr>
            <a:r>
              <a:rPr lang="en-US" sz="1000" dirty="0">
                <a:solidFill>
                  <a:srgbClr val="6B6B6B"/>
                </a:solidFill>
                <a:latin typeface="Meiryo" pitchFamily="34" charset="0"/>
                <a:ea typeface="Meiryo" pitchFamily="34" charset="-122"/>
                <a:cs typeface="Meiryo" pitchFamily="34" charset="-120"/>
              </a:rPr>
              <a:t>05 SEO / Acquisition</a:t>
            </a:r>
            <a:endParaRPr lang="en-US" sz="1000" dirty="0"/>
          </a:p>
        </p:txBody>
      </p:sp>
      <p:sp>
        <p:nvSpPr>
          <p:cNvPr id="3" name="Text 1"/>
          <p:cNvSpPr/>
          <p:nvPr/>
        </p:nvSpPr>
        <p:spPr>
          <a:xfrm>
            <a:off x="502920" y="777240"/>
            <a:ext cx="8138160" cy="457200"/>
          </a:xfrm>
          <a:prstGeom prst="rect">
            <a:avLst/>
          </a:prstGeom>
          <a:noFill/>
          <a:ln/>
        </p:spPr>
        <p:txBody>
          <a:bodyPr wrap="square" rtlCol="0" anchor="ctr"/>
          <a:lstStyle/>
          <a:p>
            <a:pPr indent="0" marL="0">
              <a:buNone/>
            </a:pPr>
            <a:r>
              <a:rPr lang="en-US" sz="2000" b="1" dirty="0">
                <a:solidFill>
                  <a:srgbClr val="1A1A1A"/>
                </a:solidFill>
                <a:latin typeface="Meiryo" pitchFamily="34" charset="0"/>
                <a:ea typeface="Meiryo" pitchFamily="34" charset="-122"/>
                <a:cs typeface="Meiryo" pitchFamily="34" charset="-120"/>
              </a:rPr>
              <a:t>URL設計の方針</a:t>
            </a:r>
            <a:endParaRPr lang="en-US" sz="2000" dirty="0"/>
          </a:p>
        </p:txBody>
      </p:sp>
      <p:sp>
        <p:nvSpPr>
          <p:cNvPr id="4" name="Shape 2"/>
          <p:cNvSpPr/>
          <p:nvPr/>
        </p:nvSpPr>
        <p:spPr>
          <a:xfrm>
            <a:off x="502920" y="1280160"/>
            <a:ext cx="8138160" cy="0"/>
          </a:xfrm>
          <a:prstGeom prst="line">
            <a:avLst/>
          </a:prstGeom>
          <a:noFill/>
          <a:ln w="12700">
            <a:solidFill>
              <a:srgbClr val="D5D5D5"/>
            </a:solidFill>
            <a:prstDash val="solid"/>
          </a:ln>
        </p:spPr>
      </p:sp>
      <p:sp>
        <p:nvSpPr>
          <p:cNvPr id="5" name="Text 3"/>
          <p:cNvSpPr/>
          <p:nvPr/>
        </p:nvSpPr>
        <p:spPr>
          <a:xfrm>
            <a:off x="502920" y="1417320"/>
            <a:ext cx="8138160" cy="457200"/>
          </a:xfrm>
          <a:prstGeom prst="rect">
            <a:avLst/>
          </a:prstGeom>
          <a:noFill/>
          <a:ln/>
        </p:spPr>
        <p:txBody>
          <a:bodyPr wrap="square" rtlCol="0" anchor="t"/>
          <a:lstStyle/>
          <a:p>
            <a:pPr indent="0" marL="0">
              <a:buNone/>
            </a:pPr>
            <a:r>
              <a:rPr lang="en-US" sz="1200" dirty="0">
                <a:solidFill>
                  <a:srgbClr val="1A1A1A"/>
                </a:solidFill>
                <a:latin typeface="Meiryo" pitchFamily="34" charset="0"/>
                <a:ea typeface="Meiryo" pitchFamily="34" charset="-122"/>
                <a:cs typeface="Meiryo" pitchFamily="34" charset="-120"/>
              </a:rPr>
              <a:t>現行の命名不統一と区分の混在を、新サイトで整理します。URLは公開後に直しにくいため、サイトマップ確定時に同時に確定させます。</a:t>
            </a:r>
            <a:endParaRPr lang="en-US" sz="1200" dirty="0"/>
          </a:p>
        </p:txBody>
      </p:sp>
      <p:sp>
        <p:nvSpPr>
          <p:cNvPr id="6" name="Text 4"/>
          <p:cNvSpPr/>
          <p:nvPr/>
        </p:nvSpPr>
        <p:spPr>
          <a:xfrm>
            <a:off x="502920" y="1965960"/>
            <a:ext cx="8138160" cy="2628900"/>
          </a:xfrm>
          <a:prstGeom prst="rect">
            <a:avLst/>
          </a:prstGeom>
          <a:noFill/>
          <a:ln/>
        </p:spPr>
        <p:txBody>
          <a:bodyPr wrap="square" rtlCol="0" anchor="t"/>
          <a:lstStyle/>
          <a:p>
            <a:pPr marL="342900" indent="-342900">
              <a:lnSpc>
                <a:spcPct val="130000"/>
              </a:lnSpc>
              <a:buSzPct val="100000"/>
              <a:buChar char="•"/>
            </a:pPr>
            <a:r>
              <a:rPr lang="en-US" sz="1300" dirty="0">
                <a:solidFill>
                  <a:srgbClr val="1A1A1A"/>
                </a:solidFill>
                <a:latin typeface="Meiryo" pitchFamily="34" charset="0"/>
                <a:ea typeface="Meiryo" pitchFamily="34" charset="-122"/>
                <a:cs typeface="Meiryo" pitchFamily="34" charset="-120"/>
              </a:rPr>
              <a:t>方針01: 学部・コースの区分を1系統に統一し、区分別アーカイブとの二重導線を解消します</a:t>
            </a:r>
            <a:endParaRPr lang="en-US" sz="1300" dirty="0"/>
          </a:p>
          <a:p>
            <a:pPr marL="342900" indent="-342900">
              <a:lnSpc>
                <a:spcPct val="130000"/>
              </a:lnSpc>
              <a:buSzPct val="100000"/>
              <a:buChar char="•"/>
            </a:pPr>
            <a:r>
              <a:rPr lang="en-US" sz="1300" dirty="0">
                <a:solidFill>
                  <a:srgbClr val="1A1A1A"/>
                </a:solidFill>
                <a:latin typeface="Meiryo" pitchFamily="34" charset="0"/>
                <a:ea typeface="Meiryo" pitchFamily="34" charset="-122"/>
                <a:cs typeface="Meiryo" pitchFamily="34" charset="-120"/>
              </a:rPr>
              <a:t>方針02: 中学・高校で語順が逆になっている命名（syllabus と syllabus_m、result-high と result-junior）を揃えます</a:t>
            </a:r>
            <a:endParaRPr lang="en-US" sz="1300" dirty="0"/>
          </a:p>
          <a:p>
            <a:pPr marL="342900" indent="-342900">
              <a:lnSpc>
                <a:spcPct val="130000"/>
              </a:lnSpc>
              <a:buSzPct val="100000"/>
              <a:buChar char="•"/>
            </a:pPr>
            <a:r>
              <a:rPr lang="en-US" sz="1300" dirty="0">
                <a:solidFill>
                  <a:srgbClr val="1A1A1A"/>
                </a:solidFill>
                <a:latin typeface="Meiryo" pitchFamily="34" charset="0"/>
                <a:ea typeface="Meiryo" pitchFamily="34" charset="-122"/>
                <a:cs typeface="Meiryo" pitchFamily="34" charset="-120"/>
              </a:rPr>
              <a:t>方針03: 同一コンテンツへの入口を1つに定めます（部活動の重複を解消します）</a:t>
            </a:r>
            <a:endParaRPr lang="en-US" sz="1300" dirty="0"/>
          </a:p>
          <a:p>
            <a:pPr marL="342900" indent="-342900">
              <a:lnSpc>
                <a:spcPct val="130000"/>
              </a:lnSpc>
              <a:buSzPct val="100000"/>
              <a:buChar char="•"/>
            </a:pPr>
            <a:r>
              <a:rPr lang="en-US" sz="1300" dirty="0">
                <a:solidFill>
                  <a:srgbClr val="1A1A1A"/>
                </a:solidFill>
                <a:latin typeface="Meiryo" pitchFamily="34" charset="0"/>
                <a:ea typeface="Meiryo" pitchFamily="34" charset="-122"/>
                <a:cs typeface="Meiryo" pitchFamily="34" charset="-120"/>
              </a:rPr>
              <a:t>方針04: www有無を統一し、サイト内の参照を揃えます</a:t>
            </a:r>
            <a:endParaRPr lang="en-US" sz="1300" dirty="0"/>
          </a:p>
          <a:p>
            <a:pPr marL="342900" indent="-342900">
              <a:lnSpc>
                <a:spcPct val="130000"/>
              </a:lnSpc>
              <a:buSzPct val="100000"/>
              <a:buChar char="•"/>
            </a:pPr>
            <a:r>
              <a:rPr lang="en-US" sz="1300" dirty="0">
                <a:solidFill>
                  <a:srgbClr val="1A1A1A"/>
                </a:solidFill>
                <a:latin typeface="Meiryo" pitchFamily="34" charset="0"/>
                <a:ea typeface="Meiryo" pitchFamily="34" charset="-122"/>
                <a:cs typeface="Meiryo" pitchFamily="34" charset="-120"/>
              </a:rPr>
              <a:t>確定のタイミング: サイトマップ（別紙・仕様書）の確定と同時に行います</a:t>
            </a:r>
            <a:endParaRPr lang="en-US" sz="1300" dirty="0"/>
          </a:p>
        </p:txBody>
      </p:sp>
      <p:sp>
        <p:nvSpPr>
          <p:cNvPr id="7" name="Text 5"/>
          <p:cNvSpPr/>
          <p:nvPr/>
        </p:nvSpPr>
        <p:spPr>
          <a:xfrm>
            <a:off x="502920" y="4759452"/>
            <a:ext cx="6949440" cy="228600"/>
          </a:xfrm>
          <a:prstGeom prst="rect">
            <a:avLst/>
          </a:prstGeom>
          <a:noFill/>
          <a:ln/>
        </p:spPr>
        <p:txBody>
          <a:bodyPr wrap="square" rtlCol="0" anchor="ctr"/>
          <a:lstStyle/>
          <a:p>
            <a:pPr indent="0" marL="0">
              <a:buNone/>
            </a:pPr>
            <a:r>
              <a:rPr lang="en-US" sz="900" dirty="0">
                <a:solidFill>
                  <a:srgbClr val="6B6B6B"/>
                </a:solidFill>
                <a:latin typeface="Meiryo" pitchFamily="34" charset="0"/>
                <a:ea typeface="Meiryo" pitchFamily="34" charset="-122"/>
                <a:cs typeface="Meiryo" pitchFamily="34" charset="-120"/>
              </a:rPr>
              <a:t>出典: projects/johoku-saitama/research/current-site-audit.md（2026-09-18 実測）</a:t>
            </a:r>
            <a:endParaRPr lang="en-US" sz="900" dirty="0"/>
          </a:p>
        </p:txBody>
      </p:sp>
      <p:sp>
        <p:nvSpPr>
          <p:cNvPr id="8" name="Text 6"/>
          <p:cNvSpPr/>
          <p:nvPr/>
        </p:nvSpPr>
        <p:spPr>
          <a:xfrm>
            <a:off x="7543800" y="4759452"/>
            <a:ext cx="1097280" cy="228600"/>
          </a:xfrm>
          <a:prstGeom prst="rect">
            <a:avLst/>
          </a:prstGeom>
          <a:noFill/>
          <a:ln/>
        </p:spPr>
        <p:txBody>
          <a:bodyPr wrap="square" rtlCol="0" anchor="ctr"/>
          <a:lstStyle/>
          <a:p>
            <a:pPr algn="r" indent="0" marL="0">
              <a:buNone/>
            </a:pPr>
            <a:r>
              <a:rPr lang="en-US" sz="900" dirty="0">
                <a:solidFill>
                  <a:srgbClr val="6B6B6B"/>
                </a:solidFill>
                <a:latin typeface="Meiryo" pitchFamily="34" charset="0"/>
                <a:ea typeface="Meiryo" pitchFamily="34" charset="-122"/>
                <a:cs typeface="Meiryo" pitchFamily="34" charset="-120"/>
              </a:rPr>
              <a:t>30|82</a:t>
            </a:r>
            <a:endParaRPr lang="en-US" sz="9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502920" y="502920"/>
            <a:ext cx="8138160" cy="228600"/>
          </a:xfrm>
          <a:prstGeom prst="rect">
            <a:avLst/>
          </a:prstGeom>
          <a:noFill/>
          <a:ln/>
        </p:spPr>
        <p:txBody>
          <a:bodyPr wrap="square" rtlCol="0" anchor="ctr"/>
          <a:lstStyle/>
          <a:p>
            <a:pPr indent="0" marL="0">
              <a:buNone/>
            </a:pPr>
            <a:r>
              <a:rPr lang="en-US" sz="1000" dirty="0">
                <a:solidFill>
                  <a:srgbClr val="6B6B6B"/>
                </a:solidFill>
                <a:latin typeface="Meiryo" pitchFamily="34" charset="0"/>
                <a:ea typeface="Meiryo" pitchFamily="34" charset="-122"/>
                <a:cs typeface="Meiryo" pitchFamily="34" charset="-120"/>
              </a:rPr>
              <a:t>05 SEO / Acquisition</a:t>
            </a:r>
            <a:endParaRPr lang="en-US" sz="1000" dirty="0"/>
          </a:p>
        </p:txBody>
      </p:sp>
      <p:sp>
        <p:nvSpPr>
          <p:cNvPr id="3" name="Text 1"/>
          <p:cNvSpPr/>
          <p:nvPr/>
        </p:nvSpPr>
        <p:spPr>
          <a:xfrm>
            <a:off x="502920" y="777240"/>
            <a:ext cx="8138160" cy="457200"/>
          </a:xfrm>
          <a:prstGeom prst="rect">
            <a:avLst/>
          </a:prstGeom>
          <a:noFill/>
          <a:ln/>
        </p:spPr>
        <p:txBody>
          <a:bodyPr wrap="square" rtlCol="0" anchor="ctr"/>
          <a:lstStyle/>
          <a:p>
            <a:pPr indent="0" marL="0">
              <a:buNone/>
            </a:pPr>
            <a:r>
              <a:rPr lang="en-US" sz="2000" b="1" dirty="0">
                <a:solidFill>
                  <a:srgbClr val="1A1A1A"/>
                </a:solidFill>
                <a:latin typeface="Meiryo" pitchFamily="34" charset="0"/>
                <a:ea typeface="Meiryo" pitchFamily="34" charset="-122"/>
                <a:cs typeface="Meiryo" pitchFamily="34" charset="-120"/>
              </a:rPr>
              <a:t>リダイレクト設計と、公開前チェック</a:t>
            </a:r>
            <a:endParaRPr lang="en-US" sz="2000" dirty="0"/>
          </a:p>
        </p:txBody>
      </p:sp>
      <p:sp>
        <p:nvSpPr>
          <p:cNvPr id="4" name="Shape 2"/>
          <p:cNvSpPr/>
          <p:nvPr/>
        </p:nvSpPr>
        <p:spPr>
          <a:xfrm>
            <a:off x="502920" y="1280160"/>
            <a:ext cx="8138160" cy="0"/>
          </a:xfrm>
          <a:prstGeom prst="line">
            <a:avLst/>
          </a:prstGeom>
          <a:noFill/>
          <a:ln w="12700">
            <a:solidFill>
              <a:srgbClr val="D5D5D5"/>
            </a:solidFill>
            <a:prstDash val="solid"/>
          </a:ln>
        </p:spPr>
      </p:sp>
      <p:sp>
        <p:nvSpPr>
          <p:cNvPr id="5" name="Text 3"/>
          <p:cNvSpPr/>
          <p:nvPr/>
        </p:nvSpPr>
        <p:spPr>
          <a:xfrm>
            <a:off x="502920" y="1417320"/>
            <a:ext cx="8138160" cy="457200"/>
          </a:xfrm>
          <a:prstGeom prst="rect">
            <a:avLst/>
          </a:prstGeom>
          <a:noFill/>
          <a:ln/>
        </p:spPr>
        <p:txBody>
          <a:bodyPr wrap="square" rtlCol="0" anchor="t"/>
          <a:lstStyle/>
          <a:p>
            <a:pPr indent="0" marL="0">
              <a:buNone/>
            </a:pPr>
            <a:r>
              <a:rPr lang="en-US" sz="1200" dirty="0">
                <a:solidFill>
                  <a:srgbClr val="1A1A1A"/>
                </a:solidFill>
                <a:latin typeface="Meiryo" pitchFamily="34" charset="0"/>
                <a:ea typeface="Meiryo" pitchFamily="34" charset="-122"/>
                <a:cs typeface="Meiryo" pitchFamily="34" charset="-120"/>
              </a:rPr>
              <a:t>現行の正規URLは検索経由の到達があるため、新URLへの対応表を作成します。あわせて、今回見つかった不具合を再発させない仕組みを入れます。</a:t>
            </a:r>
            <a:endParaRPr lang="en-US" sz="1200" dirty="0"/>
          </a:p>
        </p:txBody>
      </p:sp>
      <p:sp>
        <p:nvSpPr>
          <p:cNvPr id="6" name="Text 4"/>
          <p:cNvSpPr/>
          <p:nvPr/>
        </p:nvSpPr>
        <p:spPr>
          <a:xfrm>
            <a:off x="502920" y="1965960"/>
            <a:ext cx="8138160" cy="2628900"/>
          </a:xfrm>
          <a:prstGeom prst="rect">
            <a:avLst/>
          </a:prstGeom>
          <a:noFill/>
          <a:ln/>
        </p:spPr>
        <p:txBody>
          <a:bodyPr wrap="square" rtlCol="0" anchor="t"/>
          <a:lstStyle/>
          <a:p>
            <a:pPr marL="342900" indent="-342900">
              <a:lnSpc>
                <a:spcPct val="130000"/>
              </a:lnSpc>
              <a:buSzPct val="100000"/>
              <a:buChar char="•"/>
            </a:pPr>
            <a:r>
              <a:rPr lang="en-US" sz="1300" dirty="0">
                <a:solidFill>
                  <a:srgbClr val="1A1A1A"/>
                </a:solidFill>
                <a:latin typeface="Meiryo" pitchFamily="34" charset="0"/>
                <a:ea typeface="Meiryo" pitchFamily="34" charset="-122"/>
                <a:cs typeface="Meiryo" pitchFamily="34" charset="-120"/>
              </a:rPr>
              <a:t>対応表: 現行の正規URLと新URLの1対1対応表を作成します（別紙・仕様書に収録します）</a:t>
            </a:r>
            <a:endParaRPr lang="en-US" sz="1300" dirty="0"/>
          </a:p>
          <a:p>
            <a:pPr marL="342900" indent="-342900">
              <a:lnSpc>
                <a:spcPct val="130000"/>
              </a:lnSpc>
              <a:buSzPct val="100000"/>
              <a:buChar char="•"/>
            </a:pPr>
            <a:r>
              <a:rPr lang="en-US" sz="1300" dirty="0">
                <a:solidFill>
                  <a:srgbClr val="1A1A1A"/>
                </a:solidFill>
                <a:latin typeface="Meiryo" pitchFamily="34" charset="0"/>
                <a:ea typeface="Meiryo" pitchFamily="34" charset="-122"/>
                <a:cs typeface="Meiryo" pitchFamily="34" charset="-120"/>
              </a:rPr>
              <a:t>不正URLの扱い: 約90本の不正URLは移行対象としません（現状も301で正規URLへ転送されています）</a:t>
            </a:r>
            <a:endParaRPr lang="en-US" sz="1300" dirty="0"/>
          </a:p>
          <a:p>
            <a:pPr marL="342900" indent="-342900">
              <a:lnSpc>
                <a:spcPct val="130000"/>
              </a:lnSpc>
              <a:buSzPct val="100000"/>
              <a:buChar char="•"/>
            </a:pPr>
            <a:r>
              <a:rPr lang="en-US" sz="1300" dirty="0">
                <a:solidFill>
                  <a:srgbClr val="1A1A1A"/>
                </a:solidFill>
                <a:latin typeface="Meiryo" pitchFamily="34" charset="0"/>
                <a:ea typeface="Meiryo" pitchFamily="34" charset="-122"/>
                <a:cs typeface="Meiryo" pitchFamily="34" charset="-120"/>
              </a:rPr>
              <a:t>公開前チェック01: HTMLコメント内に終了タグが混入していないかを全テンプレートで確認します</a:t>
            </a:r>
            <a:endParaRPr lang="en-US" sz="1300" dirty="0"/>
          </a:p>
          <a:p>
            <a:pPr marL="342900" indent="-342900">
              <a:lnSpc>
                <a:spcPct val="130000"/>
              </a:lnSpc>
              <a:buSzPct val="100000"/>
              <a:buChar char="•"/>
            </a:pPr>
            <a:r>
              <a:rPr lang="en-US" sz="1300" dirty="0">
                <a:solidFill>
                  <a:srgbClr val="1A1A1A"/>
                </a:solidFill>
                <a:latin typeface="Meiryo" pitchFamily="34" charset="0"/>
                <a:ea typeface="Meiryo" pitchFamily="34" charset="-122"/>
                <a:cs typeface="Meiryo" pitchFamily="34" charset="-120"/>
              </a:rPr>
              <a:t>公開前チェック02: サイト内リンクにリダイレクト経由が残っていないかを確認します</a:t>
            </a:r>
            <a:endParaRPr lang="en-US" sz="1300" dirty="0"/>
          </a:p>
          <a:p>
            <a:pPr marL="342900" indent="-342900">
              <a:lnSpc>
                <a:spcPct val="130000"/>
              </a:lnSpc>
              <a:buSzPct val="100000"/>
              <a:buChar char="•"/>
            </a:pPr>
            <a:r>
              <a:rPr lang="en-US" sz="1300" dirty="0">
                <a:solidFill>
                  <a:srgbClr val="1A1A1A"/>
                </a:solidFill>
                <a:latin typeface="Meiryo" pitchFamily="34" charset="0"/>
                <a:ea typeface="Meiryo" pitchFamily="34" charset="-122"/>
                <a:cs typeface="Meiryo" pitchFamily="34" charset="-120"/>
              </a:rPr>
              <a:t>公開前チェック03: canonical・OGP・構造化データの出力を確認します</a:t>
            </a:r>
            <a:endParaRPr lang="en-US" sz="1300" dirty="0"/>
          </a:p>
        </p:txBody>
      </p:sp>
      <p:sp>
        <p:nvSpPr>
          <p:cNvPr id="7" name="Text 5"/>
          <p:cNvSpPr/>
          <p:nvPr/>
        </p:nvSpPr>
        <p:spPr>
          <a:xfrm>
            <a:off x="502920" y="4759452"/>
            <a:ext cx="6949440" cy="228600"/>
          </a:xfrm>
          <a:prstGeom prst="rect">
            <a:avLst/>
          </a:prstGeom>
          <a:noFill/>
          <a:ln/>
        </p:spPr>
        <p:txBody>
          <a:bodyPr wrap="square" rtlCol="0" anchor="ctr"/>
          <a:lstStyle/>
          <a:p>
            <a:pPr indent="0" marL="0">
              <a:buNone/>
            </a:pPr>
            <a:r>
              <a:rPr lang="en-US" sz="900" dirty="0">
                <a:solidFill>
                  <a:srgbClr val="6B6B6B"/>
                </a:solidFill>
                <a:latin typeface="Meiryo" pitchFamily="34" charset="0"/>
                <a:ea typeface="Meiryo" pitchFamily="34" charset="-122"/>
                <a:cs typeface="Meiryo" pitchFamily="34" charset="-120"/>
              </a:rPr>
              <a:t>出典: projects/johoku-saitama/research/current-site-audit.md（2026-09-18 実測）</a:t>
            </a:r>
            <a:endParaRPr lang="en-US" sz="900" dirty="0"/>
          </a:p>
        </p:txBody>
      </p:sp>
      <p:sp>
        <p:nvSpPr>
          <p:cNvPr id="8" name="Text 6"/>
          <p:cNvSpPr/>
          <p:nvPr/>
        </p:nvSpPr>
        <p:spPr>
          <a:xfrm>
            <a:off x="7543800" y="4759452"/>
            <a:ext cx="1097280" cy="228600"/>
          </a:xfrm>
          <a:prstGeom prst="rect">
            <a:avLst/>
          </a:prstGeom>
          <a:noFill/>
          <a:ln/>
        </p:spPr>
        <p:txBody>
          <a:bodyPr wrap="square" rtlCol="0" anchor="ctr"/>
          <a:lstStyle/>
          <a:p>
            <a:pPr algn="r" indent="0" marL="0">
              <a:buNone/>
            </a:pPr>
            <a:r>
              <a:rPr lang="en-US" sz="900" dirty="0">
                <a:solidFill>
                  <a:srgbClr val="6B6B6B"/>
                </a:solidFill>
                <a:latin typeface="Meiryo" pitchFamily="34" charset="0"/>
                <a:ea typeface="Meiryo" pitchFamily="34" charset="-122"/>
                <a:cs typeface="Meiryo" pitchFamily="34" charset="-120"/>
              </a:rPr>
              <a:t>31|82</a:t>
            </a:r>
            <a:endParaRPr lang="en-US" sz="9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502920" y="502920"/>
            <a:ext cx="8138160" cy="228600"/>
          </a:xfrm>
          <a:prstGeom prst="rect">
            <a:avLst/>
          </a:prstGeom>
          <a:noFill/>
          <a:ln/>
        </p:spPr>
        <p:txBody>
          <a:bodyPr wrap="square" rtlCol="0" anchor="ctr"/>
          <a:lstStyle/>
          <a:p>
            <a:pPr indent="0" marL="0">
              <a:buNone/>
            </a:pPr>
            <a:r>
              <a:rPr lang="en-US" sz="1000" dirty="0">
                <a:solidFill>
                  <a:srgbClr val="6B6B6B"/>
                </a:solidFill>
                <a:latin typeface="Meiryo" pitchFamily="34" charset="0"/>
                <a:ea typeface="Meiryo" pitchFamily="34" charset="-122"/>
                <a:cs typeface="Meiryo" pitchFamily="34" charset="-120"/>
              </a:rPr>
              <a:t>05 SEO / Acquisition</a:t>
            </a:r>
            <a:endParaRPr lang="en-US" sz="1000" dirty="0"/>
          </a:p>
        </p:txBody>
      </p:sp>
      <p:sp>
        <p:nvSpPr>
          <p:cNvPr id="3" name="Text 1"/>
          <p:cNvSpPr/>
          <p:nvPr/>
        </p:nvSpPr>
        <p:spPr>
          <a:xfrm>
            <a:off x="502920" y="777240"/>
            <a:ext cx="8138160" cy="457200"/>
          </a:xfrm>
          <a:prstGeom prst="rect">
            <a:avLst/>
          </a:prstGeom>
          <a:noFill/>
          <a:ln/>
        </p:spPr>
        <p:txBody>
          <a:bodyPr wrap="square" rtlCol="0" anchor="ctr"/>
          <a:lstStyle/>
          <a:p>
            <a:pPr indent="0" marL="0">
              <a:buNone/>
            </a:pPr>
            <a:r>
              <a:rPr lang="en-US" sz="2000" b="1" dirty="0">
                <a:solidFill>
                  <a:srgbClr val="1A1A1A"/>
                </a:solidFill>
                <a:latin typeface="Meiryo" pitchFamily="34" charset="0"/>
                <a:ea typeface="Meiryo" pitchFamily="34" charset="-122"/>
                <a:cs typeface="Meiryo" pitchFamily="34" charset="-120"/>
              </a:rPr>
              <a:t>現状のSEO土台と改善点</a:t>
            </a:r>
            <a:endParaRPr lang="en-US" sz="2000" dirty="0"/>
          </a:p>
        </p:txBody>
      </p:sp>
      <p:sp>
        <p:nvSpPr>
          <p:cNvPr id="4" name="Shape 2"/>
          <p:cNvSpPr/>
          <p:nvPr/>
        </p:nvSpPr>
        <p:spPr>
          <a:xfrm>
            <a:off x="502920" y="1280160"/>
            <a:ext cx="8138160" cy="0"/>
          </a:xfrm>
          <a:prstGeom prst="line">
            <a:avLst/>
          </a:prstGeom>
          <a:noFill/>
          <a:ln w="12700">
            <a:solidFill>
              <a:srgbClr val="D5D5D5"/>
            </a:solidFill>
            <a:prstDash val="solid"/>
          </a:ln>
        </p:spPr>
      </p:sp>
      <p:sp>
        <p:nvSpPr>
          <p:cNvPr id="5" name="Text 3"/>
          <p:cNvSpPr/>
          <p:nvPr/>
        </p:nvSpPr>
        <p:spPr>
          <a:xfrm>
            <a:off x="502920" y="1417320"/>
            <a:ext cx="8138160" cy="457200"/>
          </a:xfrm>
          <a:prstGeom prst="rect">
            <a:avLst/>
          </a:prstGeom>
          <a:noFill/>
          <a:ln/>
        </p:spPr>
        <p:txBody>
          <a:bodyPr wrap="square" rtlCol="0" anchor="t"/>
          <a:lstStyle/>
          <a:p>
            <a:pPr indent="0" marL="0">
              <a:buNone/>
            </a:pPr>
            <a:r>
              <a:rPr lang="en-US" sz="1200" dirty="0">
                <a:solidFill>
                  <a:srgbClr val="1A1A1A"/>
                </a:solidFill>
                <a:latin typeface="Meiryo" pitchFamily="34" charset="0"/>
                <a:ea typeface="Meiryo" pitchFamily="34" charset="-122"/>
                <a:cs typeface="Meiryo" pitchFamily="34" charset="-120"/>
              </a:rPr>
              <a:t>設定そのものは入っており、土台は活かせます。改善すべきはHTMLの健全性と内部リンクです。</a:t>
            </a:r>
            <a:endParaRPr lang="en-US" sz="1200" dirty="0"/>
          </a:p>
        </p:txBody>
      </p:sp>
      <p:graphicFrame>
        <p:nvGraphicFramePr>
          <p:cNvPr id="33" name="Table 0"/>
          <p:cNvGraphicFramePr>
            <a:graphicFrameLocks noGrp="1"/>
          </p:cNvGraphicFramePr>
          <p:nvPr>
            <p:extLst>
              <p:ext uri="{D42A27DB-BD31-4B8C-83A1-F6EECF244321}">
                <p14:modId xmlns:p14="http://schemas.microsoft.com/office/powerpoint/2010/main" val="1579011935"/>
              </p:ext>
            </p:extLst>
          </p:nvPr>
        </p:nvGraphicFramePr>
        <p:xfrm>
          <a:off x="502920" y="1965960"/>
          <a:ext cx="8138160" cy="914400"/>
        </p:xfrm>
        <a:graphic>
          <a:graphicData uri="http://schemas.openxmlformats.org/drawingml/2006/table">
            <a:tbl>
              <a:tblPr/>
              <a:tblGrid>
                <a:gridCol w="2712720"/>
                <a:gridCol w="2712720"/>
                <a:gridCol w="2712720"/>
              </a:tblGrid>
              <a:tr h="0">
                <a:tc>
                  <a:txBody>
                    <a:bodyPr/>
                    <a:lstStyle/>
                    <a:p>
                      <a:pPr indent="0" marL="0">
                        <a:buNone/>
                      </a:pPr>
                      <a:r>
                        <a:rPr lang="en-US" sz="1100" b="1" dirty="0">
                          <a:solidFill>
                            <a:srgbClr val="FFFFFF"/>
                          </a:solidFill>
                          <a:latin typeface="Meiryo" pitchFamily="34" charset="0"/>
                          <a:ea typeface="Meiryo" pitchFamily="34" charset="-122"/>
                          <a:cs typeface="Meiryo" pitchFamily="34" charset="-120"/>
                        </a:rPr>
                        <a:t>項目</a:t>
                      </a:r>
                      <a:endParaRPr lang="en-US" sz="1100" dirty="0">
                        <a:latin typeface="Meiryo" charset="0"/>
                        <a:ea typeface="Meiryo" charset="0"/>
                        <a:cs typeface="Meiryo" charset="0"/>
                      </a:endParaRPr>
                    </a:p>
                  </a:txBody>
                  <a:tcPr marL="91440" marR="91440" marT="45720" marB="45720">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1F3A5F"/>
                    </a:solidFill>
                  </a:tcPr>
                </a:tc>
                <a:tc>
                  <a:txBody>
                    <a:bodyPr/>
                    <a:lstStyle/>
                    <a:p>
                      <a:pPr indent="0" marL="0">
                        <a:buNone/>
                      </a:pPr>
                      <a:r>
                        <a:rPr lang="en-US" sz="1100" b="1" dirty="0">
                          <a:solidFill>
                            <a:srgbClr val="FFFFFF"/>
                          </a:solidFill>
                          <a:latin typeface="Meiryo" pitchFamily="34" charset="0"/>
                          <a:ea typeface="Meiryo" pitchFamily="34" charset="-122"/>
                          <a:cs typeface="Meiryo" pitchFamily="34" charset="-120"/>
                        </a:rPr>
                        <a:t>現状</a:t>
                      </a:r>
                      <a:endParaRPr lang="en-US" sz="1100" dirty="0">
                        <a:latin typeface="Meiryo" charset="0"/>
                        <a:ea typeface="Meiryo" charset="0"/>
                        <a:cs typeface="Meiryo" charset="0"/>
                      </a:endParaRPr>
                    </a:p>
                  </a:txBody>
                  <a:tcPr marL="91440" marR="91440" marT="45720" marB="45720">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1F3A5F"/>
                    </a:solidFill>
                  </a:tcPr>
                </a:tc>
                <a:tc>
                  <a:txBody>
                    <a:bodyPr/>
                    <a:lstStyle/>
                    <a:p>
                      <a:pPr indent="0" marL="0">
                        <a:buNone/>
                      </a:pPr>
                      <a:r>
                        <a:rPr lang="en-US" sz="1100" b="1" dirty="0">
                          <a:solidFill>
                            <a:srgbClr val="FFFFFF"/>
                          </a:solidFill>
                          <a:latin typeface="Meiryo" pitchFamily="34" charset="0"/>
                          <a:ea typeface="Meiryo" pitchFamily="34" charset="-122"/>
                          <a:cs typeface="Meiryo" pitchFamily="34" charset="-120"/>
                        </a:rPr>
                        <a:t>対応</a:t>
                      </a:r>
                      <a:endParaRPr lang="en-US" sz="1100" dirty="0">
                        <a:latin typeface="Meiryo" charset="0"/>
                        <a:ea typeface="Meiryo" charset="0"/>
                        <a:cs typeface="Meiryo" charset="0"/>
                      </a:endParaRPr>
                    </a:p>
                  </a:txBody>
                  <a:tcPr marL="91440" marR="91440" marT="45720" marB="45720">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1F3A5F"/>
                    </a:solidFill>
                  </a:tcPr>
                </a:tc>
              </a:tr>
              <a:tr h="0">
                <a:tc>
                  <a:txBody>
                    <a:bodyPr/>
                    <a:lstStyle/>
                    <a:p>
                      <a:pPr indent="0" marL="0">
                        <a:buNone/>
                      </a:pPr>
                      <a:r>
                        <a:rPr lang="en-US" sz="1100" dirty="0">
                          <a:solidFill>
                            <a:srgbClr val="1A1A1A"/>
                          </a:solidFill>
                          <a:latin typeface="Meiryo" pitchFamily="34" charset="0"/>
                          <a:ea typeface="Meiryo" pitchFamily="34" charset="-122"/>
                          <a:cs typeface="Meiryo" pitchFamily="34" charset="-120"/>
                        </a:rPr>
                        <a:t>Yoast SEO</a:t>
                      </a:r>
                      <a:endParaRPr lang="en-US" sz="1100" dirty="0">
                        <a:latin typeface="Meiryo" charset="0"/>
                        <a:ea typeface="Meiryo" charset="0"/>
                        <a:cs typeface="Meiryo" charset="0"/>
                      </a:endParaRPr>
                    </a:p>
                  </a:txBody>
                  <a:tcPr marL="91440" marR="91440" marT="45720" marB="45720">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tcPr>
                </a:tc>
                <a:tc>
                  <a:txBody>
                    <a:bodyPr/>
                    <a:lstStyle/>
                    <a:p>
                      <a:pPr indent="0" marL="0">
                        <a:buNone/>
                      </a:pPr>
                      <a:r>
                        <a:rPr lang="en-US" sz="1100" dirty="0">
                          <a:solidFill>
                            <a:srgbClr val="1A1A1A"/>
                          </a:solidFill>
                          <a:latin typeface="Meiryo" pitchFamily="34" charset="0"/>
                          <a:ea typeface="Meiryo" pitchFamily="34" charset="-122"/>
                          <a:cs typeface="Meiryo" pitchFamily="34" charset="-120"/>
                        </a:rPr>
                        <a:t>v28.3 導入済み。canonical・OGP・JSON-LDを出力</a:t>
                      </a:r>
                      <a:endParaRPr lang="en-US" sz="1100" dirty="0">
                        <a:latin typeface="Meiryo" charset="0"/>
                        <a:ea typeface="Meiryo" charset="0"/>
                        <a:cs typeface="Meiryo" charset="0"/>
                      </a:endParaRPr>
                    </a:p>
                  </a:txBody>
                  <a:tcPr marL="91440" marR="91440" marT="45720" marB="45720">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tcPr>
                </a:tc>
                <a:tc>
                  <a:txBody>
                    <a:bodyPr/>
                    <a:lstStyle/>
                    <a:p>
                      <a:pPr indent="0" marL="0">
                        <a:buNone/>
                      </a:pPr>
                      <a:r>
                        <a:rPr lang="en-US" sz="1100" dirty="0">
                          <a:solidFill>
                            <a:srgbClr val="1A1A1A"/>
                          </a:solidFill>
                          <a:latin typeface="Meiryo" pitchFamily="34" charset="0"/>
                          <a:ea typeface="Meiryo" pitchFamily="34" charset="-122"/>
                          <a:cs typeface="Meiryo" pitchFamily="34" charset="-120"/>
                        </a:rPr>
                        <a:t>継続して活用します</a:t>
                      </a:r>
                      <a:endParaRPr lang="en-US" sz="1100" dirty="0">
                        <a:latin typeface="Meiryo" charset="0"/>
                        <a:ea typeface="Meiryo" charset="0"/>
                        <a:cs typeface="Meiryo" charset="0"/>
                      </a:endParaRPr>
                    </a:p>
                  </a:txBody>
                  <a:tcPr marL="91440" marR="91440" marT="45720" marB="45720">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tcPr>
                </a:tc>
              </a:tr>
              <a:tr h="0">
                <a:tc>
                  <a:txBody>
                    <a:bodyPr/>
                    <a:lstStyle/>
                    <a:p>
                      <a:pPr indent="0" marL="0">
                        <a:buNone/>
                      </a:pPr>
                      <a:r>
                        <a:rPr lang="en-US" sz="1100" dirty="0">
                          <a:solidFill>
                            <a:srgbClr val="1A1A1A"/>
                          </a:solidFill>
                          <a:latin typeface="Meiryo" pitchFamily="34" charset="0"/>
                          <a:ea typeface="Meiryo" pitchFamily="34" charset="-122"/>
                          <a:cs typeface="Meiryo" pitchFamily="34" charset="-120"/>
                        </a:rPr>
                        <a:t>HTML構文</a:t>
                      </a:r>
                      <a:endParaRPr lang="en-US" sz="1100" dirty="0">
                        <a:latin typeface="Meiryo" charset="0"/>
                        <a:ea typeface="Meiryo" charset="0"/>
                        <a:cs typeface="Meiryo" charset="0"/>
                      </a:endParaRPr>
                    </a:p>
                  </a:txBody>
                  <a:tcPr marL="91440" marR="91440" marT="45720" marB="45720">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tcPr>
                </a:tc>
                <a:tc>
                  <a:txBody>
                    <a:bodyPr/>
                    <a:lstStyle/>
                    <a:p>
                      <a:pPr indent="0" marL="0">
                        <a:buNone/>
                      </a:pPr>
                      <a:r>
                        <a:rPr lang="en-US" sz="1100" dirty="0">
                          <a:solidFill>
                            <a:srgbClr val="1A1A1A"/>
                          </a:solidFill>
                          <a:latin typeface="Meiryo" pitchFamily="34" charset="0"/>
                          <a:ea typeface="Meiryo" pitchFamily="34" charset="-122"/>
                          <a:cs typeface="Meiryo" pitchFamily="34" charset="-120"/>
                        </a:rPr>
                        <a:t>コメント崩れにより一部が破損</a:t>
                      </a:r>
                      <a:endParaRPr lang="en-US" sz="1100" dirty="0">
                        <a:latin typeface="Meiryo" charset="0"/>
                        <a:ea typeface="Meiryo" charset="0"/>
                        <a:cs typeface="Meiryo" charset="0"/>
                      </a:endParaRPr>
                    </a:p>
                  </a:txBody>
                  <a:tcPr marL="91440" marR="91440" marT="45720" marB="45720">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tcPr>
                </a:tc>
                <a:tc>
                  <a:txBody>
                    <a:bodyPr/>
                    <a:lstStyle/>
                    <a:p>
                      <a:pPr indent="0" marL="0">
                        <a:buNone/>
                      </a:pPr>
                      <a:r>
                        <a:rPr lang="en-US" sz="1100" dirty="0">
                          <a:solidFill>
                            <a:srgbClr val="1A1A1A"/>
                          </a:solidFill>
                          <a:latin typeface="Meiryo" pitchFamily="34" charset="0"/>
                          <a:ea typeface="Meiryo" pitchFamily="34" charset="-122"/>
                          <a:cs typeface="Meiryo" pitchFamily="34" charset="-120"/>
                        </a:rPr>
                        <a:t>新規構築で解消します</a:t>
                      </a:r>
                      <a:endParaRPr lang="en-US" sz="1100" dirty="0">
                        <a:latin typeface="Meiryo" charset="0"/>
                        <a:ea typeface="Meiryo" charset="0"/>
                        <a:cs typeface="Meiryo" charset="0"/>
                      </a:endParaRPr>
                    </a:p>
                  </a:txBody>
                  <a:tcPr marL="91440" marR="91440" marT="45720" marB="45720">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tcPr>
                </a:tc>
              </a:tr>
              <a:tr h="0">
                <a:tc>
                  <a:txBody>
                    <a:bodyPr/>
                    <a:lstStyle/>
                    <a:p>
                      <a:pPr indent="0" marL="0">
                        <a:buNone/>
                      </a:pPr>
                      <a:r>
                        <a:rPr lang="en-US" sz="1100" dirty="0">
                          <a:solidFill>
                            <a:srgbClr val="1A1A1A"/>
                          </a:solidFill>
                          <a:latin typeface="Meiryo" pitchFamily="34" charset="0"/>
                          <a:ea typeface="Meiryo" pitchFamily="34" charset="-122"/>
                          <a:cs typeface="Meiryo" pitchFamily="34" charset="-120"/>
                        </a:rPr>
                        <a:t>内部リンク</a:t>
                      </a:r>
                      <a:endParaRPr lang="en-US" sz="1100" dirty="0">
                        <a:latin typeface="Meiryo" charset="0"/>
                        <a:ea typeface="Meiryo" charset="0"/>
                        <a:cs typeface="Meiryo" charset="0"/>
                      </a:endParaRPr>
                    </a:p>
                  </a:txBody>
                  <a:tcPr marL="91440" marR="91440" marT="45720" marB="45720">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tcPr>
                </a:tc>
                <a:tc>
                  <a:txBody>
                    <a:bodyPr/>
                    <a:lstStyle/>
                    <a:p>
                      <a:pPr indent="0" marL="0">
                        <a:buNone/>
                      </a:pPr>
                      <a:r>
                        <a:rPr lang="en-US" sz="1100" dirty="0">
                          <a:solidFill>
                            <a:srgbClr val="1A1A1A"/>
                          </a:solidFill>
                          <a:latin typeface="Meiryo" pitchFamily="34" charset="0"/>
                          <a:ea typeface="Meiryo" pitchFamily="34" charset="-122"/>
                          <a:cs typeface="Meiryo" pitchFamily="34" charset="-120"/>
                        </a:rPr>
                        <a:t>約90本がリダイレクト経由</a:t>
                      </a:r>
                      <a:endParaRPr lang="en-US" sz="1100" dirty="0">
                        <a:latin typeface="Meiryo" charset="0"/>
                        <a:ea typeface="Meiryo" charset="0"/>
                        <a:cs typeface="Meiryo" charset="0"/>
                      </a:endParaRPr>
                    </a:p>
                  </a:txBody>
                  <a:tcPr marL="91440" marR="91440" marT="45720" marB="45720">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tcPr>
                </a:tc>
                <a:tc>
                  <a:txBody>
                    <a:bodyPr/>
                    <a:lstStyle/>
                    <a:p>
                      <a:pPr indent="0" marL="0">
                        <a:buNone/>
                      </a:pPr>
                      <a:r>
                        <a:rPr lang="en-US" sz="1100" dirty="0">
                          <a:solidFill>
                            <a:srgbClr val="1A1A1A"/>
                          </a:solidFill>
                          <a:latin typeface="Meiryo" pitchFamily="34" charset="0"/>
                          <a:ea typeface="Meiryo" pitchFamily="34" charset="-122"/>
                          <a:cs typeface="Meiryo" pitchFamily="34" charset="-120"/>
                        </a:rPr>
                        <a:t>新設計で0本にします</a:t>
                      </a:r>
                      <a:endParaRPr lang="en-US" sz="1100" dirty="0">
                        <a:latin typeface="Meiryo" charset="0"/>
                        <a:ea typeface="Meiryo" charset="0"/>
                        <a:cs typeface="Meiryo" charset="0"/>
                      </a:endParaRPr>
                    </a:p>
                  </a:txBody>
                  <a:tcPr marL="91440" marR="91440" marT="45720" marB="45720">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tcPr>
                </a:tc>
              </a:tr>
              <a:tr h="0">
                <a:tc>
                  <a:txBody>
                    <a:bodyPr/>
                    <a:lstStyle/>
                    <a:p>
                      <a:pPr indent="0" marL="0">
                        <a:buNone/>
                      </a:pPr>
                      <a:r>
                        <a:rPr lang="en-US" sz="1100" dirty="0">
                          <a:solidFill>
                            <a:srgbClr val="1A1A1A"/>
                          </a:solidFill>
                          <a:latin typeface="Meiryo" pitchFamily="34" charset="0"/>
                          <a:ea typeface="Meiryo" pitchFamily="34" charset="-122"/>
                          <a:cs typeface="Meiryo" pitchFamily="34" charset="-120"/>
                        </a:rPr>
                        <a:t>ホスト名</a:t>
                      </a:r>
                      <a:endParaRPr lang="en-US" sz="1100" dirty="0">
                        <a:latin typeface="Meiryo" charset="0"/>
                        <a:ea typeface="Meiryo" charset="0"/>
                        <a:cs typeface="Meiryo" charset="0"/>
                      </a:endParaRPr>
                    </a:p>
                  </a:txBody>
                  <a:tcPr marL="91440" marR="91440" marT="45720" marB="45720">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tcPr>
                </a:tc>
                <a:tc>
                  <a:txBody>
                    <a:bodyPr/>
                    <a:lstStyle/>
                    <a:p>
                      <a:pPr indent="0" marL="0">
                        <a:buNone/>
                      </a:pPr>
                      <a:r>
                        <a:rPr lang="en-US" sz="1100" dirty="0">
                          <a:solidFill>
                            <a:srgbClr val="1A1A1A"/>
                          </a:solidFill>
                          <a:latin typeface="Meiryo" pitchFamily="34" charset="0"/>
                          <a:ea typeface="Meiryo" pitchFamily="34" charset="-122"/>
                          <a:cs typeface="Meiryo" pitchFamily="34" charset="-120"/>
                        </a:rPr>
                        <a:t>www有無が混在</a:t>
                      </a:r>
                      <a:endParaRPr lang="en-US" sz="1100" dirty="0">
                        <a:latin typeface="Meiryo" charset="0"/>
                        <a:ea typeface="Meiryo" charset="0"/>
                        <a:cs typeface="Meiryo" charset="0"/>
                      </a:endParaRPr>
                    </a:p>
                  </a:txBody>
                  <a:tcPr marL="91440" marR="91440" marT="45720" marB="45720">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tcPr>
                </a:tc>
                <a:tc>
                  <a:txBody>
                    <a:bodyPr/>
                    <a:lstStyle/>
                    <a:p>
                      <a:pPr indent="0" marL="0">
                        <a:buNone/>
                      </a:pPr>
                      <a:r>
                        <a:rPr lang="en-US" sz="1100" dirty="0">
                          <a:solidFill>
                            <a:srgbClr val="1A1A1A"/>
                          </a:solidFill>
                          <a:latin typeface="Meiryo" pitchFamily="34" charset="0"/>
                          <a:ea typeface="Meiryo" pitchFamily="34" charset="-122"/>
                          <a:cs typeface="Meiryo" pitchFamily="34" charset="-120"/>
                        </a:rPr>
                        <a:t>統一します</a:t>
                      </a:r>
                      <a:endParaRPr lang="en-US" sz="1100" dirty="0">
                        <a:latin typeface="Meiryo" charset="0"/>
                        <a:ea typeface="Meiryo" charset="0"/>
                        <a:cs typeface="Meiryo" charset="0"/>
                      </a:endParaRPr>
                    </a:p>
                  </a:txBody>
                  <a:tcPr marL="91440" marR="91440" marT="45720" marB="45720">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tcPr>
                </a:tc>
              </a:tr>
              <a:tr h="0">
                <a:tc>
                  <a:txBody>
                    <a:bodyPr/>
                    <a:lstStyle/>
                    <a:p>
                      <a:pPr indent="0" marL="0">
                        <a:buNone/>
                      </a:pPr>
                      <a:r>
                        <a:rPr lang="en-US" sz="1100" dirty="0">
                          <a:solidFill>
                            <a:srgbClr val="1A1A1A"/>
                          </a:solidFill>
                          <a:latin typeface="Meiryo" pitchFamily="34" charset="0"/>
                          <a:ea typeface="Meiryo" pitchFamily="34" charset="-122"/>
                          <a:cs typeface="Meiryo" pitchFamily="34" charset="-120"/>
                        </a:rPr>
                        <a:t>サイトマップXML</a:t>
                      </a:r>
                      <a:endParaRPr lang="en-US" sz="1100" dirty="0">
                        <a:latin typeface="Meiryo" charset="0"/>
                        <a:ea typeface="Meiryo" charset="0"/>
                        <a:cs typeface="Meiryo" charset="0"/>
                      </a:endParaRPr>
                    </a:p>
                  </a:txBody>
                  <a:tcPr marL="91440" marR="91440" marT="45720" marB="45720">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tcPr>
                </a:tc>
                <a:tc>
                  <a:txBody>
                    <a:bodyPr/>
                    <a:lstStyle/>
                    <a:p>
                      <a:pPr indent="0" marL="0">
                        <a:buNone/>
                      </a:pPr>
                      <a:r>
                        <a:rPr lang="en-US" sz="1100" dirty="0">
                          <a:solidFill>
                            <a:srgbClr val="1A1A1A"/>
                          </a:solidFill>
                          <a:latin typeface="Meiryo" pitchFamily="34" charset="0"/>
                          <a:ea typeface="Meiryo" pitchFamily="34" charset="-122"/>
                          <a:cs typeface="Meiryo" pitchFamily="34" charset="-120"/>
                        </a:rPr>
                        <a:t>出力あり</a:t>
                      </a:r>
                      <a:endParaRPr lang="en-US" sz="1100" dirty="0">
                        <a:latin typeface="Meiryo" charset="0"/>
                        <a:ea typeface="Meiryo" charset="0"/>
                        <a:cs typeface="Meiryo" charset="0"/>
                      </a:endParaRPr>
                    </a:p>
                  </a:txBody>
                  <a:tcPr marL="91440" marR="91440" marT="45720" marB="45720">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tcPr>
                </a:tc>
                <a:tc>
                  <a:txBody>
                    <a:bodyPr/>
                    <a:lstStyle/>
                    <a:p>
                      <a:pPr indent="0" marL="0">
                        <a:buNone/>
                      </a:pPr>
                      <a:r>
                        <a:rPr lang="en-US" sz="1100" dirty="0">
                          <a:solidFill>
                            <a:srgbClr val="1A1A1A"/>
                          </a:solidFill>
                          <a:latin typeface="Meiryo" pitchFamily="34" charset="0"/>
                          <a:ea typeface="Meiryo" pitchFamily="34" charset="-122"/>
                          <a:cs typeface="Meiryo" pitchFamily="34" charset="-120"/>
                        </a:rPr>
                        <a:t>新URL体系で再出力します</a:t>
                      </a:r>
                      <a:endParaRPr lang="en-US" sz="1100" dirty="0">
                        <a:latin typeface="Meiryo" charset="0"/>
                        <a:ea typeface="Meiryo" charset="0"/>
                        <a:cs typeface="Meiryo" charset="0"/>
                      </a:endParaRPr>
                    </a:p>
                  </a:txBody>
                  <a:tcPr marL="91440" marR="91440" marT="45720" marB="45720">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tcPr>
                </a:tc>
              </a:tr>
            </a:tbl>
          </a:graphicData>
        </a:graphic>
      </p:graphicFrame>
      <p:sp>
        <p:nvSpPr>
          <p:cNvPr id="7" name="Text 4"/>
          <p:cNvSpPr/>
          <p:nvPr/>
        </p:nvSpPr>
        <p:spPr>
          <a:xfrm>
            <a:off x="502920" y="4759452"/>
            <a:ext cx="6949440" cy="228600"/>
          </a:xfrm>
          <a:prstGeom prst="rect">
            <a:avLst/>
          </a:prstGeom>
          <a:noFill/>
          <a:ln/>
        </p:spPr>
        <p:txBody>
          <a:bodyPr wrap="square" rtlCol="0" anchor="ctr"/>
          <a:lstStyle/>
          <a:p>
            <a:pPr indent="0" marL="0">
              <a:buNone/>
            </a:pPr>
            <a:r>
              <a:rPr lang="en-US" sz="900" dirty="0">
                <a:solidFill>
                  <a:srgbClr val="6B6B6B"/>
                </a:solidFill>
                <a:latin typeface="Meiryo" pitchFamily="34" charset="0"/>
                <a:ea typeface="Meiryo" pitchFamily="34" charset="-122"/>
                <a:cs typeface="Meiryo" pitchFamily="34" charset="-120"/>
              </a:rPr>
              <a:t>出典: projects/johoku-saitama/research/current-site-audit.md（2026-09-18 実測）</a:t>
            </a:r>
            <a:endParaRPr lang="en-US" sz="900" dirty="0"/>
          </a:p>
        </p:txBody>
      </p:sp>
      <p:sp>
        <p:nvSpPr>
          <p:cNvPr id="8" name="Text 5"/>
          <p:cNvSpPr/>
          <p:nvPr/>
        </p:nvSpPr>
        <p:spPr>
          <a:xfrm>
            <a:off x="7543800" y="4759452"/>
            <a:ext cx="1097280" cy="228600"/>
          </a:xfrm>
          <a:prstGeom prst="rect">
            <a:avLst/>
          </a:prstGeom>
          <a:noFill/>
          <a:ln/>
        </p:spPr>
        <p:txBody>
          <a:bodyPr wrap="square" rtlCol="0" anchor="ctr"/>
          <a:lstStyle/>
          <a:p>
            <a:pPr algn="r" indent="0" marL="0">
              <a:buNone/>
            </a:pPr>
            <a:r>
              <a:rPr lang="en-US" sz="900" dirty="0">
                <a:solidFill>
                  <a:srgbClr val="6B6B6B"/>
                </a:solidFill>
                <a:latin typeface="Meiryo" pitchFamily="34" charset="0"/>
                <a:ea typeface="Meiryo" pitchFamily="34" charset="-122"/>
                <a:cs typeface="Meiryo" pitchFamily="34" charset="-120"/>
              </a:rPr>
              <a:t>32|82</a:t>
            </a:r>
            <a:endParaRPr lang="en-US" sz="9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1F3A5F"/>
        </a:solidFill>
      </p:bgPr>
    </p:bg>
    <p:spTree>
      <p:nvGrpSpPr>
        <p:cNvPr id="1" name=""/>
        <p:cNvGrpSpPr/>
        <p:nvPr/>
      </p:nvGrpSpPr>
      <p:grpSpPr>
        <a:xfrm>
          <a:off x="0" y="0"/>
          <a:ext cx="0" cy="0"/>
          <a:chOff x="0" y="0"/>
          <a:chExt cx="0" cy="0"/>
        </a:xfrm>
      </p:grpSpPr>
      <p:sp>
        <p:nvSpPr>
          <p:cNvPr id="2" name="Text 0"/>
          <p:cNvSpPr/>
          <p:nvPr/>
        </p:nvSpPr>
        <p:spPr>
          <a:xfrm>
            <a:off x="502920" y="1737360"/>
            <a:ext cx="1280160" cy="640080"/>
          </a:xfrm>
          <a:prstGeom prst="rect">
            <a:avLst/>
          </a:prstGeom>
          <a:noFill/>
          <a:ln/>
        </p:spPr>
        <p:txBody>
          <a:bodyPr wrap="square" rtlCol="0" anchor="ctr"/>
          <a:lstStyle/>
          <a:p>
            <a:pPr indent="0" marL="0">
              <a:buNone/>
            </a:pPr>
            <a:r>
              <a:rPr lang="en-US" sz="3400" b="1" dirty="0">
                <a:solidFill>
                  <a:srgbClr val="FFFFFF"/>
                </a:solidFill>
                <a:latin typeface="Meiryo" pitchFamily="34" charset="0"/>
                <a:ea typeface="Meiryo" pitchFamily="34" charset="-122"/>
                <a:cs typeface="Meiryo" pitchFamily="34" charset="-120"/>
              </a:rPr>
              <a:t>06</a:t>
            </a:r>
            <a:endParaRPr lang="en-US" sz="3400" dirty="0"/>
          </a:p>
        </p:txBody>
      </p:sp>
      <p:sp>
        <p:nvSpPr>
          <p:cNvPr id="3" name="Text 1"/>
          <p:cNvSpPr/>
          <p:nvPr/>
        </p:nvSpPr>
        <p:spPr>
          <a:xfrm>
            <a:off x="502920" y="2377440"/>
            <a:ext cx="8138160" cy="365760"/>
          </a:xfrm>
          <a:prstGeom prst="rect">
            <a:avLst/>
          </a:prstGeom>
          <a:noFill/>
          <a:ln/>
        </p:spPr>
        <p:txBody>
          <a:bodyPr wrap="square" rtlCol="0" anchor="ctr"/>
          <a:lstStyle/>
          <a:p>
            <a:pPr indent="0" marL="0">
              <a:buNone/>
            </a:pPr>
            <a:r>
              <a:rPr lang="en-US" sz="1300" dirty="0">
                <a:solidFill>
                  <a:srgbClr val="FFFFFF"/>
                </a:solidFill>
                <a:latin typeface="Meiryo" pitchFamily="34" charset="0"/>
                <a:ea typeface="Meiryo" pitchFamily="34" charset="-122"/>
                <a:cs typeface="Meiryo" pitchFamily="34" charset="-120"/>
              </a:rPr>
              <a:t>Contents</a:t>
            </a:r>
            <a:endParaRPr lang="en-US" sz="1300" dirty="0"/>
          </a:p>
        </p:txBody>
      </p:sp>
      <p:sp>
        <p:nvSpPr>
          <p:cNvPr id="4" name="Text 2"/>
          <p:cNvSpPr/>
          <p:nvPr/>
        </p:nvSpPr>
        <p:spPr>
          <a:xfrm>
            <a:off x="502920" y="2743200"/>
            <a:ext cx="8138160" cy="548640"/>
          </a:xfrm>
          <a:prstGeom prst="rect">
            <a:avLst/>
          </a:prstGeom>
          <a:noFill/>
          <a:ln/>
        </p:spPr>
        <p:txBody>
          <a:bodyPr wrap="square" rtlCol="0" anchor="ctr"/>
          <a:lstStyle/>
          <a:p>
            <a:pPr indent="0" marL="0">
              <a:buNone/>
            </a:pPr>
            <a:r>
              <a:rPr lang="en-US" sz="2400" b="1" dirty="0">
                <a:solidFill>
                  <a:srgbClr val="FFFFFF"/>
                </a:solidFill>
                <a:latin typeface="Meiryo" pitchFamily="34" charset="0"/>
                <a:ea typeface="Meiryo" pitchFamily="34" charset="-122"/>
                <a:cs typeface="Meiryo" pitchFamily="34" charset="-120"/>
              </a:rPr>
              <a:t>コンテンツ</a:t>
            </a:r>
            <a:endParaRPr lang="en-US" sz="2400" dirty="0"/>
          </a:p>
        </p:txBody>
      </p:sp>
      <p:sp>
        <p:nvSpPr>
          <p:cNvPr id="5" name="Text 3"/>
          <p:cNvSpPr/>
          <p:nvPr/>
        </p:nvSpPr>
        <p:spPr>
          <a:xfrm>
            <a:off x="7543800" y="4759452"/>
            <a:ext cx="1097280" cy="228600"/>
          </a:xfrm>
          <a:prstGeom prst="rect">
            <a:avLst/>
          </a:prstGeom>
          <a:noFill/>
          <a:ln/>
        </p:spPr>
        <p:txBody>
          <a:bodyPr wrap="square" rtlCol="0" anchor="ctr"/>
          <a:lstStyle/>
          <a:p>
            <a:pPr algn="r" indent="0" marL="0">
              <a:buNone/>
            </a:pPr>
            <a:r>
              <a:rPr lang="en-US" sz="900" dirty="0">
                <a:solidFill>
                  <a:srgbClr val="6B6B6B"/>
                </a:solidFill>
                <a:latin typeface="Meiryo" pitchFamily="34" charset="0"/>
                <a:ea typeface="Meiryo" pitchFamily="34" charset="-122"/>
                <a:cs typeface="Meiryo" pitchFamily="34" charset="-120"/>
              </a:rPr>
              <a:t>33|82</a:t>
            </a:r>
            <a:endParaRPr lang="en-US" sz="9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502920" y="502920"/>
            <a:ext cx="8138160" cy="228600"/>
          </a:xfrm>
          <a:prstGeom prst="rect">
            <a:avLst/>
          </a:prstGeom>
          <a:noFill/>
          <a:ln/>
        </p:spPr>
        <p:txBody>
          <a:bodyPr wrap="square" rtlCol="0" anchor="ctr"/>
          <a:lstStyle/>
          <a:p>
            <a:pPr indent="0" marL="0">
              <a:buNone/>
            </a:pPr>
            <a:r>
              <a:rPr lang="en-US" sz="1000" dirty="0">
                <a:solidFill>
                  <a:srgbClr val="6B6B6B"/>
                </a:solidFill>
                <a:latin typeface="Meiryo" pitchFamily="34" charset="0"/>
                <a:ea typeface="Meiryo" pitchFamily="34" charset="-122"/>
                <a:cs typeface="Meiryo" pitchFamily="34" charset="-120"/>
              </a:rPr>
              <a:t>06 Contents</a:t>
            </a:r>
            <a:endParaRPr lang="en-US" sz="1000" dirty="0"/>
          </a:p>
        </p:txBody>
      </p:sp>
      <p:sp>
        <p:nvSpPr>
          <p:cNvPr id="3" name="Text 1"/>
          <p:cNvSpPr/>
          <p:nvPr/>
        </p:nvSpPr>
        <p:spPr>
          <a:xfrm>
            <a:off x="502920" y="777240"/>
            <a:ext cx="8138160" cy="457200"/>
          </a:xfrm>
          <a:prstGeom prst="rect">
            <a:avLst/>
          </a:prstGeom>
          <a:noFill/>
          <a:ln/>
        </p:spPr>
        <p:txBody>
          <a:bodyPr wrap="square" rtlCol="0" anchor="ctr"/>
          <a:lstStyle/>
          <a:p>
            <a:pPr indent="0" marL="0">
              <a:buNone/>
            </a:pPr>
            <a:r>
              <a:rPr lang="en-US" sz="2000" b="1" dirty="0">
                <a:solidFill>
                  <a:srgbClr val="1A1A1A"/>
                </a:solidFill>
                <a:latin typeface="Meiryo" pitchFamily="34" charset="0"/>
                <a:ea typeface="Meiryo" pitchFamily="34" charset="-122"/>
                <a:cs typeface="Meiryo" pitchFamily="34" charset="-120"/>
              </a:rPr>
              <a:t>情報設計の全体像</a:t>
            </a:r>
            <a:endParaRPr lang="en-US" sz="2000" dirty="0"/>
          </a:p>
        </p:txBody>
      </p:sp>
      <p:sp>
        <p:nvSpPr>
          <p:cNvPr id="4" name="Shape 2"/>
          <p:cNvSpPr/>
          <p:nvPr/>
        </p:nvSpPr>
        <p:spPr>
          <a:xfrm>
            <a:off x="502920" y="1280160"/>
            <a:ext cx="8138160" cy="0"/>
          </a:xfrm>
          <a:prstGeom prst="line">
            <a:avLst/>
          </a:prstGeom>
          <a:noFill/>
          <a:ln w="12700">
            <a:solidFill>
              <a:srgbClr val="D5D5D5"/>
            </a:solidFill>
            <a:prstDash val="solid"/>
          </a:ln>
        </p:spPr>
      </p:sp>
      <p:sp>
        <p:nvSpPr>
          <p:cNvPr id="5" name="Text 3"/>
          <p:cNvSpPr/>
          <p:nvPr/>
        </p:nvSpPr>
        <p:spPr>
          <a:xfrm>
            <a:off x="502920" y="1417320"/>
            <a:ext cx="8138160" cy="457200"/>
          </a:xfrm>
          <a:prstGeom prst="rect">
            <a:avLst/>
          </a:prstGeom>
          <a:noFill/>
          <a:ln/>
        </p:spPr>
        <p:txBody>
          <a:bodyPr wrap="square" rtlCol="0" anchor="t"/>
          <a:lstStyle/>
          <a:p>
            <a:pPr indent="0" marL="0">
              <a:buNone/>
            </a:pPr>
            <a:r>
              <a:rPr lang="en-US" sz="1200" dirty="0">
                <a:solidFill>
                  <a:srgbClr val="1A1A1A"/>
                </a:solidFill>
                <a:latin typeface="Meiryo" pitchFamily="34" charset="0"/>
                <a:ea typeface="Meiryo" pitchFamily="34" charset="-122"/>
                <a:cs typeface="Meiryo" pitchFamily="34" charset="-120"/>
              </a:rPr>
              <a:t>ページ単位の一覧は別紙のサイトマップ仕様書でご提示します。本章では、どの考え方で構成を組み替えるかをご報告します。</a:t>
            </a:r>
            <a:endParaRPr lang="en-US" sz="1200" dirty="0"/>
          </a:p>
        </p:txBody>
      </p:sp>
      <p:sp>
        <p:nvSpPr>
          <p:cNvPr id="6" name="Text 4"/>
          <p:cNvSpPr/>
          <p:nvPr/>
        </p:nvSpPr>
        <p:spPr>
          <a:xfrm>
            <a:off x="502920" y="1965960"/>
            <a:ext cx="8138160" cy="2628900"/>
          </a:xfrm>
          <a:prstGeom prst="rect">
            <a:avLst/>
          </a:prstGeom>
          <a:noFill/>
          <a:ln/>
        </p:spPr>
        <p:txBody>
          <a:bodyPr wrap="square" rtlCol="0" anchor="t"/>
          <a:lstStyle/>
          <a:p>
            <a:pPr marL="342900" indent="-342900">
              <a:lnSpc>
                <a:spcPct val="130000"/>
              </a:lnSpc>
              <a:buSzPct val="100000"/>
              <a:buChar char="•"/>
            </a:pPr>
            <a:r>
              <a:rPr lang="en-US" sz="1300" dirty="0">
                <a:solidFill>
                  <a:srgbClr val="1A1A1A"/>
                </a:solidFill>
                <a:latin typeface="Meiryo" pitchFamily="34" charset="0"/>
                <a:ea typeface="Meiryo" pitchFamily="34" charset="-122"/>
                <a:cs typeface="Meiryo" pitchFamily="34" charset="-120"/>
              </a:rPr>
              <a:t>組み替えの軸01: 読者（受験生・保護者・在校生保護者）を起点に並べ替えます</a:t>
            </a:r>
            <a:endParaRPr lang="en-US" sz="1300" dirty="0"/>
          </a:p>
          <a:p>
            <a:pPr marL="342900" indent="-342900">
              <a:lnSpc>
                <a:spcPct val="130000"/>
              </a:lnSpc>
              <a:buSzPct val="100000"/>
              <a:buChar char="•"/>
            </a:pPr>
            <a:r>
              <a:rPr lang="en-US" sz="1300" dirty="0">
                <a:solidFill>
                  <a:srgbClr val="1A1A1A"/>
                </a:solidFill>
                <a:latin typeface="Meiryo" pitchFamily="34" charset="0"/>
                <a:ea typeface="Meiryo" pitchFamily="34" charset="-122"/>
                <a:cs typeface="Meiryo" pitchFamily="34" charset="-120"/>
              </a:rPr>
              <a:t>組み替えの軸02: 学校としての区分（中学／高校本科／フロンティア）は、読者の下位に置きます</a:t>
            </a:r>
            <a:endParaRPr lang="en-US" sz="1300" dirty="0"/>
          </a:p>
          <a:p>
            <a:pPr marL="342900" indent="-342900">
              <a:lnSpc>
                <a:spcPct val="130000"/>
              </a:lnSpc>
              <a:buSzPct val="100000"/>
              <a:buChar char="•"/>
            </a:pPr>
            <a:r>
              <a:rPr lang="en-US" sz="1300" dirty="0">
                <a:solidFill>
                  <a:srgbClr val="1A1A1A"/>
                </a:solidFill>
                <a:latin typeface="Meiryo" pitchFamily="34" charset="0"/>
                <a:ea typeface="Meiryo" pitchFamily="34" charset="-122"/>
                <a:cs typeface="Meiryo" pitchFamily="34" charset="-120"/>
              </a:rPr>
              <a:t>組み替えの軸03: 更新頻度の高いもの（入試・説明会・更新情報）を上位に置きます</a:t>
            </a:r>
            <a:endParaRPr lang="en-US" sz="1300" dirty="0"/>
          </a:p>
          <a:p>
            <a:pPr marL="342900" indent="-342900">
              <a:lnSpc>
                <a:spcPct val="130000"/>
              </a:lnSpc>
              <a:buSzPct val="100000"/>
              <a:buChar char="•"/>
            </a:pPr>
            <a:r>
              <a:rPr lang="en-US" sz="1300" dirty="0">
                <a:solidFill>
                  <a:srgbClr val="1A1A1A"/>
                </a:solidFill>
                <a:latin typeface="Meiryo" pitchFamily="34" charset="0"/>
                <a:ea typeface="Meiryo" pitchFamily="34" charset="-122"/>
                <a:cs typeface="Meiryo" pitchFamily="34" charset="-120"/>
              </a:rPr>
              <a:t>別紙: サイトマップ仕様書（Excel）にて、第1〜第4階層とURL、工程、更新性を一覧化します</a:t>
            </a:r>
            <a:endParaRPr lang="en-US" sz="1300" dirty="0"/>
          </a:p>
          <a:p>
            <a:pPr marL="342900" indent="-342900">
              <a:lnSpc>
                <a:spcPct val="130000"/>
              </a:lnSpc>
              <a:buSzPct val="100000"/>
              <a:buChar char="•"/>
            </a:pPr>
            <a:r>
              <a:rPr lang="en-US" sz="1300" dirty="0">
                <a:solidFill>
                  <a:srgbClr val="1A1A1A"/>
                </a:solidFill>
                <a:latin typeface="Meiryo" pitchFamily="34" charset="0"/>
                <a:ea typeface="Meiryo" pitchFamily="34" charset="-122"/>
                <a:cs typeface="Meiryo" pitchFamily="34" charset="-120"/>
              </a:rPr>
              <a:t>別紙: 主要ページのワイヤーフレームを、サイトマップ確定後にご提示します</a:t>
            </a:r>
            <a:endParaRPr lang="en-US" sz="1300" dirty="0"/>
          </a:p>
        </p:txBody>
      </p:sp>
      <p:sp>
        <p:nvSpPr>
          <p:cNvPr id="7" name="Text 5"/>
          <p:cNvSpPr/>
          <p:nvPr/>
        </p:nvSpPr>
        <p:spPr>
          <a:xfrm>
            <a:off x="7543800" y="4759452"/>
            <a:ext cx="1097280" cy="228600"/>
          </a:xfrm>
          <a:prstGeom prst="rect">
            <a:avLst/>
          </a:prstGeom>
          <a:noFill/>
          <a:ln/>
        </p:spPr>
        <p:txBody>
          <a:bodyPr wrap="square" rtlCol="0" anchor="ctr"/>
          <a:lstStyle/>
          <a:p>
            <a:pPr algn="r" indent="0" marL="0">
              <a:buNone/>
            </a:pPr>
            <a:r>
              <a:rPr lang="en-US" sz="900" dirty="0">
                <a:solidFill>
                  <a:srgbClr val="6B6B6B"/>
                </a:solidFill>
                <a:latin typeface="Meiryo" pitchFamily="34" charset="0"/>
                <a:ea typeface="Meiryo" pitchFamily="34" charset="-122"/>
                <a:cs typeface="Meiryo" pitchFamily="34" charset="-120"/>
              </a:rPr>
              <a:t>34|82</a:t>
            </a:r>
            <a:endParaRPr lang="en-US" sz="9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502920" y="502920"/>
            <a:ext cx="8138160" cy="228600"/>
          </a:xfrm>
          <a:prstGeom prst="rect">
            <a:avLst/>
          </a:prstGeom>
          <a:noFill/>
          <a:ln/>
        </p:spPr>
        <p:txBody>
          <a:bodyPr wrap="square" rtlCol="0" anchor="ctr"/>
          <a:lstStyle/>
          <a:p>
            <a:pPr indent="0" marL="0">
              <a:buNone/>
            </a:pPr>
            <a:r>
              <a:rPr lang="en-US" sz="1000" dirty="0">
                <a:solidFill>
                  <a:srgbClr val="6B6B6B"/>
                </a:solidFill>
                <a:latin typeface="Meiryo" pitchFamily="34" charset="0"/>
                <a:ea typeface="Meiryo" pitchFamily="34" charset="-122"/>
                <a:cs typeface="Meiryo" pitchFamily="34" charset="-120"/>
              </a:rPr>
              <a:t>06 Contents</a:t>
            </a:r>
            <a:endParaRPr lang="en-US" sz="1000" dirty="0"/>
          </a:p>
        </p:txBody>
      </p:sp>
      <p:sp>
        <p:nvSpPr>
          <p:cNvPr id="3" name="Text 1"/>
          <p:cNvSpPr/>
          <p:nvPr/>
        </p:nvSpPr>
        <p:spPr>
          <a:xfrm>
            <a:off x="502920" y="777240"/>
            <a:ext cx="8138160" cy="457200"/>
          </a:xfrm>
          <a:prstGeom prst="rect">
            <a:avLst/>
          </a:prstGeom>
          <a:noFill/>
          <a:ln/>
        </p:spPr>
        <p:txBody>
          <a:bodyPr wrap="square" rtlCol="0" anchor="ctr"/>
          <a:lstStyle/>
          <a:p>
            <a:pPr indent="0" marL="0">
              <a:buNone/>
            </a:pPr>
            <a:r>
              <a:rPr lang="en-US" sz="2000" b="1" dirty="0">
                <a:solidFill>
                  <a:srgbClr val="1A1A1A"/>
                </a:solidFill>
                <a:latin typeface="Meiryo" pitchFamily="34" charset="0"/>
                <a:ea typeface="Meiryo" pitchFamily="34" charset="-122"/>
                <a:cs typeface="Meiryo" pitchFamily="34" charset="-120"/>
              </a:rPr>
              <a:t>新サイトのページ構成案（第1階層）</a:t>
            </a:r>
            <a:endParaRPr lang="en-US" sz="2000" dirty="0"/>
          </a:p>
        </p:txBody>
      </p:sp>
      <p:sp>
        <p:nvSpPr>
          <p:cNvPr id="4" name="Shape 2"/>
          <p:cNvSpPr/>
          <p:nvPr/>
        </p:nvSpPr>
        <p:spPr>
          <a:xfrm>
            <a:off x="502920" y="1280160"/>
            <a:ext cx="8138160" cy="0"/>
          </a:xfrm>
          <a:prstGeom prst="line">
            <a:avLst/>
          </a:prstGeom>
          <a:noFill/>
          <a:ln w="12700">
            <a:solidFill>
              <a:srgbClr val="D5D5D5"/>
            </a:solidFill>
            <a:prstDash val="solid"/>
          </a:ln>
        </p:spPr>
      </p:sp>
      <p:sp>
        <p:nvSpPr>
          <p:cNvPr id="5" name="Text 3"/>
          <p:cNvSpPr/>
          <p:nvPr/>
        </p:nvSpPr>
        <p:spPr>
          <a:xfrm>
            <a:off x="502920" y="1417320"/>
            <a:ext cx="8138160" cy="457200"/>
          </a:xfrm>
          <a:prstGeom prst="rect">
            <a:avLst/>
          </a:prstGeom>
          <a:noFill/>
          <a:ln/>
        </p:spPr>
        <p:txBody>
          <a:bodyPr wrap="square" rtlCol="0" anchor="t"/>
          <a:lstStyle/>
          <a:p>
            <a:pPr indent="0" marL="0">
              <a:buNone/>
            </a:pPr>
            <a:r>
              <a:rPr lang="en-US" sz="1200" dirty="0">
                <a:solidFill>
                  <a:srgbClr val="1A1A1A"/>
                </a:solidFill>
                <a:latin typeface="Meiryo" pitchFamily="34" charset="0"/>
                <a:ea typeface="Meiryo" pitchFamily="34" charset="-122"/>
                <a:cs typeface="Meiryo" pitchFamily="34" charset="-120"/>
              </a:rPr>
              <a:t>現行の実測構造をもとにした組み替え案です。設計16Pはこの範囲で配分します。第2階層以下は別紙で確定します。</a:t>
            </a:r>
            <a:endParaRPr lang="en-US" sz="1200" dirty="0"/>
          </a:p>
        </p:txBody>
      </p:sp>
      <p:graphicFrame>
        <p:nvGraphicFramePr>
          <p:cNvPr id="36" name="Table 0"/>
          <p:cNvGraphicFramePr>
            <a:graphicFrameLocks noGrp="1"/>
          </p:cNvGraphicFramePr>
          <p:nvPr>
            <p:extLst>
              <p:ext uri="{D42A27DB-BD31-4B8C-83A1-F6EECF244321}">
                <p14:modId xmlns:p14="http://schemas.microsoft.com/office/powerpoint/2010/main" val="1579011935"/>
              </p:ext>
            </p:extLst>
          </p:nvPr>
        </p:nvGraphicFramePr>
        <p:xfrm>
          <a:off x="502920" y="1965960"/>
          <a:ext cx="8138160" cy="914400"/>
        </p:xfrm>
        <a:graphic>
          <a:graphicData uri="http://schemas.openxmlformats.org/drawingml/2006/table">
            <a:tbl>
              <a:tblPr/>
              <a:tblGrid>
                <a:gridCol w="2712720"/>
                <a:gridCol w="2712720"/>
                <a:gridCol w="2712720"/>
              </a:tblGrid>
              <a:tr h="0">
                <a:tc>
                  <a:txBody>
                    <a:bodyPr/>
                    <a:lstStyle/>
                    <a:p>
                      <a:pPr indent="0" marL="0">
                        <a:buNone/>
                      </a:pPr>
                      <a:r>
                        <a:rPr lang="en-US" sz="1100" b="1" dirty="0">
                          <a:solidFill>
                            <a:srgbClr val="FFFFFF"/>
                          </a:solidFill>
                          <a:latin typeface="Meiryo" pitchFamily="34" charset="0"/>
                          <a:ea typeface="Meiryo" pitchFamily="34" charset="-122"/>
                          <a:cs typeface="Meiryo" pitchFamily="34" charset="-120"/>
                        </a:rPr>
                        <a:t>新・第1階層</a:t>
                      </a:r>
                      <a:endParaRPr lang="en-US" sz="1100" dirty="0">
                        <a:latin typeface="Meiryo" charset="0"/>
                        <a:ea typeface="Meiryo" charset="0"/>
                        <a:cs typeface="Meiryo" charset="0"/>
                      </a:endParaRPr>
                    </a:p>
                  </a:txBody>
                  <a:tcPr marL="91440" marR="91440" marT="45720" marB="45720">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1F3A5F"/>
                    </a:solidFill>
                  </a:tcPr>
                </a:tc>
                <a:tc>
                  <a:txBody>
                    <a:bodyPr/>
                    <a:lstStyle/>
                    <a:p>
                      <a:pPr indent="0" marL="0">
                        <a:buNone/>
                      </a:pPr>
                      <a:r>
                        <a:rPr lang="en-US" sz="1100" b="1" dirty="0">
                          <a:solidFill>
                            <a:srgbClr val="FFFFFF"/>
                          </a:solidFill>
                          <a:latin typeface="Meiryo" pitchFamily="34" charset="0"/>
                          <a:ea typeface="Meiryo" pitchFamily="34" charset="-122"/>
                          <a:cs typeface="Meiryo" pitchFamily="34" charset="-120"/>
                        </a:rPr>
                        <a:t>含めるもの</a:t>
                      </a:r>
                      <a:endParaRPr lang="en-US" sz="1100" dirty="0">
                        <a:latin typeface="Meiryo" charset="0"/>
                        <a:ea typeface="Meiryo" charset="0"/>
                        <a:cs typeface="Meiryo" charset="0"/>
                      </a:endParaRPr>
                    </a:p>
                  </a:txBody>
                  <a:tcPr marL="91440" marR="91440" marT="45720" marB="45720">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1F3A5F"/>
                    </a:solidFill>
                  </a:tcPr>
                </a:tc>
                <a:tc>
                  <a:txBody>
                    <a:bodyPr/>
                    <a:lstStyle/>
                    <a:p>
                      <a:pPr indent="0" marL="0">
                        <a:buNone/>
                      </a:pPr>
                      <a:r>
                        <a:rPr lang="en-US" sz="1100" b="1" dirty="0">
                          <a:solidFill>
                            <a:srgbClr val="FFFFFF"/>
                          </a:solidFill>
                          <a:latin typeface="Meiryo" pitchFamily="34" charset="0"/>
                          <a:ea typeface="Meiryo" pitchFamily="34" charset="-122"/>
                          <a:cs typeface="Meiryo" pitchFamily="34" charset="-120"/>
                        </a:rPr>
                        <a:t>現行からの変更</a:t>
                      </a:r>
                      <a:endParaRPr lang="en-US" sz="1100" dirty="0">
                        <a:latin typeface="Meiryo" charset="0"/>
                        <a:ea typeface="Meiryo" charset="0"/>
                        <a:cs typeface="Meiryo" charset="0"/>
                      </a:endParaRPr>
                    </a:p>
                  </a:txBody>
                  <a:tcPr marL="91440" marR="91440" marT="45720" marB="45720">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1F3A5F"/>
                    </a:solidFill>
                  </a:tcPr>
                </a:tc>
              </a:tr>
              <a:tr h="0">
                <a:tc>
                  <a:txBody>
                    <a:bodyPr/>
                    <a:lstStyle/>
                    <a:p>
                      <a:pPr indent="0" marL="0">
                        <a:buNone/>
                      </a:pPr>
                      <a:r>
                        <a:rPr lang="en-US" sz="1100" dirty="0">
                          <a:solidFill>
                            <a:srgbClr val="1A1A1A"/>
                          </a:solidFill>
                          <a:latin typeface="Meiryo" pitchFamily="34" charset="0"/>
                          <a:ea typeface="Meiryo" pitchFamily="34" charset="-122"/>
                          <a:cs typeface="Meiryo" pitchFamily="34" charset="-120"/>
                        </a:rPr>
                        <a:t>学校について</a:t>
                      </a:r>
                      <a:endParaRPr lang="en-US" sz="1100" dirty="0">
                        <a:latin typeface="Meiryo" charset="0"/>
                        <a:ea typeface="Meiryo" charset="0"/>
                        <a:cs typeface="Meiryo" charset="0"/>
                      </a:endParaRPr>
                    </a:p>
                  </a:txBody>
                  <a:tcPr marL="91440" marR="91440" marT="45720" marB="45720">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tcPr>
                </a:tc>
                <a:tc>
                  <a:txBody>
                    <a:bodyPr/>
                    <a:lstStyle/>
                    <a:p>
                      <a:pPr indent="0" marL="0">
                        <a:buNone/>
                      </a:pPr>
                      <a:r>
                        <a:rPr lang="en-US" sz="1100" dirty="0">
                          <a:solidFill>
                            <a:srgbClr val="1A1A1A"/>
                          </a:solidFill>
                          <a:latin typeface="Meiryo" pitchFamily="34" charset="0"/>
                          <a:ea typeface="Meiryo" pitchFamily="34" charset="-122"/>
                          <a:cs typeface="Meiryo" pitchFamily="34" charset="-120"/>
                        </a:rPr>
                        <a:t>理事長挨拶／教育理念／沿革／施設</a:t>
                      </a:r>
                      <a:endParaRPr lang="en-US" sz="1100" dirty="0">
                        <a:latin typeface="Meiryo" charset="0"/>
                        <a:ea typeface="Meiryo" charset="0"/>
                        <a:cs typeface="Meiryo" charset="0"/>
                      </a:endParaRPr>
                    </a:p>
                  </a:txBody>
                  <a:tcPr marL="91440" marR="91440" marT="45720" marB="45720">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tcPr>
                </a:tc>
                <a:tc>
                  <a:txBody>
                    <a:bodyPr/>
                    <a:lstStyle/>
                    <a:p>
                      <a:pPr indent="0" marL="0">
                        <a:buNone/>
                      </a:pPr>
                      <a:r>
                        <a:rPr lang="en-US" sz="1100" dirty="0">
                          <a:solidFill>
                            <a:srgbClr val="1A1A1A"/>
                          </a:solidFill>
                          <a:latin typeface="Meiryo" pitchFamily="34" charset="0"/>
                          <a:ea typeface="Meiryo" pitchFamily="34" charset="-122"/>
                          <a:cs typeface="Meiryo" pitchFamily="34" charset="-120"/>
                        </a:rPr>
                        <a:t>/info をほぼ踏襲します</a:t>
                      </a:r>
                      <a:endParaRPr lang="en-US" sz="1100" dirty="0">
                        <a:latin typeface="Meiryo" charset="0"/>
                        <a:ea typeface="Meiryo" charset="0"/>
                        <a:cs typeface="Meiryo" charset="0"/>
                      </a:endParaRPr>
                    </a:p>
                  </a:txBody>
                  <a:tcPr marL="91440" marR="91440" marT="45720" marB="45720">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tcPr>
                </a:tc>
              </a:tr>
              <a:tr h="0">
                <a:tc>
                  <a:txBody>
                    <a:bodyPr/>
                    <a:lstStyle/>
                    <a:p>
                      <a:pPr indent="0" marL="0">
                        <a:buNone/>
                      </a:pPr>
                      <a:r>
                        <a:rPr lang="en-US" sz="1100" dirty="0">
                          <a:solidFill>
                            <a:srgbClr val="1A1A1A"/>
                          </a:solidFill>
                          <a:latin typeface="Meiryo" pitchFamily="34" charset="0"/>
                          <a:ea typeface="Meiryo" pitchFamily="34" charset="-122"/>
                          <a:cs typeface="Meiryo" pitchFamily="34" charset="-120"/>
                        </a:rPr>
                        <a:t>学びとコース</a:t>
                      </a:r>
                      <a:endParaRPr lang="en-US" sz="1100" dirty="0">
                        <a:latin typeface="Meiryo" charset="0"/>
                        <a:ea typeface="Meiryo" charset="0"/>
                        <a:cs typeface="Meiryo" charset="0"/>
                      </a:endParaRPr>
                    </a:p>
                  </a:txBody>
                  <a:tcPr marL="91440" marR="91440" marT="45720" marB="45720">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tcPr>
                </a:tc>
                <a:tc>
                  <a:txBody>
                    <a:bodyPr/>
                    <a:lstStyle/>
                    <a:p>
                      <a:pPr indent="0" marL="0">
                        <a:buNone/>
                      </a:pPr>
                      <a:r>
                        <a:rPr lang="en-US" sz="1100" dirty="0">
                          <a:solidFill>
                            <a:srgbClr val="1A1A1A"/>
                          </a:solidFill>
                          <a:latin typeface="Meiryo" pitchFamily="34" charset="0"/>
                          <a:ea typeface="Meiryo" pitchFamily="34" charset="-122"/>
                          <a:cs typeface="Meiryo" pitchFamily="34" charset="-120"/>
                        </a:rPr>
                        <a:t>中学／高校本科／フロンティアコース</a:t>
                      </a:r>
                      <a:endParaRPr lang="en-US" sz="1100" dirty="0">
                        <a:latin typeface="Meiryo" charset="0"/>
                        <a:ea typeface="Meiryo" charset="0"/>
                        <a:cs typeface="Meiryo" charset="0"/>
                      </a:endParaRPr>
                    </a:p>
                  </a:txBody>
                  <a:tcPr marL="91440" marR="91440" marT="45720" marB="45720">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tcPr>
                </a:tc>
                <a:tc>
                  <a:txBody>
                    <a:bodyPr/>
                    <a:lstStyle/>
                    <a:p>
                      <a:pPr indent="0" marL="0">
                        <a:buNone/>
                      </a:pPr>
                      <a:r>
                        <a:rPr lang="en-US" sz="1100" dirty="0">
                          <a:solidFill>
                            <a:srgbClr val="1A1A1A"/>
                          </a:solidFill>
                          <a:latin typeface="Meiryo" pitchFamily="34" charset="0"/>
                          <a:ea typeface="Meiryo" pitchFamily="34" charset="-122"/>
                          <a:cs typeface="Meiryo" pitchFamily="34" charset="-120"/>
                        </a:rPr>
                        <a:t>3系統の並列を1つの親の下にまとめます</a:t>
                      </a:r>
                      <a:endParaRPr lang="en-US" sz="1100" dirty="0">
                        <a:latin typeface="Meiryo" charset="0"/>
                        <a:ea typeface="Meiryo" charset="0"/>
                        <a:cs typeface="Meiryo" charset="0"/>
                      </a:endParaRPr>
                    </a:p>
                  </a:txBody>
                  <a:tcPr marL="91440" marR="91440" marT="45720" marB="45720">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tcPr>
                </a:tc>
              </a:tr>
              <a:tr h="0">
                <a:tc>
                  <a:txBody>
                    <a:bodyPr/>
                    <a:lstStyle/>
                    <a:p>
                      <a:pPr indent="0" marL="0">
                        <a:buNone/>
                      </a:pPr>
                      <a:r>
                        <a:rPr lang="en-US" sz="1100" dirty="0">
                          <a:solidFill>
                            <a:srgbClr val="1A1A1A"/>
                          </a:solidFill>
                          <a:latin typeface="Meiryo" pitchFamily="34" charset="0"/>
                          <a:ea typeface="Meiryo" pitchFamily="34" charset="-122"/>
                          <a:cs typeface="Meiryo" pitchFamily="34" charset="-120"/>
                        </a:rPr>
                        <a:t>学校生活</a:t>
                      </a:r>
                      <a:endParaRPr lang="en-US" sz="1100" dirty="0">
                        <a:latin typeface="Meiryo" charset="0"/>
                        <a:ea typeface="Meiryo" charset="0"/>
                        <a:cs typeface="Meiryo" charset="0"/>
                      </a:endParaRPr>
                    </a:p>
                  </a:txBody>
                  <a:tcPr marL="91440" marR="91440" marT="45720" marB="45720">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tcPr>
                </a:tc>
                <a:tc>
                  <a:txBody>
                    <a:bodyPr/>
                    <a:lstStyle/>
                    <a:p>
                      <a:pPr indent="0" marL="0">
                        <a:buNone/>
                      </a:pPr>
                      <a:r>
                        <a:rPr lang="en-US" sz="1100" dirty="0">
                          <a:solidFill>
                            <a:srgbClr val="1A1A1A"/>
                          </a:solidFill>
                          <a:latin typeface="Meiryo" pitchFamily="34" charset="0"/>
                          <a:ea typeface="Meiryo" pitchFamily="34" charset="-122"/>
                          <a:cs typeface="Meiryo" pitchFamily="34" charset="-120"/>
                        </a:rPr>
                        <a:t>行事／部活動／ギャラリー</a:t>
                      </a:r>
                      <a:endParaRPr lang="en-US" sz="1100" dirty="0">
                        <a:latin typeface="Meiryo" charset="0"/>
                        <a:ea typeface="Meiryo" charset="0"/>
                        <a:cs typeface="Meiryo" charset="0"/>
                      </a:endParaRPr>
                    </a:p>
                  </a:txBody>
                  <a:tcPr marL="91440" marR="91440" marT="45720" marB="45720">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tcPr>
                </a:tc>
                <a:tc>
                  <a:txBody>
                    <a:bodyPr/>
                    <a:lstStyle/>
                    <a:p>
                      <a:pPr indent="0" marL="0">
                        <a:buNone/>
                      </a:pPr>
                      <a:r>
                        <a:rPr lang="en-US" sz="1100" dirty="0">
                          <a:solidFill>
                            <a:srgbClr val="1A1A1A"/>
                          </a:solidFill>
                          <a:latin typeface="Meiryo" pitchFamily="34" charset="0"/>
                          <a:ea typeface="Meiryo" pitchFamily="34" charset="-122"/>
                          <a:cs typeface="Meiryo" pitchFamily="34" charset="-120"/>
                        </a:rPr>
                        <a:t>部活動の入口の重複を解消します</a:t>
                      </a:r>
                      <a:endParaRPr lang="en-US" sz="1100" dirty="0">
                        <a:latin typeface="Meiryo" charset="0"/>
                        <a:ea typeface="Meiryo" charset="0"/>
                        <a:cs typeface="Meiryo" charset="0"/>
                      </a:endParaRPr>
                    </a:p>
                  </a:txBody>
                  <a:tcPr marL="91440" marR="91440" marT="45720" marB="45720">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tcPr>
                </a:tc>
              </a:tr>
              <a:tr h="0">
                <a:tc>
                  <a:txBody>
                    <a:bodyPr/>
                    <a:lstStyle/>
                    <a:p>
                      <a:pPr indent="0" marL="0">
                        <a:buNone/>
                      </a:pPr>
                      <a:r>
                        <a:rPr lang="en-US" sz="1100" dirty="0">
                          <a:solidFill>
                            <a:srgbClr val="1A1A1A"/>
                          </a:solidFill>
                          <a:latin typeface="Meiryo" pitchFamily="34" charset="0"/>
                          <a:ea typeface="Meiryo" pitchFamily="34" charset="-122"/>
                          <a:cs typeface="Meiryo" pitchFamily="34" charset="-120"/>
                        </a:rPr>
                        <a:t>入試情報</a:t>
                      </a:r>
                      <a:endParaRPr lang="en-US" sz="1100" dirty="0">
                        <a:latin typeface="Meiryo" charset="0"/>
                        <a:ea typeface="Meiryo" charset="0"/>
                        <a:cs typeface="Meiryo" charset="0"/>
                      </a:endParaRPr>
                    </a:p>
                  </a:txBody>
                  <a:tcPr marL="91440" marR="91440" marT="45720" marB="45720">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tcPr>
                </a:tc>
                <a:tc>
                  <a:txBody>
                    <a:bodyPr/>
                    <a:lstStyle/>
                    <a:p>
                      <a:pPr indent="0" marL="0">
                        <a:buNone/>
                      </a:pPr>
                      <a:r>
                        <a:rPr lang="en-US" sz="1100" dirty="0">
                          <a:solidFill>
                            <a:srgbClr val="1A1A1A"/>
                          </a:solidFill>
                          <a:latin typeface="Meiryo" pitchFamily="34" charset="0"/>
                          <a:ea typeface="Meiryo" pitchFamily="34" charset="-122"/>
                          <a:cs typeface="Meiryo" pitchFamily="34" charset="-120"/>
                        </a:rPr>
                        <a:t>入試要項／説明会／出願</a:t>
                      </a:r>
                      <a:endParaRPr lang="en-US" sz="1100" dirty="0">
                        <a:latin typeface="Meiryo" charset="0"/>
                        <a:ea typeface="Meiryo" charset="0"/>
                        <a:cs typeface="Meiryo" charset="0"/>
                      </a:endParaRPr>
                    </a:p>
                  </a:txBody>
                  <a:tcPr marL="91440" marR="91440" marT="45720" marB="45720">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tcPr>
                </a:tc>
                <a:tc>
                  <a:txBody>
                    <a:bodyPr/>
                    <a:lstStyle/>
                    <a:p>
                      <a:pPr indent="0" marL="0">
                        <a:buNone/>
                      </a:pPr>
                      <a:r>
                        <a:rPr lang="en-US" sz="1100" dirty="0">
                          <a:solidFill>
                            <a:srgbClr val="1A1A1A"/>
                          </a:solidFill>
                          <a:latin typeface="Meiryo" pitchFamily="34" charset="0"/>
                          <a:ea typeface="Meiryo" pitchFamily="34" charset="-122"/>
                          <a:cs typeface="Meiryo" pitchFamily="34" charset="-120"/>
                        </a:rPr>
                        <a:t>PDFからページ化し、年度更新を前提にします</a:t>
                      </a:r>
                      <a:endParaRPr lang="en-US" sz="1100" dirty="0">
                        <a:latin typeface="Meiryo" charset="0"/>
                        <a:ea typeface="Meiryo" charset="0"/>
                        <a:cs typeface="Meiryo" charset="0"/>
                      </a:endParaRPr>
                    </a:p>
                  </a:txBody>
                  <a:tcPr marL="91440" marR="91440" marT="45720" marB="45720">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tcPr>
                </a:tc>
              </a:tr>
              <a:tr h="0">
                <a:tc>
                  <a:txBody>
                    <a:bodyPr/>
                    <a:lstStyle/>
                    <a:p>
                      <a:pPr indent="0" marL="0">
                        <a:buNone/>
                      </a:pPr>
                      <a:r>
                        <a:rPr lang="en-US" sz="1100" dirty="0">
                          <a:solidFill>
                            <a:srgbClr val="1A1A1A"/>
                          </a:solidFill>
                          <a:latin typeface="Meiryo" pitchFamily="34" charset="0"/>
                          <a:ea typeface="Meiryo" pitchFamily="34" charset="-122"/>
                          <a:cs typeface="Meiryo" pitchFamily="34" charset="-120"/>
                        </a:rPr>
                        <a:t>進学実績</a:t>
                      </a:r>
                      <a:endParaRPr lang="en-US" sz="1100" dirty="0">
                        <a:latin typeface="Meiryo" charset="0"/>
                        <a:ea typeface="Meiryo" charset="0"/>
                        <a:cs typeface="Meiryo" charset="0"/>
                      </a:endParaRPr>
                    </a:p>
                  </a:txBody>
                  <a:tcPr marL="91440" marR="91440" marT="45720" marB="45720">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tcPr>
                </a:tc>
                <a:tc>
                  <a:txBody>
                    <a:bodyPr/>
                    <a:lstStyle/>
                    <a:p>
                      <a:pPr indent="0" marL="0">
                        <a:buNone/>
                      </a:pPr>
                      <a:r>
                        <a:rPr lang="en-US" sz="1100" dirty="0">
                          <a:solidFill>
                            <a:srgbClr val="1A1A1A"/>
                          </a:solidFill>
                          <a:latin typeface="Meiryo" pitchFamily="34" charset="0"/>
                          <a:ea typeface="Meiryo" pitchFamily="34" charset="-122"/>
                          <a:cs typeface="Meiryo" pitchFamily="34" charset="-120"/>
                        </a:rPr>
                        <a:t>中学・高校の実績</a:t>
                      </a:r>
                      <a:endParaRPr lang="en-US" sz="1100" dirty="0">
                        <a:latin typeface="Meiryo" charset="0"/>
                        <a:ea typeface="Meiryo" charset="0"/>
                        <a:cs typeface="Meiryo" charset="0"/>
                      </a:endParaRPr>
                    </a:p>
                  </a:txBody>
                  <a:tcPr marL="91440" marR="91440" marT="45720" marB="45720">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tcPr>
                </a:tc>
                <a:tc>
                  <a:txBody>
                    <a:bodyPr/>
                    <a:lstStyle/>
                    <a:p>
                      <a:pPr indent="0" marL="0">
                        <a:buNone/>
                      </a:pPr>
                      <a:r>
                        <a:rPr lang="en-US" sz="1100" dirty="0">
                          <a:solidFill>
                            <a:srgbClr val="1A1A1A"/>
                          </a:solidFill>
                          <a:latin typeface="Meiryo" pitchFamily="34" charset="0"/>
                          <a:ea typeface="Meiryo" pitchFamily="34" charset="-122"/>
                          <a:cs typeface="Meiryo" pitchFamily="34" charset="-120"/>
                        </a:rPr>
                        <a:t>命名の不統一（result-junior / result-high）を揃えます</a:t>
                      </a:r>
                      <a:endParaRPr lang="en-US" sz="1100" dirty="0">
                        <a:latin typeface="Meiryo" charset="0"/>
                        <a:ea typeface="Meiryo" charset="0"/>
                        <a:cs typeface="Meiryo" charset="0"/>
                      </a:endParaRPr>
                    </a:p>
                  </a:txBody>
                  <a:tcPr marL="91440" marR="91440" marT="45720" marB="45720">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tcPr>
                </a:tc>
              </a:tr>
              <a:tr h="0">
                <a:tc>
                  <a:txBody>
                    <a:bodyPr/>
                    <a:lstStyle/>
                    <a:p>
                      <a:pPr indent="0" marL="0">
                        <a:buNone/>
                      </a:pPr>
                      <a:r>
                        <a:rPr lang="en-US" sz="1100" dirty="0">
                          <a:solidFill>
                            <a:srgbClr val="1A1A1A"/>
                          </a:solidFill>
                          <a:latin typeface="Meiryo" pitchFamily="34" charset="0"/>
                          <a:ea typeface="Meiryo" pitchFamily="34" charset="-122"/>
                          <a:cs typeface="Meiryo" pitchFamily="34" charset="-120"/>
                        </a:rPr>
                        <a:t>更新情報</a:t>
                      </a:r>
                      <a:endParaRPr lang="en-US" sz="1100" dirty="0">
                        <a:latin typeface="Meiryo" charset="0"/>
                        <a:ea typeface="Meiryo" charset="0"/>
                        <a:cs typeface="Meiryo" charset="0"/>
                      </a:endParaRPr>
                    </a:p>
                  </a:txBody>
                  <a:tcPr marL="91440" marR="91440" marT="45720" marB="45720">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tcPr>
                </a:tc>
                <a:tc>
                  <a:txBody>
                    <a:bodyPr/>
                    <a:lstStyle/>
                    <a:p>
                      <a:pPr indent="0" marL="0">
                        <a:buNone/>
                      </a:pPr>
                      <a:r>
                        <a:rPr lang="en-US" sz="1100" dirty="0">
                          <a:solidFill>
                            <a:srgbClr val="1A1A1A"/>
                          </a:solidFill>
                          <a:latin typeface="Meiryo" pitchFamily="34" charset="0"/>
                          <a:ea typeface="Meiryo" pitchFamily="34" charset="-122"/>
                          <a:cs typeface="Meiryo" pitchFamily="34" charset="-120"/>
                        </a:rPr>
                        <a:t>お知らせ／説明会情報</a:t>
                      </a:r>
                      <a:endParaRPr lang="en-US" sz="1100" dirty="0">
                        <a:latin typeface="Meiryo" charset="0"/>
                        <a:ea typeface="Meiryo" charset="0"/>
                        <a:cs typeface="Meiryo" charset="0"/>
                      </a:endParaRPr>
                    </a:p>
                  </a:txBody>
                  <a:tcPr marL="91440" marR="91440" marT="45720" marB="45720">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tcPr>
                </a:tc>
                <a:tc>
                  <a:txBody>
                    <a:bodyPr/>
                    <a:lstStyle/>
                    <a:p>
                      <a:pPr indent="0" marL="0">
                        <a:buNone/>
                      </a:pPr>
                      <a:r>
                        <a:rPr lang="en-US" sz="1100" dirty="0">
                          <a:solidFill>
                            <a:srgbClr val="1A1A1A"/>
                          </a:solidFill>
                          <a:latin typeface="Meiryo" pitchFamily="34" charset="0"/>
                          <a:ea typeface="Meiryo" pitchFamily="34" charset="-122"/>
                          <a:cs typeface="Meiryo" pitchFamily="34" charset="-120"/>
                        </a:rPr>
                        <a:t>学部区分とコース区分の二重導線を1本にします</a:t>
                      </a:r>
                      <a:endParaRPr lang="en-US" sz="1100" dirty="0">
                        <a:latin typeface="Meiryo" charset="0"/>
                        <a:ea typeface="Meiryo" charset="0"/>
                        <a:cs typeface="Meiryo" charset="0"/>
                      </a:endParaRPr>
                    </a:p>
                  </a:txBody>
                  <a:tcPr marL="91440" marR="91440" marT="45720" marB="45720">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tcPr>
                </a:tc>
              </a:tr>
              <a:tr h="0">
                <a:tc>
                  <a:txBody>
                    <a:bodyPr/>
                    <a:lstStyle/>
                    <a:p>
                      <a:pPr indent="0" marL="0">
                        <a:buNone/>
                      </a:pPr>
                      <a:r>
                        <a:rPr lang="en-US" sz="1100" dirty="0">
                          <a:solidFill>
                            <a:srgbClr val="1A1A1A"/>
                          </a:solidFill>
                          <a:latin typeface="Meiryo" pitchFamily="34" charset="0"/>
                          <a:ea typeface="Meiryo" pitchFamily="34" charset="-122"/>
                          <a:cs typeface="Meiryo" pitchFamily="34" charset="-120"/>
                        </a:rPr>
                        <a:t>その他</a:t>
                      </a:r>
                      <a:endParaRPr lang="en-US" sz="1100" dirty="0">
                        <a:latin typeface="Meiryo" charset="0"/>
                        <a:ea typeface="Meiryo" charset="0"/>
                        <a:cs typeface="Meiryo" charset="0"/>
                      </a:endParaRPr>
                    </a:p>
                  </a:txBody>
                  <a:tcPr marL="91440" marR="91440" marT="45720" marB="45720">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tcPr>
                </a:tc>
                <a:tc>
                  <a:txBody>
                    <a:bodyPr/>
                    <a:lstStyle/>
                    <a:p>
                      <a:pPr indent="0" marL="0">
                        <a:buNone/>
                      </a:pPr>
                      <a:r>
                        <a:rPr lang="en-US" sz="1100" dirty="0">
                          <a:solidFill>
                            <a:srgbClr val="1A1A1A"/>
                          </a:solidFill>
                          <a:latin typeface="Meiryo" pitchFamily="34" charset="0"/>
                          <a:ea typeface="Meiryo" pitchFamily="34" charset="-122"/>
                          <a:cs typeface="Meiryo" pitchFamily="34" charset="-120"/>
                        </a:rPr>
                        <a:t>アクセス／ご寄付／同窓／採用</a:t>
                      </a:r>
                      <a:endParaRPr lang="en-US" sz="1100" dirty="0">
                        <a:latin typeface="Meiryo" charset="0"/>
                        <a:ea typeface="Meiryo" charset="0"/>
                        <a:cs typeface="Meiryo" charset="0"/>
                      </a:endParaRPr>
                    </a:p>
                  </a:txBody>
                  <a:tcPr marL="91440" marR="91440" marT="45720" marB="45720">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tcPr>
                </a:tc>
                <a:tc>
                  <a:txBody>
                    <a:bodyPr/>
                    <a:lstStyle/>
                    <a:p>
                      <a:pPr indent="0" marL="0">
                        <a:buNone/>
                      </a:pPr>
                      <a:r>
                        <a:rPr lang="en-US" sz="1100" dirty="0">
                          <a:solidFill>
                            <a:srgbClr val="1A1A1A"/>
                          </a:solidFill>
                          <a:latin typeface="Meiryo" pitchFamily="34" charset="0"/>
                          <a:ea typeface="Meiryo" pitchFamily="34" charset="-122"/>
                          <a:cs typeface="Meiryo" pitchFamily="34" charset="-120"/>
                        </a:rPr>
                        <a:t>現行の単独ページを踏襲します</a:t>
                      </a:r>
                      <a:endParaRPr lang="en-US" sz="1100" dirty="0">
                        <a:latin typeface="Meiryo" charset="0"/>
                        <a:ea typeface="Meiryo" charset="0"/>
                        <a:cs typeface="Meiryo" charset="0"/>
                      </a:endParaRPr>
                    </a:p>
                  </a:txBody>
                  <a:tcPr marL="91440" marR="91440" marT="45720" marB="45720">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tcPr>
                </a:tc>
              </a:tr>
            </a:tbl>
          </a:graphicData>
        </a:graphic>
      </p:graphicFrame>
      <p:sp>
        <p:nvSpPr>
          <p:cNvPr id="7" name="Text 4"/>
          <p:cNvSpPr/>
          <p:nvPr/>
        </p:nvSpPr>
        <p:spPr>
          <a:xfrm>
            <a:off x="502920" y="4759452"/>
            <a:ext cx="6949440" cy="228600"/>
          </a:xfrm>
          <a:prstGeom prst="rect">
            <a:avLst/>
          </a:prstGeom>
          <a:noFill/>
          <a:ln/>
        </p:spPr>
        <p:txBody>
          <a:bodyPr wrap="square" rtlCol="0" anchor="ctr"/>
          <a:lstStyle/>
          <a:p>
            <a:pPr indent="0" marL="0">
              <a:buNone/>
            </a:pPr>
            <a:r>
              <a:rPr lang="en-US" sz="900" dirty="0">
                <a:solidFill>
                  <a:srgbClr val="6B6B6B"/>
                </a:solidFill>
                <a:latin typeface="Meiryo" pitchFamily="34" charset="0"/>
                <a:ea typeface="Meiryo" pitchFamily="34" charset="-122"/>
                <a:cs typeface="Meiryo" pitchFamily="34" charset="-120"/>
              </a:rPr>
              <a:t>出典: gg-manager site_crawl（2026-09-18、深度3、190URL到達／142ページ取得）</a:t>
            </a:r>
            <a:endParaRPr lang="en-US" sz="900" dirty="0"/>
          </a:p>
        </p:txBody>
      </p:sp>
      <p:sp>
        <p:nvSpPr>
          <p:cNvPr id="8" name="Text 5"/>
          <p:cNvSpPr/>
          <p:nvPr/>
        </p:nvSpPr>
        <p:spPr>
          <a:xfrm>
            <a:off x="7543800" y="4759452"/>
            <a:ext cx="1097280" cy="228600"/>
          </a:xfrm>
          <a:prstGeom prst="rect">
            <a:avLst/>
          </a:prstGeom>
          <a:noFill/>
          <a:ln/>
        </p:spPr>
        <p:txBody>
          <a:bodyPr wrap="square" rtlCol="0" anchor="ctr"/>
          <a:lstStyle/>
          <a:p>
            <a:pPr algn="r" indent="0" marL="0">
              <a:buNone/>
            </a:pPr>
            <a:r>
              <a:rPr lang="en-US" sz="900" dirty="0">
                <a:solidFill>
                  <a:srgbClr val="6B6B6B"/>
                </a:solidFill>
                <a:latin typeface="Meiryo" pitchFamily="34" charset="0"/>
                <a:ea typeface="Meiryo" pitchFamily="34" charset="-122"/>
                <a:cs typeface="Meiryo" pitchFamily="34" charset="-120"/>
              </a:rPr>
              <a:t>35|82</a:t>
            </a:r>
            <a:endParaRPr lang="en-US" sz="9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502920" y="502920"/>
            <a:ext cx="8138160" cy="228600"/>
          </a:xfrm>
          <a:prstGeom prst="rect">
            <a:avLst/>
          </a:prstGeom>
          <a:noFill/>
          <a:ln/>
        </p:spPr>
        <p:txBody>
          <a:bodyPr wrap="square" rtlCol="0" anchor="ctr"/>
          <a:lstStyle/>
          <a:p>
            <a:pPr indent="0" marL="0">
              <a:buNone/>
            </a:pPr>
            <a:r>
              <a:rPr lang="en-US" sz="1000" dirty="0">
                <a:solidFill>
                  <a:srgbClr val="6B6B6B"/>
                </a:solidFill>
                <a:latin typeface="Meiryo" pitchFamily="34" charset="0"/>
                <a:ea typeface="Meiryo" pitchFamily="34" charset="-122"/>
                <a:cs typeface="Meiryo" pitchFamily="34" charset="-120"/>
              </a:rPr>
              <a:t>06 Contents</a:t>
            </a:r>
            <a:endParaRPr lang="en-US" sz="1000" dirty="0"/>
          </a:p>
        </p:txBody>
      </p:sp>
      <p:sp>
        <p:nvSpPr>
          <p:cNvPr id="3" name="Text 1"/>
          <p:cNvSpPr/>
          <p:nvPr/>
        </p:nvSpPr>
        <p:spPr>
          <a:xfrm>
            <a:off x="502920" y="777240"/>
            <a:ext cx="8138160" cy="457200"/>
          </a:xfrm>
          <a:prstGeom prst="rect">
            <a:avLst/>
          </a:prstGeom>
          <a:noFill/>
          <a:ln/>
        </p:spPr>
        <p:txBody>
          <a:bodyPr wrap="square" rtlCol="0" anchor="ctr"/>
          <a:lstStyle/>
          <a:p>
            <a:pPr indent="0" marL="0">
              <a:buNone/>
            </a:pPr>
            <a:r>
              <a:rPr lang="en-US" sz="2000" b="1" dirty="0">
                <a:solidFill>
                  <a:srgbClr val="1A1A1A"/>
                </a:solidFill>
                <a:latin typeface="Meiryo" pitchFamily="34" charset="0"/>
                <a:ea typeface="Meiryo" pitchFamily="34" charset="-122"/>
                <a:cs typeface="Meiryo" pitchFamily="34" charset="-120"/>
              </a:rPr>
              <a:t>入試要項とフロンティアコースを、ページとして持ちます</a:t>
            </a:r>
            <a:endParaRPr lang="en-US" sz="2000" dirty="0"/>
          </a:p>
        </p:txBody>
      </p:sp>
      <p:sp>
        <p:nvSpPr>
          <p:cNvPr id="4" name="Shape 2"/>
          <p:cNvSpPr/>
          <p:nvPr/>
        </p:nvSpPr>
        <p:spPr>
          <a:xfrm>
            <a:off x="502920" y="1280160"/>
            <a:ext cx="8138160" cy="0"/>
          </a:xfrm>
          <a:prstGeom prst="line">
            <a:avLst/>
          </a:prstGeom>
          <a:noFill/>
          <a:ln w="12700">
            <a:solidFill>
              <a:srgbClr val="D5D5D5"/>
            </a:solidFill>
            <a:prstDash val="solid"/>
          </a:ln>
        </p:spPr>
      </p:sp>
      <p:sp>
        <p:nvSpPr>
          <p:cNvPr id="5" name="Text 3"/>
          <p:cNvSpPr/>
          <p:nvPr/>
        </p:nvSpPr>
        <p:spPr>
          <a:xfrm>
            <a:off x="502920" y="1417320"/>
            <a:ext cx="8138160" cy="457200"/>
          </a:xfrm>
          <a:prstGeom prst="rect">
            <a:avLst/>
          </a:prstGeom>
          <a:noFill/>
          <a:ln/>
        </p:spPr>
        <p:txBody>
          <a:bodyPr wrap="square" rtlCol="0" anchor="t"/>
          <a:lstStyle/>
          <a:p>
            <a:pPr indent="0" marL="0">
              <a:buNone/>
            </a:pPr>
            <a:r>
              <a:rPr lang="en-US" sz="1200" dirty="0">
                <a:solidFill>
                  <a:srgbClr val="1A1A1A"/>
                </a:solidFill>
                <a:latin typeface="Meiryo" pitchFamily="34" charset="0"/>
                <a:ea typeface="Meiryo" pitchFamily="34" charset="-122"/>
                <a:cs typeface="Meiryo" pitchFamily="34" charset="-120"/>
              </a:rPr>
              <a:t>喫緊とお聞きしている2件です。いずれも「毎年同じ手順で更新できること」を要件に設計します。</a:t>
            </a:r>
            <a:endParaRPr lang="en-US" sz="1200" dirty="0"/>
          </a:p>
        </p:txBody>
      </p:sp>
      <p:sp>
        <p:nvSpPr>
          <p:cNvPr id="6" name="Text 4"/>
          <p:cNvSpPr/>
          <p:nvPr/>
        </p:nvSpPr>
        <p:spPr>
          <a:xfrm>
            <a:off x="502920" y="1965960"/>
            <a:ext cx="8138160" cy="2628900"/>
          </a:xfrm>
          <a:prstGeom prst="rect">
            <a:avLst/>
          </a:prstGeom>
          <a:noFill/>
          <a:ln/>
        </p:spPr>
        <p:txBody>
          <a:bodyPr wrap="square" rtlCol="0" anchor="t"/>
          <a:lstStyle/>
          <a:p>
            <a:pPr marL="342900" indent="-342900">
              <a:lnSpc>
                <a:spcPct val="130000"/>
              </a:lnSpc>
              <a:buSzPct val="100000"/>
              <a:buChar char="•"/>
            </a:pPr>
            <a:r>
              <a:rPr lang="en-US" sz="1300" dirty="0">
                <a:solidFill>
                  <a:srgbClr val="1A1A1A"/>
                </a:solidFill>
                <a:latin typeface="Meiryo" pitchFamily="34" charset="0"/>
                <a:ea typeface="Meiryo" pitchFamily="34" charset="-122"/>
                <a:cs typeface="Meiryo" pitchFamily="34" charset="-120"/>
              </a:rPr>
              <a:t>入試要項: 募集人数・日程・科目・出願方法を項目として持ち、年度を切り替えて更新できるようにします</a:t>
            </a:r>
            <a:endParaRPr lang="en-US" sz="1300" dirty="0"/>
          </a:p>
          <a:p>
            <a:pPr marL="342900" indent="-342900">
              <a:lnSpc>
                <a:spcPct val="130000"/>
              </a:lnSpc>
              <a:buSzPct val="100000"/>
              <a:buChar char="•"/>
            </a:pPr>
            <a:r>
              <a:rPr lang="en-US" sz="1300" dirty="0">
                <a:solidFill>
                  <a:srgbClr val="1A1A1A"/>
                </a:solidFill>
                <a:latin typeface="Meiryo" pitchFamily="34" charset="0"/>
                <a:ea typeface="Meiryo" pitchFamily="34" charset="-122"/>
                <a:cs typeface="Meiryo" pitchFamily="34" charset="-120"/>
              </a:rPr>
              <a:t>入試要項（PDF）: 配布・印刷用のPDFは、ページ内に併置する形とします</a:t>
            </a:r>
            <a:endParaRPr lang="en-US" sz="1300" dirty="0"/>
          </a:p>
          <a:p>
            <a:pPr marL="342900" indent="-342900">
              <a:lnSpc>
                <a:spcPct val="130000"/>
              </a:lnSpc>
              <a:buSzPct val="100000"/>
              <a:buChar char="•"/>
            </a:pPr>
            <a:r>
              <a:rPr lang="en-US" sz="1300" dirty="0">
                <a:solidFill>
                  <a:srgbClr val="1A1A1A"/>
                </a:solidFill>
                <a:latin typeface="Meiryo" pitchFamily="34" charset="0"/>
                <a:ea typeface="Meiryo" pitchFamily="34" charset="-122"/>
                <a:cs typeface="Meiryo" pitchFamily="34" charset="-120"/>
              </a:rPr>
              <a:t>フロンティアコース: フィールドワーク・プロジェクト学習を、活動単位の記事として追加できるようにします</a:t>
            </a:r>
            <a:endParaRPr lang="en-US" sz="1300" dirty="0"/>
          </a:p>
          <a:p>
            <a:pPr marL="342900" indent="-342900">
              <a:lnSpc>
                <a:spcPct val="130000"/>
              </a:lnSpc>
              <a:buSzPct val="100000"/>
              <a:buChar char="•"/>
            </a:pPr>
            <a:r>
              <a:rPr lang="en-US" sz="1300" dirty="0">
                <a:solidFill>
                  <a:srgbClr val="1A1A1A"/>
                </a:solidFill>
                <a:latin typeface="Meiryo" pitchFamily="34" charset="0"/>
                <a:ea typeface="Meiryo" pitchFamily="34" charset="-122"/>
                <a:cs typeface="Meiryo" pitchFamily="34" charset="-120"/>
              </a:rPr>
              <a:t>説明会: 説明会情報は既存のカスタム投稿の仕組みを活かし、申込導線を明示します</a:t>
            </a:r>
            <a:endParaRPr lang="en-US" sz="1300" dirty="0"/>
          </a:p>
          <a:p>
            <a:pPr marL="342900" indent="-342900">
              <a:lnSpc>
                <a:spcPct val="130000"/>
              </a:lnSpc>
              <a:buSzPct val="100000"/>
              <a:buChar char="•"/>
            </a:pPr>
            <a:r>
              <a:rPr lang="en-US" sz="1300" dirty="0">
                <a:solidFill>
                  <a:srgbClr val="1A1A1A"/>
                </a:solidFill>
                <a:latin typeface="Meiryo" pitchFamily="34" charset="0"/>
                <a:ea typeface="Meiryo" pitchFamily="34" charset="-122"/>
                <a:cs typeface="Meiryo" pitchFamily="34" charset="-120"/>
              </a:rPr>
              <a:t>更新の担い手: いずれも管理画面から貴校で更新できる範囲とします（08章）</a:t>
            </a:r>
            <a:endParaRPr lang="en-US" sz="1300" dirty="0"/>
          </a:p>
        </p:txBody>
      </p:sp>
      <p:sp>
        <p:nvSpPr>
          <p:cNvPr id="7" name="Text 5"/>
          <p:cNvSpPr/>
          <p:nvPr/>
        </p:nvSpPr>
        <p:spPr>
          <a:xfrm>
            <a:off x="7543800" y="4759452"/>
            <a:ext cx="1097280" cy="228600"/>
          </a:xfrm>
          <a:prstGeom prst="rect">
            <a:avLst/>
          </a:prstGeom>
          <a:noFill/>
          <a:ln/>
        </p:spPr>
        <p:txBody>
          <a:bodyPr wrap="square" rtlCol="0" anchor="ctr"/>
          <a:lstStyle/>
          <a:p>
            <a:pPr algn="r" indent="0" marL="0">
              <a:buNone/>
            </a:pPr>
            <a:r>
              <a:rPr lang="en-US" sz="900" dirty="0">
                <a:solidFill>
                  <a:srgbClr val="6B6B6B"/>
                </a:solidFill>
                <a:latin typeface="Meiryo" pitchFamily="34" charset="0"/>
                <a:ea typeface="Meiryo" pitchFamily="34" charset="-122"/>
                <a:cs typeface="Meiryo" pitchFamily="34" charset="-120"/>
              </a:rPr>
              <a:t>36|82</a:t>
            </a:r>
            <a:endParaRPr lang="en-US" sz="9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502920" y="502920"/>
            <a:ext cx="8138160" cy="228600"/>
          </a:xfrm>
          <a:prstGeom prst="rect">
            <a:avLst/>
          </a:prstGeom>
          <a:noFill/>
          <a:ln/>
        </p:spPr>
        <p:txBody>
          <a:bodyPr wrap="square" rtlCol="0" anchor="ctr"/>
          <a:lstStyle/>
          <a:p>
            <a:pPr indent="0" marL="0">
              <a:buNone/>
            </a:pPr>
            <a:r>
              <a:rPr lang="en-US" sz="1000" dirty="0">
                <a:solidFill>
                  <a:srgbClr val="6B6B6B"/>
                </a:solidFill>
                <a:latin typeface="Meiryo" pitchFamily="34" charset="0"/>
                <a:ea typeface="Meiryo" pitchFamily="34" charset="-122"/>
                <a:cs typeface="Meiryo" pitchFamily="34" charset="-120"/>
              </a:rPr>
              <a:t>06 Contents</a:t>
            </a:r>
            <a:endParaRPr lang="en-US" sz="1000" dirty="0"/>
          </a:p>
        </p:txBody>
      </p:sp>
      <p:sp>
        <p:nvSpPr>
          <p:cNvPr id="3" name="Text 1"/>
          <p:cNvSpPr/>
          <p:nvPr/>
        </p:nvSpPr>
        <p:spPr>
          <a:xfrm>
            <a:off x="502920" y="777240"/>
            <a:ext cx="8138160" cy="457200"/>
          </a:xfrm>
          <a:prstGeom prst="rect">
            <a:avLst/>
          </a:prstGeom>
          <a:noFill/>
          <a:ln/>
        </p:spPr>
        <p:txBody>
          <a:bodyPr wrap="square" rtlCol="0" anchor="ctr"/>
          <a:lstStyle/>
          <a:p>
            <a:pPr indent="0" marL="0">
              <a:buNone/>
            </a:pPr>
            <a:r>
              <a:rPr lang="en-US" sz="2000" b="1" dirty="0">
                <a:solidFill>
                  <a:srgbClr val="1A1A1A"/>
                </a:solidFill>
                <a:latin typeface="Meiryo" pitchFamily="34" charset="0"/>
                <a:ea typeface="Meiryo" pitchFamily="34" charset="-122"/>
                <a:cs typeface="Meiryo" pitchFamily="34" charset="-120"/>
              </a:rPr>
              <a:t>PDF中心の情報配信から抜けます</a:t>
            </a:r>
            <a:endParaRPr lang="en-US" sz="2000" dirty="0"/>
          </a:p>
        </p:txBody>
      </p:sp>
      <p:sp>
        <p:nvSpPr>
          <p:cNvPr id="4" name="Shape 2"/>
          <p:cNvSpPr/>
          <p:nvPr/>
        </p:nvSpPr>
        <p:spPr>
          <a:xfrm>
            <a:off x="502920" y="1280160"/>
            <a:ext cx="8138160" cy="0"/>
          </a:xfrm>
          <a:prstGeom prst="line">
            <a:avLst/>
          </a:prstGeom>
          <a:noFill/>
          <a:ln w="12700">
            <a:solidFill>
              <a:srgbClr val="D5D5D5"/>
            </a:solidFill>
            <a:prstDash val="solid"/>
          </a:ln>
        </p:spPr>
      </p:sp>
      <p:sp>
        <p:nvSpPr>
          <p:cNvPr id="5" name="Text 3"/>
          <p:cNvSpPr/>
          <p:nvPr/>
        </p:nvSpPr>
        <p:spPr>
          <a:xfrm>
            <a:off x="502920" y="1417320"/>
            <a:ext cx="8138160" cy="457200"/>
          </a:xfrm>
          <a:prstGeom prst="rect">
            <a:avLst/>
          </a:prstGeom>
          <a:noFill/>
          <a:ln/>
        </p:spPr>
        <p:txBody>
          <a:bodyPr wrap="square" rtlCol="0" anchor="t"/>
          <a:lstStyle/>
          <a:p>
            <a:pPr indent="0" marL="0">
              <a:buNone/>
            </a:pPr>
            <a:r>
              <a:rPr lang="en-US" sz="1200" dirty="0">
                <a:solidFill>
                  <a:srgbClr val="1A1A1A"/>
                </a:solidFill>
                <a:latin typeface="Meiryo" pitchFamily="34" charset="0"/>
                <a:ea typeface="Meiryo" pitchFamily="34" charset="-122"/>
                <a:cs typeface="Meiryo" pitchFamily="34" charset="-120"/>
              </a:rPr>
              <a:t>PDFは検索とスマートフォン閲覧の双方で不利になります。一次情報はHTML、配布が必要なものだけPDFという整理にします。</a:t>
            </a:r>
            <a:endParaRPr lang="en-US" sz="1200" dirty="0"/>
          </a:p>
        </p:txBody>
      </p:sp>
      <p:sp>
        <p:nvSpPr>
          <p:cNvPr id="6" name="Text 4"/>
          <p:cNvSpPr/>
          <p:nvPr/>
        </p:nvSpPr>
        <p:spPr>
          <a:xfrm>
            <a:off x="502920" y="1965960"/>
            <a:ext cx="8138160" cy="2628900"/>
          </a:xfrm>
          <a:prstGeom prst="rect">
            <a:avLst/>
          </a:prstGeom>
          <a:noFill/>
          <a:ln/>
        </p:spPr>
        <p:txBody>
          <a:bodyPr wrap="square" rtlCol="0" anchor="t"/>
          <a:lstStyle/>
          <a:p>
            <a:pPr marL="342900" indent="-342900">
              <a:lnSpc>
                <a:spcPct val="130000"/>
              </a:lnSpc>
              <a:buSzPct val="100000"/>
              <a:buChar char="•"/>
            </a:pPr>
            <a:r>
              <a:rPr lang="en-US" sz="1300" dirty="0">
                <a:solidFill>
                  <a:srgbClr val="1A1A1A"/>
                </a:solidFill>
                <a:latin typeface="Meiryo" pitchFamily="34" charset="0"/>
                <a:ea typeface="Meiryo" pitchFamily="34" charset="-122"/>
                <a:cs typeface="Meiryo" pitchFamily="34" charset="-120"/>
              </a:rPr>
              <a:t>基準01: 検索から直接たどり着いてほしい情報は、HTMLページとして持ちます</a:t>
            </a:r>
            <a:endParaRPr lang="en-US" sz="1300" dirty="0"/>
          </a:p>
          <a:p>
            <a:pPr marL="342900" indent="-342900">
              <a:lnSpc>
                <a:spcPct val="130000"/>
              </a:lnSpc>
              <a:buSzPct val="100000"/>
              <a:buChar char="•"/>
            </a:pPr>
            <a:r>
              <a:rPr lang="en-US" sz="1300" dirty="0">
                <a:solidFill>
                  <a:srgbClr val="1A1A1A"/>
                </a:solidFill>
                <a:latin typeface="Meiryo" pitchFamily="34" charset="0"/>
                <a:ea typeface="Meiryo" pitchFamily="34" charset="-122"/>
                <a:cs typeface="Meiryo" pitchFamily="34" charset="-120"/>
              </a:rPr>
              <a:t>基準02: 印刷・持参が前提のもの（願書等）はPDFのまま、ページ内に併置します</a:t>
            </a:r>
            <a:endParaRPr lang="en-US" sz="1300" dirty="0"/>
          </a:p>
          <a:p>
            <a:pPr marL="342900" indent="-342900">
              <a:lnSpc>
                <a:spcPct val="130000"/>
              </a:lnSpc>
              <a:buSzPct val="100000"/>
              <a:buChar char="•"/>
            </a:pPr>
            <a:r>
              <a:rPr lang="en-US" sz="1300" dirty="0">
                <a:solidFill>
                  <a:srgbClr val="1A1A1A"/>
                </a:solidFill>
                <a:latin typeface="Meiryo" pitchFamily="34" charset="0"/>
                <a:ea typeface="Meiryo" pitchFamily="34" charset="-122"/>
                <a:cs typeface="Meiryo" pitchFamily="34" charset="-120"/>
              </a:rPr>
              <a:t>基準03: 更新頻度が年1回以上のものは、PDF差し替えではなく項目更新にします</a:t>
            </a:r>
            <a:endParaRPr lang="en-US" sz="1300" dirty="0"/>
          </a:p>
          <a:p>
            <a:pPr marL="342900" indent="-342900">
              <a:lnSpc>
                <a:spcPct val="130000"/>
              </a:lnSpc>
              <a:buSzPct val="100000"/>
              <a:buChar char="•"/>
            </a:pPr>
            <a:r>
              <a:rPr lang="en-US" sz="1300" dirty="0">
                <a:solidFill>
                  <a:srgbClr val="1A1A1A"/>
                </a:solidFill>
                <a:latin typeface="Meiryo" pitchFamily="34" charset="0"/>
                <a:ea typeface="Meiryo" pitchFamily="34" charset="-122"/>
                <a:cs typeface="Meiryo" pitchFamily="34" charset="-120"/>
              </a:rPr>
              <a:t>必要な確認: 現在のPDF掲載数と一覧の棚卸しが未実施です（要確認）</a:t>
            </a:r>
            <a:endParaRPr lang="en-US" sz="1300" dirty="0"/>
          </a:p>
          <a:p>
            <a:pPr marL="342900" indent="-342900">
              <a:lnSpc>
                <a:spcPct val="130000"/>
              </a:lnSpc>
              <a:buSzPct val="100000"/>
              <a:buChar char="•"/>
            </a:pPr>
            <a:r>
              <a:rPr lang="en-US" sz="1300" dirty="0">
                <a:solidFill>
                  <a:srgbClr val="1A1A1A"/>
                </a:solidFill>
                <a:latin typeface="Meiryo" pitchFamily="34" charset="0"/>
                <a:ea typeface="Meiryo" pitchFamily="34" charset="-122"/>
                <a:cs typeface="Meiryo" pitchFamily="34" charset="-120"/>
              </a:rPr>
              <a:t>影響: 棚卸しの結果によって、HTML化の対象ページ数が変わります</a:t>
            </a:r>
            <a:endParaRPr lang="en-US" sz="1300" dirty="0"/>
          </a:p>
        </p:txBody>
      </p:sp>
      <p:sp>
        <p:nvSpPr>
          <p:cNvPr id="7" name="Text 5"/>
          <p:cNvSpPr/>
          <p:nvPr/>
        </p:nvSpPr>
        <p:spPr>
          <a:xfrm>
            <a:off x="502920" y="4759452"/>
            <a:ext cx="6949440" cy="228600"/>
          </a:xfrm>
          <a:prstGeom prst="rect">
            <a:avLst/>
          </a:prstGeom>
          <a:noFill/>
          <a:ln/>
        </p:spPr>
        <p:txBody>
          <a:bodyPr wrap="square" rtlCol="0" anchor="ctr"/>
          <a:lstStyle/>
          <a:p>
            <a:pPr indent="0" marL="0">
              <a:buNone/>
            </a:pPr>
            <a:r>
              <a:rPr lang="en-US" sz="900" dirty="0">
                <a:solidFill>
                  <a:srgbClr val="6B6B6B"/>
                </a:solidFill>
                <a:latin typeface="Meiryo" pitchFamily="34" charset="0"/>
                <a:ea typeface="Meiryo" pitchFamily="34" charset="-122"/>
                <a:cs typeface="Meiryo" pitchFamily="34" charset="-120"/>
              </a:rPr>
              <a:t>出典: projects/johoku-saitama/research/current-site-audit.md（2026-09-18 実測）</a:t>
            </a:r>
            <a:endParaRPr lang="en-US" sz="900" dirty="0"/>
          </a:p>
        </p:txBody>
      </p:sp>
      <p:sp>
        <p:nvSpPr>
          <p:cNvPr id="8" name="Text 6"/>
          <p:cNvSpPr/>
          <p:nvPr/>
        </p:nvSpPr>
        <p:spPr>
          <a:xfrm>
            <a:off x="7543800" y="4759452"/>
            <a:ext cx="1097280" cy="228600"/>
          </a:xfrm>
          <a:prstGeom prst="rect">
            <a:avLst/>
          </a:prstGeom>
          <a:noFill/>
          <a:ln/>
        </p:spPr>
        <p:txBody>
          <a:bodyPr wrap="square" rtlCol="0" anchor="ctr"/>
          <a:lstStyle/>
          <a:p>
            <a:pPr algn="r" indent="0" marL="0">
              <a:buNone/>
            </a:pPr>
            <a:r>
              <a:rPr lang="en-US" sz="900" dirty="0">
                <a:solidFill>
                  <a:srgbClr val="6B6B6B"/>
                </a:solidFill>
                <a:latin typeface="Meiryo" pitchFamily="34" charset="0"/>
                <a:ea typeface="Meiryo" pitchFamily="34" charset="-122"/>
                <a:cs typeface="Meiryo" pitchFamily="34" charset="-120"/>
              </a:rPr>
              <a:t>37|82</a:t>
            </a:r>
            <a:endParaRPr lang="en-US" sz="9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502920" y="502920"/>
            <a:ext cx="8138160" cy="228600"/>
          </a:xfrm>
          <a:prstGeom prst="rect">
            <a:avLst/>
          </a:prstGeom>
          <a:noFill/>
          <a:ln/>
        </p:spPr>
        <p:txBody>
          <a:bodyPr wrap="square" rtlCol="0" anchor="ctr"/>
          <a:lstStyle/>
          <a:p>
            <a:pPr indent="0" marL="0">
              <a:buNone/>
            </a:pPr>
            <a:r>
              <a:rPr lang="en-US" sz="1000" dirty="0">
                <a:solidFill>
                  <a:srgbClr val="6B6B6B"/>
                </a:solidFill>
                <a:latin typeface="Meiryo" pitchFamily="34" charset="0"/>
                <a:ea typeface="Meiryo" pitchFamily="34" charset="-122"/>
                <a:cs typeface="Meiryo" pitchFamily="34" charset="-120"/>
              </a:rPr>
              <a:t>06 Contents</a:t>
            </a:r>
            <a:endParaRPr lang="en-US" sz="1000" dirty="0"/>
          </a:p>
        </p:txBody>
      </p:sp>
      <p:sp>
        <p:nvSpPr>
          <p:cNvPr id="3" name="Text 1"/>
          <p:cNvSpPr/>
          <p:nvPr/>
        </p:nvSpPr>
        <p:spPr>
          <a:xfrm>
            <a:off x="502920" y="777240"/>
            <a:ext cx="8138160" cy="457200"/>
          </a:xfrm>
          <a:prstGeom prst="rect">
            <a:avLst/>
          </a:prstGeom>
          <a:noFill/>
          <a:ln/>
        </p:spPr>
        <p:txBody>
          <a:bodyPr wrap="square" rtlCol="0" anchor="ctr"/>
          <a:lstStyle/>
          <a:p>
            <a:pPr indent="0" marL="0">
              <a:buNone/>
            </a:pPr>
            <a:r>
              <a:rPr lang="en-US" sz="2000" b="1" dirty="0">
                <a:solidFill>
                  <a:srgbClr val="1A1A1A"/>
                </a:solidFill>
                <a:latin typeface="Meiryo" pitchFamily="34" charset="0"/>
                <a:ea typeface="Meiryo" pitchFamily="34" charset="-122"/>
                <a:cs typeface="Meiryo" pitchFamily="34" charset="-120"/>
              </a:rPr>
              <a:t>既存記事の移行方針</a:t>
            </a:r>
            <a:endParaRPr lang="en-US" sz="2000" dirty="0"/>
          </a:p>
        </p:txBody>
      </p:sp>
      <p:sp>
        <p:nvSpPr>
          <p:cNvPr id="4" name="Shape 2"/>
          <p:cNvSpPr/>
          <p:nvPr/>
        </p:nvSpPr>
        <p:spPr>
          <a:xfrm>
            <a:off x="502920" y="1280160"/>
            <a:ext cx="8138160" cy="0"/>
          </a:xfrm>
          <a:prstGeom prst="line">
            <a:avLst/>
          </a:prstGeom>
          <a:noFill/>
          <a:ln w="12700">
            <a:solidFill>
              <a:srgbClr val="D5D5D5"/>
            </a:solidFill>
            <a:prstDash val="solid"/>
          </a:ln>
        </p:spPr>
      </p:sp>
      <p:sp>
        <p:nvSpPr>
          <p:cNvPr id="5" name="Text 3"/>
          <p:cNvSpPr/>
          <p:nvPr/>
        </p:nvSpPr>
        <p:spPr>
          <a:xfrm>
            <a:off x="502920" y="1417320"/>
            <a:ext cx="8138160" cy="457200"/>
          </a:xfrm>
          <a:prstGeom prst="rect">
            <a:avLst/>
          </a:prstGeom>
          <a:noFill/>
          <a:ln/>
        </p:spPr>
        <p:txBody>
          <a:bodyPr wrap="square" rtlCol="0" anchor="t"/>
          <a:lstStyle/>
          <a:p>
            <a:pPr indent="0" marL="0">
              <a:buNone/>
            </a:pPr>
            <a:r>
              <a:rPr lang="en-US" sz="1200" dirty="0">
                <a:solidFill>
                  <a:srgbClr val="1A1A1A"/>
                </a:solidFill>
                <a:latin typeface="Meiryo" pitchFamily="34" charset="0"/>
                <a:ea typeface="Meiryo" pitchFamily="34" charset="-122"/>
                <a:cs typeface="Meiryo" pitchFamily="34" charset="-120"/>
              </a:rPr>
              <a:t>流し込み対象の記事数について、2つの数字が併存しています。移行の考え方をご報告したうえで、実数の確定をお願いします。</a:t>
            </a:r>
            <a:endParaRPr lang="en-US" sz="1200" dirty="0"/>
          </a:p>
        </p:txBody>
      </p:sp>
      <p:graphicFrame>
        <p:nvGraphicFramePr>
          <p:cNvPr id="39" name="Table 0"/>
          <p:cNvGraphicFramePr>
            <a:graphicFrameLocks noGrp="1"/>
          </p:cNvGraphicFramePr>
          <p:nvPr>
            <p:extLst>
              <p:ext uri="{D42A27DB-BD31-4B8C-83A1-F6EECF244321}">
                <p14:modId xmlns:p14="http://schemas.microsoft.com/office/powerpoint/2010/main" val="1579011935"/>
              </p:ext>
            </p:extLst>
          </p:nvPr>
        </p:nvGraphicFramePr>
        <p:xfrm>
          <a:off x="502920" y="1965960"/>
          <a:ext cx="8138160" cy="914400"/>
        </p:xfrm>
        <a:graphic>
          <a:graphicData uri="http://schemas.openxmlformats.org/drawingml/2006/table">
            <a:tbl>
              <a:tblPr/>
              <a:tblGrid>
                <a:gridCol w="4069080"/>
                <a:gridCol w="4069080"/>
              </a:tblGrid>
              <a:tr h="0">
                <a:tc>
                  <a:txBody>
                    <a:bodyPr/>
                    <a:lstStyle/>
                    <a:p>
                      <a:pPr indent="0" marL="0">
                        <a:buNone/>
                      </a:pPr>
                      <a:r>
                        <a:rPr lang="en-US" sz="1100" b="1" dirty="0">
                          <a:solidFill>
                            <a:srgbClr val="FFFFFF"/>
                          </a:solidFill>
                          <a:latin typeface="Meiryo" pitchFamily="34" charset="0"/>
                          <a:ea typeface="Meiryo" pitchFamily="34" charset="-122"/>
                          <a:cs typeface="Meiryo" pitchFamily="34" charset="-120"/>
                        </a:rPr>
                        <a:t>項目</a:t>
                      </a:r>
                      <a:endParaRPr lang="en-US" sz="1100" dirty="0">
                        <a:latin typeface="Meiryo" charset="0"/>
                        <a:ea typeface="Meiryo" charset="0"/>
                        <a:cs typeface="Meiryo" charset="0"/>
                      </a:endParaRPr>
                    </a:p>
                  </a:txBody>
                  <a:tcPr marL="91440" marR="91440" marT="45720" marB="45720">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1F3A5F"/>
                    </a:solidFill>
                  </a:tcPr>
                </a:tc>
                <a:tc>
                  <a:txBody>
                    <a:bodyPr/>
                    <a:lstStyle/>
                    <a:p>
                      <a:pPr indent="0" marL="0">
                        <a:buNone/>
                      </a:pPr>
                      <a:r>
                        <a:rPr lang="en-US" sz="1100" b="1" dirty="0">
                          <a:solidFill>
                            <a:srgbClr val="FFFFFF"/>
                          </a:solidFill>
                          <a:latin typeface="Meiryo" pitchFamily="34" charset="0"/>
                          <a:ea typeface="Meiryo" pitchFamily="34" charset="-122"/>
                          <a:cs typeface="Meiryo" pitchFamily="34" charset="-120"/>
                        </a:rPr>
                        <a:t>内容</a:t>
                      </a:r>
                      <a:endParaRPr lang="en-US" sz="1100" dirty="0">
                        <a:latin typeface="Meiryo" charset="0"/>
                        <a:ea typeface="Meiryo" charset="0"/>
                        <a:cs typeface="Meiryo" charset="0"/>
                      </a:endParaRPr>
                    </a:p>
                  </a:txBody>
                  <a:tcPr marL="91440" marR="91440" marT="45720" marB="45720">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1F3A5F"/>
                    </a:solidFill>
                  </a:tcPr>
                </a:tc>
              </a:tr>
              <a:tr h="0">
                <a:tc>
                  <a:txBody>
                    <a:bodyPr/>
                    <a:lstStyle/>
                    <a:p>
                      <a:pPr indent="0" marL="0">
                        <a:buNone/>
                      </a:pPr>
                      <a:r>
                        <a:rPr lang="en-US" sz="1100" dirty="0">
                          <a:solidFill>
                            <a:srgbClr val="1A1A1A"/>
                          </a:solidFill>
                          <a:latin typeface="Meiryo" pitchFamily="34" charset="0"/>
                          <a:ea typeface="Meiryo" pitchFamily="34" charset="-122"/>
                          <a:cs typeface="Meiryo" pitchFamily="34" charset="-120"/>
                        </a:rPr>
                        <a:t>記事数（既存仕様書）</a:t>
                      </a:r>
                      <a:endParaRPr lang="en-US" sz="1100" dirty="0">
                        <a:latin typeface="Meiryo" charset="0"/>
                        <a:ea typeface="Meiryo" charset="0"/>
                        <a:cs typeface="Meiryo" charset="0"/>
                      </a:endParaRPr>
                    </a:p>
                  </a:txBody>
                  <a:tcPr marL="91440" marR="91440" marT="45720" marB="45720">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tcPr>
                </a:tc>
                <a:tc>
                  <a:txBody>
                    <a:bodyPr/>
                    <a:lstStyle/>
                    <a:p>
                      <a:pPr indent="0" marL="0">
                        <a:buNone/>
                      </a:pPr>
                      <a:r>
                        <a:rPr lang="en-US" sz="1100" dirty="0">
                          <a:solidFill>
                            <a:srgbClr val="1A1A1A"/>
                          </a:solidFill>
                          <a:latin typeface="Meiryo" pitchFamily="34" charset="0"/>
                          <a:ea typeface="Meiryo" pitchFamily="34" charset="-122"/>
                          <a:cs typeface="Meiryo" pitchFamily="34" charset="-120"/>
                        </a:rPr>
                        <a:t>2,365件</a:t>
                      </a:r>
                      <a:endParaRPr lang="en-US" sz="1100" dirty="0">
                        <a:latin typeface="Meiryo" charset="0"/>
                        <a:ea typeface="Meiryo" charset="0"/>
                        <a:cs typeface="Meiryo" charset="0"/>
                      </a:endParaRPr>
                    </a:p>
                  </a:txBody>
                  <a:tcPr marL="91440" marR="91440" marT="45720" marB="45720">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tcPr>
                </a:tc>
              </a:tr>
              <a:tr h="0">
                <a:tc>
                  <a:txBody>
                    <a:bodyPr/>
                    <a:lstStyle/>
                    <a:p>
                      <a:pPr indent="0" marL="0">
                        <a:buNone/>
                      </a:pPr>
                      <a:r>
                        <a:rPr lang="en-US" sz="1100" dirty="0">
                          <a:solidFill>
                            <a:srgbClr val="1A1A1A"/>
                          </a:solidFill>
                          <a:latin typeface="Meiryo" pitchFamily="34" charset="0"/>
                          <a:ea typeface="Meiryo" pitchFamily="34" charset="-122"/>
                          <a:cs typeface="Meiryo" pitchFamily="34" charset="-120"/>
                        </a:rPr>
                        <a:t>記事数（サイト情報）</a:t>
                      </a:r>
                      <a:endParaRPr lang="en-US" sz="1100" dirty="0">
                        <a:latin typeface="Meiryo" charset="0"/>
                        <a:ea typeface="Meiryo" charset="0"/>
                        <a:cs typeface="Meiryo" charset="0"/>
                      </a:endParaRPr>
                    </a:p>
                  </a:txBody>
                  <a:tcPr marL="91440" marR="91440" marT="45720" marB="45720">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tcPr>
                </a:tc>
                <a:tc>
                  <a:txBody>
                    <a:bodyPr/>
                    <a:lstStyle/>
                    <a:p>
                      <a:pPr indent="0" marL="0">
                        <a:buNone/>
                      </a:pPr>
                      <a:r>
                        <a:rPr lang="en-US" sz="1100" dirty="0">
                          <a:solidFill>
                            <a:srgbClr val="1A1A1A"/>
                          </a:solidFill>
                          <a:latin typeface="Meiryo" pitchFamily="34" charset="0"/>
                          <a:ea typeface="Meiryo" pitchFamily="34" charset="-122"/>
                          <a:cs typeface="Meiryo" pitchFamily="34" charset="-120"/>
                        </a:rPr>
                        <a:t>2,321件</a:t>
                      </a:r>
                      <a:endParaRPr lang="en-US" sz="1100" dirty="0">
                        <a:latin typeface="Meiryo" charset="0"/>
                        <a:ea typeface="Meiryo" charset="0"/>
                        <a:cs typeface="Meiryo" charset="0"/>
                      </a:endParaRPr>
                    </a:p>
                  </a:txBody>
                  <a:tcPr marL="91440" marR="91440" marT="45720" marB="45720">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tcPr>
                </a:tc>
              </a:tr>
              <a:tr h="0">
                <a:tc>
                  <a:txBody>
                    <a:bodyPr/>
                    <a:lstStyle/>
                    <a:p>
                      <a:pPr indent="0" marL="0">
                        <a:buNone/>
                      </a:pPr>
                      <a:r>
                        <a:rPr lang="en-US" sz="1100" dirty="0">
                          <a:solidFill>
                            <a:srgbClr val="1A1A1A"/>
                          </a:solidFill>
                          <a:latin typeface="Meiryo" pitchFamily="34" charset="0"/>
                          <a:ea typeface="Meiryo" pitchFamily="34" charset="-122"/>
                          <a:cs typeface="Meiryo" pitchFamily="34" charset="-120"/>
                        </a:rPr>
                        <a:t>差</a:t>
                      </a:r>
                      <a:endParaRPr lang="en-US" sz="1100" dirty="0">
                        <a:latin typeface="Meiryo" charset="0"/>
                        <a:ea typeface="Meiryo" charset="0"/>
                        <a:cs typeface="Meiryo" charset="0"/>
                      </a:endParaRPr>
                    </a:p>
                  </a:txBody>
                  <a:tcPr marL="91440" marR="91440" marT="45720" marB="45720">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tcPr>
                </a:tc>
                <a:tc>
                  <a:txBody>
                    <a:bodyPr/>
                    <a:lstStyle/>
                    <a:p>
                      <a:pPr indent="0" marL="0">
                        <a:buNone/>
                      </a:pPr>
                      <a:r>
                        <a:rPr lang="en-US" sz="1100" dirty="0">
                          <a:solidFill>
                            <a:srgbClr val="1A1A1A"/>
                          </a:solidFill>
                          <a:latin typeface="Meiryo" pitchFamily="34" charset="0"/>
                          <a:ea typeface="Meiryo" pitchFamily="34" charset="-122"/>
                          <a:cs typeface="Meiryo" pitchFamily="34" charset="-120"/>
                        </a:rPr>
                        <a:t>44件。出所を弊社内で照合中です（要確認）</a:t>
                      </a:r>
                      <a:endParaRPr lang="en-US" sz="1100" dirty="0">
                        <a:latin typeface="Meiryo" charset="0"/>
                        <a:ea typeface="Meiryo" charset="0"/>
                        <a:cs typeface="Meiryo" charset="0"/>
                      </a:endParaRPr>
                    </a:p>
                  </a:txBody>
                  <a:tcPr marL="91440" marR="91440" marT="45720" marB="45720">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tcPr>
                </a:tc>
              </a:tr>
              <a:tr h="0">
                <a:tc>
                  <a:txBody>
                    <a:bodyPr/>
                    <a:lstStyle/>
                    <a:p>
                      <a:pPr indent="0" marL="0">
                        <a:buNone/>
                      </a:pPr>
                      <a:r>
                        <a:rPr lang="en-US" sz="1100" dirty="0">
                          <a:solidFill>
                            <a:srgbClr val="1A1A1A"/>
                          </a:solidFill>
                          <a:latin typeface="Meiryo" pitchFamily="34" charset="0"/>
                          <a:ea typeface="Meiryo" pitchFamily="34" charset="-122"/>
                          <a:cs typeface="Meiryo" pitchFamily="34" charset="-120"/>
                        </a:rPr>
                        <a:t>移行するもの</a:t>
                      </a:r>
                      <a:endParaRPr lang="en-US" sz="1100" dirty="0">
                        <a:latin typeface="Meiryo" charset="0"/>
                        <a:ea typeface="Meiryo" charset="0"/>
                        <a:cs typeface="Meiryo" charset="0"/>
                      </a:endParaRPr>
                    </a:p>
                  </a:txBody>
                  <a:tcPr marL="91440" marR="91440" marT="45720" marB="45720">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tcPr>
                </a:tc>
                <a:tc>
                  <a:txBody>
                    <a:bodyPr/>
                    <a:lstStyle/>
                    <a:p>
                      <a:pPr indent="0" marL="0">
                        <a:buNone/>
                      </a:pPr>
                      <a:r>
                        <a:rPr lang="en-US" sz="1100" dirty="0">
                          <a:solidFill>
                            <a:srgbClr val="1A1A1A"/>
                          </a:solidFill>
                          <a:latin typeface="Meiryo" pitchFamily="34" charset="0"/>
                          <a:ea typeface="Meiryo" pitchFamily="34" charset="-122"/>
                          <a:cs typeface="Meiryo" pitchFamily="34" charset="-120"/>
                        </a:rPr>
                        <a:t>更新情報（/news・/archives）と説明会情報（/briefings）の本文・日付・区分</a:t>
                      </a:r>
                      <a:endParaRPr lang="en-US" sz="1100" dirty="0">
                        <a:latin typeface="Meiryo" charset="0"/>
                        <a:ea typeface="Meiryo" charset="0"/>
                        <a:cs typeface="Meiryo" charset="0"/>
                      </a:endParaRPr>
                    </a:p>
                  </a:txBody>
                  <a:tcPr marL="91440" marR="91440" marT="45720" marB="45720">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tcPr>
                </a:tc>
              </a:tr>
              <a:tr h="0">
                <a:tc>
                  <a:txBody>
                    <a:bodyPr/>
                    <a:lstStyle/>
                    <a:p>
                      <a:pPr indent="0" marL="0">
                        <a:buNone/>
                      </a:pPr>
                      <a:r>
                        <a:rPr lang="en-US" sz="1100" dirty="0">
                          <a:solidFill>
                            <a:srgbClr val="1A1A1A"/>
                          </a:solidFill>
                          <a:latin typeface="Meiryo" pitchFamily="34" charset="0"/>
                          <a:ea typeface="Meiryo" pitchFamily="34" charset="-122"/>
                          <a:cs typeface="Meiryo" pitchFamily="34" charset="-120"/>
                        </a:rPr>
                        <a:t>移行しないもの</a:t>
                      </a:r>
                      <a:endParaRPr lang="en-US" sz="1100" dirty="0">
                        <a:latin typeface="Meiryo" charset="0"/>
                        <a:ea typeface="Meiryo" charset="0"/>
                        <a:cs typeface="Meiryo" charset="0"/>
                      </a:endParaRPr>
                    </a:p>
                  </a:txBody>
                  <a:tcPr marL="91440" marR="91440" marT="45720" marB="45720">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tcPr>
                </a:tc>
                <a:tc>
                  <a:txBody>
                    <a:bodyPr/>
                    <a:lstStyle/>
                    <a:p>
                      <a:pPr indent="0" marL="0">
                        <a:buNone/>
                      </a:pPr>
                      <a:r>
                        <a:rPr lang="en-US" sz="1100" dirty="0">
                          <a:solidFill>
                            <a:srgbClr val="1A1A1A"/>
                          </a:solidFill>
                          <a:latin typeface="Meiryo" pitchFamily="34" charset="0"/>
                          <a:ea typeface="Meiryo" pitchFamily="34" charset="-122"/>
                          <a:cs typeface="Meiryo" pitchFamily="34" charset="-120"/>
                        </a:rPr>
                        <a:t>不正URL経由でのみ到達する旧ページ、および重複する入口</a:t>
                      </a:r>
                      <a:endParaRPr lang="en-US" sz="1100" dirty="0">
                        <a:latin typeface="Meiryo" charset="0"/>
                        <a:ea typeface="Meiryo" charset="0"/>
                        <a:cs typeface="Meiryo" charset="0"/>
                      </a:endParaRPr>
                    </a:p>
                  </a:txBody>
                  <a:tcPr marL="91440" marR="91440" marT="45720" marB="45720">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tcPr>
                </a:tc>
              </a:tr>
              <a:tr h="0">
                <a:tc>
                  <a:txBody>
                    <a:bodyPr/>
                    <a:lstStyle/>
                    <a:p>
                      <a:pPr indent="0" marL="0">
                        <a:buNone/>
                      </a:pPr>
                      <a:r>
                        <a:rPr lang="en-US" sz="1100" dirty="0">
                          <a:solidFill>
                            <a:srgbClr val="1A1A1A"/>
                          </a:solidFill>
                          <a:latin typeface="Meiryo" pitchFamily="34" charset="0"/>
                          <a:ea typeface="Meiryo" pitchFamily="34" charset="-122"/>
                          <a:cs typeface="Meiryo" pitchFamily="34" charset="-120"/>
                        </a:rPr>
                        <a:t>移行の方法</a:t>
                      </a:r>
                      <a:endParaRPr lang="en-US" sz="1100" dirty="0">
                        <a:latin typeface="Meiryo" charset="0"/>
                        <a:ea typeface="Meiryo" charset="0"/>
                        <a:cs typeface="Meiryo" charset="0"/>
                      </a:endParaRPr>
                    </a:p>
                  </a:txBody>
                  <a:tcPr marL="91440" marR="91440" marT="45720" marB="45720">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tcPr>
                </a:tc>
                <a:tc>
                  <a:txBody>
                    <a:bodyPr/>
                    <a:lstStyle/>
                    <a:p>
                      <a:pPr indent="0" marL="0">
                        <a:buNone/>
                      </a:pPr>
                      <a:r>
                        <a:rPr lang="en-US" sz="1100" dirty="0">
                          <a:solidFill>
                            <a:srgbClr val="1A1A1A"/>
                          </a:solidFill>
                          <a:latin typeface="Meiryo" pitchFamily="34" charset="0"/>
                          <a:ea typeface="Meiryo" pitchFamily="34" charset="-122"/>
                          <a:cs typeface="Meiryo" pitchFamily="34" charset="-120"/>
                        </a:rPr>
                        <a:t>エクスポート・インポートによる一括流し込みとし、区分の付け替えを行います</a:t>
                      </a:r>
                      <a:endParaRPr lang="en-US" sz="1100" dirty="0">
                        <a:latin typeface="Meiryo" charset="0"/>
                        <a:ea typeface="Meiryo" charset="0"/>
                        <a:cs typeface="Meiryo" charset="0"/>
                      </a:endParaRPr>
                    </a:p>
                  </a:txBody>
                  <a:tcPr marL="91440" marR="91440" marT="45720" marB="45720">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tcPr>
                </a:tc>
              </a:tr>
              <a:tr h="0">
                <a:tc>
                  <a:txBody>
                    <a:bodyPr/>
                    <a:lstStyle/>
                    <a:p>
                      <a:pPr indent="0" marL="0">
                        <a:buNone/>
                      </a:pPr>
                      <a:r>
                        <a:rPr lang="en-US" sz="1100" dirty="0">
                          <a:solidFill>
                            <a:srgbClr val="1A1A1A"/>
                          </a:solidFill>
                          <a:latin typeface="Meiryo" pitchFamily="34" charset="0"/>
                          <a:ea typeface="Meiryo" pitchFamily="34" charset="-122"/>
                          <a:cs typeface="Meiryo" pitchFamily="34" charset="-120"/>
                        </a:rPr>
                        <a:t>確定の条件</a:t>
                      </a:r>
                      <a:endParaRPr lang="en-US" sz="1100" dirty="0">
                        <a:latin typeface="Meiryo" charset="0"/>
                        <a:ea typeface="Meiryo" charset="0"/>
                        <a:cs typeface="Meiryo" charset="0"/>
                      </a:endParaRPr>
                    </a:p>
                  </a:txBody>
                  <a:tcPr marL="91440" marR="91440" marT="45720" marB="45720">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tcPr>
                </a:tc>
                <a:tc>
                  <a:txBody>
                    <a:bodyPr/>
                    <a:lstStyle/>
                    <a:p>
                      <a:pPr indent="0" marL="0">
                        <a:buNone/>
                      </a:pPr>
                      <a:r>
                        <a:rPr lang="en-US" sz="1100" dirty="0">
                          <a:solidFill>
                            <a:srgbClr val="1A1A1A"/>
                          </a:solidFill>
                          <a:latin typeface="Meiryo" pitchFamily="34" charset="0"/>
                          <a:ea typeface="Meiryo" pitchFamily="34" charset="-122"/>
                          <a:cs typeface="Meiryo" pitchFamily="34" charset="-120"/>
                        </a:rPr>
                        <a:t>記事の実数が確定した時点で、移行工数を最終確定します</a:t>
                      </a:r>
                      <a:endParaRPr lang="en-US" sz="1100" dirty="0">
                        <a:latin typeface="Meiryo" charset="0"/>
                        <a:ea typeface="Meiryo" charset="0"/>
                        <a:cs typeface="Meiryo" charset="0"/>
                      </a:endParaRPr>
                    </a:p>
                  </a:txBody>
                  <a:tcPr marL="91440" marR="91440" marT="45720" marB="45720">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tcPr>
                </a:tc>
              </a:tr>
            </a:tbl>
          </a:graphicData>
        </a:graphic>
      </p:graphicFrame>
      <p:sp>
        <p:nvSpPr>
          <p:cNvPr id="7" name="Text 4"/>
          <p:cNvSpPr/>
          <p:nvPr/>
        </p:nvSpPr>
        <p:spPr>
          <a:xfrm>
            <a:off x="502920" y="4759452"/>
            <a:ext cx="6949440" cy="228600"/>
          </a:xfrm>
          <a:prstGeom prst="rect">
            <a:avLst/>
          </a:prstGeom>
          <a:noFill/>
          <a:ln/>
        </p:spPr>
        <p:txBody>
          <a:bodyPr wrap="square" rtlCol="0" anchor="ctr"/>
          <a:lstStyle/>
          <a:p>
            <a:pPr indent="0" marL="0">
              <a:buNone/>
            </a:pPr>
            <a:r>
              <a:rPr lang="en-US" sz="900" dirty="0">
                <a:solidFill>
                  <a:srgbClr val="6B6B6B"/>
                </a:solidFill>
                <a:latin typeface="Meiryo" pitchFamily="34" charset="0"/>
                <a:ea typeface="Meiryo" pitchFamily="34" charset="-122"/>
                <a:cs typeface="Meiryo" pitchFamily="34" charset="-120"/>
              </a:rPr>
              <a:t>出典: projects/johoku-saitama/research/brief.md（2026-07-03 ヒアリング・Backlog GG_ORDER-4733）</a:t>
            </a:r>
            <a:endParaRPr lang="en-US" sz="900" dirty="0"/>
          </a:p>
        </p:txBody>
      </p:sp>
      <p:sp>
        <p:nvSpPr>
          <p:cNvPr id="8" name="Text 5"/>
          <p:cNvSpPr/>
          <p:nvPr/>
        </p:nvSpPr>
        <p:spPr>
          <a:xfrm>
            <a:off x="7543800" y="4759452"/>
            <a:ext cx="1097280" cy="228600"/>
          </a:xfrm>
          <a:prstGeom prst="rect">
            <a:avLst/>
          </a:prstGeom>
          <a:noFill/>
          <a:ln/>
        </p:spPr>
        <p:txBody>
          <a:bodyPr wrap="square" rtlCol="0" anchor="ctr"/>
          <a:lstStyle/>
          <a:p>
            <a:pPr algn="r" indent="0" marL="0">
              <a:buNone/>
            </a:pPr>
            <a:r>
              <a:rPr lang="en-US" sz="900" dirty="0">
                <a:solidFill>
                  <a:srgbClr val="6B6B6B"/>
                </a:solidFill>
                <a:latin typeface="Meiryo" pitchFamily="34" charset="0"/>
                <a:ea typeface="Meiryo" pitchFamily="34" charset="-122"/>
                <a:cs typeface="Meiryo" pitchFamily="34" charset="-120"/>
              </a:rPr>
              <a:t>38|82</a:t>
            </a:r>
            <a:endParaRPr lang="en-US" sz="9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1F3A5F"/>
        </a:solidFill>
      </p:bgPr>
    </p:bg>
    <p:spTree>
      <p:nvGrpSpPr>
        <p:cNvPr id="1" name=""/>
        <p:cNvGrpSpPr/>
        <p:nvPr/>
      </p:nvGrpSpPr>
      <p:grpSpPr>
        <a:xfrm>
          <a:off x="0" y="0"/>
          <a:ext cx="0" cy="0"/>
          <a:chOff x="0" y="0"/>
          <a:chExt cx="0" cy="0"/>
        </a:xfrm>
      </p:grpSpPr>
      <p:sp>
        <p:nvSpPr>
          <p:cNvPr id="2" name="Text 0"/>
          <p:cNvSpPr/>
          <p:nvPr/>
        </p:nvSpPr>
        <p:spPr>
          <a:xfrm>
            <a:off x="502920" y="1737360"/>
            <a:ext cx="1280160" cy="640080"/>
          </a:xfrm>
          <a:prstGeom prst="rect">
            <a:avLst/>
          </a:prstGeom>
          <a:noFill/>
          <a:ln/>
        </p:spPr>
        <p:txBody>
          <a:bodyPr wrap="square" rtlCol="0" anchor="ctr"/>
          <a:lstStyle/>
          <a:p>
            <a:pPr indent="0" marL="0">
              <a:buNone/>
            </a:pPr>
            <a:r>
              <a:rPr lang="en-US" sz="3400" b="1" dirty="0">
                <a:solidFill>
                  <a:srgbClr val="FFFFFF"/>
                </a:solidFill>
                <a:latin typeface="Meiryo" pitchFamily="34" charset="0"/>
                <a:ea typeface="Meiryo" pitchFamily="34" charset="-122"/>
                <a:cs typeface="Meiryo" pitchFamily="34" charset="-120"/>
              </a:rPr>
              <a:t>07</a:t>
            </a:r>
            <a:endParaRPr lang="en-US" sz="3400" dirty="0"/>
          </a:p>
        </p:txBody>
      </p:sp>
      <p:sp>
        <p:nvSpPr>
          <p:cNvPr id="3" name="Text 1"/>
          <p:cNvSpPr/>
          <p:nvPr/>
        </p:nvSpPr>
        <p:spPr>
          <a:xfrm>
            <a:off x="502920" y="2377440"/>
            <a:ext cx="8138160" cy="365760"/>
          </a:xfrm>
          <a:prstGeom prst="rect">
            <a:avLst/>
          </a:prstGeom>
          <a:noFill/>
          <a:ln/>
        </p:spPr>
        <p:txBody>
          <a:bodyPr wrap="square" rtlCol="0" anchor="ctr"/>
          <a:lstStyle/>
          <a:p>
            <a:pPr indent="0" marL="0">
              <a:buNone/>
            </a:pPr>
            <a:r>
              <a:rPr lang="en-US" sz="1300" dirty="0">
                <a:solidFill>
                  <a:srgbClr val="FFFFFF"/>
                </a:solidFill>
                <a:latin typeface="Meiryo" pitchFamily="34" charset="0"/>
                <a:ea typeface="Meiryo" pitchFamily="34" charset="-122"/>
                <a:cs typeface="Meiryo" pitchFamily="34" charset="-120"/>
              </a:rPr>
              <a:t>Design</a:t>
            </a:r>
            <a:endParaRPr lang="en-US" sz="1300" dirty="0"/>
          </a:p>
        </p:txBody>
      </p:sp>
      <p:sp>
        <p:nvSpPr>
          <p:cNvPr id="4" name="Text 2"/>
          <p:cNvSpPr/>
          <p:nvPr/>
        </p:nvSpPr>
        <p:spPr>
          <a:xfrm>
            <a:off x="502920" y="2743200"/>
            <a:ext cx="8138160" cy="548640"/>
          </a:xfrm>
          <a:prstGeom prst="rect">
            <a:avLst/>
          </a:prstGeom>
          <a:noFill/>
          <a:ln/>
        </p:spPr>
        <p:txBody>
          <a:bodyPr wrap="square" rtlCol="0" anchor="ctr"/>
          <a:lstStyle/>
          <a:p>
            <a:pPr indent="0" marL="0">
              <a:buNone/>
            </a:pPr>
            <a:r>
              <a:rPr lang="en-US" sz="2400" b="1" dirty="0">
                <a:solidFill>
                  <a:srgbClr val="FFFFFF"/>
                </a:solidFill>
                <a:latin typeface="Meiryo" pitchFamily="34" charset="0"/>
                <a:ea typeface="Meiryo" pitchFamily="34" charset="-122"/>
                <a:cs typeface="Meiryo" pitchFamily="34" charset="-120"/>
              </a:rPr>
              <a:t>デザイン</a:t>
            </a:r>
            <a:endParaRPr lang="en-US" sz="2400" dirty="0"/>
          </a:p>
        </p:txBody>
      </p:sp>
      <p:sp>
        <p:nvSpPr>
          <p:cNvPr id="5" name="Text 3"/>
          <p:cNvSpPr/>
          <p:nvPr/>
        </p:nvSpPr>
        <p:spPr>
          <a:xfrm>
            <a:off x="7543800" y="4759452"/>
            <a:ext cx="1097280" cy="228600"/>
          </a:xfrm>
          <a:prstGeom prst="rect">
            <a:avLst/>
          </a:prstGeom>
          <a:noFill/>
          <a:ln/>
        </p:spPr>
        <p:txBody>
          <a:bodyPr wrap="square" rtlCol="0" anchor="ctr"/>
          <a:lstStyle/>
          <a:p>
            <a:pPr algn="r" indent="0" marL="0">
              <a:buNone/>
            </a:pPr>
            <a:r>
              <a:rPr lang="en-US" sz="900" dirty="0">
                <a:solidFill>
                  <a:srgbClr val="6B6B6B"/>
                </a:solidFill>
                <a:latin typeface="Meiryo" pitchFamily="34" charset="0"/>
                <a:ea typeface="Meiryo" pitchFamily="34" charset="-122"/>
                <a:cs typeface="Meiryo" pitchFamily="34" charset="-120"/>
              </a:rPr>
              <a:t>39|82</a:t>
            </a:r>
            <a:endParaRPr lang="en-US" sz="9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502920" y="502920"/>
            <a:ext cx="8138160" cy="228600"/>
          </a:xfrm>
          <a:prstGeom prst="rect">
            <a:avLst/>
          </a:prstGeom>
          <a:noFill/>
          <a:ln/>
        </p:spPr>
        <p:txBody>
          <a:bodyPr wrap="square" rtlCol="0" anchor="ctr"/>
          <a:lstStyle/>
          <a:p>
            <a:pPr indent="0" marL="0">
              <a:buNone/>
            </a:pPr>
            <a:r>
              <a:rPr lang="en-US" sz="1000" dirty="0">
                <a:solidFill>
                  <a:srgbClr val="6B6B6B"/>
                </a:solidFill>
                <a:latin typeface="Meiryo" pitchFamily="34" charset="0"/>
                <a:ea typeface="Meiryo" pitchFamily="34" charset="-122"/>
                <a:cs typeface="Meiryo" pitchFamily="34" charset="-120"/>
              </a:rPr>
              <a:t>07 Design</a:t>
            </a:r>
            <a:endParaRPr lang="en-US" sz="1000" dirty="0"/>
          </a:p>
        </p:txBody>
      </p:sp>
      <p:sp>
        <p:nvSpPr>
          <p:cNvPr id="3" name="Text 1"/>
          <p:cNvSpPr/>
          <p:nvPr/>
        </p:nvSpPr>
        <p:spPr>
          <a:xfrm>
            <a:off x="502920" y="777240"/>
            <a:ext cx="8138160" cy="457200"/>
          </a:xfrm>
          <a:prstGeom prst="rect">
            <a:avLst/>
          </a:prstGeom>
          <a:noFill/>
          <a:ln/>
        </p:spPr>
        <p:txBody>
          <a:bodyPr wrap="square" rtlCol="0" anchor="ctr"/>
          <a:lstStyle/>
          <a:p>
            <a:pPr indent="0" marL="0">
              <a:buNone/>
            </a:pPr>
            <a:r>
              <a:rPr lang="en-US" sz="2000" b="1" dirty="0">
                <a:solidFill>
                  <a:srgbClr val="1A1A1A"/>
                </a:solidFill>
                <a:latin typeface="Meiryo" pitchFamily="34" charset="0"/>
                <a:ea typeface="Meiryo" pitchFamily="34" charset="-122"/>
                <a:cs typeface="Meiryo" pitchFamily="34" charset="-120"/>
              </a:rPr>
              <a:t>デザインの方向性は、参考サイトのご提示後に別紙でご提案します</a:t>
            </a:r>
            <a:endParaRPr lang="en-US" sz="2000" dirty="0"/>
          </a:p>
        </p:txBody>
      </p:sp>
      <p:sp>
        <p:nvSpPr>
          <p:cNvPr id="4" name="Shape 2"/>
          <p:cNvSpPr/>
          <p:nvPr/>
        </p:nvSpPr>
        <p:spPr>
          <a:xfrm>
            <a:off x="502920" y="1280160"/>
            <a:ext cx="8138160" cy="0"/>
          </a:xfrm>
          <a:prstGeom prst="line">
            <a:avLst/>
          </a:prstGeom>
          <a:noFill/>
          <a:ln w="12700">
            <a:solidFill>
              <a:srgbClr val="D5D5D5"/>
            </a:solidFill>
            <a:prstDash val="solid"/>
          </a:ln>
        </p:spPr>
      </p:sp>
      <p:sp>
        <p:nvSpPr>
          <p:cNvPr id="5" name="Text 3"/>
          <p:cNvSpPr/>
          <p:nvPr/>
        </p:nvSpPr>
        <p:spPr>
          <a:xfrm>
            <a:off x="502920" y="1417320"/>
            <a:ext cx="8138160" cy="457200"/>
          </a:xfrm>
          <a:prstGeom prst="rect">
            <a:avLst/>
          </a:prstGeom>
          <a:noFill/>
          <a:ln/>
        </p:spPr>
        <p:txBody>
          <a:bodyPr wrap="square" rtlCol="0" anchor="t"/>
          <a:lstStyle/>
          <a:p>
            <a:pPr indent="0" marL="0">
              <a:buNone/>
            </a:pPr>
            <a:r>
              <a:rPr lang="en-US" sz="1200" dirty="0">
                <a:solidFill>
                  <a:srgbClr val="1A1A1A"/>
                </a:solidFill>
                <a:latin typeface="Meiryo" pitchFamily="34" charset="0"/>
                <a:ea typeface="Meiryo" pitchFamily="34" charset="-122"/>
                <a:cs typeface="Meiryo" pitchFamily="34" charset="-120"/>
              </a:rPr>
              <a:t>本資料は要件定義のご報告のため、デザインは扱いません。方向性が決まり次第、別紙にてご提案します。</a:t>
            </a:r>
            <a:endParaRPr lang="en-US" sz="1200" dirty="0"/>
          </a:p>
        </p:txBody>
      </p:sp>
      <p:sp>
        <p:nvSpPr>
          <p:cNvPr id="6" name="Text 4"/>
          <p:cNvSpPr/>
          <p:nvPr/>
        </p:nvSpPr>
        <p:spPr>
          <a:xfrm>
            <a:off x="502920" y="1965960"/>
            <a:ext cx="8138160" cy="2628900"/>
          </a:xfrm>
          <a:prstGeom prst="rect">
            <a:avLst/>
          </a:prstGeom>
          <a:noFill/>
          <a:ln/>
        </p:spPr>
        <p:txBody>
          <a:bodyPr wrap="square" rtlCol="0" anchor="t"/>
          <a:lstStyle/>
          <a:p>
            <a:pPr marL="342900" indent="-342900">
              <a:lnSpc>
                <a:spcPct val="130000"/>
              </a:lnSpc>
              <a:buSzPct val="100000"/>
              <a:buChar char="•"/>
            </a:pPr>
            <a:r>
              <a:rPr lang="en-US" sz="1300" dirty="0">
                <a:solidFill>
                  <a:srgbClr val="1A1A1A"/>
                </a:solidFill>
                <a:latin typeface="Meiryo" pitchFamily="34" charset="0"/>
                <a:ea typeface="Meiryo" pitchFamily="34" charset="-122"/>
                <a:cs typeface="Meiryo" pitchFamily="34" charset="-120"/>
              </a:rPr>
              <a:t>現状: 既存仕様書のデザインコンセプト欄は未記入です</a:t>
            </a:r>
            <a:endParaRPr lang="en-US" sz="1300" dirty="0"/>
          </a:p>
          <a:p>
            <a:pPr marL="342900" indent="-342900">
              <a:lnSpc>
                <a:spcPct val="130000"/>
              </a:lnSpc>
              <a:buSzPct val="100000"/>
              <a:buChar char="•"/>
            </a:pPr>
            <a:r>
              <a:rPr lang="en-US" sz="1300" dirty="0">
                <a:solidFill>
                  <a:srgbClr val="1A1A1A"/>
                </a:solidFill>
                <a:latin typeface="Meiryo" pitchFamily="34" charset="0"/>
                <a:ea typeface="Meiryo" pitchFamily="34" charset="-122"/>
                <a:cs typeface="Meiryo" pitchFamily="34" charset="-120"/>
              </a:rPr>
              <a:t>お願い: 参考にされたいサイトを2〜3件お知らせください（章01 確認事項5）</a:t>
            </a:r>
            <a:endParaRPr lang="en-US" sz="1300" dirty="0"/>
          </a:p>
          <a:p>
            <a:pPr marL="342900" indent="-342900">
              <a:lnSpc>
                <a:spcPct val="130000"/>
              </a:lnSpc>
              <a:buSzPct val="100000"/>
              <a:buChar char="•"/>
            </a:pPr>
            <a:r>
              <a:rPr lang="en-US" sz="1300" dirty="0">
                <a:solidFill>
                  <a:srgbClr val="1A1A1A"/>
                </a:solidFill>
                <a:latin typeface="Meiryo" pitchFamily="34" charset="0"/>
                <a:ea typeface="Meiryo" pitchFamily="34" charset="-122"/>
                <a:cs typeface="Meiryo" pitchFamily="34" charset="-120"/>
              </a:rPr>
              <a:t>素材として使えるもの: 校訓「着実・勤勉・自主」、イングリッシュキャンプ、JSプログラム、フロンティアコース</a:t>
            </a:r>
            <a:endParaRPr lang="en-US" sz="1300" dirty="0"/>
          </a:p>
          <a:p>
            <a:pPr marL="342900" indent="-342900">
              <a:lnSpc>
                <a:spcPct val="130000"/>
              </a:lnSpc>
              <a:buSzPct val="100000"/>
              <a:buChar char="•"/>
            </a:pPr>
            <a:r>
              <a:rPr lang="en-US" sz="1300" dirty="0">
                <a:solidFill>
                  <a:srgbClr val="1A1A1A"/>
                </a:solidFill>
                <a:latin typeface="Meiryo" pitchFamily="34" charset="0"/>
                <a:ea typeface="Meiryo" pitchFamily="34" charset="-122"/>
                <a:cs typeface="Meiryo" pitchFamily="34" charset="-120"/>
              </a:rPr>
              <a:t>対象ページ数: デザイン対象は11Pです</a:t>
            </a:r>
            <a:endParaRPr lang="en-US" sz="1300" dirty="0"/>
          </a:p>
          <a:p>
            <a:pPr marL="342900" indent="-342900">
              <a:lnSpc>
                <a:spcPct val="130000"/>
              </a:lnSpc>
              <a:buSzPct val="100000"/>
              <a:buChar char="•"/>
            </a:pPr>
            <a:r>
              <a:rPr lang="en-US" sz="1300" dirty="0">
                <a:solidFill>
                  <a:srgbClr val="1A1A1A"/>
                </a:solidFill>
                <a:latin typeface="Meiryo" pitchFamily="34" charset="0"/>
                <a:ea typeface="Meiryo" pitchFamily="34" charset="-122"/>
                <a:cs typeface="Meiryo" pitchFamily="34" charset="-120"/>
              </a:rPr>
              <a:t>提示物: デザインの方向性は別紙、画面構成はワイヤーフレーム（別紙）でご提示します</a:t>
            </a:r>
            <a:endParaRPr lang="en-US" sz="1300" dirty="0"/>
          </a:p>
        </p:txBody>
      </p:sp>
      <p:sp>
        <p:nvSpPr>
          <p:cNvPr id="7" name="Text 5"/>
          <p:cNvSpPr/>
          <p:nvPr/>
        </p:nvSpPr>
        <p:spPr>
          <a:xfrm>
            <a:off x="502920" y="4759452"/>
            <a:ext cx="6949440" cy="228600"/>
          </a:xfrm>
          <a:prstGeom prst="rect">
            <a:avLst/>
          </a:prstGeom>
          <a:noFill/>
          <a:ln/>
        </p:spPr>
        <p:txBody>
          <a:bodyPr wrap="square" rtlCol="0" anchor="ctr"/>
          <a:lstStyle/>
          <a:p>
            <a:pPr indent="0" marL="0">
              <a:buNone/>
            </a:pPr>
            <a:r>
              <a:rPr lang="en-US" sz="900" dirty="0">
                <a:solidFill>
                  <a:srgbClr val="6B6B6B"/>
                </a:solidFill>
                <a:latin typeface="Meiryo" pitchFamily="34" charset="0"/>
                <a:ea typeface="Meiryo" pitchFamily="34" charset="-122"/>
                <a:cs typeface="Meiryo" pitchFamily="34" charset="-120"/>
              </a:rPr>
              <a:t>出典: projects/johoku-saitama/research/brief.md（2026-07-03 ヒアリング・Backlog GG_ORDER-4733）</a:t>
            </a:r>
            <a:endParaRPr lang="en-US" sz="900" dirty="0"/>
          </a:p>
        </p:txBody>
      </p:sp>
      <p:sp>
        <p:nvSpPr>
          <p:cNvPr id="8" name="Text 6"/>
          <p:cNvSpPr/>
          <p:nvPr/>
        </p:nvSpPr>
        <p:spPr>
          <a:xfrm>
            <a:off x="7543800" y="4759452"/>
            <a:ext cx="1097280" cy="228600"/>
          </a:xfrm>
          <a:prstGeom prst="rect">
            <a:avLst/>
          </a:prstGeom>
          <a:noFill/>
          <a:ln/>
        </p:spPr>
        <p:txBody>
          <a:bodyPr wrap="square" rtlCol="0" anchor="ctr"/>
          <a:lstStyle/>
          <a:p>
            <a:pPr algn="r" indent="0" marL="0">
              <a:buNone/>
            </a:pPr>
            <a:r>
              <a:rPr lang="en-US" sz="900" dirty="0">
                <a:solidFill>
                  <a:srgbClr val="6B6B6B"/>
                </a:solidFill>
                <a:latin typeface="Meiryo" pitchFamily="34" charset="0"/>
                <a:ea typeface="Meiryo" pitchFamily="34" charset="-122"/>
                <a:cs typeface="Meiryo" pitchFamily="34" charset="-120"/>
              </a:rPr>
              <a:t>40|82</a:t>
            </a:r>
            <a:endParaRPr lang="en-US" sz="9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1F3A5F"/>
        </a:solidFill>
      </p:bgPr>
    </p:bg>
    <p:spTree>
      <p:nvGrpSpPr>
        <p:cNvPr id="1" name=""/>
        <p:cNvGrpSpPr/>
        <p:nvPr/>
      </p:nvGrpSpPr>
      <p:grpSpPr>
        <a:xfrm>
          <a:off x="0" y="0"/>
          <a:ext cx="0" cy="0"/>
          <a:chOff x="0" y="0"/>
          <a:chExt cx="0" cy="0"/>
        </a:xfrm>
      </p:grpSpPr>
      <p:sp>
        <p:nvSpPr>
          <p:cNvPr id="2" name="Text 0"/>
          <p:cNvSpPr/>
          <p:nvPr/>
        </p:nvSpPr>
        <p:spPr>
          <a:xfrm>
            <a:off x="502920" y="1737360"/>
            <a:ext cx="1280160" cy="640080"/>
          </a:xfrm>
          <a:prstGeom prst="rect">
            <a:avLst/>
          </a:prstGeom>
          <a:noFill/>
          <a:ln/>
        </p:spPr>
        <p:txBody>
          <a:bodyPr wrap="square" rtlCol="0" anchor="ctr"/>
          <a:lstStyle/>
          <a:p>
            <a:pPr indent="0" marL="0">
              <a:buNone/>
            </a:pPr>
            <a:r>
              <a:rPr lang="en-US" sz="3400" b="1" dirty="0">
                <a:solidFill>
                  <a:srgbClr val="FFFFFF"/>
                </a:solidFill>
                <a:latin typeface="Meiryo" pitchFamily="34" charset="0"/>
                <a:ea typeface="Meiryo" pitchFamily="34" charset="-122"/>
                <a:cs typeface="Meiryo" pitchFamily="34" charset="-120"/>
              </a:rPr>
              <a:t>08</a:t>
            </a:r>
            <a:endParaRPr lang="en-US" sz="3400" dirty="0"/>
          </a:p>
        </p:txBody>
      </p:sp>
      <p:sp>
        <p:nvSpPr>
          <p:cNvPr id="3" name="Text 1"/>
          <p:cNvSpPr/>
          <p:nvPr/>
        </p:nvSpPr>
        <p:spPr>
          <a:xfrm>
            <a:off x="502920" y="2377440"/>
            <a:ext cx="8138160" cy="365760"/>
          </a:xfrm>
          <a:prstGeom prst="rect">
            <a:avLst/>
          </a:prstGeom>
          <a:noFill/>
          <a:ln/>
        </p:spPr>
        <p:txBody>
          <a:bodyPr wrap="square" rtlCol="0" anchor="ctr"/>
          <a:lstStyle/>
          <a:p>
            <a:pPr indent="0" marL="0">
              <a:buNone/>
            </a:pPr>
            <a:r>
              <a:rPr lang="en-US" sz="1300" dirty="0">
                <a:solidFill>
                  <a:srgbClr val="FFFFFF"/>
                </a:solidFill>
                <a:latin typeface="Meiryo" pitchFamily="34" charset="0"/>
                <a:ea typeface="Meiryo" pitchFamily="34" charset="-122"/>
                <a:cs typeface="Meiryo" pitchFamily="34" charset="-120"/>
              </a:rPr>
              <a:t>Function</a:t>
            </a:r>
            <a:endParaRPr lang="en-US" sz="1300" dirty="0"/>
          </a:p>
        </p:txBody>
      </p:sp>
      <p:sp>
        <p:nvSpPr>
          <p:cNvPr id="4" name="Text 2"/>
          <p:cNvSpPr/>
          <p:nvPr/>
        </p:nvSpPr>
        <p:spPr>
          <a:xfrm>
            <a:off x="502920" y="2743200"/>
            <a:ext cx="8138160" cy="548640"/>
          </a:xfrm>
          <a:prstGeom prst="rect">
            <a:avLst/>
          </a:prstGeom>
          <a:noFill/>
          <a:ln/>
        </p:spPr>
        <p:txBody>
          <a:bodyPr wrap="square" rtlCol="0" anchor="ctr"/>
          <a:lstStyle/>
          <a:p>
            <a:pPr indent="0" marL="0">
              <a:buNone/>
            </a:pPr>
            <a:r>
              <a:rPr lang="en-US" sz="2400" b="1" dirty="0">
                <a:solidFill>
                  <a:srgbClr val="FFFFFF"/>
                </a:solidFill>
                <a:latin typeface="Meiryo" pitchFamily="34" charset="0"/>
                <a:ea typeface="Meiryo" pitchFamily="34" charset="-122"/>
                <a:cs typeface="Meiryo" pitchFamily="34" charset="-120"/>
              </a:rPr>
              <a:t>機能</a:t>
            </a:r>
            <a:endParaRPr lang="en-US" sz="2400" dirty="0"/>
          </a:p>
        </p:txBody>
      </p:sp>
      <p:sp>
        <p:nvSpPr>
          <p:cNvPr id="5" name="Text 3"/>
          <p:cNvSpPr/>
          <p:nvPr/>
        </p:nvSpPr>
        <p:spPr>
          <a:xfrm>
            <a:off x="7543800" y="4759452"/>
            <a:ext cx="1097280" cy="228600"/>
          </a:xfrm>
          <a:prstGeom prst="rect">
            <a:avLst/>
          </a:prstGeom>
          <a:noFill/>
          <a:ln/>
        </p:spPr>
        <p:txBody>
          <a:bodyPr wrap="square" rtlCol="0" anchor="ctr"/>
          <a:lstStyle/>
          <a:p>
            <a:pPr algn="r" indent="0" marL="0">
              <a:buNone/>
            </a:pPr>
            <a:r>
              <a:rPr lang="en-US" sz="900" dirty="0">
                <a:solidFill>
                  <a:srgbClr val="6B6B6B"/>
                </a:solidFill>
                <a:latin typeface="Meiryo" pitchFamily="34" charset="0"/>
                <a:ea typeface="Meiryo" pitchFamily="34" charset="-122"/>
                <a:cs typeface="Meiryo" pitchFamily="34" charset="-120"/>
              </a:rPr>
              <a:t>41|82</a:t>
            </a:r>
            <a:endParaRPr lang="en-US" sz="9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502920" y="502920"/>
            <a:ext cx="8138160" cy="228600"/>
          </a:xfrm>
          <a:prstGeom prst="rect">
            <a:avLst/>
          </a:prstGeom>
          <a:noFill/>
          <a:ln/>
        </p:spPr>
        <p:txBody>
          <a:bodyPr wrap="square" rtlCol="0" anchor="ctr"/>
          <a:lstStyle/>
          <a:p>
            <a:pPr indent="0" marL="0">
              <a:buNone/>
            </a:pPr>
            <a:r>
              <a:rPr lang="en-US" sz="1000" dirty="0">
                <a:solidFill>
                  <a:srgbClr val="6B6B6B"/>
                </a:solidFill>
                <a:latin typeface="Meiryo" pitchFamily="34" charset="0"/>
                <a:ea typeface="Meiryo" pitchFamily="34" charset="-122"/>
                <a:cs typeface="Meiryo" pitchFamily="34" charset="-120"/>
              </a:rPr>
              <a:t>08 Function</a:t>
            </a:r>
            <a:endParaRPr lang="en-US" sz="1000" dirty="0"/>
          </a:p>
        </p:txBody>
      </p:sp>
      <p:sp>
        <p:nvSpPr>
          <p:cNvPr id="3" name="Text 1"/>
          <p:cNvSpPr/>
          <p:nvPr/>
        </p:nvSpPr>
        <p:spPr>
          <a:xfrm>
            <a:off x="502920" y="777240"/>
            <a:ext cx="8138160" cy="457200"/>
          </a:xfrm>
          <a:prstGeom prst="rect">
            <a:avLst/>
          </a:prstGeom>
          <a:noFill/>
          <a:ln/>
        </p:spPr>
        <p:txBody>
          <a:bodyPr wrap="square" rtlCol="0" anchor="ctr"/>
          <a:lstStyle/>
          <a:p>
            <a:pPr indent="0" marL="0">
              <a:buNone/>
            </a:pPr>
            <a:r>
              <a:rPr lang="en-US" sz="2000" b="1" dirty="0">
                <a:solidFill>
                  <a:srgbClr val="1A1A1A"/>
                </a:solidFill>
                <a:latin typeface="Meiryo" pitchFamily="34" charset="0"/>
                <a:ea typeface="Meiryo" pitchFamily="34" charset="-122"/>
                <a:cs typeface="Meiryo" pitchFamily="34" charset="-120"/>
              </a:rPr>
              <a:t>更新頻度でページを分類します</a:t>
            </a:r>
            <a:endParaRPr lang="en-US" sz="2000" dirty="0"/>
          </a:p>
        </p:txBody>
      </p:sp>
      <p:sp>
        <p:nvSpPr>
          <p:cNvPr id="4" name="Shape 2"/>
          <p:cNvSpPr/>
          <p:nvPr/>
        </p:nvSpPr>
        <p:spPr>
          <a:xfrm>
            <a:off x="502920" y="1280160"/>
            <a:ext cx="8138160" cy="0"/>
          </a:xfrm>
          <a:prstGeom prst="line">
            <a:avLst/>
          </a:prstGeom>
          <a:noFill/>
          <a:ln w="12700">
            <a:solidFill>
              <a:srgbClr val="D5D5D5"/>
            </a:solidFill>
            <a:prstDash val="solid"/>
          </a:ln>
        </p:spPr>
      </p:sp>
      <p:sp>
        <p:nvSpPr>
          <p:cNvPr id="5" name="Text 3"/>
          <p:cNvSpPr/>
          <p:nvPr/>
        </p:nvSpPr>
        <p:spPr>
          <a:xfrm>
            <a:off x="502920" y="1417320"/>
            <a:ext cx="8138160" cy="457200"/>
          </a:xfrm>
          <a:prstGeom prst="rect">
            <a:avLst/>
          </a:prstGeom>
          <a:noFill/>
          <a:ln/>
        </p:spPr>
        <p:txBody>
          <a:bodyPr wrap="square" rtlCol="0" anchor="t"/>
          <a:lstStyle/>
          <a:p>
            <a:pPr indent="0" marL="0">
              <a:buNone/>
            </a:pPr>
            <a:r>
              <a:rPr lang="en-US" sz="1200" dirty="0">
                <a:solidFill>
                  <a:srgbClr val="1A1A1A"/>
                </a:solidFill>
                <a:latin typeface="Meiryo" pitchFamily="34" charset="0"/>
                <a:ea typeface="Meiryo" pitchFamily="34" charset="-122"/>
                <a:cs typeface="Meiryo" pitchFamily="34" charset="-120"/>
              </a:rPr>
              <a:t>全ページを更新頻度で4段階に分類し、どこを貴校が直接更新するかを定義します。分類はサイトマップ（別紙）に列として持ちます。</a:t>
            </a:r>
            <a:endParaRPr lang="en-US" sz="1200" dirty="0"/>
          </a:p>
        </p:txBody>
      </p:sp>
      <p:graphicFrame>
        <p:nvGraphicFramePr>
          <p:cNvPr id="43" name="Table 0"/>
          <p:cNvGraphicFramePr>
            <a:graphicFrameLocks noGrp="1"/>
          </p:cNvGraphicFramePr>
          <p:nvPr>
            <p:extLst>
              <p:ext uri="{D42A27DB-BD31-4B8C-83A1-F6EECF244321}">
                <p14:modId xmlns:p14="http://schemas.microsoft.com/office/powerpoint/2010/main" val="1579011935"/>
              </p:ext>
            </p:extLst>
          </p:nvPr>
        </p:nvGraphicFramePr>
        <p:xfrm>
          <a:off x="502920" y="1965960"/>
          <a:ext cx="8138160" cy="914400"/>
        </p:xfrm>
        <a:graphic>
          <a:graphicData uri="http://schemas.openxmlformats.org/drawingml/2006/table">
            <a:tbl>
              <a:tblPr/>
              <a:tblGrid>
                <a:gridCol w="2034540"/>
                <a:gridCol w="2034540"/>
                <a:gridCol w="2034540"/>
                <a:gridCol w="2034540"/>
              </a:tblGrid>
              <a:tr h="0">
                <a:tc>
                  <a:txBody>
                    <a:bodyPr/>
                    <a:lstStyle/>
                    <a:p>
                      <a:pPr indent="0" marL="0">
                        <a:buNone/>
                      </a:pPr>
                      <a:r>
                        <a:rPr lang="en-US" sz="1100" b="1" dirty="0">
                          <a:solidFill>
                            <a:srgbClr val="FFFFFF"/>
                          </a:solidFill>
                          <a:latin typeface="Meiryo" pitchFamily="34" charset="0"/>
                          <a:ea typeface="Meiryo" pitchFamily="34" charset="-122"/>
                          <a:cs typeface="Meiryo" pitchFamily="34" charset="-120"/>
                        </a:rPr>
                        <a:t>区分</a:t>
                      </a:r>
                      <a:endParaRPr lang="en-US" sz="1100" dirty="0">
                        <a:latin typeface="Meiryo" charset="0"/>
                        <a:ea typeface="Meiryo" charset="0"/>
                        <a:cs typeface="Meiryo" charset="0"/>
                      </a:endParaRPr>
                    </a:p>
                  </a:txBody>
                  <a:tcPr marL="91440" marR="91440" marT="45720" marB="45720">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1F3A5F"/>
                    </a:solidFill>
                  </a:tcPr>
                </a:tc>
                <a:tc>
                  <a:txBody>
                    <a:bodyPr/>
                    <a:lstStyle/>
                    <a:p>
                      <a:pPr indent="0" marL="0">
                        <a:buNone/>
                      </a:pPr>
                      <a:r>
                        <a:rPr lang="en-US" sz="1100" b="1" dirty="0">
                          <a:solidFill>
                            <a:srgbClr val="FFFFFF"/>
                          </a:solidFill>
                          <a:latin typeface="Meiryo" pitchFamily="34" charset="0"/>
                          <a:ea typeface="Meiryo" pitchFamily="34" charset="-122"/>
                          <a:cs typeface="Meiryo" pitchFamily="34" charset="-120"/>
                        </a:rPr>
                        <a:t>更新頻度の目安</a:t>
                      </a:r>
                      <a:endParaRPr lang="en-US" sz="1100" dirty="0">
                        <a:latin typeface="Meiryo" charset="0"/>
                        <a:ea typeface="Meiryo" charset="0"/>
                        <a:cs typeface="Meiryo" charset="0"/>
                      </a:endParaRPr>
                    </a:p>
                  </a:txBody>
                  <a:tcPr marL="91440" marR="91440" marT="45720" marB="45720">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1F3A5F"/>
                    </a:solidFill>
                  </a:tcPr>
                </a:tc>
                <a:tc>
                  <a:txBody>
                    <a:bodyPr/>
                    <a:lstStyle/>
                    <a:p>
                      <a:pPr indent="0" marL="0">
                        <a:buNone/>
                      </a:pPr>
                      <a:r>
                        <a:rPr lang="en-US" sz="1100" b="1" dirty="0">
                          <a:solidFill>
                            <a:srgbClr val="FFFFFF"/>
                          </a:solidFill>
                          <a:latin typeface="Meiryo" pitchFamily="34" charset="0"/>
                          <a:ea typeface="Meiryo" pitchFamily="34" charset="-122"/>
                          <a:cs typeface="Meiryo" pitchFamily="34" charset="-120"/>
                        </a:rPr>
                        <a:t>該当するページ</a:t>
                      </a:r>
                      <a:endParaRPr lang="en-US" sz="1100" dirty="0">
                        <a:latin typeface="Meiryo" charset="0"/>
                        <a:ea typeface="Meiryo" charset="0"/>
                        <a:cs typeface="Meiryo" charset="0"/>
                      </a:endParaRPr>
                    </a:p>
                  </a:txBody>
                  <a:tcPr marL="91440" marR="91440" marT="45720" marB="45720">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1F3A5F"/>
                    </a:solidFill>
                  </a:tcPr>
                </a:tc>
                <a:tc>
                  <a:txBody>
                    <a:bodyPr/>
                    <a:lstStyle/>
                    <a:p>
                      <a:pPr indent="0" marL="0">
                        <a:buNone/>
                      </a:pPr>
                      <a:r>
                        <a:rPr lang="en-US" sz="1100" b="1" dirty="0">
                          <a:solidFill>
                            <a:srgbClr val="FFFFFF"/>
                          </a:solidFill>
                          <a:latin typeface="Meiryo" pitchFamily="34" charset="0"/>
                          <a:ea typeface="Meiryo" pitchFamily="34" charset="-122"/>
                          <a:cs typeface="Meiryo" pitchFamily="34" charset="-120"/>
                        </a:rPr>
                        <a:t>管理画面からの更新</a:t>
                      </a:r>
                      <a:endParaRPr lang="en-US" sz="1100" dirty="0">
                        <a:latin typeface="Meiryo" charset="0"/>
                        <a:ea typeface="Meiryo" charset="0"/>
                        <a:cs typeface="Meiryo" charset="0"/>
                      </a:endParaRPr>
                    </a:p>
                  </a:txBody>
                  <a:tcPr marL="91440" marR="91440" marT="45720" marB="45720">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1F3A5F"/>
                    </a:solidFill>
                  </a:tcPr>
                </a:tc>
              </a:tr>
              <a:tr h="0">
                <a:tc>
                  <a:txBody>
                    <a:bodyPr/>
                    <a:lstStyle/>
                    <a:p>
                      <a:pPr indent="0" marL="0">
                        <a:buNone/>
                      </a:pPr>
                      <a:r>
                        <a:rPr lang="en-US" sz="1100" dirty="0">
                          <a:solidFill>
                            <a:srgbClr val="1A1A1A"/>
                          </a:solidFill>
                          <a:latin typeface="Meiryo" pitchFamily="34" charset="0"/>
                          <a:ea typeface="Meiryo" pitchFamily="34" charset="-122"/>
                          <a:cs typeface="Meiryo" pitchFamily="34" charset="-120"/>
                        </a:rPr>
                        <a:t>◎</a:t>
                      </a:r>
                      <a:endParaRPr lang="en-US" sz="1100" dirty="0">
                        <a:latin typeface="Meiryo" charset="0"/>
                        <a:ea typeface="Meiryo" charset="0"/>
                        <a:cs typeface="Meiryo" charset="0"/>
                      </a:endParaRPr>
                    </a:p>
                  </a:txBody>
                  <a:tcPr marL="91440" marR="91440" marT="45720" marB="45720">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tcPr>
                </a:tc>
                <a:tc>
                  <a:txBody>
                    <a:bodyPr/>
                    <a:lstStyle/>
                    <a:p>
                      <a:pPr indent="0" marL="0">
                        <a:buNone/>
                      </a:pPr>
                      <a:r>
                        <a:rPr lang="en-US" sz="1100" dirty="0">
                          <a:solidFill>
                            <a:srgbClr val="1A1A1A"/>
                          </a:solidFill>
                          <a:latin typeface="Meiryo" pitchFamily="34" charset="0"/>
                          <a:ea typeface="Meiryo" pitchFamily="34" charset="-122"/>
                          <a:cs typeface="Meiryo" pitchFamily="34" charset="-120"/>
                        </a:rPr>
                        <a:t>月1回以上</a:t>
                      </a:r>
                      <a:endParaRPr lang="en-US" sz="1100" dirty="0">
                        <a:latin typeface="Meiryo" charset="0"/>
                        <a:ea typeface="Meiryo" charset="0"/>
                        <a:cs typeface="Meiryo" charset="0"/>
                      </a:endParaRPr>
                    </a:p>
                  </a:txBody>
                  <a:tcPr marL="91440" marR="91440" marT="45720" marB="45720">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tcPr>
                </a:tc>
                <a:tc>
                  <a:txBody>
                    <a:bodyPr/>
                    <a:lstStyle/>
                    <a:p>
                      <a:pPr indent="0" marL="0">
                        <a:buNone/>
                      </a:pPr>
                      <a:r>
                        <a:rPr lang="en-US" sz="1100" dirty="0">
                          <a:solidFill>
                            <a:srgbClr val="1A1A1A"/>
                          </a:solidFill>
                          <a:latin typeface="Meiryo" pitchFamily="34" charset="0"/>
                          <a:ea typeface="Meiryo" pitchFamily="34" charset="-122"/>
                          <a:cs typeface="Meiryo" pitchFamily="34" charset="-120"/>
                        </a:rPr>
                        <a:t>更新情報／説明会情報／行事</a:t>
                      </a:r>
                      <a:endParaRPr lang="en-US" sz="1100" dirty="0">
                        <a:latin typeface="Meiryo" charset="0"/>
                        <a:ea typeface="Meiryo" charset="0"/>
                        <a:cs typeface="Meiryo" charset="0"/>
                      </a:endParaRPr>
                    </a:p>
                  </a:txBody>
                  <a:tcPr marL="91440" marR="91440" marT="45720" marB="45720">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tcPr>
                </a:tc>
                <a:tc>
                  <a:txBody>
                    <a:bodyPr/>
                    <a:lstStyle/>
                    <a:p>
                      <a:pPr indent="0" marL="0">
                        <a:buNone/>
                      </a:pPr>
                      <a:r>
                        <a:rPr lang="en-US" sz="1100" dirty="0">
                          <a:solidFill>
                            <a:srgbClr val="1A1A1A"/>
                          </a:solidFill>
                          <a:latin typeface="Meiryo" pitchFamily="34" charset="0"/>
                          <a:ea typeface="Meiryo" pitchFamily="34" charset="-122"/>
                          <a:cs typeface="Meiryo" pitchFamily="34" charset="-120"/>
                        </a:rPr>
                        <a:t>可（一覧・詳細とも）</a:t>
                      </a:r>
                      <a:endParaRPr lang="en-US" sz="1100" dirty="0">
                        <a:latin typeface="Meiryo" charset="0"/>
                        <a:ea typeface="Meiryo" charset="0"/>
                        <a:cs typeface="Meiryo" charset="0"/>
                      </a:endParaRPr>
                    </a:p>
                  </a:txBody>
                  <a:tcPr marL="91440" marR="91440" marT="45720" marB="45720">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tcPr>
                </a:tc>
              </a:tr>
              <a:tr h="0">
                <a:tc>
                  <a:txBody>
                    <a:bodyPr/>
                    <a:lstStyle/>
                    <a:p>
                      <a:pPr indent="0" marL="0">
                        <a:buNone/>
                      </a:pPr>
                      <a:r>
                        <a:rPr lang="en-US" sz="1100" dirty="0">
                          <a:solidFill>
                            <a:srgbClr val="1A1A1A"/>
                          </a:solidFill>
                          <a:latin typeface="Meiryo" pitchFamily="34" charset="0"/>
                          <a:ea typeface="Meiryo" pitchFamily="34" charset="-122"/>
                          <a:cs typeface="Meiryo" pitchFamily="34" charset="-120"/>
                        </a:rPr>
                        <a:t>○</a:t>
                      </a:r>
                      <a:endParaRPr lang="en-US" sz="1100" dirty="0">
                        <a:latin typeface="Meiryo" charset="0"/>
                        <a:ea typeface="Meiryo" charset="0"/>
                        <a:cs typeface="Meiryo" charset="0"/>
                      </a:endParaRPr>
                    </a:p>
                  </a:txBody>
                  <a:tcPr marL="91440" marR="91440" marT="45720" marB="45720">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tcPr>
                </a:tc>
                <a:tc>
                  <a:txBody>
                    <a:bodyPr/>
                    <a:lstStyle/>
                    <a:p>
                      <a:pPr indent="0" marL="0">
                        <a:buNone/>
                      </a:pPr>
                      <a:r>
                        <a:rPr lang="en-US" sz="1100" dirty="0">
                          <a:solidFill>
                            <a:srgbClr val="1A1A1A"/>
                          </a:solidFill>
                          <a:latin typeface="Meiryo" pitchFamily="34" charset="0"/>
                          <a:ea typeface="Meiryo" pitchFamily="34" charset="-122"/>
                          <a:cs typeface="Meiryo" pitchFamily="34" charset="-120"/>
                        </a:rPr>
                        <a:t>年1回程度</a:t>
                      </a:r>
                      <a:endParaRPr lang="en-US" sz="1100" dirty="0">
                        <a:latin typeface="Meiryo" charset="0"/>
                        <a:ea typeface="Meiryo" charset="0"/>
                        <a:cs typeface="Meiryo" charset="0"/>
                      </a:endParaRPr>
                    </a:p>
                  </a:txBody>
                  <a:tcPr marL="91440" marR="91440" marT="45720" marB="45720">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tcPr>
                </a:tc>
                <a:tc>
                  <a:txBody>
                    <a:bodyPr/>
                    <a:lstStyle/>
                    <a:p>
                      <a:pPr indent="0" marL="0">
                        <a:buNone/>
                      </a:pPr>
                      <a:r>
                        <a:rPr lang="en-US" sz="1100" dirty="0">
                          <a:solidFill>
                            <a:srgbClr val="1A1A1A"/>
                          </a:solidFill>
                          <a:latin typeface="Meiryo" pitchFamily="34" charset="0"/>
                          <a:ea typeface="Meiryo" pitchFamily="34" charset="-122"/>
                          <a:cs typeface="Meiryo" pitchFamily="34" charset="-120"/>
                        </a:rPr>
                        <a:t>入試要項／進学実績／教育課程</a:t>
                      </a:r>
                      <a:endParaRPr lang="en-US" sz="1100" dirty="0">
                        <a:latin typeface="Meiryo" charset="0"/>
                        <a:ea typeface="Meiryo" charset="0"/>
                        <a:cs typeface="Meiryo" charset="0"/>
                      </a:endParaRPr>
                    </a:p>
                  </a:txBody>
                  <a:tcPr marL="91440" marR="91440" marT="45720" marB="45720">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tcPr>
                </a:tc>
                <a:tc>
                  <a:txBody>
                    <a:bodyPr/>
                    <a:lstStyle/>
                    <a:p>
                      <a:pPr indent="0" marL="0">
                        <a:buNone/>
                      </a:pPr>
                      <a:r>
                        <a:rPr lang="en-US" sz="1100" dirty="0">
                          <a:solidFill>
                            <a:srgbClr val="1A1A1A"/>
                          </a:solidFill>
                          <a:latin typeface="Meiryo" pitchFamily="34" charset="0"/>
                          <a:ea typeface="Meiryo" pitchFamily="34" charset="-122"/>
                          <a:cs typeface="Meiryo" pitchFamily="34" charset="-120"/>
                        </a:rPr>
                        <a:t>可（項目単位）</a:t>
                      </a:r>
                      <a:endParaRPr lang="en-US" sz="1100" dirty="0">
                        <a:latin typeface="Meiryo" charset="0"/>
                        <a:ea typeface="Meiryo" charset="0"/>
                        <a:cs typeface="Meiryo" charset="0"/>
                      </a:endParaRPr>
                    </a:p>
                  </a:txBody>
                  <a:tcPr marL="91440" marR="91440" marT="45720" marB="45720">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tcPr>
                </a:tc>
              </a:tr>
              <a:tr h="0">
                <a:tc>
                  <a:txBody>
                    <a:bodyPr/>
                    <a:lstStyle/>
                    <a:p>
                      <a:pPr indent="0" marL="0">
                        <a:buNone/>
                      </a:pPr>
                      <a:r>
                        <a:rPr lang="en-US" sz="1100" dirty="0">
                          <a:solidFill>
                            <a:srgbClr val="1A1A1A"/>
                          </a:solidFill>
                          <a:latin typeface="Meiryo" pitchFamily="34" charset="0"/>
                          <a:ea typeface="Meiryo" pitchFamily="34" charset="-122"/>
                          <a:cs typeface="Meiryo" pitchFamily="34" charset="-120"/>
                        </a:rPr>
                        <a:t>△</a:t>
                      </a:r>
                      <a:endParaRPr lang="en-US" sz="1100" dirty="0">
                        <a:latin typeface="Meiryo" charset="0"/>
                        <a:ea typeface="Meiryo" charset="0"/>
                        <a:cs typeface="Meiryo" charset="0"/>
                      </a:endParaRPr>
                    </a:p>
                  </a:txBody>
                  <a:tcPr marL="91440" marR="91440" marT="45720" marB="45720">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tcPr>
                </a:tc>
                <a:tc>
                  <a:txBody>
                    <a:bodyPr/>
                    <a:lstStyle/>
                    <a:p>
                      <a:pPr indent="0" marL="0">
                        <a:buNone/>
                      </a:pPr>
                      <a:r>
                        <a:rPr lang="en-US" sz="1100" dirty="0">
                          <a:solidFill>
                            <a:srgbClr val="1A1A1A"/>
                          </a:solidFill>
                          <a:latin typeface="Meiryo" pitchFamily="34" charset="0"/>
                          <a:ea typeface="Meiryo" pitchFamily="34" charset="-122"/>
                          <a:cs typeface="Meiryo" pitchFamily="34" charset="-120"/>
                        </a:rPr>
                        <a:t>数年に1回</a:t>
                      </a:r>
                      <a:endParaRPr lang="en-US" sz="1100" dirty="0">
                        <a:latin typeface="Meiryo" charset="0"/>
                        <a:ea typeface="Meiryo" charset="0"/>
                        <a:cs typeface="Meiryo" charset="0"/>
                      </a:endParaRPr>
                    </a:p>
                  </a:txBody>
                  <a:tcPr marL="91440" marR="91440" marT="45720" marB="45720">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tcPr>
                </a:tc>
                <a:tc>
                  <a:txBody>
                    <a:bodyPr/>
                    <a:lstStyle/>
                    <a:p>
                      <a:pPr indent="0" marL="0">
                        <a:buNone/>
                      </a:pPr>
                      <a:r>
                        <a:rPr lang="en-US" sz="1100" dirty="0">
                          <a:solidFill>
                            <a:srgbClr val="1A1A1A"/>
                          </a:solidFill>
                          <a:latin typeface="Meiryo" pitchFamily="34" charset="0"/>
                          <a:ea typeface="Meiryo" pitchFamily="34" charset="-122"/>
                          <a:cs typeface="Meiryo" pitchFamily="34" charset="-120"/>
                        </a:rPr>
                        <a:t>学校について／施設／アクセス</a:t>
                      </a:r>
                      <a:endParaRPr lang="en-US" sz="1100" dirty="0">
                        <a:latin typeface="Meiryo" charset="0"/>
                        <a:ea typeface="Meiryo" charset="0"/>
                        <a:cs typeface="Meiryo" charset="0"/>
                      </a:endParaRPr>
                    </a:p>
                  </a:txBody>
                  <a:tcPr marL="91440" marR="91440" marT="45720" marB="45720">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tcPr>
                </a:tc>
                <a:tc>
                  <a:txBody>
                    <a:bodyPr/>
                    <a:lstStyle/>
                    <a:p>
                      <a:pPr indent="0" marL="0">
                        <a:buNone/>
                      </a:pPr>
                      <a:r>
                        <a:rPr lang="en-US" sz="1100" dirty="0">
                          <a:solidFill>
                            <a:srgbClr val="1A1A1A"/>
                          </a:solidFill>
                          <a:latin typeface="Meiryo" pitchFamily="34" charset="0"/>
                          <a:ea typeface="Meiryo" pitchFamily="34" charset="-122"/>
                          <a:cs typeface="Meiryo" pitchFamily="34" charset="-120"/>
                        </a:rPr>
                        <a:t>可（本文のみ）</a:t>
                      </a:r>
                      <a:endParaRPr lang="en-US" sz="1100" dirty="0">
                        <a:latin typeface="Meiryo" charset="0"/>
                        <a:ea typeface="Meiryo" charset="0"/>
                        <a:cs typeface="Meiryo" charset="0"/>
                      </a:endParaRPr>
                    </a:p>
                  </a:txBody>
                  <a:tcPr marL="91440" marR="91440" marT="45720" marB="45720">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tcPr>
                </a:tc>
              </a:tr>
              <a:tr h="0">
                <a:tc>
                  <a:txBody>
                    <a:bodyPr/>
                    <a:lstStyle/>
                    <a:p>
                      <a:pPr indent="0" marL="0">
                        <a:buNone/>
                      </a:pPr>
                      <a:r>
                        <a:rPr lang="en-US" sz="1100" dirty="0">
                          <a:solidFill>
                            <a:srgbClr val="1A1A1A"/>
                          </a:solidFill>
                          <a:latin typeface="Meiryo" pitchFamily="34" charset="0"/>
                          <a:ea typeface="Meiryo" pitchFamily="34" charset="-122"/>
                          <a:cs typeface="Meiryo" pitchFamily="34" charset="-120"/>
                        </a:rPr>
                        <a:t>×</a:t>
                      </a:r>
                      <a:endParaRPr lang="en-US" sz="1100" dirty="0">
                        <a:latin typeface="Meiryo" charset="0"/>
                        <a:ea typeface="Meiryo" charset="0"/>
                        <a:cs typeface="Meiryo" charset="0"/>
                      </a:endParaRPr>
                    </a:p>
                  </a:txBody>
                  <a:tcPr marL="91440" marR="91440" marT="45720" marB="45720">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tcPr>
                </a:tc>
                <a:tc>
                  <a:txBody>
                    <a:bodyPr/>
                    <a:lstStyle/>
                    <a:p>
                      <a:pPr indent="0" marL="0">
                        <a:buNone/>
                      </a:pPr>
                      <a:r>
                        <a:rPr lang="en-US" sz="1100" dirty="0">
                          <a:solidFill>
                            <a:srgbClr val="1A1A1A"/>
                          </a:solidFill>
                          <a:latin typeface="Meiryo" pitchFamily="34" charset="0"/>
                          <a:ea typeface="Meiryo" pitchFamily="34" charset="-122"/>
                          <a:cs typeface="Meiryo" pitchFamily="34" charset="-120"/>
                        </a:rPr>
                        <a:t>原則更新しない</a:t>
                      </a:r>
                      <a:endParaRPr lang="en-US" sz="1100" dirty="0">
                        <a:latin typeface="Meiryo" charset="0"/>
                        <a:ea typeface="Meiryo" charset="0"/>
                        <a:cs typeface="Meiryo" charset="0"/>
                      </a:endParaRPr>
                    </a:p>
                  </a:txBody>
                  <a:tcPr marL="91440" marR="91440" marT="45720" marB="45720">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tcPr>
                </a:tc>
                <a:tc>
                  <a:txBody>
                    <a:bodyPr/>
                    <a:lstStyle/>
                    <a:p>
                      <a:pPr indent="0" marL="0">
                        <a:buNone/>
                      </a:pPr>
                      <a:r>
                        <a:rPr lang="en-US" sz="1100" dirty="0">
                          <a:solidFill>
                            <a:srgbClr val="1A1A1A"/>
                          </a:solidFill>
                          <a:latin typeface="Meiryo" pitchFamily="34" charset="0"/>
                          <a:ea typeface="Meiryo" pitchFamily="34" charset="-122"/>
                          <a:cs typeface="Meiryo" pitchFamily="34" charset="-120"/>
                        </a:rPr>
                        <a:t>トップページの構造／共通ナビ</a:t>
                      </a:r>
                      <a:endParaRPr lang="en-US" sz="1100" dirty="0">
                        <a:latin typeface="Meiryo" charset="0"/>
                        <a:ea typeface="Meiryo" charset="0"/>
                        <a:cs typeface="Meiryo" charset="0"/>
                      </a:endParaRPr>
                    </a:p>
                  </a:txBody>
                  <a:tcPr marL="91440" marR="91440" marT="45720" marB="45720">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tcPr>
                </a:tc>
                <a:tc>
                  <a:txBody>
                    <a:bodyPr/>
                    <a:lstStyle/>
                    <a:p>
                      <a:pPr indent="0" marL="0">
                        <a:buNone/>
                      </a:pPr>
                      <a:r>
                        <a:rPr lang="en-US" sz="1100" dirty="0">
                          <a:solidFill>
                            <a:srgbClr val="1A1A1A"/>
                          </a:solidFill>
                          <a:latin typeface="Meiryo" pitchFamily="34" charset="0"/>
                          <a:ea typeface="Meiryo" pitchFamily="34" charset="-122"/>
                          <a:cs typeface="Meiryo" pitchFamily="34" charset="-120"/>
                        </a:rPr>
                        <a:t>不可（弊社にて対応します）</a:t>
                      </a:r>
                      <a:endParaRPr lang="en-US" sz="1100" dirty="0">
                        <a:latin typeface="Meiryo" charset="0"/>
                        <a:ea typeface="Meiryo" charset="0"/>
                        <a:cs typeface="Meiryo" charset="0"/>
                      </a:endParaRPr>
                    </a:p>
                  </a:txBody>
                  <a:tcPr marL="91440" marR="91440" marT="45720" marB="45720">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tcPr>
                </a:tc>
              </a:tr>
            </a:tbl>
          </a:graphicData>
        </a:graphic>
      </p:graphicFrame>
      <p:sp>
        <p:nvSpPr>
          <p:cNvPr id="7" name="Text 4"/>
          <p:cNvSpPr/>
          <p:nvPr/>
        </p:nvSpPr>
        <p:spPr>
          <a:xfrm>
            <a:off x="7543800" y="4759452"/>
            <a:ext cx="1097280" cy="228600"/>
          </a:xfrm>
          <a:prstGeom prst="rect">
            <a:avLst/>
          </a:prstGeom>
          <a:noFill/>
          <a:ln/>
        </p:spPr>
        <p:txBody>
          <a:bodyPr wrap="square" rtlCol="0" anchor="ctr"/>
          <a:lstStyle/>
          <a:p>
            <a:pPr algn="r" indent="0" marL="0">
              <a:buNone/>
            </a:pPr>
            <a:r>
              <a:rPr lang="en-US" sz="900" dirty="0">
                <a:solidFill>
                  <a:srgbClr val="6B6B6B"/>
                </a:solidFill>
                <a:latin typeface="Meiryo" pitchFamily="34" charset="0"/>
                <a:ea typeface="Meiryo" pitchFamily="34" charset="-122"/>
                <a:cs typeface="Meiryo" pitchFamily="34" charset="-120"/>
              </a:rPr>
              <a:t>42|82</a:t>
            </a:r>
            <a:endParaRPr lang="en-US" sz="9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502920" y="502920"/>
            <a:ext cx="8138160" cy="228600"/>
          </a:xfrm>
          <a:prstGeom prst="rect">
            <a:avLst/>
          </a:prstGeom>
          <a:noFill/>
          <a:ln/>
        </p:spPr>
        <p:txBody>
          <a:bodyPr wrap="square" rtlCol="0" anchor="ctr"/>
          <a:lstStyle/>
          <a:p>
            <a:pPr indent="0" marL="0">
              <a:buNone/>
            </a:pPr>
            <a:r>
              <a:rPr lang="en-US" sz="1000" dirty="0">
                <a:solidFill>
                  <a:srgbClr val="6B6B6B"/>
                </a:solidFill>
                <a:latin typeface="Meiryo" pitchFamily="34" charset="0"/>
                <a:ea typeface="Meiryo" pitchFamily="34" charset="-122"/>
                <a:cs typeface="Meiryo" pitchFamily="34" charset="-120"/>
              </a:rPr>
              <a:t>08 Function</a:t>
            </a:r>
            <a:endParaRPr lang="en-US" sz="1000" dirty="0"/>
          </a:p>
        </p:txBody>
      </p:sp>
      <p:sp>
        <p:nvSpPr>
          <p:cNvPr id="3" name="Text 1"/>
          <p:cNvSpPr/>
          <p:nvPr/>
        </p:nvSpPr>
        <p:spPr>
          <a:xfrm>
            <a:off x="502920" y="777240"/>
            <a:ext cx="8138160" cy="457200"/>
          </a:xfrm>
          <a:prstGeom prst="rect">
            <a:avLst/>
          </a:prstGeom>
          <a:noFill/>
          <a:ln/>
        </p:spPr>
        <p:txBody>
          <a:bodyPr wrap="square" rtlCol="0" anchor="ctr"/>
          <a:lstStyle/>
          <a:p>
            <a:pPr indent="0" marL="0">
              <a:buNone/>
            </a:pPr>
            <a:r>
              <a:rPr lang="en-US" sz="2000" b="1" dirty="0">
                <a:solidFill>
                  <a:srgbClr val="1A1A1A"/>
                </a:solidFill>
                <a:latin typeface="Meiryo" pitchFamily="34" charset="0"/>
                <a:ea typeface="Meiryo" pitchFamily="34" charset="-122"/>
                <a:cs typeface="Meiryo" pitchFamily="34" charset="-120"/>
              </a:rPr>
              <a:t>管理画面を項目化します</a:t>
            </a:r>
            <a:endParaRPr lang="en-US" sz="2000" dirty="0"/>
          </a:p>
        </p:txBody>
      </p:sp>
      <p:sp>
        <p:nvSpPr>
          <p:cNvPr id="4" name="Shape 2"/>
          <p:cNvSpPr/>
          <p:nvPr/>
        </p:nvSpPr>
        <p:spPr>
          <a:xfrm>
            <a:off x="502920" y="1280160"/>
            <a:ext cx="8138160" cy="0"/>
          </a:xfrm>
          <a:prstGeom prst="line">
            <a:avLst/>
          </a:prstGeom>
          <a:noFill/>
          <a:ln w="12700">
            <a:solidFill>
              <a:srgbClr val="D5D5D5"/>
            </a:solidFill>
            <a:prstDash val="solid"/>
          </a:ln>
        </p:spPr>
      </p:sp>
      <p:sp>
        <p:nvSpPr>
          <p:cNvPr id="5" name="Text 3"/>
          <p:cNvSpPr/>
          <p:nvPr/>
        </p:nvSpPr>
        <p:spPr>
          <a:xfrm>
            <a:off x="502920" y="1417320"/>
            <a:ext cx="8138160" cy="457200"/>
          </a:xfrm>
          <a:prstGeom prst="rect">
            <a:avLst/>
          </a:prstGeom>
          <a:noFill/>
          <a:ln/>
        </p:spPr>
        <p:txBody>
          <a:bodyPr wrap="square" rtlCol="0" anchor="t"/>
          <a:lstStyle/>
          <a:p>
            <a:pPr indent="0" marL="0">
              <a:buNone/>
            </a:pPr>
            <a:r>
              <a:rPr lang="en-US" sz="1200" dirty="0">
                <a:solidFill>
                  <a:srgbClr val="1A1A1A"/>
                </a:solidFill>
                <a:latin typeface="Meiryo" pitchFamily="34" charset="0"/>
                <a:ea typeface="Meiryo" pitchFamily="34" charset="-122"/>
                <a:cs typeface="Meiryo" pitchFamily="34" charset="-120"/>
              </a:rPr>
              <a:t>自由入力のHTMLを減らし、項目ごとの入力欄として用意します。触れる場所を限定することが、構造を保つ最も確実な方法です。</a:t>
            </a:r>
            <a:endParaRPr lang="en-US" sz="1200" dirty="0"/>
          </a:p>
        </p:txBody>
      </p:sp>
      <p:sp>
        <p:nvSpPr>
          <p:cNvPr id="6" name="Text 4"/>
          <p:cNvSpPr/>
          <p:nvPr/>
        </p:nvSpPr>
        <p:spPr>
          <a:xfrm>
            <a:off x="502920" y="1965960"/>
            <a:ext cx="8138160" cy="2628900"/>
          </a:xfrm>
          <a:prstGeom prst="rect">
            <a:avLst/>
          </a:prstGeom>
          <a:noFill/>
          <a:ln/>
        </p:spPr>
        <p:txBody>
          <a:bodyPr wrap="square" rtlCol="0" anchor="t"/>
          <a:lstStyle/>
          <a:p>
            <a:pPr marL="342900" indent="-342900">
              <a:lnSpc>
                <a:spcPct val="130000"/>
              </a:lnSpc>
              <a:buSzPct val="100000"/>
              <a:buChar char="•"/>
            </a:pPr>
            <a:r>
              <a:rPr lang="en-US" sz="1300" dirty="0">
                <a:solidFill>
                  <a:srgbClr val="1A1A1A"/>
                </a:solidFill>
                <a:latin typeface="Meiryo" pitchFamily="34" charset="0"/>
                <a:ea typeface="Meiryo" pitchFamily="34" charset="-122"/>
                <a:cs typeface="Meiryo" pitchFamily="34" charset="-120"/>
              </a:rPr>
              <a:t>考え方: 「どこでも編集できる」ではなく「決まった枠だけ編集できる」形にします</a:t>
            </a:r>
            <a:endParaRPr lang="en-US" sz="1300" dirty="0"/>
          </a:p>
          <a:p>
            <a:pPr marL="342900" indent="-342900">
              <a:lnSpc>
                <a:spcPct val="130000"/>
              </a:lnSpc>
              <a:buSzPct val="100000"/>
              <a:buChar char="•"/>
            </a:pPr>
            <a:r>
              <a:rPr lang="en-US" sz="1300" dirty="0">
                <a:solidFill>
                  <a:srgbClr val="1A1A1A"/>
                </a:solidFill>
                <a:latin typeface="Meiryo" pitchFamily="34" charset="0"/>
                <a:ea typeface="Meiryo" pitchFamily="34" charset="-122"/>
                <a:cs typeface="Meiryo" pitchFamily="34" charset="-120"/>
              </a:rPr>
              <a:t>入試要項の例: 募集人数・試験日・科目・出願期間を、それぞれ独立した入力項目にします</a:t>
            </a:r>
            <a:endParaRPr lang="en-US" sz="1300" dirty="0"/>
          </a:p>
          <a:p>
            <a:pPr marL="342900" indent="-342900">
              <a:lnSpc>
                <a:spcPct val="130000"/>
              </a:lnSpc>
              <a:buSzPct val="100000"/>
              <a:buChar char="•"/>
            </a:pPr>
            <a:r>
              <a:rPr lang="en-US" sz="1300" dirty="0">
                <a:solidFill>
                  <a:srgbClr val="1A1A1A"/>
                </a:solidFill>
                <a:latin typeface="Meiryo" pitchFamily="34" charset="0"/>
                <a:ea typeface="Meiryo" pitchFamily="34" charset="-122"/>
                <a:cs typeface="Meiryo" pitchFamily="34" charset="-120"/>
              </a:rPr>
              <a:t>進学実績の例: 大学名と人数を表形式の項目として持ち、年度を切り替えます</a:t>
            </a:r>
            <a:endParaRPr lang="en-US" sz="1300" dirty="0"/>
          </a:p>
          <a:p>
            <a:pPr marL="342900" indent="-342900">
              <a:lnSpc>
                <a:spcPct val="130000"/>
              </a:lnSpc>
              <a:buSzPct val="100000"/>
              <a:buChar char="•"/>
            </a:pPr>
            <a:r>
              <a:rPr lang="en-US" sz="1300" dirty="0">
                <a:solidFill>
                  <a:srgbClr val="1A1A1A"/>
                </a:solidFill>
                <a:latin typeface="Meiryo" pitchFamily="34" charset="0"/>
                <a:ea typeface="Meiryo" pitchFamily="34" charset="-122"/>
                <a:cs typeface="Meiryo" pitchFamily="34" charset="-120"/>
              </a:rPr>
              <a:t>効果: テンプレートを直接編集する必要がなくなります</a:t>
            </a:r>
            <a:endParaRPr lang="en-US" sz="1300" dirty="0"/>
          </a:p>
          <a:p>
            <a:pPr marL="342900" indent="-342900">
              <a:lnSpc>
                <a:spcPct val="130000"/>
              </a:lnSpc>
              <a:buSzPct val="100000"/>
              <a:buChar char="•"/>
            </a:pPr>
            <a:r>
              <a:rPr lang="en-US" sz="1300" dirty="0">
                <a:solidFill>
                  <a:srgbClr val="1A1A1A"/>
                </a:solidFill>
                <a:latin typeface="Meiryo" pitchFamily="34" charset="0"/>
                <a:ea typeface="Meiryo" pitchFamily="34" charset="-122"/>
                <a:cs typeface="Meiryo" pitchFamily="34" charset="-120"/>
              </a:rPr>
              <a:t>補足: 更新手順書をお渡しし、公開前に操作説明を実施します（11章）</a:t>
            </a:r>
            <a:endParaRPr lang="en-US" sz="1300" dirty="0"/>
          </a:p>
        </p:txBody>
      </p:sp>
      <p:sp>
        <p:nvSpPr>
          <p:cNvPr id="7" name="Text 5"/>
          <p:cNvSpPr/>
          <p:nvPr/>
        </p:nvSpPr>
        <p:spPr>
          <a:xfrm>
            <a:off x="7543800" y="4759452"/>
            <a:ext cx="1097280" cy="228600"/>
          </a:xfrm>
          <a:prstGeom prst="rect">
            <a:avLst/>
          </a:prstGeom>
          <a:noFill/>
          <a:ln/>
        </p:spPr>
        <p:txBody>
          <a:bodyPr wrap="square" rtlCol="0" anchor="ctr"/>
          <a:lstStyle/>
          <a:p>
            <a:pPr algn="r" indent="0" marL="0">
              <a:buNone/>
            </a:pPr>
            <a:r>
              <a:rPr lang="en-US" sz="900" dirty="0">
                <a:solidFill>
                  <a:srgbClr val="6B6B6B"/>
                </a:solidFill>
                <a:latin typeface="Meiryo" pitchFamily="34" charset="0"/>
                <a:ea typeface="Meiryo" pitchFamily="34" charset="-122"/>
                <a:cs typeface="Meiryo" pitchFamily="34" charset="-120"/>
              </a:rPr>
              <a:t>43|82</a:t>
            </a:r>
            <a:endParaRPr lang="en-US" sz="9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502920" y="502920"/>
            <a:ext cx="8138160" cy="228600"/>
          </a:xfrm>
          <a:prstGeom prst="rect">
            <a:avLst/>
          </a:prstGeom>
          <a:noFill/>
          <a:ln/>
        </p:spPr>
        <p:txBody>
          <a:bodyPr wrap="square" rtlCol="0" anchor="ctr"/>
          <a:lstStyle/>
          <a:p>
            <a:pPr indent="0" marL="0">
              <a:buNone/>
            </a:pPr>
            <a:r>
              <a:rPr lang="en-US" sz="1000" dirty="0">
                <a:solidFill>
                  <a:srgbClr val="6B6B6B"/>
                </a:solidFill>
                <a:latin typeface="Meiryo" pitchFamily="34" charset="0"/>
                <a:ea typeface="Meiryo" pitchFamily="34" charset="-122"/>
                <a:cs typeface="Meiryo" pitchFamily="34" charset="-120"/>
              </a:rPr>
              <a:t>08 Function</a:t>
            </a:r>
            <a:endParaRPr lang="en-US" sz="1000" dirty="0"/>
          </a:p>
        </p:txBody>
      </p:sp>
      <p:sp>
        <p:nvSpPr>
          <p:cNvPr id="3" name="Text 1"/>
          <p:cNvSpPr/>
          <p:nvPr/>
        </p:nvSpPr>
        <p:spPr>
          <a:xfrm>
            <a:off x="502920" y="777240"/>
            <a:ext cx="8138160" cy="457200"/>
          </a:xfrm>
          <a:prstGeom prst="rect">
            <a:avLst/>
          </a:prstGeom>
          <a:noFill/>
          <a:ln/>
        </p:spPr>
        <p:txBody>
          <a:bodyPr wrap="square" rtlCol="0" anchor="ctr"/>
          <a:lstStyle/>
          <a:p>
            <a:pPr indent="0" marL="0">
              <a:buNone/>
            </a:pPr>
            <a:r>
              <a:rPr lang="en-US" sz="2000" b="1" dirty="0">
                <a:solidFill>
                  <a:srgbClr val="1A1A1A"/>
                </a:solidFill>
                <a:latin typeface="Meiryo" pitchFamily="34" charset="0"/>
                <a:ea typeface="Meiryo" pitchFamily="34" charset="-122"/>
                <a:cs typeface="Meiryo" pitchFamily="34" charset="-120"/>
              </a:rPr>
              <a:t>実装する機能の一覧（仮）</a:t>
            </a:r>
            <a:endParaRPr lang="en-US" sz="2000" dirty="0"/>
          </a:p>
        </p:txBody>
      </p:sp>
      <p:sp>
        <p:nvSpPr>
          <p:cNvPr id="4" name="Shape 2"/>
          <p:cNvSpPr/>
          <p:nvPr/>
        </p:nvSpPr>
        <p:spPr>
          <a:xfrm>
            <a:off x="502920" y="1280160"/>
            <a:ext cx="8138160" cy="0"/>
          </a:xfrm>
          <a:prstGeom prst="line">
            <a:avLst/>
          </a:prstGeom>
          <a:noFill/>
          <a:ln w="12700">
            <a:solidFill>
              <a:srgbClr val="D5D5D5"/>
            </a:solidFill>
            <a:prstDash val="solid"/>
          </a:ln>
        </p:spPr>
      </p:sp>
      <p:sp>
        <p:nvSpPr>
          <p:cNvPr id="5" name="Text 3"/>
          <p:cNvSpPr/>
          <p:nvPr/>
        </p:nvSpPr>
        <p:spPr>
          <a:xfrm>
            <a:off x="502920" y="1417320"/>
            <a:ext cx="8138160" cy="457200"/>
          </a:xfrm>
          <a:prstGeom prst="rect">
            <a:avLst/>
          </a:prstGeom>
          <a:noFill/>
          <a:ln/>
        </p:spPr>
        <p:txBody>
          <a:bodyPr wrap="square" rtlCol="0" anchor="t"/>
          <a:lstStyle/>
          <a:p>
            <a:pPr indent="0" marL="0">
              <a:buNone/>
            </a:pPr>
            <a:r>
              <a:rPr lang="en-US" sz="1200" dirty="0">
                <a:solidFill>
                  <a:srgbClr val="1A1A1A"/>
                </a:solidFill>
                <a:latin typeface="Meiryo" pitchFamily="34" charset="0"/>
                <a:ea typeface="Meiryo" pitchFamily="34" charset="-122"/>
                <a:cs typeface="Meiryo" pitchFamily="34" charset="-120"/>
              </a:rPr>
              <a:t>現行サイトで稼働している仕組みを踏襲する方針です。以下は仮の一覧で、サイトマップ確定時に確定します。</a:t>
            </a:r>
            <a:endParaRPr lang="en-US" sz="1200" dirty="0"/>
          </a:p>
        </p:txBody>
      </p:sp>
      <p:graphicFrame>
        <p:nvGraphicFramePr>
          <p:cNvPr id="45" name="Table 0"/>
          <p:cNvGraphicFramePr>
            <a:graphicFrameLocks noGrp="1"/>
          </p:cNvGraphicFramePr>
          <p:nvPr>
            <p:extLst>
              <p:ext uri="{D42A27DB-BD31-4B8C-83A1-F6EECF244321}">
                <p14:modId xmlns:p14="http://schemas.microsoft.com/office/powerpoint/2010/main" val="1579011935"/>
              </p:ext>
            </p:extLst>
          </p:nvPr>
        </p:nvGraphicFramePr>
        <p:xfrm>
          <a:off x="502920" y="1965960"/>
          <a:ext cx="8138160" cy="914400"/>
        </p:xfrm>
        <a:graphic>
          <a:graphicData uri="http://schemas.openxmlformats.org/drawingml/2006/table">
            <a:tbl>
              <a:tblPr/>
              <a:tblGrid>
                <a:gridCol w="2712720"/>
                <a:gridCol w="2712720"/>
                <a:gridCol w="2712720"/>
              </a:tblGrid>
              <a:tr h="0">
                <a:tc>
                  <a:txBody>
                    <a:bodyPr/>
                    <a:lstStyle/>
                    <a:p>
                      <a:pPr indent="0" marL="0">
                        <a:buNone/>
                      </a:pPr>
                      <a:r>
                        <a:rPr lang="en-US" sz="1100" b="1" dirty="0">
                          <a:solidFill>
                            <a:srgbClr val="FFFFFF"/>
                          </a:solidFill>
                          <a:latin typeface="Meiryo" pitchFamily="34" charset="0"/>
                          <a:ea typeface="Meiryo" pitchFamily="34" charset="-122"/>
                          <a:cs typeface="Meiryo" pitchFamily="34" charset="-120"/>
                        </a:rPr>
                        <a:t>機能</a:t>
                      </a:r>
                      <a:endParaRPr lang="en-US" sz="1100" dirty="0">
                        <a:latin typeface="Meiryo" charset="0"/>
                        <a:ea typeface="Meiryo" charset="0"/>
                        <a:cs typeface="Meiryo" charset="0"/>
                      </a:endParaRPr>
                    </a:p>
                  </a:txBody>
                  <a:tcPr marL="91440" marR="91440" marT="45720" marB="45720">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1F3A5F"/>
                    </a:solidFill>
                  </a:tcPr>
                </a:tc>
                <a:tc>
                  <a:txBody>
                    <a:bodyPr/>
                    <a:lstStyle/>
                    <a:p>
                      <a:pPr indent="0" marL="0">
                        <a:buNone/>
                      </a:pPr>
                      <a:r>
                        <a:rPr lang="en-US" sz="1100" b="1" dirty="0">
                          <a:solidFill>
                            <a:srgbClr val="FFFFFF"/>
                          </a:solidFill>
                          <a:latin typeface="Meiryo" pitchFamily="34" charset="0"/>
                          <a:ea typeface="Meiryo" pitchFamily="34" charset="-122"/>
                          <a:cs typeface="Meiryo" pitchFamily="34" charset="-120"/>
                        </a:rPr>
                        <a:t>現行</a:t>
                      </a:r>
                      <a:endParaRPr lang="en-US" sz="1100" dirty="0">
                        <a:latin typeface="Meiryo" charset="0"/>
                        <a:ea typeface="Meiryo" charset="0"/>
                        <a:cs typeface="Meiryo" charset="0"/>
                      </a:endParaRPr>
                    </a:p>
                  </a:txBody>
                  <a:tcPr marL="91440" marR="91440" marT="45720" marB="45720">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1F3A5F"/>
                    </a:solidFill>
                  </a:tcPr>
                </a:tc>
                <a:tc>
                  <a:txBody>
                    <a:bodyPr/>
                    <a:lstStyle/>
                    <a:p>
                      <a:pPr indent="0" marL="0">
                        <a:buNone/>
                      </a:pPr>
                      <a:r>
                        <a:rPr lang="en-US" sz="1100" b="1" dirty="0">
                          <a:solidFill>
                            <a:srgbClr val="FFFFFF"/>
                          </a:solidFill>
                          <a:latin typeface="Meiryo" pitchFamily="34" charset="0"/>
                          <a:ea typeface="Meiryo" pitchFamily="34" charset="-122"/>
                          <a:cs typeface="Meiryo" pitchFamily="34" charset="-120"/>
                        </a:rPr>
                        <a:t>新サイトでの扱い</a:t>
                      </a:r>
                      <a:endParaRPr lang="en-US" sz="1100" dirty="0">
                        <a:latin typeface="Meiryo" charset="0"/>
                        <a:ea typeface="Meiryo" charset="0"/>
                        <a:cs typeface="Meiryo" charset="0"/>
                      </a:endParaRPr>
                    </a:p>
                  </a:txBody>
                  <a:tcPr marL="91440" marR="91440" marT="45720" marB="45720">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1F3A5F"/>
                    </a:solidFill>
                  </a:tcPr>
                </a:tc>
              </a:tr>
              <a:tr h="0">
                <a:tc>
                  <a:txBody>
                    <a:bodyPr/>
                    <a:lstStyle/>
                    <a:p>
                      <a:pPr indent="0" marL="0">
                        <a:buNone/>
                      </a:pPr>
                      <a:r>
                        <a:rPr lang="en-US" sz="1100" dirty="0">
                          <a:solidFill>
                            <a:srgbClr val="1A1A1A"/>
                          </a:solidFill>
                          <a:latin typeface="Meiryo" pitchFamily="34" charset="0"/>
                          <a:ea typeface="Meiryo" pitchFamily="34" charset="-122"/>
                          <a:cs typeface="Meiryo" pitchFamily="34" charset="-120"/>
                        </a:rPr>
                        <a:t>更新情報（投稿）</a:t>
                      </a:r>
                      <a:endParaRPr lang="en-US" sz="1100" dirty="0">
                        <a:latin typeface="Meiryo" charset="0"/>
                        <a:ea typeface="Meiryo" charset="0"/>
                        <a:cs typeface="Meiryo" charset="0"/>
                      </a:endParaRPr>
                    </a:p>
                  </a:txBody>
                  <a:tcPr marL="91440" marR="91440" marT="45720" marB="45720">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tcPr>
                </a:tc>
                <a:tc>
                  <a:txBody>
                    <a:bodyPr/>
                    <a:lstStyle/>
                    <a:p>
                      <a:pPr indent="0" marL="0">
                        <a:buNone/>
                      </a:pPr>
                      <a:r>
                        <a:rPr lang="en-US" sz="1100" dirty="0">
                          <a:solidFill>
                            <a:srgbClr val="1A1A1A"/>
                          </a:solidFill>
                          <a:latin typeface="Meiryo" pitchFamily="34" charset="0"/>
                          <a:ea typeface="Meiryo" pitchFamily="34" charset="-122"/>
                          <a:cs typeface="Meiryo" pitchFamily="34" charset="-120"/>
                        </a:rPr>
                        <a:t>あり</a:t>
                      </a:r>
                      <a:endParaRPr lang="en-US" sz="1100" dirty="0">
                        <a:latin typeface="Meiryo" charset="0"/>
                        <a:ea typeface="Meiryo" charset="0"/>
                        <a:cs typeface="Meiryo" charset="0"/>
                      </a:endParaRPr>
                    </a:p>
                  </a:txBody>
                  <a:tcPr marL="91440" marR="91440" marT="45720" marB="45720">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tcPr>
                </a:tc>
                <a:tc>
                  <a:txBody>
                    <a:bodyPr/>
                    <a:lstStyle/>
                    <a:p>
                      <a:pPr indent="0" marL="0">
                        <a:buNone/>
                      </a:pPr>
                      <a:r>
                        <a:rPr lang="en-US" sz="1100" dirty="0">
                          <a:solidFill>
                            <a:srgbClr val="1A1A1A"/>
                          </a:solidFill>
                          <a:latin typeface="Meiryo" pitchFamily="34" charset="0"/>
                          <a:ea typeface="Meiryo" pitchFamily="34" charset="-122"/>
                          <a:cs typeface="Meiryo" pitchFamily="34" charset="-120"/>
                        </a:rPr>
                        <a:t>踏襲します。区分の付け方を整理します</a:t>
                      </a:r>
                      <a:endParaRPr lang="en-US" sz="1100" dirty="0">
                        <a:latin typeface="Meiryo" charset="0"/>
                        <a:ea typeface="Meiryo" charset="0"/>
                        <a:cs typeface="Meiryo" charset="0"/>
                      </a:endParaRPr>
                    </a:p>
                  </a:txBody>
                  <a:tcPr marL="91440" marR="91440" marT="45720" marB="45720">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tcPr>
                </a:tc>
              </a:tr>
              <a:tr h="0">
                <a:tc>
                  <a:txBody>
                    <a:bodyPr/>
                    <a:lstStyle/>
                    <a:p>
                      <a:pPr indent="0" marL="0">
                        <a:buNone/>
                      </a:pPr>
                      <a:r>
                        <a:rPr lang="en-US" sz="1100" dirty="0">
                          <a:solidFill>
                            <a:srgbClr val="1A1A1A"/>
                          </a:solidFill>
                          <a:latin typeface="Meiryo" pitchFamily="34" charset="0"/>
                          <a:ea typeface="Meiryo" pitchFamily="34" charset="-122"/>
                          <a:cs typeface="Meiryo" pitchFamily="34" charset="-120"/>
                        </a:rPr>
                        <a:t>説明会情報（カスタム投稿）</a:t>
                      </a:r>
                      <a:endParaRPr lang="en-US" sz="1100" dirty="0">
                        <a:latin typeface="Meiryo" charset="0"/>
                        <a:ea typeface="Meiryo" charset="0"/>
                        <a:cs typeface="Meiryo" charset="0"/>
                      </a:endParaRPr>
                    </a:p>
                  </a:txBody>
                  <a:tcPr marL="91440" marR="91440" marT="45720" marB="45720">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tcPr>
                </a:tc>
                <a:tc>
                  <a:txBody>
                    <a:bodyPr/>
                    <a:lstStyle/>
                    <a:p>
                      <a:pPr indent="0" marL="0">
                        <a:buNone/>
                      </a:pPr>
                      <a:r>
                        <a:rPr lang="en-US" sz="1100" dirty="0">
                          <a:solidFill>
                            <a:srgbClr val="1A1A1A"/>
                          </a:solidFill>
                          <a:latin typeface="Meiryo" pitchFamily="34" charset="0"/>
                          <a:ea typeface="Meiryo" pitchFamily="34" charset="-122"/>
                          <a:cs typeface="Meiryo" pitchFamily="34" charset="-120"/>
                        </a:rPr>
                        <a:t>あり</a:t>
                      </a:r>
                      <a:endParaRPr lang="en-US" sz="1100" dirty="0">
                        <a:latin typeface="Meiryo" charset="0"/>
                        <a:ea typeface="Meiryo" charset="0"/>
                        <a:cs typeface="Meiryo" charset="0"/>
                      </a:endParaRPr>
                    </a:p>
                  </a:txBody>
                  <a:tcPr marL="91440" marR="91440" marT="45720" marB="45720">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tcPr>
                </a:tc>
                <a:tc>
                  <a:txBody>
                    <a:bodyPr/>
                    <a:lstStyle/>
                    <a:p>
                      <a:pPr indent="0" marL="0">
                        <a:buNone/>
                      </a:pPr>
                      <a:r>
                        <a:rPr lang="en-US" sz="1100" dirty="0">
                          <a:solidFill>
                            <a:srgbClr val="1A1A1A"/>
                          </a:solidFill>
                          <a:latin typeface="Meiryo" pitchFamily="34" charset="0"/>
                          <a:ea typeface="Meiryo" pitchFamily="34" charset="-122"/>
                          <a:cs typeface="Meiryo" pitchFamily="34" charset="-120"/>
                        </a:rPr>
                        <a:t>踏襲します。申込導線を明示します</a:t>
                      </a:r>
                      <a:endParaRPr lang="en-US" sz="1100" dirty="0">
                        <a:latin typeface="Meiryo" charset="0"/>
                        <a:ea typeface="Meiryo" charset="0"/>
                        <a:cs typeface="Meiryo" charset="0"/>
                      </a:endParaRPr>
                    </a:p>
                  </a:txBody>
                  <a:tcPr marL="91440" marR="91440" marT="45720" marB="45720">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tcPr>
                </a:tc>
              </a:tr>
              <a:tr h="0">
                <a:tc>
                  <a:txBody>
                    <a:bodyPr/>
                    <a:lstStyle/>
                    <a:p>
                      <a:pPr indent="0" marL="0">
                        <a:buNone/>
                      </a:pPr>
                      <a:r>
                        <a:rPr lang="en-US" sz="1100" dirty="0">
                          <a:solidFill>
                            <a:srgbClr val="1A1A1A"/>
                          </a:solidFill>
                          <a:latin typeface="Meiryo" pitchFamily="34" charset="0"/>
                          <a:ea typeface="Meiryo" pitchFamily="34" charset="-122"/>
                          <a:cs typeface="Meiryo" pitchFamily="34" charset="-120"/>
                        </a:rPr>
                        <a:t>区分別アーカイブ</a:t>
                      </a:r>
                      <a:endParaRPr lang="en-US" sz="1100" dirty="0">
                        <a:latin typeface="Meiryo" charset="0"/>
                        <a:ea typeface="Meiryo" charset="0"/>
                        <a:cs typeface="Meiryo" charset="0"/>
                      </a:endParaRPr>
                    </a:p>
                  </a:txBody>
                  <a:tcPr marL="91440" marR="91440" marT="45720" marB="45720">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tcPr>
                </a:tc>
                <a:tc>
                  <a:txBody>
                    <a:bodyPr/>
                    <a:lstStyle/>
                    <a:p>
                      <a:pPr indent="0" marL="0">
                        <a:buNone/>
                      </a:pPr>
                      <a:r>
                        <a:rPr lang="en-US" sz="1100" dirty="0">
                          <a:solidFill>
                            <a:srgbClr val="1A1A1A"/>
                          </a:solidFill>
                          <a:latin typeface="Meiryo" pitchFamily="34" charset="0"/>
                          <a:ea typeface="Meiryo" pitchFamily="34" charset="-122"/>
                          <a:cs typeface="Meiryo" pitchFamily="34" charset="-120"/>
                        </a:rPr>
                        <a:t>あり（学部区分と並立）</a:t>
                      </a:r>
                      <a:endParaRPr lang="en-US" sz="1100" dirty="0">
                        <a:latin typeface="Meiryo" charset="0"/>
                        <a:ea typeface="Meiryo" charset="0"/>
                        <a:cs typeface="Meiryo" charset="0"/>
                      </a:endParaRPr>
                    </a:p>
                  </a:txBody>
                  <a:tcPr marL="91440" marR="91440" marT="45720" marB="45720">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tcPr>
                </a:tc>
                <a:tc>
                  <a:txBody>
                    <a:bodyPr/>
                    <a:lstStyle/>
                    <a:p>
                      <a:pPr indent="0" marL="0">
                        <a:buNone/>
                      </a:pPr>
                      <a:r>
                        <a:rPr lang="en-US" sz="1100" dirty="0">
                          <a:solidFill>
                            <a:srgbClr val="1A1A1A"/>
                          </a:solidFill>
                          <a:latin typeface="Meiryo" pitchFamily="34" charset="0"/>
                          <a:ea typeface="Meiryo" pitchFamily="34" charset="-122"/>
                          <a:cs typeface="Meiryo" pitchFamily="34" charset="-120"/>
                        </a:rPr>
                        <a:t>1系統に統合します</a:t>
                      </a:r>
                      <a:endParaRPr lang="en-US" sz="1100" dirty="0">
                        <a:latin typeface="Meiryo" charset="0"/>
                        <a:ea typeface="Meiryo" charset="0"/>
                        <a:cs typeface="Meiryo" charset="0"/>
                      </a:endParaRPr>
                    </a:p>
                  </a:txBody>
                  <a:tcPr marL="91440" marR="91440" marT="45720" marB="45720">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tcPr>
                </a:tc>
              </a:tr>
              <a:tr h="0">
                <a:tc>
                  <a:txBody>
                    <a:bodyPr/>
                    <a:lstStyle/>
                    <a:p>
                      <a:pPr indent="0" marL="0">
                        <a:buNone/>
                      </a:pPr>
                      <a:r>
                        <a:rPr lang="en-US" sz="1100" dirty="0">
                          <a:solidFill>
                            <a:srgbClr val="1A1A1A"/>
                          </a:solidFill>
                          <a:latin typeface="Meiryo" pitchFamily="34" charset="0"/>
                          <a:ea typeface="Meiryo" pitchFamily="34" charset="-122"/>
                          <a:cs typeface="Meiryo" pitchFamily="34" charset="-120"/>
                        </a:rPr>
                        <a:t>入試要項（項目入力）</a:t>
                      </a:r>
                      <a:endParaRPr lang="en-US" sz="1100" dirty="0">
                        <a:latin typeface="Meiryo" charset="0"/>
                        <a:ea typeface="Meiryo" charset="0"/>
                        <a:cs typeface="Meiryo" charset="0"/>
                      </a:endParaRPr>
                    </a:p>
                  </a:txBody>
                  <a:tcPr marL="91440" marR="91440" marT="45720" marB="45720">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tcPr>
                </a:tc>
                <a:tc>
                  <a:txBody>
                    <a:bodyPr/>
                    <a:lstStyle/>
                    <a:p>
                      <a:pPr indent="0" marL="0">
                        <a:buNone/>
                      </a:pPr>
                      <a:r>
                        <a:rPr lang="en-US" sz="1100" dirty="0">
                          <a:solidFill>
                            <a:srgbClr val="1A1A1A"/>
                          </a:solidFill>
                          <a:latin typeface="Meiryo" pitchFamily="34" charset="0"/>
                          <a:ea typeface="Meiryo" pitchFamily="34" charset="-122"/>
                          <a:cs typeface="Meiryo" pitchFamily="34" charset="-120"/>
                        </a:rPr>
                        <a:t>なし（PDF中心）</a:t>
                      </a:r>
                      <a:endParaRPr lang="en-US" sz="1100" dirty="0">
                        <a:latin typeface="Meiryo" charset="0"/>
                        <a:ea typeface="Meiryo" charset="0"/>
                        <a:cs typeface="Meiryo" charset="0"/>
                      </a:endParaRPr>
                    </a:p>
                  </a:txBody>
                  <a:tcPr marL="91440" marR="91440" marT="45720" marB="45720">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tcPr>
                </a:tc>
                <a:tc>
                  <a:txBody>
                    <a:bodyPr/>
                    <a:lstStyle/>
                    <a:p>
                      <a:pPr indent="0" marL="0">
                        <a:buNone/>
                      </a:pPr>
                      <a:r>
                        <a:rPr lang="en-US" sz="1100" dirty="0">
                          <a:solidFill>
                            <a:srgbClr val="1A1A1A"/>
                          </a:solidFill>
                          <a:latin typeface="Meiryo" pitchFamily="34" charset="0"/>
                          <a:ea typeface="Meiryo" pitchFamily="34" charset="-122"/>
                          <a:cs typeface="Meiryo" pitchFamily="34" charset="-120"/>
                        </a:rPr>
                        <a:t>新規に実装します</a:t>
                      </a:r>
                      <a:endParaRPr lang="en-US" sz="1100" dirty="0">
                        <a:latin typeface="Meiryo" charset="0"/>
                        <a:ea typeface="Meiryo" charset="0"/>
                        <a:cs typeface="Meiryo" charset="0"/>
                      </a:endParaRPr>
                    </a:p>
                  </a:txBody>
                  <a:tcPr marL="91440" marR="91440" marT="45720" marB="45720">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tcPr>
                </a:tc>
              </a:tr>
              <a:tr h="0">
                <a:tc>
                  <a:txBody>
                    <a:bodyPr/>
                    <a:lstStyle/>
                    <a:p>
                      <a:pPr indent="0" marL="0">
                        <a:buNone/>
                      </a:pPr>
                      <a:r>
                        <a:rPr lang="en-US" sz="1100" dirty="0">
                          <a:solidFill>
                            <a:srgbClr val="1A1A1A"/>
                          </a:solidFill>
                          <a:latin typeface="Meiryo" pitchFamily="34" charset="0"/>
                          <a:ea typeface="Meiryo" pitchFamily="34" charset="-122"/>
                          <a:cs typeface="Meiryo" pitchFamily="34" charset="-120"/>
                        </a:rPr>
                        <a:t>進学実績（表の項目入力）</a:t>
                      </a:r>
                      <a:endParaRPr lang="en-US" sz="1100" dirty="0">
                        <a:latin typeface="Meiryo" charset="0"/>
                        <a:ea typeface="Meiryo" charset="0"/>
                        <a:cs typeface="Meiryo" charset="0"/>
                      </a:endParaRPr>
                    </a:p>
                  </a:txBody>
                  <a:tcPr marL="91440" marR="91440" marT="45720" marB="45720">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tcPr>
                </a:tc>
                <a:tc>
                  <a:txBody>
                    <a:bodyPr/>
                    <a:lstStyle/>
                    <a:p>
                      <a:pPr indent="0" marL="0">
                        <a:buNone/>
                      </a:pPr>
                      <a:r>
                        <a:rPr lang="en-US" sz="1100" dirty="0">
                          <a:solidFill>
                            <a:srgbClr val="1A1A1A"/>
                          </a:solidFill>
                          <a:latin typeface="Meiryo" pitchFamily="34" charset="0"/>
                          <a:ea typeface="Meiryo" pitchFamily="34" charset="-122"/>
                          <a:cs typeface="Meiryo" pitchFamily="34" charset="-120"/>
                        </a:rPr>
                        <a:t>なし</a:t>
                      </a:r>
                      <a:endParaRPr lang="en-US" sz="1100" dirty="0">
                        <a:latin typeface="Meiryo" charset="0"/>
                        <a:ea typeface="Meiryo" charset="0"/>
                        <a:cs typeface="Meiryo" charset="0"/>
                      </a:endParaRPr>
                    </a:p>
                  </a:txBody>
                  <a:tcPr marL="91440" marR="91440" marT="45720" marB="45720">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tcPr>
                </a:tc>
                <a:tc>
                  <a:txBody>
                    <a:bodyPr/>
                    <a:lstStyle/>
                    <a:p>
                      <a:pPr indent="0" marL="0">
                        <a:buNone/>
                      </a:pPr>
                      <a:r>
                        <a:rPr lang="en-US" sz="1100" dirty="0">
                          <a:solidFill>
                            <a:srgbClr val="1A1A1A"/>
                          </a:solidFill>
                          <a:latin typeface="Meiryo" pitchFamily="34" charset="0"/>
                          <a:ea typeface="Meiryo" pitchFamily="34" charset="-122"/>
                          <a:cs typeface="Meiryo" pitchFamily="34" charset="-120"/>
                        </a:rPr>
                        <a:t>新規に実装します</a:t>
                      </a:r>
                      <a:endParaRPr lang="en-US" sz="1100" dirty="0">
                        <a:latin typeface="Meiryo" charset="0"/>
                        <a:ea typeface="Meiryo" charset="0"/>
                        <a:cs typeface="Meiryo" charset="0"/>
                      </a:endParaRPr>
                    </a:p>
                  </a:txBody>
                  <a:tcPr marL="91440" marR="91440" marT="45720" marB="45720">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tcPr>
                </a:tc>
              </a:tr>
              <a:tr h="0">
                <a:tc>
                  <a:txBody>
                    <a:bodyPr/>
                    <a:lstStyle/>
                    <a:p>
                      <a:pPr indent="0" marL="0">
                        <a:buNone/>
                      </a:pPr>
                      <a:r>
                        <a:rPr lang="en-US" sz="1100" dirty="0">
                          <a:solidFill>
                            <a:srgbClr val="1A1A1A"/>
                          </a:solidFill>
                          <a:latin typeface="Meiryo" pitchFamily="34" charset="0"/>
                          <a:ea typeface="Meiryo" pitchFamily="34" charset="-122"/>
                          <a:cs typeface="Meiryo" pitchFamily="34" charset="-120"/>
                        </a:rPr>
                        <a:t>サイト内検索</a:t>
                      </a:r>
                      <a:endParaRPr lang="en-US" sz="1100" dirty="0">
                        <a:latin typeface="Meiryo" charset="0"/>
                        <a:ea typeface="Meiryo" charset="0"/>
                        <a:cs typeface="Meiryo" charset="0"/>
                      </a:endParaRPr>
                    </a:p>
                  </a:txBody>
                  <a:tcPr marL="91440" marR="91440" marT="45720" marB="45720">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tcPr>
                </a:tc>
                <a:tc>
                  <a:txBody>
                    <a:bodyPr/>
                    <a:lstStyle/>
                    <a:p>
                      <a:pPr indent="0" marL="0">
                        <a:buNone/>
                      </a:pPr>
                      <a:r>
                        <a:rPr lang="en-US" sz="1100" dirty="0">
                          <a:solidFill>
                            <a:srgbClr val="1A1A1A"/>
                          </a:solidFill>
                          <a:latin typeface="Meiryo" pitchFamily="34" charset="0"/>
                          <a:ea typeface="Meiryo" pitchFamily="34" charset="-122"/>
                          <a:cs typeface="Meiryo" pitchFamily="34" charset="-120"/>
                        </a:rPr>
                        <a:t>あり</a:t>
                      </a:r>
                      <a:endParaRPr lang="en-US" sz="1100" dirty="0">
                        <a:latin typeface="Meiryo" charset="0"/>
                        <a:ea typeface="Meiryo" charset="0"/>
                        <a:cs typeface="Meiryo" charset="0"/>
                      </a:endParaRPr>
                    </a:p>
                  </a:txBody>
                  <a:tcPr marL="91440" marR="91440" marT="45720" marB="45720">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tcPr>
                </a:tc>
                <a:tc>
                  <a:txBody>
                    <a:bodyPr/>
                    <a:lstStyle/>
                    <a:p>
                      <a:pPr indent="0" marL="0">
                        <a:buNone/>
                      </a:pPr>
                      <a:r>
                        <a:rPr lang="en-US" sz="1100" dirty="0">
                          <a:solidFill>
                            <a:srgbClr val="1A1A1A"/>
                          </a:solidFill>
                          <a:latin typeface="Meiryo" pitchFamily="34" charset="0"/>
                          <a:ea typeface="Meiryo" pitchFamily="34" charset="-122"/>
                          <a:cs typeface="Meiryo" pitchFamily="34" charset="-120"/>
                        </a:rPr>
                        <a:t>踏襲します</a:t>
                      </a:r>
                      <a:endParaRPr lang="en-US" sz="1100" dirty="0">
                        <a:latin typeface="Meiryo" charset="0"/>
                        <a:ea typeface="Meiryo" charset="0"/>
                        <a:cs typeface="Meiryo" charset="0"/>
                      </a:endParaRPr>
                    </a:p>
                  </a:txBody>
                  <a:tcPr marL="91440" marR="91440" marT="45720" marB="45720">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tcPr>
                </a:tc>
              </a:tr>
              <a:tr h="0">
                <a:tc>
                  <a:txBody>
                    <a:bodyPr/>
                    <a:lstStyle/>
                    <a:p>
                      <a:pPr indent="0" marL="0">
                        <a:buNone/>
                      </a:pPr>
                      <a:r>
                        <a:rPr lang="en-US" sz="1100" dirty="0">
                          <a:solidFill>
                            <a:srgbClr val="1A1A1A"/>
                          </a:solidFill>
                          <a:latin typeface="Meiryo" pitchFamily="34" charset="0"/>
                          <a:ea typeface="Meiryo" pitchFamily="34" charset="-122"/>
                          <a:cs typeface="Meiryo" pitchFamily="34" charset="-120"/>
                        </a:rPr>
                        <a:t>お問い合わせ・資料請求</a:t>
                      </a:r>
                      <a:endParaRPr lang="en-US" sz="1100" dirty="0">
                        <a:latin typeface="Meiryo" charset="0"/>
                        <a:ea typeface="Meiryo" charset="0"/>
                        <a:cs typeface="Meiryo" charset="0"/>
                      </a:endParaRPr>
                    </a:p>
                  </a:txBody>
                  <a:tcPr marL="91440" marR="91440" marT="45720" marB="45720">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tcPr>
                </a:tc>
                <a:tc>
                  <a:txBody>
                    <a:bodyPr/>
                    <a:lstStyle/>
                    <a:p>
                      <a:pPr indent="0" marL="0">
                        <a:buNone/>
                      </a:pPr>
                      <a:r>
                        <a:rPr lang="en-US" sz="1100" dirty="0">
                          <a:solidFill>
                            <a:srgbClr val="1A1A1A"/>
                          </a:solidFill>
                          <a:latin typeface="Meiryo" pitchFamily="34" charset="0"/>
                          <a:ea typeface="Meiryo" pitchFamily="34" charset="-122"/>
                          <a:cs typeface="Meiryo" pitchFamily="34" charset="-120"/>
                        </a:rPr>
                        <a:t>あり</a:t>
                      </a:r>
                      <a:endParaRPr lang="en-US" sz="1100" dirty="0">
                        <a:latin typeface="Meiryo" charset="0"/>
                        <a:ea typeface="Meiryo" charset="0"/>
                        <a:cs typeface="Meiryo" charset="0"/>
                      </a:endParaRPr>
                    </a:p>
                  </a:txBody>
                  <a:tcPr marL="91440" marR="91440" marT="45720" marB="45720">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tcPr>
                </a:tc>
                <a:tc>
                  <a:txBody>
                    <a:bodyPr/>
                    <a:lstStyle/>
                    <a:p>
                      <a:pPr indent="0" marL="0">
                        <a:buNone/>
                      </a:pPr>
                      <a:r>
                        <a:rPr lang="en-US" sz="1100" dirty="0">
                          <a:solidFill>
                            <a:srgbClr val="1A1A1A"/>
                          </a:solidFill>
                          <a:latin typeface="Meiryo" pitchFamily="34" charset="0"/>
                          <a:ea typeface="Meiryo" pitchFamily="34" charset="-122"/>
                          <a:cs typeface="Meiryo" pitchFamily="34" charset="-120"/>
                        </a:rPr>
                        <a:t>踏襲し、計測対象とします</a:t>
                      </a:r>
                      <a:endParaRPr lang="en-US" sz="1100" dirty="0">
                        <a:latin typeface="Meiryo" charset="0"/>
                        <a:ea typeface="Meiryo" charset="0"/>
                        <a:cs typeface="Meiryo" charset="0"/>
                      </a:endParaRPr>
                    </a:p>
                  </a:txBody>
                  <a:tcPr marL="91440" marR="91440" marT="45720" marB="45720">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tcPr>
                </a:tc>
              </a:tr>
            </a:tbl>
          </a:graphicData>
        </a:graphic>
      </p:graphicFrame>
      <p:sp>
        <p:nvSpPr>
          <p:cNvPr id="7" name="Text 4"/>
          <p:cNvSpPr/>
          <p:nvPr/>
        </p:nvSpPr>
        <p:spPr>
          <a:xfrm>
            <a:off x="502920" y="4759452"/>
            <a:ext cx="6949440" cy="228600"/>
          </a:xfrm>
          <a:prstGeom prst="rect">
            <a:avLst/>
          </a:prstGeom>
          <a:noFill/>
          <a:ln/>
        </p:spPr>
        <p:txBody>
          <a:bodyPr wrap="square" rtlCol="0" anchor="ctr"/>
          <a:lstStyle/>
          <a:p>
            <a:pPr indent="0" marL="0">
              <a:buNone/>
            </a:pPr>
            <a:r>
              <a:rPr lang="en-US" sz="900" dirty="0">
                <a:solidFill>
                  <a:srgbClr val="6B6B6B"/>
                </a:solidFill>
                <a:latin typeface="Meiryo" pitchFamily="34" charset="0"/>
                <a:ea typeface="Meiryo" pitchFamily="34" charset="-122"/>
                <a:cs typeface="Meiryo" pitchFamily="34" charset="-120"/>
              </a:rPr>
              <a:t>出典: gg-manager site_crawl（2026-09-18、深度3、190URL到達／142ページ取得）</a:t>
            </a:r>
            <a:endParaRPr lang="en-US" sz="900" dirty="0"/>
          </a:p>
        </p:txBody>
      </p:sp>
      <p:sp>
        <p:nvSpPr>
          <p:cNvPr id="8" name="Text 5"/>
          <p:cNvSpPr/>
          <p:nvPr/>
        </p:nvSpPr>
        <p:spPr>
          <a:xfrm>
            <a:off x="7543800" y="4759452"/>
            <a:ext cx="1097280" cy="228600"/>
          </a:xfrm>
          <a:prstGeom prst="rect">
            <a:avLst/>
          </a:prstGeom>
          <a:noFill/>
          <a:ln/>
        </p:spPr>
        <p:txBody>
          <a:bodyPr wrap="square" rtlCol="0" anchor="ctr"/>
          <a:lstStyle/>
          <a:p>
            <a:pPr algn="r" indent="0" marL="0">
              <a:buNone/>
            </a:pPr>
            <a:r>
              <a:rPr lang="en-US" sz="900" dirty="0">
                <a:solidFill>
                  <a:srgbClr val="6B6B6B"/>
                </a:solidFill>
                <a:latin typeface="Meiryo" pitchFamily="34" charset="0"/>
                <a:ea typeface="Meiryo" pitchFamily="34" charset="-122"/>
                <a:cs typeface="Meiryo" pitchFamily="34" charset="-120"/>
              </a:rPr>
              <a:t>44|82</a:t>
            </a:r>
            <a:endParaRPr lang="en-US" sz="9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1F3A5F"/>
        </a:solidFill>
      </p:bgPr>
    </p:bg>
    <p:spTree>
      <p:nvGrpSpPr>
        <p:cNvPr id="1" name=""/>
        <p:cNvGrpSpPr/>
        <p:nvPr/>
      </p:nvGrpSpPr>
      <p:grpSpPr>
        <a:xfrm>
          <a:off x="0" y="0"/>
          <a:ext cx="0" cy="0"/>
          <a:chOff x="0" y="0"/>
          <a:chExt cx="0" cy="0"/>
        </a:xfrm>
      </p:grpSpPr>
      <p:sp>
        <p:nvSpPr>
          <p:cNvPr id="2" name="Text 0"/>
          <p:cNvSpPr/>
          <p:nvPr/>
        </p:nvSpPr>
        <p:spPr>
          <a:xfrm>
            <a:off x="502920" y="1737360"/>
            <a:ext cx="1280160" cy="640080"/>
          </a:xfrm>
          <a:prstGeom prst="rect">
            <a:avLst/>
          </a:prstGeom>
          <a:noFill/>
          <a:ln/>
        </p:spPr>
        <p:txBody>
          <a:bodyPr wrap="square" rtlCol="0" anchor="ctr"/>
          <a:lstStyle/>
          <a:p>
            <a:pPr indent="0" marL="0">
              <a:buNone/>
            </a:pPr>
            <a:r>
              <a:rPr lang="en-US" sz="3400" b="1" dirty="0">
                <a:solidFill>
                  <a:srgbClr val="FFFFFF"/>
                </a:solidFill>
                <a:latin typeface="Meiryo" pitchFamily="34" charset="0"/>
                <a:ea typeface="Meiryo" pitchFamily="34" charset="-122"/>
                <a:cs typeface="Meiryo" pitchFamily="34" charset="-120"/>
              </a:rPr>
              <a:t>09</a:t>
            </a:r>
            <a:endParaRPr lang="en-US" sz="3400" dirty="0"/>
          </a:p>
        </p:txBody>
      </p:sp>
      <p:sp>
        <p:nvSpPr>
          <p:cNvPr id="3" name="Text 1"/>
          <p:cNvSpPr/>
          <p:nvPr/>
        </p:nvSpPr>
        <p:spPr>
          <a:xfrm>
            <a:off x="502920" y="2377440"/>
            <a:ext cx="8138160" cy="365760"/>
          </a:xfrm>
          <a:prstGeom prst="rect">
            <a:avLst/>
          </a:prstGeom>
          <a:noFill/>
          <a:ln/>
        </p:spPr>
        <p:txBody>
          <a:bodyPr wrap="square" rtlCol="0" anchor="ctr"/>
          <a:lstStyle/>
          <a:p>
            <a:pPr indent="0" marL="0">
              <a:buNone/>
            </a:pPr>
            <a:r>
              <a:rPr lang="en-US" sz="1300" dirty="0">
                <a:solidFill>
                  <a:srgbClr val="FFFFFF"/>
                </a:solidFill>
                <a:latin typeface="Meiryo" pitchFamily="34" charset="0"/>
                <a:ea typeface="Meiryo" pitchFamily="34" charset="-122"/>
                <a:cs typeface="Meiryo" pitchFamily="34" charset="-120"/>
              </a:rPr>
              <a:t>Tools</a:t>
            </a:r>
            <a:endParaRPr lang="en-US" sz="1300" dirty="0"/>
          </a:p>
        </p:txBody>
      </p:sp>
      <p:sp>
        <p:nvSpPr>
          <p:cNvPr id="4" name="Text 2"/>
          <p:cNvSpPr/>
          <p:nvPr/>
        </p:nvSpPr>
        <p:spPr>
          <a:xfrm>
            <a:off x="502920" y="2743200"/>
            <a:ext cx="8138160" cy="548640"/>
          </a:xfrm>
          <a:prstGeom prst="rect">
            <a:avLst/>
          </a:prstGeom>
          <a:noFill/>
          <a:ln/>
        </p:spPr>
        <p:txBody>
          <a:bodyPr wrap="square" rtlCol="0" anchor="ctr"/>
          <a:lstStyle/>
          <a:p>
            <a:pPr indent="0" marL="0">
              <a:buNone/>
            </a:pPr>
            <a:r>
              <a:rPr lang="en-US" sz="2400" b="1" dirty="0">
                <a:solidFill>
                  <a:srgbClr val="FFFFFF"/>
                </a:solidFill>
                <a:latin typeface="Meiryo" pitchFamily="34" charset="0"/>
                <a:ea typeface="Meiryo" pitchFamily="34" charset="-122"/>
                <a:cs typeface="Meiryo" pitchFamily="34" charset="-120"/>
              </a:rPr>
              <a:t>導入ツール</a:t>
            </a:r>
            <a:endParaRPr lang="en-US" sz="2400" dirty="0"/>
          </a:p>
        </p:txBody>
      </p:sp>
      <p:sp>
        <p:nvSpPr>
          <p:cNvPr id="5" name="Text 3"/>
          <p:cNvSpPr/>
          <p:nvPr/>
        </p:nvSpPr>
        <p:spPr>
          <a:xfrm>
            <a:off x="7543800" y="4759452"/>
            <a:ext cx="1097280" cy="228600"/>
          </a:xfrm>
          <a:prstGeom prst="rect">
            <a:avLst/>
          </a:prstGeom>
          <a:noFill/>
          <a:ln/>
        </p:spPr>
        <p:txBody>
          <a:bodyPr wrap="square" rtlCol="0" anchor="ctr"/>
          <a:lstStyle/>
          <a:p>
            <a:pPr algn="r" indent="0" marL="0">
              <a:buNone/>
            </a:pPr>
            <a:r>
              <a:rPr lang="en-US" sz="900" dirty="0">
                <a:solidFill>
                  <a:srgbClr val="6B6B6B"/>
                </a:solidFill>
                <a:latin typeface="Meiryo" pitchFamily="34" charset="0"/>
                <a:ea typeface="Meiryo" pitchFamily="34" charset="-122"/>
                <a:cs typeface="Meiryo" pitchFamily="34" charset="-120"/>
              </a:rPr>
              <a:t>45|82</a:t>
            </a:r>
            <a:endParaRPr lang="en-US" sz="9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502920" y="502920"/>
            <a:ext cx="8138160" cy="228600"/>
          </a:xfrm>
          <a:prstGeom prst="rect">
            <a:avLst/>
          </a:prstGeom>
          <a:noFill/>
          <a:ln/>
        </p:spPr>
        <p:txBody>
          <a:bodyPr wrap="square" rtlCol="0" anchor="ctr"/>
          <a:lstStyle/>
          <a:p>
            <a:pPr indent="0" marL="0">
              <a:buNone/>
            </a:pPr>
            <a:r>
              <a:rPr lang="en-US" sz="1000" dirty="0">
                <a:solidFill>
                  <a:srgbClr val="6B6B6B"/>
                </a:solidFill>
                <a:latin typeface="Meiryo" pitchFamily="34" charset="0"/>
                <a:ea typeface="Meiryo" pitchFamily="34" charset="-122"/>
                <a:cs typeface="Meiryo" pitchFamily="34" charset="-120"/>
              </a:rPr>
              <a:t>09 Tools</a:t>
            </a:r>
            <a:endParaRPr lang="en-US" sz="1000" dirty="0"/>
          </a:p>
        </p:txBody>
      </p:sp>
      <p:sp>
        <p:nvSpPr>
          <p:cNvPr id="3" name="Text 1"/>
          <p:cNvSpPr/>
          <p:nvPr/>
        </p:nvSpPr>
        <p:spPr>
          <a:xfrm>
            <a:off x="502920" y="777240"/>
            <a:ext cx="8138160" cy="457200"/>
          </a:xfrm>
          <a:prstGeom prst="rect">
            <a:avLst/>
          </a:prstGeom>
          <a:noFill/>
          <a:ln/>
        </p:spPr>
        <p:txBody>
          <a:bodyPr wrap="square" rtlCol="0" anchor="ctr"/>
          <a:lstStyle/>
          <a:p>
            <a:pPr indent="0" marL="0">
              <a:buNone/>
            </a:pPr>
            <a:r>
              <a:rPr lang="en-US" sz="2000" b="1" dirty="0">
                <a:solidFill>
                  <a:srgbClr val="1A1A1A"/>
                </a:solidFill>
                <a:latin typeface="Meiryo" pitchFamily="34" charset="0"/>
                <a:ea typeface="Meiryo" pitchFamily="34" charset="-122"/>
                <a:cs typeface="Meiryo" pitchFamily="34" charset="-120"/>
              </a:rPr>
              <a:t>導入するツール</a:t>
            </a:r>
            <a:endParaRPr lang="en-US" sz="2000" dirty="0"/>
          </a:p>
        </p:txBody>
      </p:sp>
      <p:sp>
        <p:nvSpPr>
          <p:cNvPr id="4" name="Shape 2"/>
          <p:cNvSpPr/>
          <p:nvPr/>
        </p:nvSpPr>
        <p:spPr>
          <a:xfrm>
            <a:off x="502920" y="1280160"/>
            <a:ext cx="8138160" cy="0"/>
          </a:xfrm>
          <a:prstGeom prst="line">
            <a:avLst/>
          </a:prstGeom>
          <a:noFill/>
          <a:ln w="12700">
            <a:solidFill>
              <a:srgbClr val="D5D5D5"/>
            </a:solidFill>
            <a:prstDash val="solid"/>
          </a:ln>
        </p:spPr>
      </p:sp>
      <p:sp>
        <p:nvSpPr>
          <p:cNvPr id="5" name="Text 3"/>
          <p:cNvSpPr/>
          <p:nvPr/>
        </p:nvSpPr>
        <p:spPr>
          <a:xfrm>
            <a:off x="502920" y="1417320"/>
            <a:ext cx="8138160" cy="457200"/>
          </a:xfrm>
          <a:prstGeom prst="rect">
            <a:avLst/>
          </a:prstGeom>
          <a:noFill/>
          <a:ln/>
        </p:spPr>
        <p:txBody>
          <a:bodyPr wrap="square" rtlCol="0" anchor="t"/>
          <a:lstStyle/>
          <a:p>
            <a:pPr indent="0" marL="0">
              <a:buNone/>
            </a:pPr>
            <a:r>
              <a:rPr lang="en-US" sz="1200" dirty="0">
                <a:solidFill>
                  <a:srgbClr val="1A1A1A"/>
                </a:solidFill>
                <a:latin typeface="Meiryo" pitchFamily="34" charset="0"/>
                <a:ea typeface="Meiryo" pitchFamily="34" charset="-122"/>
                <a:cs typeface="Meiryo" pitchFamily="34" charset="-120"/>
              </a:rPr>
              <a:t>新規に増やすものは最小限とし、導入済みのものを活かします。</a:t>
            </a:r>
            <a:endParaRPr lang="en-US" sz="1200" dirty="0"/>
          </a:p>
        </p:txBody>
      </p:sp>
      <p:graphicFrame>
        <p:nvGraphicFramePr>
          <p:cNvPr id="47" name="Table 0"/>
          <p:cNvGraphicFramePr>
            <a:graphicFrameLocks noGrp="1"/>
          </p:cNvGraphicFramePr>
          <p:nvPr>
            <p:extLst>
              <p:ext uri="{D42A27DB-BD31-4B8C-83A1-F6EECF244321}">
                <p14:modId xmlns:p14="http://schemas.microsoft.com/office/powerpoint/2010/main" val="1579011935"/>
              </p:ext>
            </p:extLst>
          </p:nvPr>
        </p:nvGraphicFramePr>
        <p:xfrm>
          <a:off x="502920" y="1965960"/>
          <a:ext cx="8138160" cy="914400"/>
        </p:xfrm>
        <a:graphic>
          <a:graphicData uri="http://schemas.openxmlformats.org/drawingml/2006/table">
            <a:tbl>
              <a:tblPr/>
              <a:tblGrid>
                <a:gridCol w="2712720"/>
                <a:gridCol w="2712720"/>
                <a:gridCol w="2712720"/>
              </a:tblGrid>
              <a:tr h="0">
                <a:tc>
                  <a:txBody>
                    <a:bodyPr/>
                    <a:lstStyle/>
                    <a:p>
                      <a:pPr indent="0" marL="0">
                        <a:buNone/>
                      </a:pPr>
                      <a:r>
                        <a:rPr lang="en-US" sz="1100" b="1" dirty="0">
                          <a:solidFill>
                            <a:srgbClr val="FFFFFF"/>
                          </a:solidFill>
                          <a:latin typeface="Meiryo" pitchFamily="34" charset="0"/>
                          <a:ea typeface="Meiryo" pitchFamily="34" charset="-122"/>
                          <a:cs typeface="Meiryo" pitchFamily="34" charset="-120"/>
                        </a:rPr>
                        <a:t>ツール</a:t>
                      </a:r>
                      <a:endParaRPr lang="en-US" sz="1100" dirty="0">
                        <a:latin typeface="Meiryo" charset="0"/>
                        <a:ea typeface="Meiryo" charset="0"/>
                        <a:cs typeface="Meiryo" charset="0"/>
                      </a:endParaRPr>
                    </a:p>
                  </a:txBody>
                  <a:tcPr marL="91440" marR="91440" marT="45720" marB="45720">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1F3A5F"/>
                    </a:solidFill>
                  </a:tcPr>
                </a:tc>
                <a:tc>
                  <a:txBody>
                    <a:bodyPr/>
                    <a:lstStyle/>
                    <a:p>
                      <a:pPr indent="0" marL="0">
                        <a:buNone/>
                      </a:pPr>
                      <a:r>
                        <a:rPr lang="en-US" sz="1100" b="1" dirty="0">
                          <a:solidFill>
                            <a:srgbClr val="FFFFFF"/>
                          </a:solidFill>
                          <a:latin typeface="Meiryo" pitchFamily="34" charset="0"/>
                          <a:ea typeface="Meiryo" pitchFamily="34" charset="-122"/>
                          <a:cs typeface="Meiryo" pitchFamily="34" charset="-120"/>
                        </a:rPr>
                        <a:t>現行</a:t>
                      </a:r>
                      <a:endParaRPr lang="en-US" sz="1100" dirty="0">
                        <a:latin typeface="Meiryo" charset="0"/>
                        <a:ea typeface="Meiryo" charset="0"/>
                        <a:cs typeface="Meiryo" charset="0"/>
                      </a:endParaRPr>
                    </a:p>
                  </a:txBody>
                  <a:tcPr marL="91440" marR="91440" marT="45720" marB="45720">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1F3A5F"/>
                    </a:solidFill>
                  </a:tcPr>
                </a:tc>
                <a:tc>
                  <a:txBody>
                    <a:bodyPr/>
                    <a:lstStyle/>
                    <a:p>
                      <a:pPr indent="0" marL="0">
                        <a:buNone/>
                      </a:pPr>
                      <a:r>
                        <a:rPr lang="en-US" sz="1100" b="1" dirty="0">
                          <a:solidFill>
                            <a:srgbClr val="FFFFFF"/>
                          </a:solidFill>
                          <a:latin typeface="Meiryo" pitchFamily="34" charset="0"/>
                          <a:ea typeface="Meiryo" pitchFamily="34" charset="-122"/>
                          <a:cs typeface="Meiryo" pitchFamily="34" charset="-120"/>
                        </a:rPr>
                        <a:t>新サイトでの扱い</a:t>
                      </a:r>
                      <a:endParaRPr lang="en-US" sz="1100" dirty="0">
                        <a:latin typeface="Meiryo" charset="0"/>
                        <a:ea typeface="Meiryo" charset="0"/>
                        <a:cs typeface="Meiryo" charset="0"/>
                      </a:endParaRPr>
                    </a:p>
                  </a:txBody>
                  <a:tcPr marL="91440" marR="91440" marT="45720" marB="45720">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1F3A5F"/>
                    </a:solidFill>
                  </a:tcPr>
                </a:tc>
              </a:tr>
              <a:tr h="0">
                <a:tc>
                  <a:txBody>
                    <a:bodyPr/>
                    <a:lstStyle/>
                    <a:p>
                      <a:pPr indent="0" marL="0">
                        <a:buNone/>
                      </a:pPr>
                      <a:r>
                        <a:rPr lang="en-US" sz="1100" dirty="0">
                          <a:solidFill>
                            <a:srgbClr val="1A1A1A"/>
                          </a:solidFill>
                          <a:latin typeface="Meiryo" pitchFamily="34" charset="0"/>
                          <a:ea typeface="Meiryo" pitchFamily="34" charset="-122"/>
                          <a:cs typeface="Meiryo" pitchFamily="34" charset="-120"/>
                        </a:rPr>
                        <a:t>WordPress</a:t>
                      </a:r>
                      <a:endParaRPr lang="en-US" sz="1100" dirty="0">
                        <a:latin typeface="Meiryo" charset="0"/>
                        <a:ea typeface="Meiryo" charset="0"/>
                        <a:cs typeface="Meiryo" charset="0"/>
                      </a:endParaRPr>
                    </a:p>
                  </a:txBody>
                  <a:tcPr marL="91440" marR="91440" marT="45720" marB="45720">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tcPr>
                </a:tc>
                <a:tc>
                  <a:txBody>
                    <a:bodyPr/>
                    <a:lstStyle/>
                    <a:p>
                      <a:pPr indent="0" marL="0">
                        <a:buNone/>
                      </a:pPr>
                      <a:r>
                        <a:rPr lang="en-US" sz="1100" dirty="0">
                          <a:solidFill>
                            <a:srgbClr val="1A1A1A"/>
                          </a:solidFill>
                          <a:latin typeface="Meiryo" pitchFamily="34" charset="0"/>
                          <a:ea typeface="Meiryo" pitchFamily="34" charset="-122"/>
                          <a:cs typeface="Meiryo" pitchFamily="34" charset="-120"/>
                        </a:rPr>
                        <a:t>稼働中（子テーマ構成）</a:t>
                      </a:r>
                      <a:endParaRPr lang="en-US" sz="1100" dirty="0">
                        <a:latin typeface="Meiryo" charset="0"/>
                        <a:ea typeface="Meiryo" charset="0"/>
                        <a:cs typeface="Meiryo" charset="0"/>
                      </a:endParaRPr>
                    </a:p>
                  </a:txBody>
                  <a:tcPr marL="91440" marR="91440" marT="45720" marB="45720">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tcPr>
                </a:tc>
                <a:tc>
                  <a:txBody>
                    <a:bodyPr/>
                    <a:lstStyle/>
                    <a:p>
                      <a:pPr indent="0" marL="0">
                        <a:buNone/>
                      </a:pPr>
                      <a:r>
                        <a:rPr lang="en-US" sz="1100" dirty="0">
                          <a:solidFill>
                            <a:srgbClr val="1A1A1A"/>
                          </a:solidFill>
                          <a:latin typeface="Meiryo" pitchFamily="34" charset="0"/>
                          <a:ea typeface="Meiryo" pitchFamily="34" charset="-122"/>
                          <a:cs typeface="Meiryo" pitchFamily="34" charset="-120"/>
                        </a:rPr>
                        <a:t>継続します。テーマは新規に構築します</a:t>
                      </a:r>
                      <a:endParaRPr lang="en-US" sz="1100" dirty="0">
                        <a:latin typeface="Meiryo" charset="0"/>
                        <a:ea typeface="Meiryo" charset="0"/>
                        <a:cs typeface="Meiryo" charset="0"/>
                      </a:endParaRPr>
                    </a:p>
                  </a:txBody>
                  <a:tcPr marL="91440" marR="91440" marT="45720" marB="45720">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tcPr>
                </a:tc>
              </a:tr>
              <a:tr h="0">
                <a:tc>
                  <a:txBody>
                    <a:bodyPr/>
                    <a:lstStyle/>
                    <a:p>
                      <a:pPr indent="0" marL="0">
                        <a:buNone/>
                      </a:pPr>
                      <a:r>
                        <a:rPr lang="en-US" sz="1100" dirty="0">
                          <a:solidFill>
                            <a:srgbClr val="1A1A1A"/>
                          </a:solidFill>
                          <a:latin typeface="Meiryo" pitchFamily="34" charset="0"/>
                          <a:ea typeface="Meiryo" pitchFamily="34" charset="-122"/>
                          <a:cs typeface="Meiryo" pitchFamily="34" charset="-120"/>
                        </a:rPr>
                        <a:t>Google タグ マネージャー</a:t>
                      </a:r>
                      <a:endParaRPr lang="en-US" sz="1100" dirty="0">
                        <a:latin typeface="Meiryo" charset="0"/>
                        <a:ea typeface="Meiryo" charset="0"/>
                        <a:cs typeface="Meiryo" charset="0"/>
                      </a:endParaRPr>
                    </a:p>
                  </a:txBody>
                  <a:tcPr marL="91440" marR="91440" marT="45720" marB="45720">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tcPr>
                </a:tc>
                <a:tc>
                  <a:txBody>
                    <a:bodyPr/>
                    <a:lstStyle/>
                    <a:p>
                      <a:pPr indent="0" marL="0">
                        <a:buNone/>
                      </a:pPr>
                      <a:r>
                        <a:rPr lang="en-US" sz="1100" dirty="0">
                          <a:solidFill>
                            <a:srgbClr val="1A1A1A"/>
                          </a:solidFill>
                          <a:latin typeface="Meiryo" pitchFamily="34" charset="0"/>
                          <a:ea typeface="Meiryo" pitchFamily="34" charset="-122"/>
                          <a:cs typeface="Meiryo" pitchFamily="34" charset="-120"/>
                        </a:rPr>
                        <a:t>導入済み</a:t>
                      </a:r>
                      <a:endParaRPr lang="en-US" sz="1100" dirty="0">
                        <a:latin typeface="Meiryo" charset="0"/>
                        <a:ea typeface="Meiryo" charset="0"/>
                        <a:cs typeface="Meiryo" charset="0"/>
                      </a:endParaRPr>
                    </a:p>
                  </a:txBody>
                  <a:tcPr marL="91440" marR="91440" marT="45720" marB="45720">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tcPr>
                </a:tc>
                <a:tc>
                  <a:txBody>
                    <a:bodyPr/>
                    <a:lstStyle/>
                    <a:p>
                      <a:pPr indent="0" marL="0">
                        <a:buNone/>
                      </a:pPr>
                      <a:r>
                        <a:rPr lang="en-US" sz="1100" dirty="0">
                          <a:solidFill>
                            <a:srgbClr val="1A1A1A"/>
                          </a:solidFill>
                          <a:latin typeface="Meiryo" pitchFamily="34" charset="0"/>
                          <a:ea typeface="Meiryo" pitchFamily="34" charset="-122"/>
                          <a:cs typeface="Meiryo" pitchFamily="34" charset="-120"/>
                        </a:rPr>
                        <a:t>継続します</a:t>
                      </a:r>
                      <a:endParaRPr lang="en-US" sz="1100" dirty="0">
                        <a:latin typeface="Meiryo" charset="0"/>
                        <a:ea typeface="Meiryo" charset="0"/>
                        <a:cs typeface="Meiryo" charset="0"/>
                      </a:endParaRPr>
                    </a:p>
                  </a:txBody>
                  <a:tcPr marL="91440" marR="91440" marT="45720" marB="45720">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tcPr>
                </a:tc>
              </a:tr>
              <a:tr h="0">
                <a:tc>
                  <a:txBody>
                    <a:bodyPr/>
                    <a:lstStyle/>
                    <a:p>
                      <a:pPr indent="0" marL="0">
                        <a:buNone/>
                      </a:pPr>
                      <a:r>
                        <a:rPr lang="en-US" sz="1100" dirty="0">
                          <a:solidFill>
                            <a:srgbClr val="1A1A1A"/>
                          </a:solidFill>
                          <a:latin typeface="Meiryo" pitchFamily="34" charset="0"/>
                          <a:ea typeface="Meiryo" pitchFamily="34" charset="-122"/>
                          <a:cs typeface="Meiryo" pitchFamily="34" charset="-120"/>
                        </a:rPr>
                        <a:t>Google アナリティクス（GA4）</a:t>
                      </a:r>
                      <a:endParaRPr lang="en-US" sz="1100" dirty="0">
                        <a:latin typeface="Meiryo" charset="0"/>
                        <a:ea typeface="Meiryo" charset="0"/>
                        <a:cs typeface="Meiryo" charset="0"/>
                      </a:endParaRPr>
                    </a:p>
                  </a:txBody>
                  <a:tcPr marL="91440" marR="91440" marT="45720" marB="45720">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tcPr>
                </a:tc>
                <a:tc>
                  <a:txBody>
                    <a:bodyPr/>
                    <a:lstStyle/>
                    <a:p>
                      <a:pPr indent="0" marL="0">
                        <a:buNone/>
                      </a:pPr>
                      <a:r>
                        <a:rPr lang="en-US" sz="1100" dirty="0">
                          <a:solidFill>
                            <a:srgbClr val="1A1A1A"/>
                          </a:solidFill>
                          <a:latin typeface="Meiryo" pitchFamily="34" charset="0"/>
                          <a:ea typeface="Meiryo" pitchFamily="34" charset="-122"/>
                          <a:cs typeface="Meiryo" pitchFamily="34" charset="-120"/>
                        </a:rPr>
                        <a:t>計測中（実数は未取得）</a:t>
                      </a:r>
                      <a:endParaRPr lang="en-US" sz="1100" dirty="0">
                        <a:latin typeface="Meiryo" charset="0"/>
                        <a:ea typeface="Meiryo" charset="0"/>
                        <a:cs typeface="Meiryo" charset="0"/>
                      </a:endParaRPr>
                    </a:p>
                  </a:txBody>
                  <a:tcPr marL="91440" marR="91440" marT="45720" marB="45720">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tcPr>
                </a:tc>
                <a:tc>
                  <a:txBody>
                    <a:bodyPr/>
                    <a:lstStyle/>
                    <a:p>
                      <a:pPr indent="0" marL="0">
                        <a:buNone/>
                      </a:pPr>
                      <a:r>
                        <a:rPr lang="en-US" sz="1100" dirty="0">
                          <a:solidFill>
                            <a:srgbClr val="1A1A1A"/>
                          </a:solidFill>
                          <a:latin typeface="Meiryo" pitchFamily="34" charset="0"/>
                          <a:ea typeface="Meiryo" pitchFamily="34" charset="-122"/>
                          <a:cs typeface="Meiryo" pitchFamily="34" charset="-120"/>
                        </a:rPr>
                        <a:t>継続します。測定設計を見直します</a:t>
                      </a:r>
                      <a:endParaRPr lang="en-US" sz="1100" dirty="0">
                        <a:latin typeface="Meiryo" charset="0"/>
                        <a:ea typeface="Meiryo" charset="0"/>
                        <a:cs typeface="Meiryo" charset="0"/>
                      </a:endParaRPr>
                    </a:p>
                  </a:txBody>
                  <a:tcPr marL="91440" marR="91440" marT="45720" marB="45720">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tcPr>
                </a:tc>
              </a:tr>
              <a:tr h="0">
                <a:tc>
                  <a:txBody>
                    <a:bodyPr/>
                    <a:lstStyle/>
                    <a:p>
                      <a:pPr indent="0" marL="0">
                        <a:buNone/>
                      </a:pPr>
                      <a:r>
                        <a:rPr lang="en-US" sz="1100" dirty="0">
                          <a:solidFill>
                            <a:srgbClr val="1A1A1A"/>
                          </a:solidFill>
                          <a:latin typeface="Meiryo" pitchFamily="34" charset="0"/>
                          <a:ea typeface="Meiryo" pitchFamily="34" charset="-122"/>
                          <a:cs typeface="Meiryo" pitchFamily="34" charset="-120"/>
                        </a:rPr>
                        <a:t>Google Search Console</a:t>
                      </a:r>
                      <a:endParaRPr lang="en-US" sz="1100" dirty="0">
                        <a:latin typeface="Meiryo" charset="0"/>
                        <a:ea typeface="Meiryo" charset="0"/>
                        <a:cs typeface="Meiryo" charset="0"/>
                      </a:endParaRPr>
                    </a:p>
                  </a:txBody>
                  <a:tcPr marL="91440" marR="91440" marT="45720" marB="45720">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tcPr>
                </a:tc>
                <a:tc>
                  <a:txBody>
                    <a:bodyPr/>
                    <a:lstStyle/>
                    <a:p>
                      <a:pPr indent="0" marL="0">
                        <a:buNone/>
                      </a:pPr>
                      <a:r>
                        <a:rPr lang="en-US" sz="1100" dirty="0">
                          <a:solidFill>
                            <a:srgbClr val="1A1A1A"/>
                          </a:solidFill>
                          <a:latin typeface="Meiryo" pitchFamily="34" charset="0"/>
                          <a:ea typeface="Meiryo" pitchFamily="34" charset="-122"/>
                          <a:cs typeface="Meiryo" pitchFamily="34" charset="-120"/>
                        </a:rPr>
                        <a:t>要確認</a:t>
                      </a:r>
                      <a:endParaRPr lang="en-US" sz="1100" dirty="0">
                        <a:latin typeface="Meiryo" charset="0"/>
                        <a:ea typeface="Meiryo" charset="0"/>
                        <a:cs typeface="Meiryo" charset="0"/>
                      </a:endParaRPr>
                    </a:p>
                  </a:txBody>
                  <a:tcPr marL="91440" marR="91440" marT="45720" marB="45720">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tcPr>
                </a:tc>
                <a:tc>
                  <a:txBody>
                    <a:bodyPr/>
                    <a:lstStyle/>
                    <a:p>
                      <a:pPr indent="0" marL="0">
                        <a:buNone/>
                      </a:pPr>
                      <a:r>
                        <a:rPr lang="en-US" sz="1100" dirty="0">
                          <a:solidFill>
                            <a:srgbClr val="1A1A1A"/>
                          </a:solidFill>
                          <a:latin typeface="Meiryo" pitchFamily="34" charset="0"/>
                          <a:ea typeface="Meiryo" pitchFamily="34" charset="-122"/>
                          <a:cs typeface="Meiryo" pitchFamily="34" charset="-120"/>
                        </a:rPr>
                        <a:t>登録状況を確認し、未登録であれば登録します</a:t>
                      </a:r>
                      <a:endParaRPr lang="en-US" sz="1100" dirty="0">
                        <a:latin typeface="Meiryo" charset="0"/>
                        <a:ea typeface="Meiryo" charset="0"/>
                        <a:cs typeface="Meiryo" charset="0"/>
                      </a:endParaRPr>
                    </a:p>
                  </a:txBody>
                  <a:tcPr marL="91440" marR="91440" marT="45720" marB="45720">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tcPr>
                </a:tc>
              </a:tr>
              <a:tr h="0">
                <a:tc>
                  <a:txBody>
                    <a:bodyPr/>
                    <a:lstStyle/>
                    <a:p>
                      <a:pPr indent="0" marL="0">
                        <a:buNone/>
                      </a:pPr>
                      <a:r>
                        <a:rPr lang="en-US" sz="1100" dirty="0">
                          <a:solidFill>
                            <a:srgbClr val="1A1A1A"/>
                          </a:solidFill>
                          <a:latin typeface="Meiryo" pitchFamily="34" charset="0"/>
                          <a:ea typeface="Meiryo" pitchFamily="34" charset="-122"/>
                          <a:cs typeface="Meiryo" pitchFamily="34" charset="-120"/>
                        </a:rPr>
                        <a:t>Yoast SEO</a:t>
                      </a:r>
                      <a:endParaRPr lang="en-US" sz="1100" dirty="0">
                        <a:latin typeface="Meiryo" charset="0"/>
                        <a:ea typeface="Meiryo" charset="0"/>
                        <a:cs typeface="Meiryo" charset="0"/>
                      </a:endParaRPr>
                    </a:p>
                  </a:txBody>
                  <a:tcPr marL="91440" marR="91440" marT="45720" marB="45720">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tcPr>
                </a:tc>
                <a:tc>
                  <a:txBody>
                    <a:bodyPr/>
                    <a:lstStyle/>
                    <a:p>
                      <a:pPr indent="0" marL="0">
                        <a:buNone/>
                      </a:pPr>
                      <a:r>
                        <a:rPr lang="en-US" sz="1100" dirty="0">
                          <a:solidFill>
                            <a:srgbClr val="1A1A1A"/>
                          </a:solidFill>
                          <a:latin typeface="Meiryo" pitchFamily="34" charset="0"/>
                          <a:ea typeface="Meiryo" pitchFamily="34" charset="-122"/>
                          <a:cs typeface="Meiryo" pitchFamily="34" charset="-120"/>
                        </a:rPr>
                        <a:t>v28.3 導入済み</a:t>
                      </a:r>
                      <a:endParaRPr lang="en-US" sz="1100" dirty="0">
                        <a:latin typeface="Meiryo" charset="0"/>
                        <a:ea typeface="Meiryo" charset="0"/>
                        <a:cs typeface="Meiryo" charset="0"/>
                      </a:endParaRPr>
                    </a:p>
                  </a:txBody>
                  <a:tcPr marL="91440" marR="91440" marT="45720" marB="45720">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tcPr>
                </a:tc>
                <a:tc>
                  <a:txBody>
                    <a:bodyPr/>
                    <a:lstStyle/>
                    <a:p>
                      <a:pPr indent="0" marL="0">
                        <a:buNone/>
                      </a:pPr>
                      <a:r>
                        <a:rPr lang="en-US" sz="1100" dirty="0">
                          <a:solidFill>
                            <a:srgbClr val="1A1A1A"/>
                          </a:solidFill>
                          <a:latin typeface="Meiryo" pitchFamily="34" charset="0"/>
                          <a:ea typeface="Meiryo" pitchFamily="34" charset="-122"/>
                          <a:cs typeface="Meiryo" pitchFamily="34" charset="-120"/>
                        </a:rPr>
                        <a:t>継続します</a:t>
                      </a:r>
                      <a:endParaRPr lang="en-US" sz="1100" dirty="0">
                        <a:latin typeface="Meiryo" charset="0"/>
                        <a:ea typeface="Meiryo" charset="0"/>
                        <a:cs typeface="Meiryo" charset="0"/>
                      </a:endParaRPr>
                    </a:p>
                  </a:txBody>
                  <a:tcPr marL="91440" marR="91440" marT="45720" marB="45720">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tcPr>
                </a:tc>
              </a:tr>
            </a:tbl>
          </a:graphicData>
        </a:graphic>
      </p:graphicFrame>
      <p:sp>
        <p:nvSpPr>
          <p:cNvPr id="7" name="Text 4"/>
          <p:cNvSpPr/>
          <p:nvPr/>
        </p:nvSpPr>
        <p:spPr>
          <a:xfrm>
            <a:off x="502920" y="4759452"/>
            <a:ext cx="6949440" cy="228600"/>
          </a:xfrm>
          <a:prstGeom prst="rect">
            <a:avLst/>
          </a:prstGeom>
          <a:noFill/>
          <a:ln/>
        </p:spPr>
        <p:txBody>
          <a:bodyPr wrap="square" rtlCol="0" anchor="ctr"/>
          <a:lstStyle/>
          <a:p>
            <a:pPr indent="0" marL="0">
              <a:buNone/>
            </a:pPr>
            <a:r>
              <a:rPr lang="en-US" sz="900" dirty="0">
                <a:solidFill>
                  <a:srgbClr val="6B6B6B"/>
                </a:solidFill>
                <a:latin typeface="Meiryo" pitchFamily="34" charset="0"/>
                <a:ea typeface="Meiryo" pitchFamily="34" charset="-122"/>
                <a:cs typeface="Meiryo" pitchFamily="34" charset="-120"/>
              </a:rPr>
              <a:t>出典: projects/johoku-saitama/research/current-site-audit.md（2026-09-18 実測）</a:t>
            </a:r>
            <a:endParaRPr lang="en-US" sz="900" dirty="0"/>
          </a:p>
        </p:txBody>
      </p:sp>
      <p:sp>
        <p:nvSpPr>
          <p:cNvPr id="8" name="Text 5"/>
          <p:cNvSpPr/>
          <p:nvPr/>
        </p:nvSpPr>
        <p:spPr>
          <a:xfrm>
            <a:off x="7543800" y="4759452"/>
            <a:ext cx="1097280" cy="228600"/>
          </a:xfrm>
          <a:prstGeom prst="rect">
            <a:avLst/>
          </a:prstGeom>
          <a:noFill/>
          <a:ln/>
        </p:spPr>
        <p:txBody>
          <a:bodyPr wrap="square" rtlCol="0" anchor="ctr"/>
          <a:lstStyle/>
          <a:p>
            <a:pPr algn="r" indent="0" marL="0">
              <a:buNone/>
            </a:pPr>
            <a:r>
              <a:rPr lang="en-US" sz="900" dirty="0">
                <a:solidFill>
                  <a:srgbClr val="6B6B6B"/>
                </a:solidFill>
                <a:latin typeface="Meiryo" pitchFamily="34" charset="0"/>
                <a:ea typeface="Meiryo" pitchFamily="34" charset="-122"/>
                <a:cs typeface="Meiryo" pitchFamily="34" charset="-120"/>
              </a:rPr>
              <a:t>46|82</a:t>
            </a:r>
            <a:endParaRPr lang="en-US" sz="9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1F3A5F"/>
        </a:solidFill>
      </p:bgPr>
    </p:bg>
    <p:spTree>
      <p:nvGrpSpPr>
        <p:cNvPr id="1" name=""/>
        <p:cNvGrpSpPr/>
        <p:nvPr/>
      </p:nvGrpSpPr>
      <p:grpSpPr>
        <a:xfrm>
          <a:off x="0" y="0"/>
          <a:ext cx="0" cy="0"/>
          <a:chOff x="0" y="0"/>
          <a:chExt cx="0" cy="0"/>
        </a:xfrm>
      </p:grpSpPr>
      <p:sp>
        <p:nvSpPr>
          <p:cNvPr id="2" name="Text 0"/>
          <p:cNvSpPr/>
          <p:nvPr/>
        </p:nvSpPr>
        <p:spPr>
          <a:xfrm>
            <a:off x="502920" y="1737360"/>
            <a:ext cx="1280160" cy="640080"/>
          </a:xfrm>
          <a:prstGeom prst="rect">
            <a:avLst/>
          </a:prstGeom>
          <a:noFill/>
          <a:ln/>
        </p:spPr>
        <p:txBody>
          <a:bodyPr wrap="square" rtlCol="0" anchor="ctr"/>
          <a:lstStyle/>
          <a:p>
            <a:pPr indent="0" marL="0">
              <a:buNone/>
            </a:pPr>
            <a:r>
              <a:rPr lang="en-US" sz="3400" b="1" dirty="0">
                <a:solidFill>
                  <a:srgbClr val="FFFFFF"/>
                </a:solidFill>
                <a:latin typeface="Meiryo" pitchFamily="34" charset="0"/>
                <a:ea typeface="Meiryo" pitchFamily="34" charset="-122"/>
                <a:cs typeface="Meiryo" pitchFamily="34" charset="-120"/>
              </a:rPr>
              <a:t>10</a:t>
            </a:r>
            <a:endParaRPr lang="en-US" sz="3400" dirty="0"/>
          </a:p>
        </p:txBody>
      </p:sp>
      <p:sp>
        <p:nvSpPr>
          <p:cNvPr id="3" name="Text 1"/>
          <p:cNvSpPr/>
          <p:nvPr/>
        </p:nvSpPr>
        <p:spPr>
          <a:xfrm>
            <a:off x="502920" y="2377440"/>
            <a:ext cx="8138160" cy="365760"/>
          </a:xfrm>
          <a:prstGeom prst="rect">
            <a:avLst/>
          </a:prstGeom>
          <a:noFill/>
          <a:ln/>
        </p:spPr>
        <p:txBody>
          <a:bodyPr wrap="square" rtlCol="0" anchor="ctr"/>
          <a:lstStyle/>
          <a:p>
            <a:pPr indent="0" marL="0">
              <a:buNone/>
            </a:pPr>
            <a:r>
              <a:rPr lang="en-US" sz="1300" dirty="0">
                <a:solidFill>
                  <a:srgbClr val="FFFFFF"/>
                </a:solidFill>
                <a:latin typeface="Meiryo" pitchFamily="34" charset="0"/>
                <a:ea typeface="Meiryo" pitchFamily="34" charset="-122"/>
                <a:cs typeface="Meiryo" pitchFamily="34" charset="-120"/>
              </a:rPr>
              <a:t>Server</a:t>
            </a:r>
            <a:endParaRPr lang="en-US" sz="1300" dirty="0"/>
          </a:p>
        </p:txBody>
      </p:sp>
      <p:sp>
        <p:nvSpPr>
          <p:cNvPr id="4" name="Text 2"/>
          <p:cNvSpPr/>
          <p:nvPr/>
        </p:nvSpPr>
        <p:spPr>
          <a:xfrm>
            <a:off x="502920" y="2743200"/>
            <a:ext cx="8138160" cy="548640"/>
          </a:xfrm>
          <a:prstGeom prst="rect">
            <a:avLst/>
          </a:prstGeom>
          <a:noFill/>
          <a:ln/>
        </p:spPr>
        <p:txBody>
          <a:bodyPr wrap="square" rtlCol="0" anchor="ctr"/>
          <a:lstStyle/>
          <a:p>
            <a:pPr indent="0" marL="0">
              <a:buNone/>
            </a:pPr>
            <a:r>
              <a:rPr lang="en-US" sz="2400" b="1" dirty="0">
                <a:solidFill>
                  <a:srgbClr val="FFFFFF"/>
                </a:solidFill>
                <a:latin typeface="Meiryo" pitchFamily="34" charset="0"/>
                <a:ea typeface="Meiryo" pitchFamily="34" charset="-122"/>
                <a:cs typeface="Meiryo" pitchFamily="34" charset="-120"/>
              </a:rPr>
              <a:t>サーバー</a:t>
            </a:r>
            <a:endParaRPr lang="en-US" sz="2400" dirty="0"/>
          </a:p>
        </p:txBody>
      </p:sp>
      <p:sp>
        <p:nvSpPr>
          <p:cNvPr id="5" name="Text 3"/>
          <p:cNvSpPr/>
          <p:nvPr/>
        </p:nvSpPr>
        <p:spPr>
          <a:xfrm>
            <a:off x="7543800" y="4759452"/>
            <a:ext cx="1097280" cy="228600"/>
          </a:xfrm>
          <a:prstGeom prst="rect">
            <a:avLst/>
          </a:prstGeom>
          <a:noFill/>
          <a:ln/>
        </p:spPr>
        <p:txBody>
          <a:bodyPr wrap="square" rtlCol="0" anchor="ctr"/>
          <a:lstStyle/>
          <a:p>
            <a:pPr algn="r" indent="0" marL="0">
              <a:buNone/>
            </a:pPr>
            <a:r>
              <a:rPr lang="en-US" sz="900" dirty="0">
                <a:solidFill>
                  <a:srgbClr val="6B6B6B"/>
                </a:solidFill>
                <a:latin typeface="Meiryo" pitchFamily="34" charset="0"/>
                <a:ea typeface="Meiryo" pitchFamily="34" charset="-122"/>
                <a:cs typeface="Meiryo" pitchFamily="34" charset="-120"/>
              </a:rPr>
              <a:t>47|82</a:t>
            </a:r>
            <a:endParaRPr lang="en-US" sz="9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502920" y="502920"/>
            <a:ext cx="8138160" cy="228600"/>
          </a:xfrm>
          <a:prstGeom prst="rect">
            <a:avLst/>
          </a:prstGeom>
          <a:noFill/>
          <a:ln/>
        </p:spPr>
        <p:txBody>
          <a:bodyPr wrap="square" rtlCol="0" anchor="ctr"/>
          <a:lstStyle/>
          <a:p>
            <a:pPr indent="0" marL="0">
              <a:buNone/>
            </a:pPr>
            <a:r>
              <a:rPr lang="en-US" sz="1000" dirty="0">
                <a:solidFill>
                  <a:srgbClr val="6B6B6B"/>
                </a:solidFill>
                <a:latin typeface="Meiryo" pitchFamily="34" charset="0"/>
                <a:ea typeface="Meiryo" pitchFamily="34" charset="-122"/>
                <a:cs typeface="Meiryo" pitchFamily="34" charset="-120"/>
              </a:rPr>
              <a:t>10 Server</a:t>
            </a:r>
            <a:endParaRPr lang="en-US" sz="1000" dirty="0"/>
          </a:p>
        </p:txBody>
      </p:sp>
      <p:sp>
        <p:nvSpPr>
          <p:cNvPr id="3" name="Text 1"/>
          <p:cNvSpPr/>
          <p:nvPr/>
        </p:nvSpPr>
        <p:spPr>
          <a:xfrm>
            <a:off x="502920" y="777240"/>
            <a:ext cx="8138160" cy="457200"/>
          </a:xfrm>
          <a:prstGeom prst="rect">
            <a:avLst/>
          </a:prstGeom>
          <a:noFill/>
          <a:ln/>
        </p:spPr>
        <p:txBody>
          <a:bodyPr wrap="square" rtlCol="0" anchor="ctr"/>
          <a:lstStyle/>
          <a:p>
            <a:pPr indent="0" marL="0">
              <a:buNone/>
            </a:pPr>
            <a:r>
              <a:rPr lang="en-US" sz="2000" b="1" dirty="0">
                <a:solidFill>
                  <a:srgbClr val="1A1A1A"/>
                </a:solidFill>
                <a:latin typeface="Meiryo" pitchFamily="34" charset="0"/>
                <a:ea typeface="Meiryo" pitchFamily="34" charset="-122"/>
                <a:cs typeface="Meiryo" pitchFamily="34" charset="-120"/>
              </a:rPr>
              <a:t>現行サーバーの状況</a:t>
            </a:r>
            <a:endParaRPr lang="en-US" sz="2000" dirty="0"/>
          </a:p>
        </p:txBody>
      </p:sp>
      <p:sp>
        <p:nvSpPr>
          <p:cNvPr id="4" name="Shape 2"/>
          <p:cNvSpPr/>
          <p:nvPr/>
        </p:nvSpPr>
        <p:spPr>
          <a:xfrm>
            <a:off x="502920" y="1280160"/>
            <a:ext cx="8138160" cy="0"/>
          </a:xfrm>
          <a:prstGeom prst="line">
            <a:avLst/>
          </a:prstGeom>
          <a:noFill/>
          <a:ln w="12700">
            <a:solidFill>
              <a:srgbClr val="D5D5D5"/>
            </a:solidFill>
            <a:prstDash val="solid"/>
          </a:ln>
        </p:spPr>
      </p:sp>
      <p:sp>
        <p:nvSpPr>
          <p:cNvPr id="5" name="Text 3"/>
          <p:cNvSpPr/>
          <p:nvPr/>
        </p:nvSpPr>
        <p:spPr>
          <a:xfrm>
            <a:off x="502920" y="1417320"/>
            <a:ext cx="8138160" cy="457200"/>
          </a:xfrm>
          <a:prstGeom prst="rect">
            <a:avLst/>
          </a:prstGeom>
          <a:noFill/>
          <a:ln/>
        </p:spPr>
        <p:txBody>
          <a:bodyPr wrap="square" rtlCol="0" anchor="t"/>
          <a:lstStyle/>
          <a:p>
            <a:pPr indent="0" marL="0">
              <a:buNone/>
            </a:pPr>
            <a:r>
              <a:rPr lang="en-US" sz="1200" dirty="0">
                <a:solidFill>
                  <a:srgbClr val="1A1A1A"/>
                </a:solidFill>
                <a:latin typeface="Meiryo" pitchFamily="34" charset="0"/>
                <a:ea typeface="Meiryo" pitchFamily="34" charset="-122"/>
                <a:cs typeface="Meiryo" pitchFamily="34" charset="-120"/>
              </a:rPr>
              <a:t>現行はレンタルサーバーで稼働しています。契約内容が未確認のため、移行の要否は確認後に判断します。</a:t>
            </a:r>
            <a:endParaRPr lang="en-US" sz="1200" dirty="0"/>
          </a:p>
        </p:txBody>
      </p:sp>
      <p:graphicFrame>
        <p:nvGraphicFramePr>
          <p:cNvPr id="49" name="Table 0"/>
          <p:cNvGraphicFramePr>
            <a:graphicFrameLocks noGrp="1"/>
          </p:cNvGraphicFramePr>
          <p:nvPr>
            <p:extLst>
              <p:ext uri="{D42A27DB-BD31-4B8C-83A1-F6EECF244321}">
                <p14:modId xmlns:p14="http://schemas.microsoft.com/office/powerpoint/2010/main" val="1579011935"/>
              </p:ext>
            </p:extLst>
          </p:nvPr>
        </p:nvGraphicFramePr>
        <p:xfrm>
          <a:off x="502920" y="1965960"/>
          <a:ext cx="8138160" cy="914400"/>
        </p:xfrm>
        <a:graphic>
          <a:graphicData uri="http://schemas.openxmlformats.org/drawingml/2006/table">
            <a:tbl>
              <a:tblPr/>
              <a:tblGrid>
                <a:gridCol w="2712720"/>
                <a:gridCol w="2712720"/>
                <a:gridCol w="2712720"/>
              </a:tblGrid>
              <a:tr h="0">
                <a:tc>
                  <a:txBody>
                    <a:bodyPr/>
                    <a:lstStyle/>
                    <a:p>
                      <a:pPr indent="0" marL="0">
                        <a:buNone/>
                      </a:pPr>
                      <a:r>
                        <a:rPr lang="en-US" sz="1100" b="1" dirty="0">
                          <a:solidFill>
                            <a:srgbClr val="FFFFFF"/>
                          </a:solidFill>
                          <a:latin typeface="Meiryo" pitchFamily="34" charset="0"/>
                          <a:ea typeface="Meiryo" pitchFamily="34" charset="-122"/>
                          <a:cs typeface="Meiryo" pitchFamily="34" charset="-120"/>
                        </a:rPr>
                        <a:t>項目</a:t>
                      </a:r>
                      <a:endParaRPr lang="en-US" sz="1100" dirty="0">
                        <a:latin typeface="Meiryo" charset="0"/>
                        <a:ea typeface="Meiryo" charset="0"/>
                        <a:cs typeface="Meiryo" charset="0"/>
                      </a:endParaRPr>
                    </a:p>
                  </a:txBody>
                  <a:tcPr marL="91440" marR="91440" marT="45720" marB="45720">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1F3A5F"/>
                    </a:solidFill>
                  </a:tcPr>
                </a:tc>
                <a:tc>
                  <a:txBody>
                    <a:bodyPr/>
                    <a:lstStyle/>
                    <a:p>
                      <a:pPr indent="0" marL="0">
                        <a:buNone/>
                      </a:pPr>
                      <a:r>
                        <a:rPr lang="en-US" sz="1100" b="1" dirty="0">
                          <a:solidFill>
                            <a:srgbClr val="FFFFFF"/>
                          </a:solidFill>
                          <a:latin typeface="Meiryo" pitchFamily="34" charset="0"/>
                          <a:ea typeface="Meiryo" pitchFamily="34" charset="-122"/>
                          <a:cs typeface="Meiryo" pitchFamily="34" charset="-120"/>
                        </a:rPr>
                        <a:t>現状（2026-09-18 実測）</a:t>
                      </a:r>
                      <a:endParaRPr lang="en-US" sz="1100" dirty="0">
                        <a:latin typeface="Meiryo" charset="0"/>
                        <a:ea typeface="Meiryo" charset="0"/>
                        <a:cs typeface="Meiryo" charset="0"/>
                      </a:endParaRPr>
                    </a:p>
                  </a:txBody>
                  <a:tcPr marL="91440" marR="91440" marT="45720" marB="45720">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1F3A5F"/>
                    </a:solidFill>
                  </a:tcPr>
                </a:tc>
                <a:tc>
                  <a:txBody>
                    <a:bodyPr/>
                    <a:lstStyle/>
                    <a:p>
                      <a:pPr indent="0" marL="0">
                        <a:buNone/>
                      </a:pPr>
                      <a:r>
                        <a:rPr lang="en-US" sz="1100" b="1" dirty="0">
                          <a:solidFill>
                            <a:srgbClr val="FFFFFF"/>
                          </a:solidFill>
                          <a:latin typeface="Meiryo" pitchFamily="34" charset="0"/>
                          <a:ea typeface="Meiryo" pitchFamily="34" charset="-122"/>
                          <a:cs typeface="Meiryo" pitchFamily="34" charset="-120"/>
                        </a:rPr>
                        <a:t>扱い</a:t>
                      </a:r>
                      <a:endParaRPr lang="en-US" sz="1100" dirty="0">
                        <a:latin typeface="Meiryo" charset="0"/>
                        <a:ea typeface="Meiryo" charset="0"/>
                        <a:cs typeface="Meiryo" charset="0"/>
                      </a:endParaRPr>
                    </a:p>
                  </a:txBody>
                  <a:tcPr marL="91440" marR="91440" marT="45720" marB="45720">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1F3A5F"/>
                    </a:solidFill>
                  </a:tcPr>
                </a:tc>
              </a:tr>
              <a:tr h="0">
                <a:tc>
                  <a:txBody>
                    <a:bodyPr/>
                    <a:lstStyle/>
                    <a:p>
                      <a:pPr indent="0" marL="0">
                        <a:buNone/>
                      </a:pPr>
                      <a:r>
                        <a:rPr lang="en-US" sz="1100" dirty="0">
                          <a:solidFill>
                            <a:srgbClr val="1A1A1A"/>
                          </a:solidFill>
                          <a:latin typeface="Meiryo" pitchFamily="34" charset="0"/>
                          <a:ea typeface="Meiryo" pitchFamily="34" charset="-122"/>
                          <a:cs typeface="Meiryo" pitchFamily="34" charset="-120"/>
                        </a:rPr>
                        <a:t>サーバー</a:t>
                      </a:r>
                      <a:endParaRPr lang="en-US" sz="1100" dirty="0">
                        <a:latin typeface="Meiryo" charset="0"/>
                        <a:ea typeface="Meiryo" charset="0"/>
                        <a:cs typeface="Meiryo" charset="0"/>
                      </a:endParaRPr>
                    </a:p>
                  </a:txBody>
                  <a:tcPr marL="91440" marR="91440" marT="45720" marB="45720">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tcPr>
                </a:tc>
                <a:tc>
                  <a:txBody>
                    <a:bodyPr/>
                    <a:lstStyle/>
                    <a:p>
                      <a:pPr indent="0" marL="0">
                        <a:buNone/>
                      </a:pPr>
                      <a:r>
                        <a:rPr lang="en-US" sz="1100" dirty="0">
                          <a:solidFill>
                            <a:srgbClr val="1A1A1A"/>
                          </a:solidFill>
                          <a:latin typeface="Meiryo" pitchFamily="34" charset="0"/>
                          <a:ea typeface="Meiryo" pitchFamily="34" charset="-122"/>
                          <a:cs typeface="Meiryo" pitchFamily="34" charset="-120"/>
                        </a:rPr>
                        <a:t>Xserver ビジネス（ネームサーバーから判定）</a:t>
                      </a:r>
                      <a:endParaRPr lang="en-US" sz="1100" dirty="0">
                        <a:latin typeface="Meiryo" charset="0"/>
                        <a:ea typeface="Meiryo" charset="0"/>
                        <a:cs typeface="Meiryo" charset="0"/>
                      </a:endParaRPr>
                    </a:p>
                  </a:txBody>
                  <a:tcPr marL="91440" marR="91440" marT="45720" marB="45720">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tcPr>
                </a:tc>
                <a:tc>
                  <a:txBody>
                    <a:bodyPr/>
                    <a:lstStyle/>
                    <a:p>
                      <a:pPr indent="0" marL="0">
                        <a:buNone/>
                      </a:pPr>
                      <a:r>
                        <a:rPr lang="en-US" sz="1100" dirty="0">
                          <a:solidFill>
                            <a:srgbClr val="1A1A1A"/>
                          </a:solidFill>
                          <a:latin typeface="Meiryo" pitchFamily="34" charset="0"/>
                          <a:ea typeface="Meiryo" pitchFamily="34" charset="-122"/>
                          <a:cs typeface="Meiryo" pitchFamily="34" charset="-120"/>
                        </a:rPr>
                        <a:t>契約内容を確認のうえ判断します（要確認）</a:t>
                      </a:r>
                      <a:endParaRPr lang="en-US" sz="1100" dirty="0">
                        <a:latin typeface="Meiryo" charset="0"/>
                        <a:ea typeface="Meiryo" charset="0"/>
                        <a:cs typeface="Meiryo" charset="0"/>
                      </a:endParaRPr>
                    </a:p>
                  </a:txBody>
                  <a:tcPr marL="91440" marR="91440" marT="45720" marB="45720">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tcPr>
                </a:tc>
              </a:tr>
              <a:tr h="0">
                <a:tc>
                  <a:txBody>
                    <a:bodyPr/>
                    <a:lstStyle/>
                    <a:p>
                      <a:pPr indent="0" marL="0">
                        <a:buNone/>
                      </a:pPr>
                      <a:r>
                        <a:rPr lang="en-US" sz="1100" dirty="0">
                          <a:solidFill>
                            <a:srgbClr val="1A1A1A"/>
                          </a:solidFill>
                          <a:latin typeface="Meiryo" pitchFamily="34" charset="0"/>
                          <a:ea typeface="Meiryo" pitchFamily="34" charset="-122"/>
                          <a:cs typeface="Meiryo" pitchFamily="34" charset="-120"/>
                        </a:rPr>
                        <a:t>ドメイン</a:t>
                      </a:r>
                      <a:endParaRPr lang="en-US" sz="1100" dirty="0">
                        <a:latin typeface="Meiryo" charset="0"/>
                        <a:ea typeface="Meiryo" charset="0"/>
                        <a:cs typeface="Meiryo" charset="0"/>
                      </a:endParaRPr>
                    </a:p>
                  </a:txBody>
                  <a:tcPr marL="91440" marR="91440" marT="45720" marB="45720">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tcPr>
                </a:tc>
                <a:tc>
                  <a:txBody>
                    <a:bodyPr/>
                    <a:lstStyle/>
                    <a:p>
                      <a:pPr indent="0" marL="0">
                        <a:buNone/>
                      </a:pPr>
                      <a:r>
                        <a:rPr lang="en-US" sz="1100" dirty="0">
                          <a:solidFill>
                            <a:srgbClr val="1A1A1A"/>
                          </a:solidFill>
                          <a:latin typeface="Meiryo" pitchFamily="34" charset="0"/>
                          <a:ea typeface="Meiryo" pitchFamily="34" charset="-122"/>
                          <a:cs typeface="Meiryo" pitchFamily="34" charset="-120"/>
                        </a:rPr>
                        <a:t>johokusaitama.ac.jp（1997年取得）</a:t>
                      </a:r>
                      <a:endParaRPr lang="en-US" sz="1100" dirty="0">
                        <a:latin typeface="Meiryo" charset="0"/>
                        <a:ea typeface="Meiryo" charset="0"/>
                        <a:cs typeface="Meiryo" charset="0"/>
                      </a:endParaRPr>
                    </a:p>
                  </a:txBody>
                  <a:tcPr marL="91440" marR="91440" marT="45720" marB="45720">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tcPr>
                </a:tc>
                <a:tc>
                  <a:txBody>
                    <a:bodyPr/>
                    <a:lstStyle/>
                    <a:p>
                      <a:pPr indent="0" marL="0">
                        <a:buNone/>
                      </a:pPr>
                      <a:r>
                        <a:rPr lang="en-US" sz="1100" dirty="0">
                          <a:solidFill>
                            <a:srgbClr val="1A1A1A"/>
                          </a:solidFill>
                          <a:latin typeface="Meiryo" pitchFamily="34" charset="0"/>
                          <a:ea typeface="Meiryo" pitchFamily="34" charset="-122"/>
                          <a:cs typeface="Meiryo" pitchFamily="34" charset="-120"/>
                        </a:rPr>
                        <a:t>継続して使用します</a:t>
                      </a:r>
                      <a:endParaRPr lang="en-US" sz="1100" dirty="0">
                        <a:latin typeface="Meiryo" charset="0"/>
                        <a:ea typeface="Meiryo" charset="0"/>
                        <a:cs typeface="Meiryo" charset="0"/>
                      </a:endParaRPr>
                    </a:p>
                  </a:txBody>
                  <a:tcPr marL="91440" marR="91440" marT="45720" marB="45720">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tcPr>
                </a:tc>
              </a:tr>
              <a:tr h="0">
                <a:tc>
                  <a:txBody>
                    <a:bodyPr/>
                    <a:lstStyle/>
                    <a:p>
                      <a:pPr indent="0" marL="0">
                        <a:buNone/>
                      </a:pPr>
                      <a:r>
                        <a:rPr lang="en-US" sz="1100" dirty="0">
                          <a:solidFill>
                            <a:srgbClr val="1A1A1A"/>
                          </a:solidFill>
                          <a:latin typeface="Meiryo" pitchFamily="34" charset="0"/>
                          <a:ea typeface="Meiryo" pitchFamily="34" charset="-122"/>
                          <a:cs typeface="Meiryo" pitchFamily="34" charset="-120"/>
                        </a:rPr>
                        <a:t>常時SSL</a:t>
                      </a:r>
                      <a:endParaRPr lang="en-US" sz="1100" dirty="0">
                        <a:latin typeface="Meiryo" charset="0"/>
                        <a:ea typeface="Meiryo" charset="0"/>
                        <a:cs typeface="Meiryo" charset="0"/>
                      </a:endParaRPr>
                    </a:p>
                  </a:txBody>
                  <a:tcPr marL="91440" marR="91440" marT="45720" marB="45720">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tcPr>
                </a:tc>
                <a:tc>
                  <a:txBody>
                    <a:bodyPr/>
                    <a:lstStyle/>
                    <a:p>
                      <a:pPr indent="0" marL="0">
                        <a:buNone/>
                      </a:pPr>
                      <a:r>
                        <a:rPr lang="en-US" sz="1100" dirty="0">
                          <a:solidFill>
                            <a:srgbClr val="1A1A1A"/>
                          </a:solidFill>
                          <a:latin typeface="Meiryo" pitchFamily="34" charset="0"/>
                          <a:ea typeface="Meiryo" pitchFamily="34" charset="-122"/>
                          <a:cs typeface="Meiryo" pitchFamily="34" charset="-120"/>
                        </a:rPr>
                        <a:t>有効</a:t>
                      </a:r>
                      <a:endParaRPr lang="en-US" sz="1100" dirty="0">
                        <a:latin typeface="Meiryo" charset="0"/>
                        <a:ea typeface="Meiryo" charset="0"/>
                        <a:cs typeface="Meiryo" charset="0"/>
                      </a:endParaRPr>
                    </a:p>
                  </a:txBody>
                  <a:tcPr marL="91440" marR="91440" marT="45720" marB="45720">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tcPr>
                </a:tc>
                <a:tc>
                  <a:txBody>
                    <a:bodyPr/>
                    <a:lstStyle/>
                    <a:p>
                      <a:pPr indent="0" marL="0">
                        <a:buNone/>
                      </a:pPr>
                      <a:r>
                        <a:rPr lang="en-US" sz="1100" dirty="0">
                          <a:solidFill>
                            <a:srgbClr val="1A1A1A"/>
                          </a:solidFill>
                          <a:latin typeface="Meiryo" pitchFamily="34" charset="0"/>
                          <a:ea typeface="Meiryo" pitchFamily="34" charset="-122"/>
                          <a:cs typeface="Meiryo" pitchFamily="34" charset="-120"/>
                        </a:rPr>
                        <a:t>継続します</a:t>
                      </a:r>
                      <a:endParaRPr lang="en-US" sz="1100" dirty="0">
                        <a:latin typeface="Meiryo" charset="0"/>
                        <a:ea typeface="Meiryo" charset="0"/>
                        <a:cs typeface="Meiryo" charset="0"/>
                      </a:endParaRPr>
                    </a:p>
                  </a:txBody>
                  <a:tcPr marL="91440" marR="91440" marT="45720" marB="45720">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tcPr>
                </a:tc>
              </a:tr>
              <a:tr h="0">
                <a:tc>
                  <a:txBody>
                    <a:bodyPr/>
                    <a:lstStyle/>
                    <a:p>
                      <a:pPr indent="0" marL="0">
                        <a:buNone/>
                      </a:pPr>
                      <a:r>
                        <a:rPr lang="en-US" sz="1100" dirty="0">
                          <a:solidFill>
                            <a:srgbClr val="1A1A1A"/>
                          </a:solidFill>
                          <a:latin typeface="Meiryo" pitchFamily="34" charset="0"/>
                          <a:ea typeface="Meiryo" pitchFamily="34" charset="-122"/>
                          <a:cs typeface="Meiryo" pitchFamily="34" charset="-120"/>
                        </a:rPr>
                        <a:t>ホスト名</a:t>
                      </a:r>
                      <a:endParaRPr lang="en-US" sz="1100" dirty="0">
                        <a:latin typeface="Meiryo" charset="0"/>
                        <a:ea typeface="Meiryo" charset="0"/>
                        <a:cs typeface="Meiryo" charset="0"/>
                      </a:endParaRPr>
                    </a:p>
                  </a:txBody>
                  <a:tcPr marL="91440" marR="91440" marT="45720" marB="45720">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tcPr>
                </a:tc>
                <a:tc>
                  <a:txBody>
                    <a:bodyPr/>
                    <a:lstStyle/>
                    <a:p>
                      <a:pPr indent="0" marL="0">
                        <a:buNone/>
                      </a:pPr>
                      <a:r>
                        <a:rPr lang="en-US" sz="1100" dirty="0">
                          <a:solidFill>
                            <a:srgbClr val="1A1A1A"/>
                          </a:solidFill>
                          <a:latin typeface="Meiryo" pitchFamily="34" charset="0"/>
                          <a:ea typeface="Meiryo" pitchFamily="34" charset="-122"/>
                          <a:cs typeface="Meiryo" pitchFamily="34" charset="-120"/>
                        </a:rPr>
                        <a:t>wwwあり・なしが混在</a:t>
                      </a:r>
                      <a:endParaRPr lang="en-US" sz="1100" dirty="0">
                        <a:latin typeface="Meiryo" charset="0"/>
                        <a:ea typeface="Meiryo" charset="0"/>
                        <a:cs typeface="Meiryo" charset="0"/>
                      </a:endParaRPr>
                    </a:p>
                  </a:txBody>
                  <a:tcPr marL="91440" marR="91440" marT="45720" marB="45720">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tcPr>
                </a:tc>
                <a:tc>
                  <a:txBody>
                    <a:bodyPr/>
                    <a:lstStyle/>
                    <a:p>
                      <a:pPr indent="0" marL="0">
                        <a:buNone/>
                      </a:pPr>
                      <a:r>
                        <a:rPr lang="en-US" sz="1100" dirty="0">
                          <a:solidFill>
                            <a:srgbClr val="1A1A1A"/>
                          </a:solidFill>
                          <a:latin typeface="Meiryo" pitchFamily="34" charset="0"/>
                          <a:ea typeface="Meiryo" pitchFamily="34" charset="-122"/>
                          <a:cs typeface="Meiryo" pitchFamily="34" charset="-120"/>
                        </a:rPr>
                        <a:t>wwwありに統一します（仮）</a:t>
                      </a:r>
                      <a:endParaRPr lang="en-US" sz="1100" dirty="0">
                        <a:latin typeface="Meiryo" charset="0"/>
                        <a:ea typeface="Meiryo" charset="0"/>
                        <a:cs typeface="Meiryo" charset="0"/>
                      </a:endParaRPr>
                    </a:p>
                  </a:txBody>
                  <a:tcPr marL="91440" marR="91440" marT="45720" marB="45720">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tcPr>
                </a:tc>
              </a:tr>
              <a:tr h="0">
                <a:tc>
                  <a:txBody>
                    <a:bodyPr/>
                    <a:lstStyle/>
                    <a:p>
                      <a:pPr indent="0" marL="0">
                        <a:buNone/>
                      </a:pPr>
                      <a:r>
                        <a:rPr lang="en-US" sz="1100" dirty="0">
                          <a:solidFill>
                            <a:srgbClr val="1A1A1A"/>
                          </a:solidFill>
                          <a:latin typeface="Meiryo" pitchFamily="34" charset="0"/>
                          <a:ea typeface="Meiryo" pitchFamily="34" charset="-122"/>
                          <a:cs typeface="Meiryo" pitchFamily="34" charset="-120"/>
                        </a:rPr>
                        <a:t>公開手順</a:t>
                      </a:r>
                      <a:endParaRPr lang="en-US" sz="1100" dirty="0">
                        <a:latin typeface="Meiryo" charset="0"/>
                        <a:ea typeface="Meiryo" charset="0"/>
                        <a:cs typeface="Meiryo" charset="0"/>
                      </a:endParaRPr>
                    </a:p>
                  </a:txBody>
                  <a:tcPr marL="91440" marR="91440" marT="45720" marB="45720">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tcPr>
                </a:tc>
                <a:tc>
                  <a:txBody>
                    <a:bodyPr/>
                    <a:lstStyle/>
                    <a:p>
                      <a:pPr indent="0" marL="0">
                        <a:buNone/>
                      </a:pPr>
                      <a:r>
                        <a:rPr lang="en-US" sz="1100" dirty="0">
                          <a:solidFill>
                            <a:srgbClr val="1A1A1A"/>
                          </a:solidFill>
                          <a:latin typeface="Meiryo" pitchFamily="34" charset="0"/>
                          <a:ea typeface="Meiryo" pitchFamily="34" charset="-122"/>
                          <a:cs typeface="Meiryo" pitchFamily="34" charset="-120"/>
                        </a:rPr>
                        <a:t>要確認</a:t>
                      </a:r>
                      <a:endParaRPr lang="en-US" sz="1100" dirty="0">
                        <a:latin typeface="Meiryo" charset="0"/>
                        <a:ea typeface="Meiryo" charset="0"/>
                        <a:cs typeface="Meiryo" charset="0"/>
                      </a:endParaRPr>
                    </a:p>
                  </a:txBody>
                  <a:tcPr marL="91440" marR="91440" marT="45720" marB="45720">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tcPr>
                </a:tc>
                <a:tc>
                  <a:txBody>
                    <a:bodyPr/>
                    <a:lstStyle/>
                    <a:p>
                      <a:pPr indent="0" marL="0">
                        <a:buNone/>
                      </a:pPr>
                      <a:r>
                        <a:rPr lang="en-US" sz="1100" dirty="0">
                          <a:solidFill>
                            <a:srgbClr val="1A1A1A"/>
                          </a:solidFill>
                          <a:latin typeface="Meiryo" pitchFamily="34" charset="0"/>
                          <a:ea typeface="Meiryo" pitchFamily="34" charset="-122"/>
                          <a:cs typeface="Meiryo" pitchFamily="34" charset="-120"/>
                        </a:rPr>
                        <a:t>切り替え手順書を作成し、事前にご確認いただきます</a:t>
                      </a:r>
                      <a:endParaRPr lang="en-US" sz="1100" dirty="0">
                        <a:latin typeface="Meiryo" charset="0"/>
                        <a:ea typeface="Meiryo" charset="0"/>
                        <a:cs typeface="Meiryo" charset="0"/>
                      </a:endParaRPr>
                    </a:p>
                  </a:txBody>
                  <a:tcPr marL="91440" marR="91440" marT="45720" marB="45720">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tcPr>
                </a:tc>
              </a:tr>
            </a:tbl>
          </a:graphicData>
        </a:graphic>
      </p:graphicFrame>
      <p:sp>
        <p:nvSpPr>
          <p:cNvPr id="7" name="Text 4"/>
          <p:cNvSpPr/>
          <p:nvPr/>
        </p:nvSpPr>
        <p:spPr>
          <a:xfrm>
            <a:off x="502920" y="4759452"/>
            <a:ext cx="6949440" cy="228600"/>
          </a:xfrm>
          <a:prstGeom prst="rect">
            <a:avLst/>
          </a:prstGeom>
          <a:noFill/>
          <a:ln/>
        </p:spPr>
        <p:txBody>
          <a:bodyPr wrap="square" rtlCol="0" anchor="ctr"/>
          <a:lstStyle/>
          <a:p>
            <a:pPr indent="0" marL="0">
              <a:buNone/>
            </a:pPr>
            <a:r>
              <a:rPr lang="en-US" sz="900" dirty="0">
                <a:solidFill>
                  <a:srgbClr val="6B6B6B"/>
                </a:solidFill>
                <a:latin typeface="Meiryo" pitchFamily="34" charset="0"/>
                <a:ea typeface="Meiryo" pitchFamily="34" charset="-122"/>
                <a:cs typeface="Meiryo" pitchFamily="34" charset="-120"/>
              </a:rPr>
              <a:t>出典: gg-manager http_headers（2026-09-18）／HTMLソース（トップページ 2026-09-18 取得）</a:t>
            </a:r>
            <a:endParaRPr lang="en-US" sz="900" dirty="0"/>
          </a:p>
        </p:txBody>
      </p:sp>
      <p:sp>
        <p:nvSpPr>
          <p:cNvPr id="8" name="Text 5"/>
          <p:cNvSpPr/>
          <p:nvPr/>
        </p:nvSpPr>
        <p:spPr>
          <a:xfrm>
            <a:off x="7543800" y="4759452"/>
            <a:ext cx="1097280" cy="228600"/>
          </a:xfrm>
          <a:prstGeom prst="rect">
            <a:avLst/>
          </a:prstGeom>
          <a:noFill/>
          <a:ln/>
        </p:spPr>
        <p:txBody>
          <a:bodyPr wrap="square" rtlCol="0" anchor="ctr"/>
          <a:lstStyle/>
          <a:p>
            <a:pPr algn="r" indent="0" marL="0">
              <a:buNone/>
            </a:pPr>
            <a:r>
              <a:rPr lang="en-US" sz="900" dirty="0">
                <a:solidFill>
                  <a:srgbClr val="6B6B6B"/>
                </a:solidFill>
                <a:latin typeface="Meiryo" pitchFamily="34" charset="0"/>
                <a:ea typeface="Meiryo" pitchFamily="34" charset="-122"/>
                <a:cs typeface="Meiryo" pitchFamily="34" charset="-120"/>
              </a:rPr>
              <a:t>48|82</a:t>
            </a:r>
            <a:endParaRPr lang="en-US" sz="9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502920" y="502920"/>
            <a:ext cx="8138160" cy="228600"/>
          </a:xfrm>
          <a:prstGeom prst="rect">
            <a:avLst/>
          </a:prstGeom>
          <a:noFill/>
          <a:ln/>
        </p:spPr>
        <p:txBody>
          <a:bodyPr wrap="square" rtlCol="0" anchor="ctr"/>
          <a:lstStyle/>
          <a:p>
            <a:pPr indent="0" marL="0">
              <a:buNone/>
            </a:pPr>
            <a:r>
              <a:rPr lang="en-US" sz="1000" dirty="0">
                <a:solidFill>
                  <a:srgbClr val="6B6B6B"/>
                </a:solidFill>
                <a:latin typeface="Meiryo" pitchFamily="34" charset="0"/>
                <a:ea typeface="Meiryo" pitchFamily="34" charset="-122"/>
                <a:cs typeface="Meiryo" pitchFamily="34" charset="-120"/>
              </a:rPr>
              <a:t>10 Server</a:t>
            </a:r>
            <a:endParaRPr lang="en-US" sz="1000" dirty="0"/>
          </a:p>
        </p:txBody>
      </p:sp>
      <p:sp>
        <p:nvSpPr>
          <p:cNvPr id="3" name="Text 1"/>
          <p:cNvSpPr/>
          <p:nvPr/>
        </p:nvSpPr>
        <p:spPr>
          <a:xfrm>
            <a:off x="502920" y="777240"/>
            <a:ext cx="8138160" cy="457200"/>
          </a:xfrm>
          <a:prstGeom prst="rect">
            <a:avLst/>
          </a:prstGeom>
          <a:noFill/>
          <a:ln/>
        </p:spPr>
        <p:txBody>
          <a:bodyPr wrap="square" rtlCol="0" anchor="ctr"/>
          <a:lstStyle/>
          <a:p>
            <a:pPr indent="0" marL="0">
              <a:buNone/>
            </a:pPr>
            <a:r>
              <a:rPr lang="en-US" sz="2000" b="1" dirty="0">
                <a:solidFill>
                  <a:srgbClr val="1A1A1A"/>
                </a:solidFill>
                <a:latin typeface="Meiryo" pitchFamily="34" charset="0"/>
                <a:ea typeface="Meiryo" pitchFamily="34" charset="-122"/>
                <a:cs typeface="Meiryo" pitchFamily="34" charset="-120"/>
              </a:rPr>
              <a:t>セキュリティと外部依存を是正します</a:t>
            </a:r>
            <a:endParaRPr lang="en-US" sz="2000" dirty="0"/>
          </a:p>
        </p:txBody>
      </p:sp>
      <p:sp>
        <p:nvSpPr>
          <p:cNvPr id="4" name="Shape 2"/>
          <p:cNvSpPr/>
          <p:nvPr/>
        </p:nvSpPr>
        <p:spPr>
          <a:xfrm>
            <a:off x="502920" y="1280160"/>
            <a:ext cx="8138160" cy="0"/>
          </a:xfrm>
          <a:prstGeom prst="line">
            <a:avLst/>
          </a:prstGeom>
          <a:noFill/>
          <a:ln w="12700">
            <a:solidFill>
              <a:srgbClr val="D5D5D5"/>
            </a:solidFill>
            <a:prstDash val="solid"/>
          </a:ln>
        </p:spPr>
      </p:sp>
      <p:sp>
        <p:nvSpPr>
          <p:cNvPr id="5" name="Text 3"/>
          <p:cNvSpPr/>
          <p:nvPr/>
        </p:nvSpPr>
        <p:spPr>
          <a:xfrm>
            <a:off x="502920" y="1417320"/>
            <a:ext cx="8138160" cy="457200"/>
          </a:xfrm>
          <a:prstGeom prst="rect">
            <a:avLst/>
          </a:prstGeom>
          <a:noFill/>
          <a:ln/>
        </p:spPr>
        <p:txBody>
          <a:bodyPr wrap="square" rtlCol="0" anchor="t"/>
          <a:lstStyle/>
          <a:p>
            <a:pPr indent="0" marL="0">
              <a:buNone/>
            </a:pPr>
            <a:r>
              <a:rPr lang="en-US" sz="1200" dirty="0">
                <a:solidFill>
                  <a:srgbClr val="1A1A1A"/>
                </a:solidFill>
                <a:latin typeface="Meiryo" pitchFamily="34" charset="0"/>
                <a:ea typeface="Meiryo" pitchFamily="34" charset="-122"/>
                <a:cs typeface="Meiryo" pitchFamily="34" charset="-120"/>
              </a:rPr>
              <a:t>現行で未設定のヘッダを付与し、外部サービスへの依存を減らします。いずれも実測で確認した項目です。</a:t>
            </a:r>
            <a:endParaRPr lang="en-US" sz="1200" dirty="0"/>
          </a:p>
        </p:txBody>
      </p:sp>
      <p:sp>
        <p:nvSpPr>
          <p:cNvPr id="6" name="Text 4"/>
          <p:cNvSpPr/>
          <p:nvPr/>
        </p:nvSpPr>
        <p:spPr>
          <a:xfrm>
            <a:off x="502920" y="1965960"/>
            <a:ext cx="8138160" cy="2628900"/>
          </a:xfrm>
          <a:prstGeom prst="rect">
            <a:avLst/>
          </a:prstGeom>
          <a:noFill/>
          <a:ln/>
        </p:spPr>
        <p:txBody>
          <a:bodyPr wrap="square" rtlCol="0" anchor="t"/>
          <a:lstStyle/>
          <a:p>
            <a:pPr marL="342900" indent="-342900">
              <a:lnSpc>
                <a:spcPct val="130000"/>
              </a:lnSpc>
              <a:buSzPct val="100000"/>
              <a:buChar char="•"/>
            </a:pPr>
            <a:r>
              <a:rPr lang="en-US" sz="1300" dirty="0">
                <a:solidFill>
                  <a:srgbClr val="1A1A1A"/>
                </a:solidFill>
                <a:latin typeface="Meiryo" pitchFamily="34" charset="0"/>
                <a:ea typeface="Meiryo" pitchFamily="34" charset="-122"/>
                <a:cs typeface="Meiryo" pitchFamily="34" charset="-120"/>
              </a:rPr>
              <a:t>HSTS: 常時SSLを強制するヘッダを付与します</a:t>
            </a:r>
            <a:endParaRPr lang="en-US" sz="1300" dirty="0"/>
          </a:p>
          <a:p>
            <a:pPr marL="342900" indent="-342900">
              <a:lnSpc>
                <a:spcPct val="130000"/>
              </a:lnSpc>
              <a:buSzPct val="100000"/>
              <a:buChar char="•"/>
            </a:pPr>
            <a:r>
              <a:rPr lang="en-US" sz="1300" dirty="0">
                <a:solidFill>
                  <a:srgbClr val="1A1A1A"/>
                </a:solidFill>
                <a:latin typeface="Meiryo" pitchFamily="34" charset="0"/>
                <a:ea typeface="Meiryo" pitchFamily="34" charset="-122"/>
                <a:cs typeface="Meiryo" pitchFamily="34" charset="-120"/>
              </a:rPr>
              <a:t>X-Frame-Options: 他サイトへの埋め込みを制限します</a:t>
            </a:r>
            <a:endParaRPr lang="en-US" sz="1300" dirty="0"/>
          </a:p>
          <a:p>
            <a:pPr marL="342900" indent="-342900">
              <a:lnSpc>
                <a:spcPct val="130000"/>
              </a:lnSpc>
              <a:buSzPct val="100000"/>
              <a:buChar char="•"/>
            </a:pPr>
            <a:r>
              <a:rPr lang="en-US" sz="1300" dirty="0">
                <a:solidFill>
                  <a:srgbClr val="1A1A1A"/>
                </a:solidFill>
                <a:latin typeface="Meiryo" pitchFamily="34" charset="0"/>
                <a:ea typeface="Meiryo" pitchFamily="34" charset="-122"/>
                <a:cs typeface="Meiryo" pitchFamily="34" charset="-120"/>
              </a:rPr>
              <a:t>X-Content-Type-Options: コンテンツタイプの誤解釈を防ぎます</a:t>
            </a:r>
            <a:endParaRPr lang="en-US" sz="1300" dirty="0"/>
          </a:p>
          <a:p>
            <a:pPr marL="342900" indent="-342900">
              <a:lnSpc>
                <a:spcPct val="130000"/>
              </a:lnSpc>
              <a:buSzPct val="100000"/>
              <a:buChar char="•"/>
            </a:pPr>
            <a:r>
              <a:rPr lang="en-US" sz="1300" dirty="0">
                <a:solidFill>
                  <a:srgbClr val="1A1A1A"/>
                </a:solidFill>
                <a:latin typeface="Meiryo" pitchFamily="34" charset="0"/>
                <a:ea typeface="Meiryo" pitchFamily="34" charset="-122"/>
                <a:cs typeface="Meiryo" pitchFamily="34" charset="-120"/>
              </a:rPr>
              <a:t>外部CDN: バージョン指定なしで外部から直読みしているスクリプトを、自己ホストに変更します</a:t>
            </a:r>
            <a:endParaRPr lang="en-US" sz="1300" dirty="0"/>
          </a:p>
          <a:p>
            <a:pPr marL="342900" indent="-342900">
              <a:lnSpc>
                <a:spcPct val="130000"/>
              </a:lnSpc>
              <a:buSzPct val="100000"/>
              <a:buChar char="•"/>
            </a:pPr>
            <a:r>
              <a:rPr lang="en-US" sz="1300" dirty="0">
                <a:solidFill>
                  <a:srgbClr val="1A1A1A"/>
                </a:solidFill>
                <a:latin typeface="Meiryo" pitchFamily="34" charset="0"/>
                <a:ea typeface="Meiryo" pitchFamily="34" charset="-122"/>
                <a:cs typeface="Meiryo" pitchFamily="34" charset="-120"/>
              </a:rPr>
              <a:t>Webフォント: 4ファミリの読み込みを1〜2ファミリに絞り、初期表示を軽くします</a:t>
            </a:r>
            <a:endParaRPr lang="en-US" sz="1300" dirty="0"/>
          </a:p>
        </p:txBody>
      </p:sp>
      <p:sp>
        <p:nvSpPr>
          <p:cNvPr id="7" name="Text 5"/>
          <p:cNvSpPr/>
          <p:nvPr/>
        </p:nvSpPr>
        <p:spPr>
          <a:xfrm>
            <a:off x="502920" y="4759452"/>
            <a:ext cx="6949440" cy="228600"/>
          </a:xfrm>
          <a:prstGeom prst="rect">
            <a:avLst/>
          </a:prstGeom>
          <a:noFill/>
          <a:ln/>
        </p:spPr>
        <p:txBody>
          <a:bodyPr wrap="square" rtlCol="0" anchor="ctr"/>
          <a:lstStyle/>
          <a:p>
            <a:pPr indent="0" marL="0">
              <a:buNone/>
            </a:pPr>
            <a:r>
              <a:rPr lang="en-US" sz="900" dirty="0">
                <a:solidFill>
                  <a:srgbClr val="6B6B6B"/>
                </a:solidFill>
                <a:latin typeface="Meiryo" pitchFamily="34" charset="0"/>
                <a:ea typeface="Meiryo" pitchFamily="34" charset="-122"/>
                <a:cs typeface="Meiryo" pitchFamily="34" charset="-120"/>
              </a:rPr>
              <a:t>出典: gg-manager http_headers（2026-09-18）／HTMLソース（トップページ 2026-09-18 取得）</a:t>
            </a:r>
            <a:endParaRPr lang="en-US" sz="900" dirty="0"/>
          </a:p>
        </p:txBody>
      </p:sp>
      <p:sp>
        <p:nvSpPr>
          <p:cNvPr id="8" name="Text 6"/>
          <p:cNvSpPr/>
          <p:nvPr/>
        </p:nvSpPr>
        <p:spPr>
          <a:xfrm>
            <a:off x="7543800" y="4759452"/>
            <a:ext cx="1097280" cy="228600"/>
          </a:xfrm>
          <a:prstGeom prst="rect">
            <a:avLst/>
          </a:prstGeom>
          <a:noFill/>
          <a:ln/>
        </p:spPr>
        <p:txBody>
          <a:bodyPr wrap="square" rtlCol="0" anchor="ctr"/>
          <a:lstStyle/>
          <a:p>
            <a:pPr algn="r" indent="0" marL="0">
              <a:buNone/>
            </a:pPr>
            <a:r>
              <a:rPr lang="en-US" sz="900" dirty="0">
                <a:solidFill>
                  <a:srgbClr val="6B6B6B"/>
                </a:solidFill>
                <a:latin typeface="Meiryo" pitchFamily="34" charset="0"/>
                <a:ea typeface="Meiryo" pitchFamily="34" charset="-122"/>
                <a:cs typeface="Meiryo" pitchFamily="34" charset="-120"/>
              </a:rPr>
              <a:t>49|82</a:t>
            </a:r>
            <a:endParaRPr lang="en-US" sz="9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1F3A5F"/>
        </a:solidFill>
      </p:bgPr>
    </p:bg>
    <p:spTree>
      <p:nvGrpSpPr>
        <p:cNvPr id="1" name=""/>
        <p:cNvGrpSpPr/>
        <p:nvPr/>
      </p:nvGrpSpPr>
      <p:grpSpPr>
        <a:xfrm>
          <a:off x="0" y="0"/>
          <a:ext cx="0" cy="0"/>
          <a:chOff x="0" y="0"/>
          <a:chExt cx="0" cy="0"/>
        </a:xfrm>
      </p:grpSpPr>
      <p:sp>
        <p:nvSpPr>
          <p:cNvPr id="2" name="Text 0"/>
          <p:cNvSpPr/>
          <p:nvPr/>
        </p:nvSpPr>
        <p:spPr>
          <a:xfrm>
            <a:off x="502920" y="1737360"/>
            <a:ext cx="1280160" cy="640080"/>
          </a:xfrm>
          <a:prstGeom prst="rect">
            <a:avLst/>
          </a:prstGeom>
          <a:noFill/>
          <a:ln/>
        </p:spPr>
        <p:txBody>
          <a:bodyPr wrap="square" rtlCol="0" anchor="ctr"/>
          <a:lstStyle/>
          <a:p>
            <a:pPr indent="0" marL="0">
              <a:buNone/>
            </a:pPr>
            <a:r>
              <a:rPr lang="en-US" sz="3400" b="1" dirty="0">
                <a:solidFill>
                  <a:srgbClr val="FFFFFF"/>
                </a:solidFill>
                <a:latin typeface="Meiryo" pitchFamily="34" charset="0"/>
                <a:ea typeface="Meiryo" pitchFamily="34" charset="-122"/>
                <a:cs typeface="Meiryo" pitchFamily="34" charset="-120"/>
              </a:rPr>
              <a:t>11</a:t>
            </a:r>
            <a:endParaRPr lang="en-US" sz="3400" dirty="0"/>
          </a:p>
        </p:txBody>
      </p:sp>
      <p:sp>
        <p:nvSpPr>
          <p:cNvPr id="3" name="Text 1"/>
          <p:cNvSpPr/>
          <p:nvPr/>
        </p:nvSpPr>
        <p:spPr>
          <a:xfrm>
            <a:off x="502920" y="2377440"/>
            <a:ext cx="8138160" cy="365760"/>
          </a:xfrm>
          <a:prstGeom prst="rect">
            <a:avLst/>
          </a:prstGeom>
          <a:noFill/>
          <a:ln/>
        </p:spPr>
        <p:txBody>
          <a:bodyPr wrap="square" rtlCol="0" anchor="ctr"/>
          <a:lstStyle/>
          <a:p>
            <a:pPr indent="0" marL="0">
              <a:buNone/>
            </a:pPr>
            <a:r>
              <a:rPr lang="en-US" sz="1300" dirty="0">
                <a:solidFill>
                  <a:srgbClr val="FFFFFF"/>
                </a:solidFill>
                <a:latin typeface="Meiryo" pitchFamily="34" charset="0"/>
                <a:ea typeface="Meiryo" pitchFamily="34" charset="-122"/>
                <a:cs typeface="Meiryo" pitchFamily="34" charset="-120"/>
              </a:rPr>
              <a:t>Support</a:t>
            </a:r>
            <a:endParaRPr lang="en-US" sz="1300" dirty="0"/>
          </a:p>
        </p:txBody>
      </p:sp>
      <p:sp>
        <p:nvSpPr>
          <p:cNvPr id="4" name="Text 2"/>
          <p:cNvSpPr/>
          <p:nvPr/>
        </p:nvSpPr>
        <p:spPr>
          <a:xfrm>
            <a:off x="502920" y="2743200"/>
            <a:ext cx="8138160" cy="548640"/>
          </a:xfrm>
          <a:prstGeom prst="rect">
            <a:avLst/>
          </a:prstGeom>
          <a:noFill/>
          <a:ln/>
        </p:spPr>
        <p:txBody>
          <a:bodyPr wrap="square" rtlCol="0" anchor="ctr"/>
          <a:lstStyle/>
          <a:p>
            <a:pPr indent="0" marL="0">
              <a:buNone/>
            </a:pPr>
            <a:r>
              <a:rPr lang="en-US" sz="2400" b="1" dirty="0">
                <a:solidFill>
                  <a:srgbClr val="FFFFFF"/>
                </a:solidFill>
                <a:latin typeface="Meiryo" pitchFamily="34" charset="0"/>
                <a:ea typeface="Meiryo" pitchFamily="34" charset="-122"/>
                <a:cs typeface="Meiryo" pitchFamily="34" charset="-120"/>
              </a:rPr>
              <a:t>アフターサポート</a:t>
            </a:r>
            <a:endParaRPr lang="en-US" sz="2400" dirty="0"/>
          </a:p>
        </p:txBody>
      </p:sp>
      <p:sp>
        <p:nvSpPr>
          <p:cNvPr id="5" name="Text 3"/>
          <p:cNvSpPr/>
          <p:nvPr/>
        </p:nvSpPr>
        <p:spPr>
          <a:xfrm>
            <a:off x="7543800" y="4759452"/>
            <a:ext cx="1097280" cy="228600"/>
          </a:xfrm>
          <a:prstGeom prst="rect">
            <a:avLst/>
          </a:prstGeom>
          <a:noFill/>
          <a:ln/>
        </p:spPr>
        <p:txBody>
          <a:bodyPr wrap="square" rtlCol="0" anchor="ctr"/>
          <a:lstStyle/>
          <a:p>
            <a:pPr algn="r" indent="0" marL="0">
              <a:buNone/>
            </a:pPr>
            <a:r>
              <a:rPr lang="en-US" sz="900" dirty="0">
                <a:solidFill>
                  <a:srgbClr val="6B6B6B"/>
                </a:solidFill>
                <a:latin typeface="Meiryo" pitchFamily="34" charset="0"/>
                <a:ea typeface="Meiryo" pitchFamily="34" charset="-122"/>
                <a:cs typeface="Meiryo" pitchFamily="34" charset="-120"/>
              </a:rPr>
              <a:t>50|82</a:t>
            </a:r>
            <a:endParaRPr lang="en-US" sz="9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502920" y="502920"/>
            <a:ext cx="8138160" cy="228600"/>
          </a:xfrm>
          <a:prstGeom prst="rect">
            <a:avLst/>
          </a:prstGeom>
          <a:noFill/>
          <a:ln/>
        </p:spPr>
        <p:txBody>
          <a:bodyPr wrap="square" rtlCol="0" anchor="ctr"/>
          <a:lstStyle/>
          <a:p>
            <a:pPr indent="0" marL="0">
              <a:buNone/>
            </a:pPr>
            <a:r>
              <a:rPr lang="en-US" sz="1000" dirty="0">
                <a:solidFill>
                  <a:srgbClr val="6B6B6B"/>
                </a:solidFill>
                <a:latin typeface="Meiryo" pitchFamily="34" charset="0"/>
                <a:ea typeface="Meiryo" pitchFamily="34" charset="-122"/>
                <a:cs typeface="Meiryo" pitchFamily="34" charset="-120"/>
              </a:rPr>
              <a:t>11 Support</a:t>
            </a:r>
            <a:endParaRPr lang="en-US" sz="1000" dirty="0"/>
          </a:p>
        </p:txBody>
      </p:sp>
      <p:sp>
        <p:nvSpPr>
          <p:cNvPr id="3" name="Text 1"/>
          <p:cNvSpPr/>
          <p:nvPr/>
        </p:nvSpPr>
        <p:spPr>
          <a:xfrm>
            <a:off x="502920" y="777240"/>
            <a:ext cx="8138160" cy="457200"/>
          </a:xfrm>
          <a:prstGeom prst="rect">
            <a:avLst/>
          </a:prstGeom>
          <a:noFill/>
          <a:ln/>
        </p:spPr>
        <p:txBody>
          <a:bodyPr wrap="square" rtlCol="0" anchor="ctr"/>
          <a:lstStyle/>
          <a:p>
            <a:pPr indent="0" marL="0">
              <a:buNone/>
            </a:pPr>
            <a:r>
              <a:rPr lang="en-US" sz="2000" b="1" dirty="0">
                <a:solidFill>
                  <a:srgbClr val="1A1A1A"/>
                </a:solidFill>
                <a:latin typeface="Meiryo" pitchFamily="34" charset="0"/>
                <a:ea typeface="Meiryo" pitchFamily="34" charset="-122"/>
                <a:cs typeface="Meiryo" pitchFamily="34" charset="-120"/>
              </a:rPr>
              <a:t>公開後、貴校で回し続けていただくための支援</a:t>
            </a:r>
            <a:endParaRPr lang="en-US" sz="2000" dirty="0"/>
          </a:p>
        </p:txBody>
      </p:sp>
      <p:sp>
        <p:nvSpPr>
          <p:cNvPr id="4" name="Shape 2"/>
          <p:cNvSpPr/>
          <p:nvPr/>
        </p:nvSpPr>
        <p:spPr>
          <a:xfrm>
            <a:off x="502920" y="1280160"/>
            <a:ext cx="8138160" cy="0"/>
          </a:xfrm>
          <a:prstGeom prst="line">
            <a:avLst/>
          </a:prstGeom>
          <a:noFill/>
          <a:ln w="12700">
            <a:solidFill>
              <a:srgbClr val="D5D5D5"/>
            </a:solidFill>
            <a:prstDash val="solid"/>
          </a:ln>
        </p:spPr>
      </p:sp>
      <p:sp>
        <p:nvSpPr>
          <p:cNvPr id="5" name="Text 3"/>
          <p:cNvSpPr/>
          <p:nvPr/>
        </p:nvSpPr>
        <p:spPr>
          <a:xfrm>
            <a:off x="502920" y="1417320"/>
            <a:ext cx="8138160" cy="457200"/>
          </a:xfrm>
          <a:prstGeom prst="rect">
            <a:avLst/>
          </a:prstGeom>
          <a:noFill/>
          <a:ln/>
        </p:spPr>
        <p:txBody>
          <a:bodyPr wrap="square" rtlCol="0" anchor="t"/>
          <a:lstStyle/>
          <a:p>
            <a:pPr indent="0" marL="0">
              <a:buNone/>
            </a:pPr>
            <a:r>
              <a:rPr lang="en-US" sz="1200" dirty="0">
                <a:solidFill>
                  <a:srgbClr val="1A1A1A"/>
                </a:solidFill>
                <a:latin typeface="Meiryo" pitchFamily="34" charset="0"/>
                <a:ea typeface="Meiryo" pitchFamily="34" charset="-122"/>
                <a:cs typeface="Meiryo" pitchFamily="34" charset="-120"/>
              </a:rPr>
              <a:t>論点03に直結する部分です。つくって終わりにせず、更新が続く状態までをお手伝いします。契約条件の詳細は13章に記載しています。</a:t>
            </a:r>
            <a:endParaRPr lang="en-US" sz="1200" dirty="0"/>
          </a:p>
        </p:txBody>
      </p:sp>
      <p:sp>
        <p:nvSpPr>
          <p:cNvPr id="6" name="Text 4"/>
          <p:cNvSpPr/>
          <p:nvPr/>
        </p:nvSpPr>
        <p:spPr>
          <a:xfrm>
            <a:off x="502920" y="1965960"/>
            <a:ext cx="8138160" cy="2628900"/>
          </a:xfrm>
          <a:prstGeom prst="rect">
            <a:avLst/>
          </a:prstGeom>
          <a:noFill/>
          <a:ln/>
        </p:spPr>
        <p:txBody>
          <a:bodyPr wrap="square" rtlCol="0" anchor="t"/>
          <a:lstStyle/>
          <a:p>
            <a:pPr marL="342900" indent="-342900">
              <a:lnSpc>
                <a:spcPct val="130000"/>
              </a:lnSpc>
              <a:buSzPct val="100000"/>
              <a:buChar char="•"/>
            </a:pPr>
            <a:r>
              <a:rPr lang="en-US" sz="1300" dirty="0">
                <a:solidFill>
                  <a:srgbClr val="1A1A1A"/>
                </a:solidFill>
                <a:latin typeface="Meiryo" pitchFamily="34" charset="0"/>
                <a:ea typeface="Meiryo" pitchFamily="34" charset="-122"/>
                <a:cs typeface="Meiryo" pitchFamily="34" charset="-120"/>
              </a:rPr>
              <a:t>操作説明: 公開前に、管理画面の操作説明を実施します</a:t>
            </a:r>
            <a:endParaRPr lang="en-US" sz="1300" dirty="0"/>
          </a:p>
          <a:p>
            <a:pPr marL="342900" indent="-342900">
              <a:lnSpc>
                <a:spcPct val="130000"/>
              </a:lnSpc>
              <a:buSzPct val="100000"/>
              <a:buChar char="•"/>
            </a:pPr>
            <a:r>
              <a:rPr lang="en-US" sz="1300" dirty="0">
                <a:solidFill>
                  <a:srgbClr val="1A1A1A"/>
                </a:solidFill>
                <a:latin typeface="Meiryo" pitchFamily="34" charset="0"/>
                <a:ea typeface="Meiryo" pitchFamily="34" charset="-122"/>
                <a:cs typeface="Meiryo" pitchFamily="34" charset="-120"/>
              </a:rPr>
              <a:t>更新手順書: 更新頻度◎○のページについて、手順書をお渡しします</a:t>
            </a:r>
            <a:endParaRPr lang="en-US" sz="1300" dirty="0"/>
          </a:p>
          <a:p>
            <a:pPr marL="342900" indent="-342900">
              <a:lnSpc>
                <a:spcPct val="130000"/>
              </a:lnSpc>
              <a:buSzPct val="100000"/>
              <a:buChar char="•"/>
            </a:pPr>
            <a:r>
              <a:rPr lang="en-US" sz="1300" dirty="0">
                <a:solidFill>
                  <a:srgbClr val="1A1A1A"/>
                </a:solidFill>
                <a:latin typeface="Meiryo" pitchFamily="34" charset="0"/>
                <a:ea typeface="Meiryo" pitchFamily="34" charset="-122"/>
                <a:cs typeface="Meiryo" pitchFamily="34" charset="-120"/>
              </a:rPr>
              <a:t>公開後の確認: 公開直後にリダイレクトと計測の稼働を確認します</a:t>
            </a:r>
            <a:endParaRPr lang="en-US" sz="1300" dirty="0"/>
          </a:p>
          <a:p>
            <a:pPr marL="342900" indent="-342900">
              <a:lnSpc>
                <a:spcPct val="130000"/>
              </a:lnSpc>
              <a:buSzPct val="100000"/>
              <a:buChar char="•"/>
            </a:pPr>
            <a:r>
              <a:rPr lang="en-US" sz="1300" dirty="0">
                <a:solidFill>
                  <a:srgbClr val="1A1A1A"/>
                </a:solidFill>
                <a:latin typeface="Meiryo" pitchFamily="34" charset="0"/>
                <a:ea typeface="Meiryo" pitchFamily="34" charset="-122"/>
                <a:cs typeface="Meiryo" pitchFamily="34" charset="-120"/>
              </a:rPr>
              <a:t>契約不適合責任: 1年間、弊社の過失およびWordPressの不具合について無償で対応します（13章）</a:t>
            </a:r>
            <a:endParaRPr lang="en-US" sz="1300" dirty="0"/>
          </a:p>
          <a:p>
            <a:pPr marL="342900" indent="-342900">
              <a:lnSpc>
                <a:spcPct val="130000"/>
              </a:lnSpc>
              <a:buSzPct val="100000"/>
              <a:buChar char="•"/>
            </a:pPr>
            <a:r>
              <a:rPr lang="en-US" sz="1300" dirty="0">
                <a:solidFill>
                  <a:srgbClr val="1A1A1A"/>
                </a:solidFill>
                <a:latin typeface="Meiryo" pitchFamily="34" charset="0"/>
                <a:ea typeface="Meiryo" pitchFamily="34" charset="-122"/>
                <a:cs typeface="Meiryo" pitchFamily="34" charset="-120"/>
              </a:rPr>
              <a:t>保守: 無償の範囲と、任意の有償保守をご用意しています（13章）</a:t>
            </a:r>
            <a:endParaRPr lang="en-US" sz="1300" dirty="0"/>
          </a:p>
        </p:txBody>
      </p:sp>
      <p:sp>
        <p:nvSpPr>
          <p:cNvPr id="7" name="Text 5"/>
          <p:cNvSpPr/>
          <p:nvPr/>
        </p:nvSpPr>
        <p:spPr>
          <a:xfrm>
            <a:off x="7543800" y="4759452"/>
            <a:ext cx="1097280" cy="228600"/>
          </a:xfrm>
          <a:prstGeom prst="rect">
            <a:avLst/>
          </a:prstGeom>
          <a:noFill/>
          <a:ln/>
        </p:spPr>
        <p:txBody>
          <a:bodyPr wrap="square" rtlCol="0" anchor="ctr"/>
          <a:lstStyle/>
          <a:p>
            <a:pPr algn="r" indent="0" marL="0">
              <a:buNone/>
            </a:pPr>
            <a:r>
              <a:rPr lang="en-US" sz="900" dirty="0">
                <a:solidFill>
                  <a:srgbClr val="6B6B6B"/>
                </a:solidFill>
                <a:latin typeface="Meiryo" pitchFamily="34" charset="0"/>
                <a:ea typeface="Meiryo" pitchFamily="34" charset="-122"/>
                <a:cs typeface="Meiryo" pitchFamily="34" charset="-120"/>
              </a:rPr>
              <a:t>51|82</a:t>
            </a:r>
            <a:endParaRPr lang="en-US" sz="9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1F3A5F"/>
        </a:solidFill>
      </p:bgPr>
    </p:bg>
    <p:spTree>
      <p:nvGrpSpPr>
        <p:cNvPr id="1" name=""/>
        <p:cNvGrpSpPr/>
        <p:nvPr/>
      </p:nvGrpSpPr>
      <p:grpSpPr>
        <a:xfrm>
          <a:off x="0" y="0"/>
          <a:ext cx="0" cy="0"/>
          <a:chOff x="0" y="0"/>
          <a:chExt cx="0" cy="0"/>
        </a:xfrm>
      </p:grpSpPr>
      <p:sp>
        <p:nvSpPr>
          <p:cNvPr id="2" name="Text 0"/>
          <p:cNvSpPr/>
          <p:nvPr/>
        </p:nvSpPr>
        <p:spPr>
          <a:xfrm>
            <a:off x="502920" y="1737360"/>
            <a:ext cx="1280160" cy="640080"/>
          </a:xfrm>
          <a:prstGeom prst="rect">
            <a:avLst/>
          </a:prstGeom>
          <a:noFill/>
          <a:ln/>
        </p:spPr>
        <p:txBody>
          <a:bodyPr wrap="square" rtlCol="0" anchor="ctr"/>
          <a:lstStyle/>
          <a:p>
            <a:pPr indent="0" marL="0">
              <a:buNone/>
            </a:pPr>
            <a:r>
              <a:rPr lang="en-US" sz="3400" b="1" dirty="0">
                <a:solidFill>
                  <a:srgbClr val="FFFFFF"/>
                </a:solidFill>
                <a:latin typeface="Meiryo" pitchFamily="34" charset="0"/>
                <a:ea typeface="Meiryo" pitchFamily="34" charset="-122"/>
                <a:cs typeface="Meiryo" pitchFamily="34" charset="-120"/>
              </a:rPr>
              <a:t>12</a:t>
            </a:r>
            <a:endParaRPr lang="en-US" sz="3400" dirty="0"/>
          </a:p>
        </p:txBody>
      </p:sp>
      <p:sp>
        <p:nvSpPr>
          <p:cNvPr id="3" name="Text 1"/>
          <p:cNvSpPr/>
          <p:nvPr/>
        </p:nvSpPr>
        <p:spPr>
          <a:xfrm>
            <a:off x="502920" y="2377440"/>
            <a:ext cx="8138160" cy="365760"/>
          </a:xfrm>
          <a:prstGeom prst="rect">
            <a:avLst/>
          </a:prstGeom>
          <a:noFill/>
          <a:ln/>
        </p:spPr>
        <p:txBody>
          <a:bodyPr wrap="square" rtlCol="0" anchor="ctr"/>
          <a:lstStyle/>
          <a:p>
            <a:pPr indent="0" marL="0">
              <a:buNone/>
            </a:pPr>
            <a:r>
              <a:rPr lang="en-US" sz="1300" dirty="0">
                <a:solidFill>
                  <a:srgbClr val="FFFFFF"/>
                </a:solidFill>
                <a:latin typeface="Meiryo" pitchFamily="34" charset="0"/>
                <a:ea typeface="Meiryo" pitchFamily="34" charset="-122"/>
                <a:cs typeface="Meiryo" pitchFamily="34" charset="-120"/>
              </a:rPr>
              <a:t>Schedule</a:t>
            </a:r>
            <a:endParaRPr lang="en-US" sz="1300" dirty="0"/>
          </a:p>
        </p:txBody>
      </p:sp>
      <p:sp>
        <p:nvSpPr>
          <p:cNvPr id="4" name="Text 2"/>
          <p:cNvSpPr/>
          <p:nvPr/>
        </p:nvSpPr>
        <p:spPr>
          <a:xfrm>
            <a:off x="502920" y="2743200"/>
            <a:ext cx="8138160" cy="548640"/>
          </a:xfrm>
          <a:prstGeom prst="rect">
            <a:avLst/>
          </a:prstGeom>
          <a:noFill/>
          <a:ln/>
        </p:spPr>
        <p:txBody>
          <a:bodyPr wrap="square" rtlCol="0" anchor="ctr"/>
          <a:lstStyle/>
          <a:p>
            <a:pPr indent="0" marL="0">
              <a:buNone/>
            </a:pPr>
            <a:r>
              <a:rPr lang="en-US" sz="2400" b="1" dirty="0">
                <a:solidFill>
                  <a:srgbClr val="FFFFFF"/>
                </a:solidFill>
                <a:latin typeface="Meiryo" pitchFamily="34" charset="0"/>
                <a:ea typeface="Meiryo" pitchFamily="34" charset="-122"/>
                <a:cs typeface="Meiryo" pitchFamily="34" charset="-120"/>
              </a:rPr>
              <a:t>スケジュール</a:t>
            </a:r>
            <a:endParaRPr lang="en-US" sz="2400" dirty="0"/>
          </a:p>
        </p:txBody>
      </p:sp>
      <p:sp>
        <p:nvSpPr>
          <p:cNvPr id="5" name="Text 3"/>
          <p:cNvSpPr/>
          <p:nvPr/>
        </p:nvSpPr>
        <p:spPr>
          <a:xfrm>
            <a:off x="7543800" y="4759452"/>
            <a:ext cx="1097280" cy="228600"/>
          </a:xfrm>
          <a:prstGeom prst="rect">
            <a:avLst/>
          </a:prstGeom>
          <a:noFill/>
          <a:ln/>
        </p:spPr>
        <p:txBody>
          <a:bodyPr wrap="square" rtlCol="0" anchor="ctr"/>
          <a:lstStyle/>
          <a:p>
            <a:pPr algn="r" indent="0" marL="0">
              <a:buNone/>
            </a:pPr>
            <a:r>
              <a:rPr lang="en-US" sz="900" dirty="0">
                <a:solidFill>
                  <a:srgbClr val="6B6B6B"/>
                </a:solidFill>
                <a:latin typeface="Meiryo" pitchFamily="34" charset="0"/>
                <a:ea typeface="Meiryo" pitchFamily="34" charset="-122"/>
                <a:cs typeface="Meiryo" pitchFamily="34" charset="-120"/>
              </a:rPr>
              <a:t>52|82</a:t>
            </a:r>
            <a:endParaRPr lang="en-US" sz="9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nvSpPr>
        <p:spPr>
          <a:xfrm>
            <a:off x="502920" y="502920"/>
            <a:ext cx="8138160" cy="228600"/>
          </a:xfrm>
          <a:prstGeom prst="rect">
            <a:avLst/>
          </a:prstGeom>
          <a:noFill/>
          <a:ln/>
        </p:spPr>
        <p:txBody>
          <a:bodyPr wrap="square" rtlCol="0" anchor="ctr"/>
          <a:lstStyle/>
          <a:p>
            <a:pPr indent="0" marL="0">
              <a:buNone/>
            </a:pPr>
            <a:r>
              <a:rPr lang="en-US" sz="1000" dirty="0">
                <a:solidFill>
                  <a:srgbClr val="6B6B6B"/>
                </a:solidFill>
                <a:latin typeface="Meiryo" pitchFamily="34" charset="0"/>
                <a:ea typeface="Meiryo" pitchFamily="34" charset="-122"/>
                <a:cs typeface="Meiryo" pitchFamily="34" charset="-120"/>
              </a:rPr>
              <a:t>12 Schedule</a:t>
            </a:r>
            <a:endParaRPr lang="en-US" sz="1000" dirty="0"/>
          </a:p>
        </p:txBody>
      </p:sp>
      <p:sp>
        <p:nvSpPr>
          <p:cNvPr id="3" name="Text 1"/>
          <p:cNvSpPr/>
          <p:nvPr/>
        </p:nvSpPr>
        <p:spPr>
          <a:xfrm>
            <a:off x="502920" y="777240"/>
            <a:ext cx="8138160" cy="457200"/>
          </a:xfrm>
          <a:prstGeom prst="rect">
            <a:avLst/>
          </a:prstGeom>
          <a:noFill/>
          <a:ln/>
        </p:spPr>
        <p:txBody>
          <a:bodyPr wrap="square" rtlCol="0" anchor="ctr"/>
          <a:lstStyle/>
          <a:p>
            <a:pPr indent="0" marL="0">
              <a:buNone/>
            </a:pPr>
            <a:r>
              <a:rPr lang="en-US" sz="2000" b="1" dirty="0">
                <a:solidFill>
                  <a:srgbClr val="1A1A1A"/>
                </a:solidFill>
                <a:latin typeface="Meiryo" pitchFamily="34" charset="0"/>
                <a:ea typeface="Meiryo" pitchFamily="34" charset="-122"/>
                <a:cs typeface="Meiryo" pitchFamily="34" charset="-120"/>
              </a:rPr>
              <a:t>全体スケジュール（仮）</a:t>
            </a:r>
            <a:endParaRPr lang="en-US" sz="2000" dirty="0"/>
          </a:p>
        </p:txBody>
      </p:sp>
      <p:sp>
        <p:nvSpPr>
          <p:cNvPr id="4" name="Shape 2"/>
          <p:cNvSpPr/>
          <p:nvPr/>
        </p:nvSpPr>
        <p:spPr>
          <a:xfrm>
            <a:off x="502920" y="1280160"/>
            <a:ext cx="8138160" cy="0"/>
          </a:xfrm>
          <a:prstGeom prst="line">
            <a:avLst/>
          </a:prstGeom>
          <a:noFill/>
          <a:ln w="12700">
            <a:solidFill>
              <a:srgbClr val="D5D5D5"/>
            </a:solidFill>
            <a:prstDash val="solid"/>
          </a:ln>
        </p:spPr>
      </p:sp>
      <p:sp>
        <p:nvSpPr>
          <p:cNvPr id="5" name="Text 3"/>
          <p:cNvSpPr/>
          <p:nvPr/>
        </p:nvSpPr>
        <p:spPr>
          <a:xfrm>
            <a:off x="502920" y="1417320"/>
            <a:ext cx="8138160" cy="457200"/>
          </a:xfrm>
          <a:prstGeom prst="rect">
            <a:avLst/>
          </a:prstGeom>
          <a:noFill/>
          <a:ln/>
        </p:spPr>
        <p:txBody>
          <a:bodyPr wrap="square" rtlCol="0" anchor="t"/>
          <a:lstStyle/>
          <a:p>
            <a:pPr indent="0" marL="0">
              <a:buNone/>
            </a:pPr>
            <a:r>
              <a:rPr lang="en-US" sz="1200" dirty="0">
                <a:solidFill>
                  <a:srgbClr val="1A1A1A"/>
                </a:solidFill>
                <a:latin typeface="Meiryo" pitchFamily="34" charset="0"/>
                <a:ea typeface="Meiryo" pitchFamily="34" charset="-122"/>
                <a:cs typeface="Meiryo" pitchFamily="34" charset="-120"/>
              </a:rPr>
              <a:t>ご発注時点で伺っている想定に基づく仮のスケジュールです。確定は11月1日以降の策定時とします。</a:t>
            </a:r>
            <a:endParaRPr lang="en-US" sz="1200" dirty="0"/>
          </a:p>
        </p:txBody>
      </p:sp>
      <p:graphicFrame>
        <p:nvGraphicFramePr>
          <p:cNvPr id="54" name="Table 0"/>
          <p:cNvGraphicFramePr>
            <a:graphicFrameLocks noGrp="1"/>
          </p:cNvGraphicFramePr>
          <p:nvPr>
            <p:extLst>
              <p:ext uri="{D42A27DB-BD31-4B8C-83A1-F6EECF244321}">
                <p14:modId xmlns:p14="http://schemas.microsoft.com/office/powerpoint/2010/main" val="1579011935"/>
              </p:ext>
            </p:extLst>
          </p:nvPr>
        </p:nvGraphicFramePr>
        <p:xfrm>
          <a:off x="502920" y="1965960"/>
          <a:ext cx="8138160" cy="914400"/>
        </p:xfrm>
        <a:graphic>
          <a:graphicData uri="http://schemas.openxmlformats.org/drawingml/2006/table">
            <a:tbl>
              <a:tblPr/>
              <a:tblGrid>
                <a:gridCol w="2712720"/>
                <a:gridCol w="2712720"/>
                <a:gridCol w="2712720"/>
              </a:tblGrid>
              <a:tr h="0">
                <a:tc>
                  <a:txBody>
                    <a:bodyPr/>
                    <a:lstStyle/>
                    <a:p>
                      <a:pPr indent="0" marL="0">
                        <a:buNone/>
                      </a:pPr>
                      <a:r>
                        <a:rPr lang="en-US" sz="1100" b="1" dirty="0">
                          <a:solidFill>
                            <a:srgbClr val="FFFFFF"/>
                          </a:solidFill>
                          <a:latin typeface="Meiryo" pitchFamily="34" charset="0"/>
                          <a:ea typeface="Meiryo" pitchFamily="34" charset="-122"/>
                          <a:cs typeface="Meiryo" pitchFamily="34" charset="-120"/>
                        </a:rPr>
                        <a:t>時期</a:t>
                      </a:r>
                      <a:endParaRPr lang="en-US" sz="1100" dirty="0">
                        <a:latin typeface="Meiryo" charset="0"/>
                        <a:ea typeface="Meiryo" charset="0"/>
                        <a:cs typeface="Meiryo" charset="0"/>
                      </a:endParaRPr>
                    </a:p>
                  </a:txBody>
                  <a:tcPr marL="91440" marR="91440" marT="45720" marB="45720">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1F3A5F"/>
                    </a:solidFill>
                  </a:tcPr>
                </a:tc>
                <a:tc>
                  <a:txBody>
                    <a:bodyPr/>
                    <a:lstStyle/>
                    <a:p>
                      <a:pPr indent="0" marL="0">
                        <a:buNone/>
                      </a:pPr>
                      <a:r>
                        <a:rPr lang="en-US" sz="1100" b="1" dirty="0">
                          <a:solidFill>
                            <a:srgbClr val="FFFFFF"/>
                          </a:solidFill>
                          <a:latin typeface="Meiryo" pitchFamily="34" charset="0"/>
                          <a:ea typeface="Meiryo" pitchFamily="34" charset="-122"/>
                          <a:cs typeface="Meiryo" pitchFamily="34" charset="-120"/>
                        </a:rPr>
                        <a:t>工程</a:t>
                      </a:r>
                      <a:endParaRPr lang="en-US" sz="1100" dirty="0">
                        <a:latin typeface="Meiryo" charset="0"/>
                        <a:ea typeface="Meiryo" charset="0"/>
                        <a:cs typeface="Meiryo" charset="0"/>
                      </a:endParaRPr>
                    </a:p>
                  </a:txBody>
                  <a:tcPr marL="91440" marR="91440" marT="45720" marB="45720">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1F3A5F"/>
                    </a:solidFill>
                  </a:tcPr>
                </a:tc>
                <a:tc>
                  <a:txBody>
                    <a:bodyPr/>
                    <a:lstStyle/>
                    <a:p>
                      <a:pPr indent="0" marL="0">
                        <a:buNone/>
                      </a:pPr>
                      <a:r>
                        <a:rPr lang="en-US" sz="1100" b="1" dirty="0">
                          <a:solidFill>
                            <a:srgbClr val="FFFFFF"/>
                          </a:solidFill>
                          <a:latin typeface="Meiryo" pitchFamily="34" charset="0"/>
                          <a:ea typeface="Meiryo" pitchFamily="34" charset="-122"/>
                          <a:cs typeface="Meiryo" pitchFamily="34" charset="-120"/>
                        </a:rPr>
                        <a:t>状態</a:t>
                      </a:r>
                      <a:endParaRPr lang="en-US" sz="1100" dirty="0">
                        <a:latin typeface="Meiryo" charset="0"/>
                        <a:ea typeface="Meiryo" charset="0"/>
                        <a:cs typeface="Meiryo" charset="0"/>
                      </a:endParaRPr>
                    </a:p>
                  </a:txBody>
                  <a:tcPr marL="91440" marR="91440" marT="45720" marB="45720">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1F3A5F"/>
                    </a:solidFill>
                  </a:tcPr>
                </a:tc>
              </a:tr>
              <a:tr h="0">
                <a:tc>
                  <a:txBody>
                    <a:bodyPr/>
                    <a:lstStyle/>
                    <a:p>
                      <a:pPr indent="0" marL="0">
                        <a:buNone/>
                      </a:pPr>
                      <a:r>
                        <a:rPr lang="en-US" sz="1100" dirty="0">
                          <a:solidFill>
                            <a:srgbClr val="1A1A1A"/>
                          </a:solidFill>
                          <a:latin typeface="Meiryo" pitchFamily="34" charset="0"/>
                          <a:ea typeface="Meiryo" pitchFamily="34" charset="-122"/>
                          <a:cs typeface="Meiryo" pitchFamily="34" charset="-120"/>
                        </a:rPr>
                        <a:t>2026年9月</a:t>
                      </a:r>
                      <a:endParaRPr lang="en-US" sz="1100" dirty="0">
                        <a:latin typeface="Meiryo" charset="0"/>
                        <a:ea typeface="Meiryo" charset="0"/>
                        <a:cs typeface="Meiryo" charset="0"/>
                      </a:endParaRPr>
                    </a:p>
                  </a:txBody>
                  <a:tcPr marL="91440" marR="91440" marT="45720" marB="45720">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tcPr>
                </a:tc>
                <a:tc>
                  <a:txBody>
                    <a:bodyPr/>
                    <a:lstStyle/>
                    <a:p>
                      <a:pPr indent="0" marL="0">
                        <a:buNone/>
                      </a:pPr>
                      <a:r>
                        <a:rPr lang="en-US" sz="1100" dirty="0">
                          <a:solidFill>
                            <a:srgbClr val="1A1A1A"/>
                          </a:solidFill>
                          <a:latin typeface="Meiryo" pitchFamily="34" charset="0"/>
                          <a:ea typeface="Meiryo" pitchFamily="34" charset="-122"/>
                          <a:cs typeface="Meiryo" pitchFamily="34" charset="-120"/>
                        </a:rPr>
                        <a:t>現行サイト調査・要件定義（本資料）</a:t>
                      </a:r>
                      <a:endParaRPr lang="en-US" sz="1100" dirty="0">
                        <a:latin typeface="Meiryo" charset="0"/>
                        <a:ea typeface="Meiryo" charset="0"/>
                        <a:cs typeface="Meiryo" charset="0"/>
                      </a:endParaRPr>
                    </a:p>
                  </a:txBody>
                  <a:tcPr marL="91440" marR="91440" marT="45720" marB="45720">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tcPr>
                </a:tc>
                <a:tc>
                  <a:txBody>
                    <a:bodyPr/>
                    <a:lstStyle/>
                    <a:p>
                      <a:pPr indent="0" marL="0">
                        <a:buNone/>
                      </a:pPr>
                      <a:r>
                        <a:rPr lang="en-US" sz="1100" dirty="0">
                          <a:solidFill>
                            <a:srgbClr val="1A1A1A"/>
                          </a:solidFill>
                          <a:latin typeface="Meiryo" pitchFamily="34" charset="0"/>
                          <a:ea typeface="Meiryo" pitchFamily="34" charset="-122"/>
                          <a:cs typeface="Meiryo" pitchFamily="34" charset="-120"/>
                        </a:rPr>
                        <a:t>本日ご報告</a:t>
                      </a:r>
                      <a:endParaRPr lang="en-US" sz="1100" dirty="0">
                        <a:latin typeface="Meiryo" charset="0"/>
                        <a:ea typeface="Meiryo" charset="0"/>
                        <a:cs typeface="Meiryo" charset="0"/>
                      </a:endParaRPr>
                    </a:p>
                  </a:txBody>
                  <a:tcPr marL="91440" marR="91440" marT="45720" marB="45720">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tcPr>
                </a:tc>
              </a:tr>
              <a:tr h="0">
                <a:tc>
                  <a:txBody>
                    <a:bodyPr/>
                    <a:lstStyle/>
                    <a:p>
                      <a:pPr indent="0" marL="0">
                        <a:buNone/>
                      </a:pPr>
                      <a:r>
                        <a:rPr lang="en-US" sz="1100" dirty="0">
                          <a:solidFill>
                            <a:srgbClr val="1A1A1A"/>
                          </a:solidFill>
                          <a:latin typeface="Meiryo" pitchFamily="34" charset="0"/>
                          <a:ea typeface="Meiryo" pitchFamily="34" charset="-122"/>
                          <a:cs typeface="Meiryo" pitchFamily="34" charset="-120"/>
                        </a:rPr>
                        <a:t>2026年10月</a:t>
                      </a:r>
                      <a:endParaRPr lang="en-US" sz="1100" dirty="0">
                        <a:latin typeface="Meiryo" charset="0"/>
                        <a:ea typeface="Meiryo" charset="0"/>
                        <a:cs typeface="Meiryo" charset="0"/>
                      </a:endParaRPr>
                    </a:p>
                  </a:txBody>
                  <a:tcPr marL="91440" marR="91440" marT="45720" marB="45720">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tcPr>
                </a:tc>
                <a:tc>
                  <a:txBody>
                    <a:bodyPr/>
                    <a:lstStyle/>
                    <a:p>
                      <a:pPr indent="0" marL="0">
                        <a:buNone/>
                      </a:pPr>
                      <a:r>
                        <a:rPr lang="en-US" sz="1100" dirty="0">
                          <a:solidFill>
                            <a:srgbClr val="1A1A1A"/>
                          </a:solidFill>
                          <a:latin typeface="Meiryo" pitchFamily="34" charset="0"/>
                          <a:ea typeface="Meiryo" pitchFamily="34" charset="-122"/>
                          <a:cs typeface="Meiryo" pitchFamily="34" charset="-120"/>
                        </a:rPr>
                        <a:t>戦略設計・サイトマップ確定・見積精緻化</a:t>
                      </a:r>
                      <a:endParaRPr lang="en-US" sz="1100" dirty="0">
                        <a:latin typeface="Meiryo" charset="0"/>
                        <a:ea typeface="Meiryo" charset="0"/>
                        <a:cs typeface="Meiryo" charset="0"/>
                      </a:endParaRPr>
                    </a:p>
                  </a:txBody>
                  <a:tcPr marL="91440" marR="91440" marT="45720" marB="45720">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tcPr>
                </a:tc>
                <a:tc>
                  <a:txBody>
                    <a:bodyPr/>
                    <a:lstStyle/>
                    <a:p>
                      <a:pPr indent="0" marL="0">
                        <a:buNone/>
                      </a:pPr>
                      <a:r>
                        <a:rPr lang="en-US" sz="1100" dirty="0">
                          <a:solidFill>
                            <a:srgbClr val="1A1A1A"/>
                          </a:solidFill>
                          <a:latin typeface="Meiryo" pitchFamily="34" charset="0"/>
                          <a:ea typeface="Meiryo" pitchFamily="34" charset="-122"/>
                          <a:cs typeface="Meiryo" pitchFamily="34" charset="-120"/>
                        </a:rPr>
                        <a:t>予定</a:t>
                      </a:r>
                      <a:endParaRPr lang="en-US" sz="1100" dirty="0">
                        <a:latin typeface="Meiryo" charset="0"/>
                        <a:ea typeface="Meiryo" charset="0"/>
                        <a:cs typeface="Meiryo" charset="0"/>
                      </a:endParaRPr>
                    </a:p>
                  </a:txBody>
                  <a:tcPr marL="91440" marR="91440" marT="45720" marB="45720">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tcPr>
                </a:tc>
              </a:tr>
              <a:tr h="0">
                <a:tc>
                  <a:txBody>
                    <a:bodyPr/>
                    <a:lstStyle/>
                    <a:p>
                      <a:pPr indent="0" marL="0">
                        <a:buNone/>
                      </a:pPr>
                      <a:r>
                        <a:rPr lang="en-US" sz="1100" dirty="0">
                          <a:solidFill>
                            <a:srgbClr val="1A1A1A"/>
                          </a:solidFill>
                          <a:latin typeface="Meiryo" pitchFamily="34" charset="0"/>
                          <a:ea typeface="Meiryo" pitchFamily="34" charset="-122"/>
                          <a:cs typeface="Meiryo" pitchFamily="34" charset="-120"/>
                        </a:rPr>
                        <a:t>2026年11月1日〜</a:t>
                      </a:r>
                      <a:endParaRPr lang="en-US" sz="1100" dirty="0">
                        <a:latin typeface="Meiryo" charset="0"/>
                        <a:ea typeface="Meiryo" charset="0"/>
                        <a:cs typeface="Meiryo" charset="0"/>
                      </a:endParaRPr>
                    </a:p>
                  </a:txBody>
                  <a:tcPr marL="91440" marR="91440" marT="45720" marB="45720">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tcPr>
                </a:tc>
                <a:tc>
                  <a:txBody>
                    <a:bodyPr/>
                    <a:lstStyle/>
                    <a:p>
                      <a:pPr indent="0" marL="0">
                        <a:buNone/>
                      </a:pPr>
                      <a:r>
                        <a:rPr lang="en-US" sz="1100" dirty="0">
                          <a:solidFill>
                            <a:srgbClr val="1A1A1A"/>
                          </a:solidFill>
                          <a:latin typeface="Meiryo" pitchFamily="34" charset="0"/>
                          <a:ea typeface="Meiryo" pitchFamily="34" charset="-122"/>
                          <a:cs typeface="Meiryo" pitchFamily="34" charset="-120"/>
                        </a:rPr>
                        <a:t>スケジュール策定</a:t>
                      </a:r>
                      <a:endParaRPr lang="en-US" sz="1100" dirty="0">
                        <a:latin typeface="Meiryo" charset="0"/>
                        <a:ea typeface="Meiryo" charset="0"/>
                        <a:cs typeface="Meiryo" charset="0"/>
                      </a:endParaRPr>
                    </a:p>
                  </a:txBody>
                  <a:tcPr marL="91440" marR="91440" marT="45720" marB="45720">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tcPr>
                </a:tc>
                <a:tc>
                  <a:txBody>
                    <a:bodyPr/>
                    <a:lstStyle/>
                    <a:p>
                      <a:pPr indent="0" marL="0">
                        <a:buNone/>
                      </a:pPr>
                      <a:r>
                        <a:rPr lang="en-US" sz="1100" dirty="0">
                          <a:solidFill>
                            <a:srgbClr val="1A1A1A"/>
                          </a:solidFill>
                          <a:latin typeface="Meiryo" pitchFamily="34" charset="0"/>
                          <a:ea typeface="Meiryo" pitchFamily="34" charset="-122"/>
                          <a:cs typeface="Meiryo" pitchFamily="34" charset="-120"/>
                        </a:rPr>
                        <a:t>予定（ここで全体日程を確定します）</a:t>
                      </a:r>
                      <a:endParaRPr lang="en-US" sz="1100" dirty="0">
                        <a:latin typeface="Meiryo" charset="0"/>
                        <a:ea typeface="Meiryo" charset="0"/>
                        <a:cs typeface="Meiryo" charset="0"/>
                      </a:endParaRPr>
                    </a:p>
                  </a:txBody>
                  <a:tcPr marL="91440" marR="91440" marT="45720" marB="45720">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tcPr>
                </a:tc>
              </a:tr>
              <a:tr h="0">
                <a:tc>
                  <a:txBody>
                    <a:bodyPr/>
                    <a:lstStyle/>
                    <a:p>
                      <a:pPr indent="0" marL="0">
                        <a:buNone/>
                      </a:pPr>
                      <a:r>
                        <a:rPr lang="en-US" sz="1100" dirty="0">
                          <a:solidFill>
                            <a:srgbClr val="1A1A1A"/>
                          </a:solidFill>
                          <a:latin typeface="Meiryo" pitchFamily="34" charset="0"/>
                          <a:ea typeface="Meiryo" pitchFamily="34" charset="-122"/>
                          <a:cs typeface="Meiryo" pitchFamily="34" charset="-120"/>
                        </a:rPr>
                        <a:t>以降</a:t>
                      </a:r>
                      <a:endParaRPr lang="en-US" sz="1100" dirty="0">
                        <a:latin typeface="Meiryo" charset="0"/>
                        <a:ea typeface="Meiryo" charset="0"/>
                        <a:cs typeface="Meiryo" charset="0"/>
                      </a:endParaRPr>
                    </a:p>
                  </a:txBody>
                  <a:tcPr marL="91440" marR="91440" marT="45720" marB="45720">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tcPr>
                </a:tc>
                <a:tc>
                  <a:txBody>
                    <a:bodyPr/>
                    <a:lstStyle/>
                    <a:p>
                      <a:pPr indent="0" marL="0">
                        <a:buNone/>
                      </a:pPr>
                      <a:r>
                        <a:rPr lang="en-US" sz="1100" dirty="0">
                          <a:solidFill>
                            <a:srgbClr val="1A1A1A"/>
                          </a:solidFill>
                          <a:latin typeface="Meiryo" pitchFamily="34" charset="0"/>
                          <a:ea typeface="Meiryo" pitchFamily="34" charset="-122"/>
                          <a:cs typeface="Meiryo" pitchFamily="34" charset="-120"/>
                        </a:rPr>
                        <a:t>デザイン → 実装 → 記事移行 → 公開前チェック → 公開</a:t>
                      </a:r>
                      <a:endParaRPr lang="en-US" sz="1100" dirty="0">
                        <a:latin typeface="Meiryo" charset="0"/>
                        <a:ea typeface="Meiryo" charset="0"/>
                        <a:cs typeface="Meiryo" charset="0"/>
                      </a:endParaRPr>
                    </a:p>
                  </a:txBody>
                  <a:tcPr marL="91440" marR="91440" marT="45720" marB="45720">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tcPr>
                </a:tc>
                <a:tc>
                  <a:txBody>
                    <a:bodyPr/>
                    <a:lstStyle/>
                    <a:p>
                      <a:pPr indent="0" marL="0">
                        <a:buNone/>
                      </a:pPr>
                      <a:r>
                        <a:rPr lang="en-US" sz="1100" dirty="0">
                          <a:solidFill>
                            <a:srgbClr val="1A1A1A"/>
                          </a:solidFill>
                          <a:latin typeface="Meiryo" pitchFamily="34" charset="0"/>
                          <a:ea typeface="Meiryo" pitchFamily="34" charset="-122"/>
                          <a:cs typeface="Meiryo" pitchFamily="34" charset="-120"/>
                        </a:rPr>
                        <a:t>仮</a:t>
                      </a:r>
                      <a:endParaRPr lang="en-US" sz="1100" dirty="0">
                        <a:latin typeface="Meiryo" charset="0"/>
                        <a:ea typeface="Meiryo" charset="0"/>
                        <a:cs typeface="Meiryo" charset="0"/>
                      </a:endParaRPr>
                    </a:p>
                  </a:txBody>
                  <a:tcPr marL="91440" marR="91440" marT="45720" marB="45720">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tcPr>
                </a:tc>
              </a:tr>
            </a:tbl>
          </a:graphicData>
        </a:graphic>
      </p:graphicFrame>
      <p:sp>
        <p:nvSpPr>
          <p:cNvPr id="7" name="Text 4"/>
          <p:cNvSpPr/>
          <p:nvPr/>
        </p:nvSpPr>
        <p:spPr>
          <a:xfrm>
            <a:off x="502920" y="4759452"/>
            <a:ext cx="6949440" cy="228600"/>
          </a:xfrm>
          <a:prstGeom prst="rect">
            <a:avLst/>
          </a:prstGeom>
          <a:noFill/>
          <a:ln/>
        </p:spPr>
        <p:txBody>
          <a:bodyPr wrap="square" rtlCol="0" anchor="ctr"/>
          <a:lstStyle/>
          <a:p>
            <a:pPr indent="0" marL="0">
              <a:buNone/>
            </a:pPr>
            <a:r>
              <a:rPr lang="en-US" sz="900" dirty="0">
                <a:solidFill>
                  <a:srgbClr val="6B6B6B"/>
                </a:solidFill>
                <a:latin typeface="Meiryo" pitchFamily="34" charset="0"/>
                <a:ea typeface="Meiryo" pitchFamily="34" charset="-122"/>
                <a:cs typeface="Meiryo" pitchFamily="34" charset="-120"/>
              </a:rPr>
              <a:t>出典: projects/johoku-saitama/research/brief.md（2026-07-03 ヒアリング・Backlog GG_ORDER-4733）</a:t>
            </a:r>
            <a:endParaRPr lang="en-US" sz="900" dirty="0"/>
          </a:p>
        </p:txBody>
      </p:sp>
      <p:sp>
        <p:nvSpPr>
          <p:cNvPr id="8" name="Text 5"/>
          <p:cNvSpPr/>
          <p:nvPr/>
        </p:nvSpPr>
        <p:spPr>
          <a:xfrm>
            <a:off x="7543800" y="4759452"/>
            <a:ext cx="1097280" cy="228600"/>
          </a:xfrm>
          <a:prstGeom prst="rect">
            <a:avLst/>
          </a:prstGeom>
          <a:noFill/>
          <a:ln/>
        </p:spPr>
        <p:txBody>
          <a:bodyPr wrap="square" rtlCol="0" anchor="ctr"/>
          <a:lstStyle/>
          <a:p>
            <a:pPr algn="r" indent="0" marL="0">
              <a:buNone/>
            </a:pPr>
            <a:r>
              <a:rPr lang="en-US" sz="900" dirty="0">
                <a:solidFill>
                  <a:srgbClr val="6B6B6B"/>
                </a:solidFill>
                <a:latin typeface="Meiryo" pitchFamily="34" charset="0"/>
                <a:ea typeface="Meiryo" pitchFamily="34" charset="-122"/>
                <a:cs typeface="Meiryo" pitchFamily="34" charset="-120"/>
              </a:rPr>
              <a:t>53|82</a:t>
            </a:r>
            <a:endParaRPr lang="en-US" sz="9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nvSpPr>
        <p:spPr>
          <a:xfrm>
            <a:off x="502920" y="502920"/>
            <a:ext cx="8138160" cy="228600"/>
          </a:xfrm>
          <a:prstGeom prst="rect">
            <a:avLst/>
          </a:prstGeom>
          <a:noFill/>
          <a:ln/>
        </p:spPr>
        <p:txBody>
          <a:bodyPr wrap="square" rtlCol="0" anchor="ctr"/>
          <a:lstStyle/>
          <a:p>
            <a:pPr indent="0" marL="0">
              <a:buNone/>
            </a:pPr>
            <a:r>
              <a:rPr lang="en-US" sz="1000" dirty="0">
                <a:solidFill>
                  <a:srgbClr val="6B6B6B"/>
                </a:solidFill>
                <a:latin typeface="Meiryo" pitchFamily="34" charset="0"/>
                <a:ea typeface="Meiryo" pitchFamily="34" charset="-122"/>
                <a:cs typeface="Meiryo" pitchFamily="34" charset="-120"/>
              </a:rPr>
              <a:t>12 Schedule</a:t>
            </a:r>
            <a:endParaRPr lang="en-US" sz="1000" dirty="0"/>
          </a:p>
        </p:txBody>
      </p:sp>
      <p:sp>
        <p:nvSpPr>
          <p:cNvPr id="3" name="Text 1"/>
          <p:cNvSpPr/>
          <p:nvPr/>
        </p:nvSpPr>
        <p:spPr>
          <a:xfrm>
            <a:off x="502920" y="777240"/>
            <a:ext cx="8138160" cy="457200"/>
          </a:xfrm>
          <a:prstGeom prst="rect">
            <a:avLst/>
          </a:prstGeom>
          <a:noFill/>
          <a:ln/>
        </p:spPr>
        <p:txBody>
          <a:bodyPr wrap="square" rtlCol="0" anchor="ctr"/>
          <a:lstStyle/>
          <a:p>
            <a:pPr indent="0" marL="0">
              <a:buNone/>
            </a:pPr>
            <a:r>
              <a:rPr lang="en-US" sz="2000" b="1" dirty="0">
                <a:solidFill>
                  <a:srgbClr val="1A1A1A"/>
                </a:solidFill>
                <a:latin typeface="Meiryo" pitchFamily="34" charset="0"/>
                <a:ea typeface="Meiryo" pitchFamily="34" charset="-122"/>
                <a:cs typeface="Meiryo" pitchFamily="34" charset="-120"/>
              </a:rPr>
              <a:t>次にお願いしたいこと</a:t>
            </a:r>
            <a:endParaRPr lang="en-US" sz="2000" dirty="0"/>
          </a:p>
        </p:txBody>
      </p:sp>
      <p:sp>
        <p:nvSpPr>
          <p:cNvPr id="4" name="Shape 2"/>
          <p:cNvSpPr/>
          <p:nvPr/>
        </p:nvSpPr>
        <p:spPr>
          <a:xfrm>
            <a:off x="502920" y="1280160"/>
            <a:ext cx="8138160" cy="0"/>
          </a:xfrm>
          <a:prstGeom prst="line">
            <a:avLst/>
          </a:prstGeom>
          <a:noFill/>
          <a:ln w="12700">
            <a:solidFill>
              <a:srgbClr val="D5D5D5"/>
            </a:solidFill>
            <a:prstDash val="solid"/>
          </a:ln>
        </p:spPr>
      </p:sp>
      <p:sp>
        <p:nvSpPr>
          <p:cNvPr id="5" name="Text 3"/>
          <p:cNvSpPr/>
          <p:nvPr/>
        </p:nvSpPr>
        <p:spPr>
          <a:xfrm>
            <a:off x="502920" y="1417320"/>
            <a:ext cx="8138160" cy="457200"/>
          </a:xfrm>
          <a:prstGeom prst="rect">
            <a:avLst/>
          </a:prstGeom>
          <a:noFill/>
          <a:ln/>
        </p:spPr>
        <p:txBody>
          <a:bodyPr wrap="square" rtlCol="0" anchor="t"/>
          <a:lstStyle/>
          <a:p>
            <a:pPr indent="0" marL="0">
              <a:buNone/>
            </a:pPr>
            <a:r>
              <a:rPr lang="en-US" sz="1200" dirty="0">
                <a:solidFill>
                  <a:srgbClr val="1A1A1A"/>
                </a:solidFill>
                <a:latin typeface="Meiryo" pitchFamily="34" charset="0"/>
                <a:ea typeface="Meiryo" pitchFamily="34" charset="-122"/>
                <a:cs typeface="Meiryo" pitchFamily="34" charset="-120"/>
              </a:rPr>
              <a:t>10月中にサイトマップと見積を確定させるため、次の対応をお願いします。</a:t>
            </a:r>
            <a:endParaRPr lang="en-US" sz="1200" dirty="0"/>
          </a:p>
        </p:txBody>
      </p:sp>
      <p:graphicFrame>
        <p:nvGraphicFramePr>
          <p:cNvPr id="55" name="Table 0"/>
          <p:cNvGraphicFramePr>
            <a:graphicFrameLocks noGrp="1"/>
          </p:cNvGraphicFramePr>
          <p:nvPr>
            <p:extLst>
              <p:ext uri="{D42A27DB-BD31-4B8C-83A1-F6EECF244321}">
                <p14:modId xmlns:p14="http://schemas.microsoft.com/office/powerpoint/2010/main" val="1579011935"/>
              </p:ext>
            </p:extLst>
          </p:nvPr>
        </p:nvGraphicFramePr>
        <p:xfrm>
          <a:off x="502920" y="1965960"/>
          <a:ext cx="8138160" cy="914400"/>
        </p:xfrm>
        <a:graphic>
          <a:graphicData uri="http://schemas.openxmlformats.org/drawingml/2006/table">
            <a:tbl>
              <a:tblPr/>
              <a:tblGrid>
                <a:gridCol w="2034540"/>
                <a:gridCol w="2034540"/>
                <a:gridCol w="2034540"/>
                <a:gridCol w="2034540"/>
              </a:tblGrid>
              <a:tr h="0">
                <a:tc>
                  <a:txBody>
                    <a:bodyPr/>
                    <a:lstStyle/>
                    <a:p>
                      <a:pPr indent="0" marL="0">
                        <a:buNone/>
                      </a:pPr>
                      <a:r>
                        <a:rPr lang="en-US" sz="1100" b="1" dirty="0">
                          <a:solidFill>
                            <a:srgbClr val="FFFFFF"/>
                          </a:solidFill>
                          <a:latin typeface="Meiryo" pitchFamily="34" charset="0"/>
                          <a:ea typeface="Meiryo" pitchFamily="34" charset="-122"/>
                          <a:cs typeface="Meiryo" pitchFamily="34" charset="-120"/>
                        </a:rPr>
                        <a:t>#</a:t>
                      </a:r>
                      <a:endParaRPr lang="en-US" sz="1100" dirty="0">
                        <a:latin typeface="Meiryo" charset="0"/>
                        <a:ea typeface="Meiryo" charset="0"/>
                        <a:cs typeface="Meiryo" charset="0"/>
                      </a:endParaRPr>
                    </a:p>
                  </a:txBody>
                  <a:tcPr marL="91440" marR="91440" marT="45720" marB="45720">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1F3A5F"/>
                    </a:solidFill>
                  </a:tcPr>
                </a:tc>
                <a:tc>
                  <a:txBody>
                    <a:bodyPr/>
                    <a:lstStyle/>
                    <a:p>
                      <a:pPr indent="0" marL="0">
                        <a:buNone/>
                      </a:pPr>
                      <a:r>
                        <a:rPr lang="en-US" sz="1100" b="1" dirty="0">
                          <a:solidFill>
                            <a:srgbClr val="FFFFFF"/>
                          </a:solidFill>
                          <a:latin typeface="Meiryo" pitchFamily="34" charset="0"/>
                          <a:ea typeface="Meiryo" pitchFamily="34" charset="-122"/>
                          <a:cs typeface="Meiryo" pitchFamily="34" charset="-120"/>
                        </a:rPr>
                        <a:t>お願いする内容</a:t>
                      </a:r>
                      <a:endParaRPr lang="en-US" sz="1100" dirty="0">
                        <a:latin typeface="Meiryo" charset="0"/>
                        <a:ea typeface="Meiryo" charset="0"/>
                        <a:cs typeface="Meiryo" charset="0"/>
                      </a:endParaRPr>
                    </a:p>
                  </a:txBody>
                  <a:tcPr marL="91440" marR="91440" marT="45720" marB="45720">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1F3A5F"/>
                    </a:solidFill>
                  </a:tcPr>
                </a:tc>
                <a:tc>
                  <a:txBody>
                    <a:bodyPr/>
                    <a:lstStyle/>
                    <a:p>
                      <a:pPr indent="0" marL="0">
                        <a:buNone/>
                      </a:pPr>
                      <a:r>
                        <a:rPr lang="en-US" sz="1100" b="1" dirty="0">
                          <a:solidFill>
                            <a:srgbClr val="FFFFFF"/>
                          </a:solidFill>
                          <a:latin typeface="Meiryo" pitchFamily="34" charset="0"/>
                          <a:ea typeface="Meiryo" pitchFamily="34" charset="-122"/>
                          <a:cs typeface="Meiryo" pitchFamily="34" charset="-120"/>
                        </a:rPr>
                        <a:t>ご依頼先</a:t>
                      </a:r>
                      <a:endParaRPr lang="en-US" sz="1100" dirty="0">
                        <a:latin typeface="Meiryo" charset="0"/>
                        <a:ea typeface="Meiryo" charset="0"/>
                        <a:cs typeface="Meiryo" charset="0"/>
                      </a:endParaRPr>
                    </a:p>
                  </a:txBody>
                  <a:tcPr marL="91440" marR="91440" marT="45720" marB="45720">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1F3A5F"/>
                    </a:solidFill>
                  </a:tcPr>
                </a:tc>
                <a:tc>
                  <a:txBody>
                    <a:bodyPr/>
                    <a:lstStyle/>
                    <a:p>
                      <a:pPr indent="0" marL="0">
                        <a:buNone/>
                      </a:pPr>
                      <a:r>
                        <a:rPr lang="en-US" sz="1100" b="1" dirty="0">
                          <a:solidFill>
                            <a:srgbClr val="FFFFFF"/>
                          </a:solidFill>
                          <a:latin typeface="Meiryo" pitchFamily="34" charset="0"/>
                          <a:ea typeface="Meiryo" pitchFamily="34" charset="-122"/>
                          <a:cs typeface="Meiryo" pitchFamily="34" charset="-120"/>
                        </a:rPr>
                        <a:t>希望時期</a:t>
                      </a:r>
                      <a:endParaRPr lang="en-US" sz="1100" dirty="0">
                        <a:latin typeface="Meiryo" charset="0"/>
                        <a:ea typeface="Meiryo" charset="0"/>
                        <a:cs typeface="Meiryo" charset="0"/>
                      </a:endParaRPr>
                    </a:p>
                  </a:txBody>
                  <a:tcPr marL="91440" marR="91440" marT="45720" marB="45720">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1F3A5F"/>
                    </a:solidFill>
                  </a:tcPr>
                </a:tc>
              </a:tr>
              <a:tr h="0">
                <a:tc>
                  <a:txBody>
                    <a:bodyPr/>
                    <a:lstStyle/>
                    <a:p>
                      <a:pPr indent="0" marL="0">
                        <a:buNone/>
                      </a:pPr>
                      <a:r>
                        <a:rPr lang="en-US" sz="1100" dirty="0">
                          <a:solidFill>
                            <a:srgbClr val="1A1A1A"/>
                          </a:solidFill>
                          <a:latin typeface="Meiryo" pitchFamily="34" charset="0"/>
                          <a:ea typeface="Meiryo" pitchFamily="34" charset="-122"/>
                          <a:cs typeface="Meiryo" pitchFamily="34" charset="-120"/>
                        </a:rPr>
                        <a:t>1</a:t>
                      </a:r>
                      <a:endParaRPr lang="en-US" sz="1100" dirty="0">
                        <a:latin typeface="Meiryo" charset="0"/>
                        <a:ea typeface="Meiryo" charset="0"/>
                        <a:cs typeface="Meiryo" charset="0"/>
                      </a:endParaRPr>
                    </a:p>
                  </a:txBody>
                  <a:tcPr marL="91440" marR="91440" marT="45720" marB="45720">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tcPr>
                </a:tc>
                <a:tc>
                  <a:txBody>
                    <a:bodyPr/>
                    <a:lstStyle/>
                    <a:p>
                      <a:pPr indent="0" marL="0">
                        <a:buNone/>
                      </a:pPr>
                      <a:r>
                        <a:rPr lang="en-US" sz="1100" dirty="0">
                          <a:solidFill>
                            <a:srgbClr val="1A1A1A"/>
                          </a:solidFill>
                          <a:latin typeface="Meiryo" pitchFamily="34" charset="0"/>
                          <a:ea typeface="Meiryo" pitchFamily="34" charset="-122"/>
                          <a:cs typeface="Meiryo" pitchFamily="34" charset="-120"/>
                        </a:rPr>
                        <a:t>GA4プロパティへのアクセス権付与</a:t>
                      </a:r>
                      <a:endParaRPr lang="en-US" sz="1100" dirty="0">
                        <a:latin typeface="Meiryo" charset="0"/>
                        <a:ea typeface="Meiryo" charset="0"/>
                        <a:cs typeface="Meiryo" charset="0"/>
                      </a:endParaRPr>
                    </a:p>
                  </a:txBody>
                  <a:tcPr marL="91440" marR="91440" marT="45720" marB="45720">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tcPr>
                </a:tc>
                <a:tc>
                  <a:txBody>
                    <a:bodyPr/>
                    <a:lstStyle/>
                    <a:p>
                      <a:pPr indent="0" marL="0">
                        <a:buNone/>
                      </a:pPr>
                      <a:r>
                        <a:rPr lang="en-US" sz="1100" dirty="0">
                          <a:solidFill>
                            <a:srgbClr val="1A1A1A"/>
                          </a:solidFill>
                          <a:latin typeface="Meiryo" pitchFamily="34" charset="0"/>
                          <a:ea typeface="Meiryo" pitchFamily="34" charset="-122"/>
                          <a:cs typeface="Meiryo" pitchFamily="34" charset="-120"/>
                        </a:rPr>
                        <a:t>貴校</a:t>
                      </a:r>
                      <a:endParaRPr lang="en-US" sz="1100" dirty="0">
                        <a:latin typeface="Meiryo" charset="0"/>
                        <a:ea typeface="Meiryo" charset="0"/>
                        <a:cs typeface="Meiryo" charset="0"/>
                      </a:endParaRPr>
                    </a:p>
                  </a:txBody>
                  <a:tcPr marL="91440" marR="91440" marT="45720" marB="45720">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tcPr>
                </a:tc>
                <a:tc>
                  <a:txBody>
                    <a:bodyPr/>
                    <a:lstStyle/>
                    <a:p>
                      <a:pPr indent="0" marL="0">
                        <a:buNone/>
                      </a:pPr>
                      <a:r>
                        <a:rPr lang="en-US" sz="1100" dirty="0">
                          <a:solidFill>
                            <a:srgbClr val="1A1A1A"/>
                          </a:solidFill>
                          <a:latin typeface="Meiryo" pitchFamily="34" charset="0"/>
                          <a:ea typeface="Meiryo" pitchFamily="34" charset="-122"/>
                          <a:cs typeface="Meiryo" pitchFamily="34" charset="-120"/>
                        </a:rPr>
                        <a:t>9月中</a:t>
                      </a:r>
                      <a:endParaRPr lang="en-US" sz="1100" dirty="0">
                        <a:latin typeface="Meiryo" charset="0"/>
                        <a:ea typeface="Meiryo" charset="0"/>
                        <a:cs typeface="Meiryo" charset="0"/>
                      </a:endParaRPr>
                    </a:p>
                  </a:txBody>
                  <a:tcPr marL="91440" marR="91440" marT="45720" marB="45720">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tcPr>
                </a:tc>
              </a:tr>
              <a:tr h="0">
                <a:tc>
                  <a:txBody>
                    <a:bodyPr/>
                    <a:lstStyle/>
                    <a:p>
                      <a:pPr indent="0" marL="0">
                        <a:buNone/>
                      </a:pPr>
                      <a:r>
                        <a:rPr lang="en-US" sz="1100" dirty="0">
                          <a:solidFill>
                            <a:srgbClr val="1A1A1A"/>
                          </a:solidFill>
                          <a:latin typeface="Meiryo" pitchFamily="34" charset="0"/>
                          <a:ea typeface="Meiryo" pitchFamily="34" charset="-122"/>
                          <a:cs typeface="Meiryo" pitchFamily="34" charset="-120"/>
                        </a:rPr>
                        <a:t>2</a:t>
                      </a:r>
                      <a:endParaRPr lang="en-US" sz="1100" dirty="0">
                        <a:latin typeface="Meiryo" charset="0"/>
                        <a:ea typeface="Meiryo" charset="0"/>
                        <a:cs typeface="Meiryo" charset="0"/>
                      </a:endParaRPr>
                    </a:p>
                  </a:txBody>
                  <a:tcPr marL="91440" marR="91440" marT="45720" marB="45720">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tcPr>
                </a:tc>
                <a:tc>
                  <a:txBody>
                    <a:bodyPr/>
                    <a:lstStyle/>
                    <a:p>
                      <a:pPr indent="0" marL="0">
                        <a:buNone/>
                      </a:pPr>
                      <a:r>
                        <a:rPr lang="en-US" sz="1100" dirty="0">
                          <a:solidFill>
                            <a:srgbClr val="1A1A1A"/>
                          </a:solidFill>
                          <a:latin typeface="Meiryo" pitchFamily="34" charset="0"/>
                          <a:ea typeface="Meiryo" pitchFamily="34" charset="-122"/>
                          <a:cs typeface="Meiryo" pitchFamily="34" charset="-120"/>
                        </a:rPr>
                        <a:t>参考サイトのご提示（2〜3件）</a:t>
                      </a:r>
                      <a:endParaRPr lang="en-US" sz="1100" dirty="0">
                        <a:latin typeface="Meiryo" charset="0"/>
                        <a:ea typeface="Meiryo" charset="0"/>
                        <a:cs typeface="Meiryo" charset="0"/>
                      </a:endParaRPr>
                    </a:p>
                  </a:txBody>
                  <a:tcPr marL="91440" marR="91440" marT="45720" marB="45720">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tcPr>
                </a:tc>
                <a:tc>
                  <a:txBody>
                    <a:bodyPr/>
                    <a:lstStyle/>
                    <a:p>
                      <a:pPr indent="0" marL="0">
                        <a:buNone/>
                      </a:pPr>
                      <a:r>
                        <a:rPr lang="en-US" sz="1100" dirty="0">
                          <a:solidFill>
                            <a:srgbClr val="1A1A1A"/>
                          </a:solidFill>
                          <a:latin typeface="Meiryo" pitchFamily="34" charset="0"/>
                          <a:ea typeface="Meiryo" pitchFamily="34" charset="-122"/>
                          <a:cs typeface="Meiryo" pitchFamily="34" charset="-120"/>
                        </a:rPr>
                        <a:t>貴校</a:t>
                      </a:r>
                      <a:endParaRPr lang="en-US" sz="1100" dirty="0">
                        <a:latin typeface="Meiryo" charset="0"/>
                        <a:ea typeface="Meiryo" charset="0"/>
                        <a:cs typeface="Meiryo" charset="0"/>
                      </a:endParaRPr>
                    </a:p>
                  </a:txBody>
                  <a:tcPr marL="91440" marR="91440" marT="45720" marB="45720">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tcPr>
                </a:tc>
                <a:tc>
                  <a:txBody>
                    <a:bodyPr/>
                    <a:lstStyle/>
                    <a:p>
                      <a:pPr indent="0" marL="0">
                        <a:buNone/>
                      </a:pPr>
                      <a:r>
                        <a:rPr lang="en-US" sz="1100" dirty="0">
                          <a:solidFill>
                            <a:srgbClr val="1A1A1A"/>
                          </a:solidFill>
                          <a:latin typeface="Meiryo" pitchFamily="34" charset="0"/>
                          <a:ea typeface="Meiryo" pitchFamily="34" charset="-122"/>
                          <a:cs typeface="Meiryo" pitchFamily="34" charset="-120"/>
                        </a:rPr>
                        <a:t>9月中</a:t>
                      </a:r>
                      <a:endParaRPr lang="en-US" sz="1100" dirty="0">
                        <a:latin typeface="Meiryo" charset="0"/>
                        <a:ea typeface="Meiryo" charset="0"/>
                        <a:cs typeface="Meiryo" charset="0"/>
                      </a:endParaRPr>
                    </a:p>
                  </a:txBody>
                  <a:tcPr marL="91440" marR="91440" marT="45720" marB="45720">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tcPr>
                </a:tc>
              </a:tr>
              <a:tr h="0">
                <a:tc>
                  <a:txBody>
                    <a:bodyPr/>
                    <a:lstStyle/>
                    <a:p>
                      <a:pPr indent="0" marL="0">
                        <a:buNone/>
                      </a:pPr>
                      <a:r>
                        <a:rPr lang="en-US" sz="1100" dirty="0">
                          <a:solidFill>
                            <a:srgbClr val="1A1A1A"/>
                          </a:solidFill>
                          <a:latin typeface="Meiryo" pitchFamily="34" charset="0"/>
                          <a:ea typeface="Meiryo" pitchFamily="34" charset="-122"/>
                          <a:cs typeface="Meiryo" pitchFamily="34" charset="-120"/>
                        </a:rPr>
                        <a:t>3</a:t>
                      </a:r>
                      <a:endParaRPr lang="en-US" sz="1100" dirty="0">
                        <a:latin typeface="Meiryo" charset="0"/>
                        <a:ea typeface="Meiryo" charset="0"/>
                        <a:cs typeface="Meiryo" charset="0"/>
                      </a:endParaRPr>
                    </a:p>
                  </a:txBody>
                  <a:tcPr marL="91440" marR="91440" marT="45720" marB="45720">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tcPr>
                </a:tc>
                <a:tc>
                  <a:txBody>
                    <a:bodyPr/>
                    <a:lstStyle/>
                    <a:p>
                      <a:pPr indent="0" marL="0">
                        <a:buNone/>
                      </a:pPr>
                      <a:r>
                        <a:rPr lang="en-US" sz="1100" dirty="0">
                          <a:solidFill>
                            <a:srgbClr val="1A1A1A"/>
                          </a:solidFill>
                          <a:latin typeface="Meiryo" pitchFamily="34" charset="0"/>
                          <a:ea typeface="Meiryo" pitchFamily="34" charset="-122"/>
                          <a:cs typeface="Meiryo" pitchFamily="34" charset="-120"/>
                        </a:rPr>
                        <a:t>周年をサイトで扱うかのご判断</a:t>
                      </a:r>
                      <a:endParaRPr lang="en-US" sz="1100" dirty="0">
                        <a:latin typeface="Meiryo" charset="0"/>
                        <a:ea typeface="Meiryo" charset="0"/>
                        <a:cs typeface="Meiryo" charset="0"/>
                      </a:endParaRPr>
                    </a:p>
                  </a:txBody>
                  <a:tcPr marL="91440" marR="91440" marT="45720" marB="45720">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tcPr>
                </a:tc>
                <a:tc>
                  <a:txBody>
                    <a:bodyPr/>
                    <a:lstStyle/>
                    <a:p>
                      <a:pPr indent="0" marL="0">
                        <a:buNone/>
                      </a:pPr>
                      <a:r>
                        <a:rPr lang="en-US" sz="1100" dirty="0">
                          <a:solidFill>
                            <a:srgbClr val="1A1A1A"/>
                          </a:solidFill>
                          <a:latin typeface="Meiryo" pitchFamily="34" charset="0"/>
                          <a:ea typeface="Meiryo" pitchFamily="34" charset="-122"/>
                          <a:cs typeface="Meiryo" pitchFamily="34" charset="-120"/>
                        </a:rPr>
                        <a:t>貴校</a:t>
                      </a:r>
                      <a:endParaRPr lang="en-US" sz="1100" dirty="0">
                        <a:latin typeface="Meiryo" charset="0"/>
                        <a:ea typeface="Meiryo" charset="0"/>
                        <a:cs typeface="Meiryo" charset="0"/>
                      </a:endParaRPr>
                    </a:p>
                  </a:txBody>
                  <a:tcPr marL="91440" marR="91440" marT="45720" marB="45720">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tcPr>
                </a:tc>
                <a:tc>
                  <a:txBody>
                    <a:bodyPr/>
                    <a:lstStyle/>
                    <a:p>
                      <a:pPr indent="0" marL="0">
                        <a:buNone/>
                      </a:pPr>
                      <a:r>
                        <a:rPr lang="en-US" sz="1100" dirty="0">
                          <a:solidFill>
                            <a:srgbClr val="1A1A1A"/>
                          </a:solidFill>
                          <a:latin typeface="Meiryo" pitchFamily="34" charset="0"/>
                          <a:ea typeface="Meiryo" pitchFamily="34" charset="-122"/>
                          <a:cs typeface="Meiryo" pitchFamily="34" charset="-120"/>
                        </a:rPr>
                        <a:t>10月上旬</a:t>
                      </a:r>
                      <a:endParaRPr lang="en-US" sz="1100" dirty="0">
                        <a:latin typeface="Meiryo" charset="0"/>
                        <a:ea typeface="Meiryo" charset="0"/>
                        <a:cs typeface="Meiryo" charset="0"/>
                      </a:endParaRPr>
                    </a:p>
                  </a:txBody>
                  <a:tcPr marL="91440" marR="91440" marT="45720" marB="45720">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tcPr>
                </a:tc>
              </a:tr>
              <a:tr h="0">
                <a:tc>
                  <a:txBody>
                    <a:bodyPr/>
                    <a:lstStyle/>
                    <a:p>
                      <a:pPr indent="0" marL="0">
                        <a:buNone/>
                      </a:pPr>
                      <a:r>
                        <a:rPr lang="en-US" sz="1100" dirty="0">
                          <a:solidFill>
                            <a:srgbClr val="1A1A1A"/>
                          </a:solidFill>
                          <a:latin typeface="Meiryo" pitchFamily="34" charset="0"/>
                          <a:ea typeface="Meiryo" pitchFamily="34" charset="-122"/>
                          <a:cs typeface="Meiryo" pitchFamily="34" charset="-120"/>
                        </a:rPr>
                        <a:t>4</a:t>
                      </a:r>
                      <a:endParaRPr lang="en-US" sz="1100" dirty="0">
                        <a:latin typeface="Meiryo" charset="0"/>
                        <a:ea typeface="Meiryo" charset="0"/>
                        <a:cs typeface="Meiryo" charset="0"/>
                      </a:endParaRPr>
                    </a:p>
                  </a:txBody>
                  <a:tcPr marL="91440" marR="91440" marT="45720" marB="45720">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tcPr>
                </a:tc>
                <a:tc>
                  <a:txBody>
                    <a:bodyPr/>
                    <a:lstStyle/>
                    <a:p>
                      <a:pPr indent="0" marL="0">
                        <a:buNone/>
                      </a:pPr>
                      <a:r>
                        <a:rPr lang="en-US" sz="1100" dirty="0">
                          <a:solidFill>
                            <a:srgbClr val="1A1A1A"/>
                          </a:solidFill>
                          <a:latin typeface="Meiryo" pitchFamily="34" charset="0"/>
                          <a:ea typeface="Meiryo" pitchFamily="34" charset="-122"/>
                          <a:cs typeface="Meiryo" pitchFamily="34" charset="-120"/>
                        </a:rPr>
                        <a:t>記事の実数の照合</a:t>
                      </a:r>
                      <a:endParaRPr lang="en-US" sz="1100" dirty="0">
                        <a:latin typeface="Meiryo" charset="0"/>
                        <a:ea typeface="Meiryo" charset="0"/>
                        <a:cs typeface="Meiryo" charset="0"/>
                      </a:endParaRPr>
                    </a:p>
                  </a:txBody>
                  <a:tcPr marL="91440" marR="91440" marT="45720" marB="45720">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tcPr>
                </a:tc>
                <a:tc>
                  <a:txBody>
                    <a:bodyPr/>
                    <a:lstStyle/>
                    <a:p>
                      <a:pPr indent="0" marL="0">
                        <a:buNone/>
                      </a:pPr>
                      <a:r>
                        <a:rPr lang="en-US" sz="1100" dirty="0">
                          <a:solidFill>
                            <a:srgbClr val="1A1A1A"/>
                          </a:solidFill>
                          <a:latin typeface="Meiryo" pitchFamily="34" charset="0"/>
                          <a:ea typeface="Meiryo" pitchFamily="34" charset="-122"/>
                          <a:cs typeface="Meiryo" pitchFamily="34" charset="-120"/>
                        </a:rPr>
                        <a:t>弊社内</a:t>
                      </a:r>
                      <a:endParaRPr lang="en-US" sz="1100" dirty="0">
                        <a:latin typeface="Meiryo" charset="0"/>
                        <a:ea typeface="Meiryo" charset="0"/>
                        <a:cs typeface="Meiryo" charset="0"/>
                      </a:endParaRPr>
                    </a:p>
                  </a:txBody>
                  <a:tcPr marL="91440" marR="91440" marT="45720" marB="45720">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tcPr>
                </a:tc>
                <a:tc>
                  <a:txBody>
                    <a:bodyPr/>
                    <a:lstStyle/>
                    <a:p>
                      <a:pPr indent="0" marL="0">
                        <a:buNone/>
                      </a:pPr>
                      <a:r>
                        <a:rPr lang="en-US" sz="1100" dirty="0">
                          <a:solidFill>
                            <a:srgbClr val="1A1A1A"/>
                          </a:solidFill>
                          <a:latin typeface="Meiryo" pitchFamily="34" charset="0"/>
                          <a:ea typeface="Meiryo" pitchFamily="34" charset="-122"/>
                          <a:cs typeface="Meiryo" pitchFamily="34" charset="-120"/>
                        </a:rPr>
                        <a:t>9月中</a:t>
                      </a:r>
                      <a:endParaRPr lang="en-US" sz="1100" dirty="0">
                        <a:latin typeface="Meiryo" charset="0"/>
                        <a:ea typeface="Meiryo" charset="0"/>
                        <a:cs typeface="Meiryo" charset="0"/>
                      </a:endParaRPr>
                    </a:p>
                  </a:txBody>
                  <a:tcPr marL="91440" marR="91440" marT="45720" marB="45720">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tcPr>
                </a:tc>
              </a:tr>
              <a:tr h="0">
                <a:tc>
                  <a:txBody>
                    <a:bodyPr/>
                    <a:lstStyle/>
                    <a:p>
                      <a:pPr indent="0" marL="0">
                        <a:buNone/>
                      </a:pPr>
                      <a:r>
                        <a:rPr lang="en-US" sz="1100" dirty="0">
                          <a:solidFill>
                            <a:srgbClr val="1A1A1A"/>
                          </a:solidFill>
                          <a:latin typeface="Meiryo" pitchFamily="34" charset="0"/>
                          <a:ea typeface="Meiryo" pitchFamily="34" charset="-122"/>
                          <a:cs typeface="Meiryo" pitchFamily="34" charset="-120"/>
                        </a:rPr>
                        <a:t>5</a:t>
                      </a:r>
                      <a:endParaRPr lang="en-US" sz="1100" dirty="0">
                        <a:latin typeface="Meiryo" charset="0"/>
                        <a:ea typeface="Meiryo" charset="0"/>
                        <a:cs typeface="Meiryo" charset="0"/>
                      </a:endParaRPr>
                    </a:p>
                  </a:txBody>
                  <a:tcPr marL="91440" marR="91440" marT="45720" marB="45720">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tcPr>
                </a:tc>
                <a:tc>
                  <a:txBody>
                    <a:bodyPr/>
                    <a:lstStyle/>
                    <a:p>
                      <a:pPr indent="0" marL="0">
                        <a:buNone/>
                      </a:pPr>
                      <a:r>
                        <a:rPr lang="en-US" sz="1100" dirty="0">
                          <a:solidFill>
                            <a:srgbClr val="1A1A1A"/>
                          </a:solidFill>
                          <a:latin typeface="Meiryo" pitchFamily="34" charset="0"/>
                          <a:ea typeface="Meiryo" pitchFamily="34" charset="-122"/>
                          <a:cs typeface="Meiryo" pitchFamily="34" charset="-120"/>
                        </a:rPr>
                        <a:t>ご発注プランの確定</a:t>
                      </a:r>
                      <a:endParaRPr lang="en-US" sz="1100" dirty="0">
                        <a:latin typeface="Meiryo" charset="0"/>
                        <a:ea typeface="Meiryo" charset="0"/>
                        <a:cs typeface="Meiryo" charset="0"/>
                      </a:endParaRPr>
                    </a:p>
                  </a:txBody>
                  <a:tcPr marL="91440" marR="91440" marT="45720" marB="45720">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tcPr>
                </a:tc>
                <a:tc>
                  <a:txBody>
                    <a:bodyPr/>
                    <a:lstStyle/>
                    <a:p>
                      <a:pPr indent="0" marL="0">
                        <a:buNone/>
                      </a:pPr>
                      <a:r>
                        <a:rPr lang="en-US" sz="1100" dirty="0">
                          <a:solidFill>
                            <a:srgbClr val="1A1A1A"/>
                          </a:solidFill>
                          <a:latin typeface="Meiryo" pitchFamily="34" charset="0"/>
                          <a:ea typeface="Meiryo" pitchFamily="34" charset="-122"/>
                          <a:cs typeface="Meiryo" pitchFamily="34" charset="-120"/>
                        </a:rPr>
                        <a:t>弊社内</a:t>
                      </a:r>
                      <a:endParaRPr lang="en-US" sz="1100" dirty="0">
                        <a:latin typeface="Meiryo" charset="0"/>
                        <a:ea typeface="Meiryo" charset="0"/>
                        <a:cs typeface="Meiryo" charset="0"/>
                      </a:endParaRPr>
                    </a:p>
                  </a:txBody>
                  <a:tcPr marL="91440" marR="91440" marT="45720" marB="45720">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tcPr>
                </a:tc>
                <a:tc>
                  <a:txBody>
                    <a:bodyPr/>
                    <a:lstStyle/>
                    <a:p>
                      <a:pPr indent="0" marL="0">
                        <a:buNone/>
                      </a:pPr>
                      <a:r>
                        <a:rPr lang="en-US" sz="1100" dirty="0">
                          <a:solidFill>
                            <a:srgbClr val="1A1A1A"/>
                          </a:solidFill>
                          <a:latin typeface="Meiryo" pitchFamily="34" charset="0"/>
                          <a:ea typeface="Meiryo" pitchFamily="34" charset="-122"/>
                          <a:cs typeface="Meiryo" pitchFamily="34" charset="-120"/>
                        </a:rPr>
                        <a:t>9月中</a:t>
                      </a:r>
                      <a:endParaRPr lang="en-US" sz="1100" dirty="0">
                        <a:latin typeface="Meiryo" charset="0"/>
                        <a:ea typeface="Meiryo" charset="0"/>
                        <a:cs typeface="Meiryo" charset="0"/>
                      </a:endParaRPr>
                    </a:p>
                  </a:txBody>
                  <a:tcPr marL="91440" marR="91440" marT="45720" marB="45720">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tcPr>
                </a:tc>
              </a:tr>
            </a:tbl>
          </a:graphicData>
        </a:graphic>
      </p:graphicFrame>
      <p:sp>
        <p:nvSpPr>
          <p:cNvPr id="7" name="Text 4"/>
          <p:cNvSpPr/>
          <p:nvPr/>
        </p:nvSpPr>
        <p:spPr>
          <a:xfrm>
            <a:off x="502920" y="4759452"/>
            <a:ext cx="6949440" cy="228600"/>
          </a:xfrm>
          <a:prstGeom prst="rect">
            <a:avLst/>
          </a:prstGeom>
          <a:noFill/>
          <a:ln/>
        </p:spPr>
        <p:txBody>
          <a:bodyPr wrap="square" rtlCol="0" anchor="ctr"/>
          <a:lstStyle/>
          <a:p>
            <a:pPr indent="0" marL="0">
              <a:buNone/>
            </a:pPr>
            <a:r>
              <a:rPr lang="en-US" sz="900" dirty="0">
                <a:solidFill>
                  <a:srgbClr val="6B6B6B"/>
                </a:solidFill>
                <a:latin typeface="Meiryo" pitchFamily="34" charset="0"/>
                <a:ea typeface="Meiryo" pitchFamily="34" charset="-122"/>
                <a:cs typeface="Meiryo" pitchFamily="34" charset="-120"/>
              </a:rPr>
              <a:t>出典: projects/johoku-saitama/research/brief.md（2026-07-03 ヒアリング・Backlog GG_ORDER-4733）</a:t>
            </a:r>
            <a:endParaRPr lang="en-US" sz="900" dirty="0"/>
          </a:p>
        </p:txBody>
      </p:sp>
      <p:sp>
        <p:nvSpPr>
          <p:cNvPr id="8" name="Text 5"/>
          <p:cNvSpPr/>
          <p:nvPr/>
        </p:nvSpPr>
        <p:spPr>
          <a:xfrm>
            <a:off x="7543800" y="4759452"/>
            <a:ext cx="1097280" cy="228600"/>
          </a:xfrm>
          <a:prstGeom prst="rect">
            <a:avLst/>
          </a:prstGeom>
          <a:noFill/>
          <a:ln/>
        </p:spPr>
        <p:txBody>
          <a:bodyPr wrap="square" rtlCol="0" anchor="ctr"/>
          <a:lstStyle/>
          <a:p>
            <a:pPr algn="r" indent="0" marL="0">
              <a:buNone/>
            </a:pPr>
            <a:r>
              <a:rPr lang="en-US" sz="900" dirty="0">
                <a:solidFill>
                  <a:srgbClr val="6B6B6B"/>
                </a:solidFill>
                <a:latin typeface="Meiryo" pitchFamily="34" charset="0"/>
                <a:ea typeface="Meiryo" pitchFamily="34" charset="-122"/>
                <a:cs typeface="Meiryo" pitchFamily="34" charset="-120"/>
              </a:rPr>
              <a:t>54|82</a:t>
            </a:r>
            <a:endParaRPr lang="en-US" sz="90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bg>
      <p:bgPr>
        <a:solidFill>
          <a:srgbClr val="1F3A5F"/>
        </a:solidFill>
      </p:bgPr>
    </p:bg>
    <p:spTree>
      <p:nvGrpSpPr>
        <p:cNvPr id="1" name=""/>
        <p:cNvGrpSpPr/>
        <p:nvPr/>
      </p:nvGrpSpPr>
      <p:grpSpPr>
        <a:xfrm>
          <a:off x="0" y="0"/>
          <a:ext cx="0" cy="0"/>
          <a:chOff x="0" y="0"/>
          <a:chExt cx="0" cy="0"/>
        </a:xfrm>
      </p:grpSpPr>
      <p:sp>
        <p:nvSpPr>
          <p:cNvPr id="2" name="Text 0"/>
          <p:cNvSpPr/>
          <p:nvPr/>
        </p:nvSpPr>
        <p:spPr>
          <a:xfrm>
            <a:off x="502920" y="1737360"/>
            <a:ext cx="1280160" cy="640080"/>
          </a:xfrm>
          <a:prstGeom prst="rect">
            <a:avLst/>
          </a:prstGeom>
          <a:noFill/>
          <a:ln/>
        </p:spPr>
        <p:txBody>
          <a:bodyPr wrap="square" rtlCol="0" anchor="ctr"/>
          <a:lstStyle/>
          <a:p>
            <a:pPr indent="0" marL="0">
              <a:buNone/>
            </a:pPr>
            <a:r>
              <a:rPr lang="en-US" sz="3400" b="1" dirty="0">
                <a:solidFill>
                  <a:srgbClr val="FFFFFF"/>
                </a:solidFill>
                <a:latin typeface="Meiryo" pitchFamily="34" charset="0"/>
                <a:ea typeface="Meiryo" pitchFamily="34" charset="-122"/>
                <a:cs typeface="Meiryo" pitchFamily="34" charset="-120"/>
              </a:rPr>
              <a:t>13</a:t>
            </a:r>
            <a:endParaRPr lang="en-US" sz="3400" dirty="0"/>
          </a:p>
        </p:txBody>
      </p:sp>
      <p:sp>
        <p:nvSpPr>
          <p:cNvPr id="3" name="Text 1"/>
          <p:cNvSpPr/>
          <p:nvPr/>
        </p:nvSpPr>
        <p:spPr>
          <a:xfrm>
            <a:off x="502920" y="2377440"/>
            <a:ext cx="8138160" cy="365760"/>
          </a:xfrm>
          <a:prstGeom prst="rect">
            <a:avLst/>
          </a:prstGeom>
          <a:noFill/>
          <a:ln/>
        </p:spPr>
        <p:txBody>
          <a:bodyPr wrap="square" rtlCol="0" anchor="ctr"/>
          <a:lstStyle/>
          <a:p>
            <a:pPr indent="0" marL="0">
              <a:buNone/>
            </a:pPr>
            <a:r>
              <a:rPr lang="en-US" sz="1300" dirty="0">
                <a:solidFill>
                  <a:srgbClr val="FFFFFF"/>
                </a:solidFill>
                <a:latin typeface="Meiryo" pitchFamily="34" charset="0"/>
                <a:ea typeface="Meiryo" pitchFamily="34" charset="-122"/>
                <a:cs typeface="Meiryo" pitchFamily="34" charset="-120"/>
              </a:rPr>
              <a:t>Appendix</a:t>
            </a:r>
            <a:endParaRPr lang="en-US" sz="1300" dirty="0"/>
          </a:p>
        </p:txBody>
      </p:sp>
      <p:sp>
        <p:nvSpPr>
          <p:cNvPr id="4" name="Text 2"/>
          <p:cNvSpPr/>
          <p:nvPr/>
        </p:nvSpPr>
        <p:spPr>
          <a:xfrm>
            <a:off x="502920" y="2743200"/>
            <a:ext cx="8138160" cy="548640"/>
          </a:xfrm>
          <a:prstGeom prst="rect">
            <a:avLst/>
          </a:prstGeom>
          <a:noFill/>
          <a:ln/>
        </p:spPr>
        <p:txBody>
          <a:bodyPr wrap="square" rtlCol="0" anchor="ctr"/>
          <a:lstStyle/>
          <a:p>
            <a:pPr indent="0" marL="0">
              <a:buNone/>
            </a:pPr>
            <a:r>
              <a:rPr lang="en-US" sz="2400" b="1" dirty="0">
                <a:solidFill>
                  <a:srgbClr val="FFFFFF"/>
                </a:solidFill>
                <a:latin typeface="Meiryo" pitchFamily="34" charset="0"/>
                <a:ea typeface="Meiryo" pitchFamily="34" charset="-122"/>
                <a:cs typeface="Meiryo" pitchFamily="34" charset="-120"/>
              </a:rPr>
              <a:t>補足（FAQ・契約諸条件）</a:t>
            </a:r>
            <a:endParaRPr lang="en-US" sz="2400" dirty="0"/>
          </a:p>
        </p:txBody>
      </p:sp>
      <p:sp>
        <p:nvSpPr>
          <p:cNvPr id="5" name="Text 3"/>
          <p:cNvSpPr/>
          <p:nvPr/>
        </p:nvSpPr>
        <p:spPr>
          <a:xfrm>
            <a:off x="7543800" y="4759452"/>
            <a:ext cx="1097280" cy="228600"/>
          </a:xfrm>
          <a:prstGeom prst="rect">
            <a:avLst/>
          </a:prstGeom>
          <a:noFill/>
          <a:ln/>
        </p:spPr>
        <p:txBody>
          <a:bodyPr wrap="square" rtlCol="0" anchor="ctr"/>
          <a:lstStyle/>
          <a:p>
            <a:pPr algn="r" indent="0" marL="0">
              <a:buNone/>
            </a:pPr>
            <a:r>
              <a:rPr lang="en-US" sz="900" dirty="0">
                <a:solidFill>
                  <a:srgbClr val="6B6B6B"/>
                </a:solidFill>
                <a:latin typeface="Meiryo" pitchFamily="34" charset="0"/>
                <a:ea typeface="Meiryo" pitchFamily="34" charset="-122"/>
                <a:cs typeface="Meiryo" pitchFamily="34" charset="-120"/>
              </a:rPr>
              <a:t>55|82</a:t>
            </a:r>
            <a:endParaRPr lang="en-US" sz="90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spTree>
      <p:nvGrpSpPr>
        <p:cNvPr id="1" name=""/>
        <p:cNvGrpSpPr/>
        <p:nvPr/>
      </p:nvGrpSpPr>
      <p:grpSpPr>
        <a:xfrm>
          <a:off x="0" y="0"/>
          <a:ext cx="0" cy="0"/>
          <a:chOff x="0" y="0"/>
          <a:chExt cx="0" cy="0"/>
        </a:xfrm>
      </p:grpSpPr>
      <p:sp>
        <p:nvSpPr>
          <p:cNvPr id="2" name="Text 0"/>
          <p:cNvSpPr/>
          <p:nvPr/>
        </p:nvSpPr>
        <p:spPr>
          <a:xfrm>
            <a:off x="502920" y="502920"/>
            <a:ext cx="8138160" cy="228600"/>
          </a:xfrm>
          <a:prstGeom prst="rect">
            <a:avLst/>
          </a:prstGeom>
          <a:noFill/>
          <a:ln/>
        </p:spPr>
        <p:txBody>
          <a:bodyPr wrap="square" rtlCol="0" anchor="ctr"/>
          <a:lstStyle/>
          <a:p>
            <a:pPr indent="0" marL="0">
              <a:buNone/>
            </a:pPr>
            <a:r>
              <a:rPr lang="en-US" sz="1000" dirty="0">
                <a:solidFill>
                  <a:srgbClr val="6B6B6B"/>
                </a:solidFill>
                <a:latin typeface="Meiryo" pitchFamily="34" charset="0"/>
                <a:ea typeface="Meiryo" pitchFamily="34" charset="-122"/>
                <a:cs typeface="Meiryo" pitchFamily="34" charset="-120"/>
              </a:rPr>
              <a:t>13 Appendix</a:t>
            </a:r>
            <a:endParaRPr lang="en-US" sz="1000" dirty="0"/>
          </a:p>
        </p:txBody>
      </p:sp>
      <p:sp>
        <p:nvSpPr>
          <p:cNvPr id="3" name="Text 1"/>
          <p:cNvSpPr/>
          <p:nvPr/>
        </p:nvSpPr>
        <p:spPr>
          <a:xfrm>
            <a:off x="502920" y="777240"/>
            <a:ext cx="8138160" cy="457200"/>
          </a:xfrm>
          <a:prstGeom prst="rect">
            <a:avLst/>
          </a:prstGeom>
          <a:noFill/>
          <a:ln/>
        </p:spPr>
        <p:txBody>
          <a:bodyPr wrap="square" rtlCol="0" anchor="ctr"/>
          <a:lstStyle/>
          <a:p>
            <a:pPr indent="0" marL="0">
              <a:buNone/>
            </a:pPr>
            <a:r>
              <a:rPr lang="en-US" sz="2000" b="1" dirty="0">
                <a:solidFill>
                  <a:srgbClr val="1A1A1A"/>
                </a:solidFill>
                <a:latin typeface="Meiryo" pitchFamily="34" charset="0"/>
                <a:ea typeface="Meiryo" pitchFamily="34" charset="-122"/>
                <a:cs typeface="Meiryo" pitchFamily="34" charset="-120"/>
              </a:rPr>
              <a:t>発注前のご質問は、体制・保守・制作範囲の3点に集まります</a:t>
            </a:r>
            <a:endParaRPr lang="en-US" sz="2000" dirty="0"/>
          </a:p>
        </p:txBody>
      </p:sp>
      <p:sp>
        <p:nvSpPr>
          <p:cNvPr id="4" name="Shape 2"/>
          <p:cNvSpPr/>
          <p:nvPr/>
        </p:nvSpPr>
        <p:spPr>
          <a:xfrm>
            <a:off x="502920" y="1280160"/>
            <a:ext cx="8138160" cy="0"/>
          </a:xfrm>
          <a:prstGeom prst="line">
            <a:avLst/>
          </a:prstGeom>
          <a:noFill/>
          <a:ln w="12700">
            <a:solidFill>
              <a:srgbClr val="D5D5D5"/>
            </a:solidFill>
            <a:prstDash val="solid"/>
          </a:ln>
        </p:spPr>
      </p:sp>
      <p:sp>
        <p:nvSpPr>
          <p:cNvPr id="5" name="Text 3"/>
          <p:cNvSpPr/>
          <p:nvPr/>
        </p:nvSpPr>
        <p:spPr>
          <a:xfrm>
            <a:off x="502920" y="1417320"/>
            <a:ext cx="8138160" cy="457200"/>
          </a:xfrm>
          <a:prstGeom prst="rect">
            <a:avLst/>
          </a:prstGeom>
          <a:noFill/>
          <a:ln/>
        </p:spPr>
        <p:txBody>
          <a:bodyPr wrap="square" rtlCol="0" anchor="t"/>
          <a:lstStyle/>
          <a:p>
            <a:pPr indent="0" marL="0">
              <a:buNone/>
            </a:pPr>
            <a:r>
              <a:rPr lang="en-US" sz="1200" dirty="0">
                <a:solidFill>
                  <a:srgbClr val="1A1A1A"/>
                </a:solidFill>
                <a:latin typeface="Meiryo" pitchFamily="34" charset="0"/>
                <a:ea typeface="Meiryo" pitchFamily="34" charset="-122"/>
                <a:cs typeface="Meiryo" pitchFamily="34" charset="-120"/>
              </a:rPr>
              <a:t>ご相談時に必ずいただく3件に、先回りしてお答えします。／ 制作の進め方も、納品後の保守も、周辺のクリエイティブも、自社内に人と部門を抱えているからこそ、責任の所在を分散させずにお答えできます。</a:t>
            </a:r>
            <a:endParaRPr lang="en-US" sz="1200" dirty="0"/>
          </a:p>
        </p:txBody>
      </p:sp>
      <p:sp>
        <p:nvSpPr>
          <p:cNvPr id="6" name="Text 4"/>
          <p:cNvSpPr/>
          <p:nvPr/>
        </p:nvSpPr>
        <p:spPr>
          <a:xfrm>
            <a:off x="502920" y="1965960"/>
            <a:ext cx="8138160" cy="2628900"/>
          </a:xfrm>
          <a:prstGeom prst="rect">
            <a:avLst/>
          </a:prstGeom>
          <a:noFill/>
          <a:ln/>
        </p:spPr>
        <p:txBody>
          <a:bodyPr wrap="square" rtlCol="0" anchor="t"/>
          <a:lstStyle/>
          <a:p>
            <a:pPr marL="342900" indent="-342900">
              <a:lnSpc>
                <a:spcPct val="130000"/>
              </a:lnSpc>
              <a:buSzPct val="100000"/>
              <a:buChar char="•"/>
            </a:pPr>
            <a:r>
              <a:rPr lang="en-US" sz="1300" dirty="0">
                <a:solidFill>
                  <a:srgbClr val="1A1A1A"/>
                </a:solidFill>
                <a:latin typeface="Meiryo" pitchFamily="34" charset="0"/>
                <a:ea typeface="Meiryo" pitchFamily="34" charset="-122"/>
                <a:cs typeface="Meiryo" pitchFamily="34" charset="-120"/>
              </a:rPr>
              <a:t>ラベル: FAQ</a:t>
            </a:r>
            <a:endParaRPr lang="en-US" sz="1300" dirty="0"/>
          </a:p>
          <a:p>
            <a:pPr marL="342900" indent="-342900">
              <a:lnSpc>
                <a:spcPct val="130000"/>
              </a:lnSpc>
              <a:buSzPct val="100000"/>
              <a:buChar char="•"/>
            </a:pPr>
            <a:r>
              <a:rPr lang="en-US" sz="1300" dirty="0">
                <a:solidFill>
                  <a:srgbClr val="1A1A1A"/>
                </a:solidFill>
                <a:latin typeface="Meiryo" pitchFamily="34" charset="0"/>
                <a:ea typeface="Meiryo" pitchFamily="34" charset="-122"/>
                <a:cs typeface="Meiryo" pitchFamily="34" charset="-120"/>
              </a:rPr>
              <a:t>Q1: 発注後、外部委託やアウトソーシングなどはありますか。〔タグ: 自社内一貫制作〕</a:t>
            </a:r>
            <a:endParaRPr lang="en-US" sz="1300" dirty="0"/>
          </a:p>
          <a:p>
            <a:pPr marL="342900" indent="-342900">
              <a:lnSpc>
                <a:spcPct val="130000"/>
              </a:lnSpc>
              <a:buSzPct val="100000"/>
              <a:buChar char="•"/>
            </a:pPr>
            <a:r>
              <a:rPr lang="en-US" sz="1300" dirty="0">
                <a:solidFill>
                  <a:srgbClr val="1A1A1A"/>
                </a:solidFill>
                <a:latin typeface="Meiryo" pitchFamily="34" charset="0"/>
                <a:ea typeface="Meiryo" pitchFamily="34" charset="-122"/>
                <a:cs typeface="Meiryo" pitchFamily="34" charset="-120"/>
              </a:rPr>
              <a:t>Q2: 納品後の保守サービスはありますか。〔タグ: 無償＋任意の有償〕</a:t>
            </a:r>
            <a:endParaRPr lang="en-US" sz="1300" dirty="0"/>
          </a:p>
          <a:p>
            <a:pPr marL="342900" indent="-342900">
              <a:lnSpc>
                <a:spcPct val="130000"/>
              </a:lnSpc>
              <a:buSzPct val="100000"/>
              <a:buChar char="•"/>
            </a:pPr>
            <a:r>
              <a:rPr lang="en-US" sz="1300" dirty="0">
                <a:solidFill>
                  <a:srgbClr val="1A1A1A"/>
                </a:solidFill>
                <a:latin typeface="Meiryo" pitchFamily="34" charset="0"/>
                <a:ea typeface="Meiryo" pitchFamily="34" charset="-122"/>
                <a:cs typeface="Meiryo" pitchFamily="34" charset="-120"/>
              </a:rPr>
              <a:t>Q3: パンフレットなども合わせてお願いすることは可能でしょうか。〔タグ: DTP部門あり〕</a:t>
            </a:r>
            <a:endParaRPr lang="en-US" sz="1300" dirty="0"/>
          </a:p>
        </p:txBody>
      </p:sp>
      <p:sp>
        <p:nvSpPr>
          <p:cNvPr id="7" name="Text 5"/>
          <p:cNvSpPr/>
          <p:nvPr/>
        </p:nvSpPr>
        <p:spPr>
          <a:xfrm>
            <a:off x="7543800" y="4759452"/>
            <a:ext cx="1097280" cy="228600"/>
          </a:xfrm>
          <a:prstGeom prst="rect">
            <a:avLst/>
          </a:prstGeom>
          <a:noFill/>
          <a:ln/>
        </p:spPr>
        <p:txBody>
          <a:bodyPr wrap="square" rtlCol="0" anchor="ctr"/>
          <a:lstStyle/>
          <a:p>
            <a:pPr algn="r" indent="0" marL="0">
              <a:buNone/>
            </a:pPr>
            <a:r>
              <a:rPr lang="en-US" sz="900" dirty="0">
                <a:solidFill>
                  <a:srgbClr val="6B6B6B"/>
                </a:solidFill>
                <a:latin typeface="Meiryo" pitchFamily="34" charset="0"/>
                <a:ea typeface="Meiryo" pitchFamily="34" charset="-122"/>
                <a:cs typeface="Meiryo" pitchFamily="34" charset="-120"/>
              </a:rPr>
              <a:t>56|82</a:t>
            </a:r>
            <a:endParaRPr lang="en-US" sz="90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spTree>
      <p:nvGrpSpPr>
        <p:cNvPr id="1" name=""/>
        <p:cNvGrpSpPr/>
        <p:nvPr/>
      </p:nvGrpSpPr>
      <p:grpSpPr>
        <a:xfrm>
          <a:off x="0" y="0"/>
          <a:ext cx="0" cy="0"/>
          <a:chOff x="0" y="0"/>
          <a:chExt cx="0" cy="0"/>
        </a:xfrm>
      </p:grpSpPr>
      <p:sp>
        <p:nvSpPr>
          <p:cNvPr id="2" name="Text 0"/>
          <p:cNvSpPr/>
          <p:nvPr/>
        </p:nvSpPr>
        <p:spPr>
          <a:xfrm>
            <a:off x="502920" y="502920"/>
            <a:ext cx="8138160" cy="228600"/>
          </a:xfrm>
          <a:prstGeom prst="rect">
            <a:avLst/>
          </a:prstGeom>
          <a:noFill/>
          <a:ln/>
        </p:spPr>
        <p:txBody>
          <a:bodyPr wrap="square" rtlCol="0" anchor="ctr"/>
          <a:lstStyle/>
          <a:p>
            <a:pPr indent="0" marL="0">
              <a:buNone/>
            </a:pPr>
            <a:r>
              <a:rPr lang="en-US" sz="1000" dirty="0">
                <a:solidFill>
                  <a:srgbClr val="6B6B6B"/>
                </a:solidFill>
                <a:latin typeface="Meiryo" pitchFamily="34" charset="0"/>
                <a:ea typeface="Meiryo" pitchFamily="34" charset="-122"/>
                <a:cs typeface="Meiryo" pitchFamily="34" charset="-120"/>
              </a:rPr>
              <a:t>13 Appendix</a:t>
            </a:r>
            <a:endParaRPr lang="en-US" sz="1000" dirty="0"/>
          </a:p>
        </p:txBody>
      </p:sp>
      <p:sp>
        <p:nvSpPr>
          <p:cNvPr id="3" name="Text 1"/>
          <p:cNvSpPr/>
          <p:nvPr/>
        </p:nvSpPr>
        <p:spPr>
          <a:xfrm>
            <a:off x="502920" y="777240"/>
            <a:ext cx="8138160" cy="457200"/>
          </a:xfrm>
          <a:prstGeom prst="rect">
            <a:avLst/>
          </a:prstGeom>
          <a:noFill/>
          <a:ln/>
        </p:spPr>
        <p:txBody>
          <a:bodyPr wrap="square" rtlCol="0" anchor="ctr"/>
          <a:lstStyle/>
          <a:p>
            <a:pPr indent="0" marL="0">
              <a:buNone/>
            </a:pPr>
            <a:r>
              <a:rPr lang="en-US" sz="2000" b="1" dirty="0">
                <a:solidFill>
                  <a:srgbClr val="1A1A1A"/>
                </a:solidFill>
                <a:latin typeface="Meiryo" pitchFamily="34" charset="0"/>
                <a:ea typeface="Meiryo" pitchFamily="34" charset="-122"/>
                <a:cs typeface="Meiryo" pitchFamily="34" charset="-120"/>
              </a:rPr>
              <a:t>支払・契約不適合責任・著作権など5項目を事前に開示</a:t>
            </a:r>
            <a:endParaRPr lang="en-US" sz="2000" dirty="0"/>
          </a:p>
        </p:txBody>
      </p:sp>
      <p:sp>
        <p:nvSpPr>
          <p:cNvPr id="4" name="Shape 2"/>
          <p:cNvSpPr/>
          <p:nvPr/>
        </p:nvSpPr>
        <p:spPr>
          <a:xfrm>
            <a:off x="502920" y="1280160"/>
            <a:ext cx="8138160" cy="0"/>
          </a:xfrm>
          <a:prstGeom prst="line">
            <a:avLst/>
          </a:prstGeom>
          <a:noFill/>
          <a:ln w="12700">
            <a:solidFill>
              <a:srgbClr val="D5D5D5"/>
            </a:solidFill>
            <a:prstDash val="solid"/>
          </a:ln>
        </p:spPr>
      </p:sp>
      <p:sp>
        <p:nvSpPr>
          <p:cNvPr id="5" name="Text 3"/>
          <p:cNvSpPr/>
          <p:nvPr/>
        </p:nvSpPr>
        <p:spPr>
          <a:xfrm>
            <a:off x="502920" y="1417320"/>
            <a:ext cx="8138160" cy="457200"/>
          </a:xfrm>
          <a:prstGeom prst="rect">
            <a:avLst/>
          </a:prstGeom>
          <a:noFill/>
          <a:ln/>
        </p:spPr>
        <p:txBody>
          <a:bodyPr wrap="square" rtlCol="0" anchor="t"/>
          <a:lstStyle/>
          <a:p>
            <a:pPr indent="0" marL="0">
              <a:buNone/>
            </a:pPr>
            <a:r>
              <a:rPr lang="en-US" sz="1200" dirty="0">
                <a:solidFill>
                  <a:srgbClr val="1A1A1A"/>
                </a:solidFill>
                <a:latin typeface="Meiryo" pitchFamily="34" charset="0"/>
                <a:ea typeface="Meiryo" pitchFamily="34" charset="-122"/>
                <a:cs typeface="Meiryo" pitchFamily="34" charset="-120"/>
              </a:rPr>
              <a:t>諸条件はお客様とのご相談の上、調整を行い、ご契約書を取り交わしいたします。／ 後出しの条件はありません。着手前に支払・責任・権利の範囲まで書面で確定させます。</a:t>
            </a:r>
            <a:endParaRPr lang="en-US" sz="1200" dirty="0"/>
          </a:p>
        </p:txBody>
      </p:sp>
      <p:sp>
        <p:nvSpPr>
          <p:cNvPr id="6" name="Text 4"/>
          <p:cNvSpPr/>
          <p:nvPr/>
        </p:nvSpPr>
        <p:spPr>
          <a:xfrm>
            <a:off x="502920" y="1965960"/>
            <a:ext cx="8138160" cy="2628900"/>
          </a:xfrm>
          <a:prstGeom prst="rect">
            <a:avLst/>
          </a:prstGeom>
          <a:noFill/>
          <a:ln/>
        </p:spPr>
        <p:txBody>
          <a:bodyPr wrap="square" rtlCol="0" anchor="t"/>
          <a:lstStyle/>
          <a:p>
            <a:pPr marL="342900" indent="-342900">
              <a:lnSpc>
                <a:spcPct val="130000"/>
              </a:lnSpc>
              <a:buSzPct val="100000"/>
              <a:buChar char="•"/>
            </a:pPr>
            <a:r>
              <a:rPr lang="en-US" sz="1300" dirty="0">
                <a:solidFill>
                  <a:srgbClr val="1A1A1A"/>
                </a:solidFill>
                <a:latin typeface="Meiryo" pitchFamily="34" charset="0"/>
                <a:ea typeface="Meiryo" pitchFamily="34" charset="-122"/>
                <a:cs typeface="Meiryo" pitchFamily="34" charset="-120"/>
              </a:rPr>
              <a:t>ラベル: AGREEMENT</a:t>
            </a:r>
            <a:endParaRPr lang="en-US" sz="1300" dirty="0"/>
          </a:p>
          <a:p>
            <a:pPr marL="342900" indent="-342900">
              <a:lnSpc>
                <a:spcPct val="130000"/>
              </a:lnSpc>
              <a:buSzPct val="100000"/>
              <a:buChar char="•"/>
            </a:pPr>
            <a:r>
              <a:rPr lang="en-US" sz="1300" dirty="0">
                <a:solidFill>
                  <a:srgbClr val="1A1A1A"/>
                </a:solidFill>
                <a:latin typeface="Meiryo" pitchFamily="34" charset="0"/>
                <a:ea typeface="Meiryo" pitchFamily="34" charset="-122"/>
                <a:cs typeface="Meiryo" pitchFamily="34" charset="-120"/>
              </a:rPr>
              <a:t>支払条件: 当社では初回お取引きの場合のみ、2部に分割を行いお支払いを原則お願いしております。／ 1部：ご契約締結後、ご契約書締結後にご請求書を発行／ 2部：お客様検収終了後、納品にて同じく、ご請求書を発行</a:t>
            </a:r>
            <a:endParaRPr lang="en-US" sz="1300" dirty="0"/>
          </a:p>
          <a:p>
            <a:pPr marL="342900" indent="-342900">
              <a:lnSpc>
                <a:spcPct val="130000"/>
              </a:lnSpc>
              <a:buSzPct val="100000"/>
              <a:buChar char="•"/>
            </a:pPr>
            <a:r>
              <a:rPr lang="en-US" sz="1300" dirty="0">
                <a:solidFill>
                  <a:srgbClr val="1A1A1A"/>
                </a:solidFill>
                <a:latin typeface="Meiryo" pitchFamily="34" charset="0"/>
                <a:ea typeface="Meiryo" pitchFamily="34" charset="-122"/>
                <a:cs typeface="Meiryo" pitchFamily="34" charset="-120"/>
              </a:rPr>
              <a:t>契約不適合責任: 契約不適合責任は1年間における当社の過失及び、WordPressにおける不具合が発覚した場合に無償にて修正および、不具合解消を行います。</a:t>
            </a:r>
            <a:endParaRPr lang="en-US" sz="1300" dirty="0"/>
          </a:p>
          <a:p>
            <a:pPr marL="342900" indent="-342900">
              <a:lnSpc>
                <a:spcPct val="130000"/>
              </a:lnSpc>
              <a:buSzPct val="100000"/>
              <a:buChar char="•"/>
            </a:pPr>
            <a:r>
              <a:rPr lang="en-US" sz="1300" dirty="0">
                <a:solidFill>
                  <a:srgbClr val="1A1A1A"/>
                </a:solidFill>
                <a:latin typeface="Meiryo" pitchFamily="34" charset="0"/>
                <a:ea typeface="Meiryo" pitchFamily="34" charset="-122"/>
                <a:cs typeface="Meiryo" pitchFamily="34" charset="-120"/>
              </a:rPr>
              <a:t>著作権: 制作物のうち新規に作成されたデザイン・プログラムの著作権については、納品後、決済時点で貴社へ譲渡を行います。</a:t>
            </a:r>
            <a:endParaRPr lang="en-US" sz="1300" dirty="0"/>
          </a:p>
          <a:p>
            <a:pPr marL="342900" indent="-342900">
              <a:lnSpc>
                <a:spcPct val="130000"/>
              </a:lnSpc>
              <a:buSzPct val="100000"/>
              <a:buChar char="•"/>
            </a:pPr>
            <a:r>
              <a:rPr lang="en-US" sz="1300" dirty="0">
                <a:solidFill>
                  <a:srgbClr val="1A1A1A"/>
                </a:solidFill>
                <a:latin typeface="Meiryo" pitchFamily="34" charset="0"/>
                <a:ea typeface="Meiryo" pitchFamily="34" charset="-122"/>
                <a:cs typeface="Meiryo" pitchFamily="34" charset="-120"/>
              </a:rPr>
              <a:t>ご請求書: ご請求書は原則、月末締めにて郵送で送付をさせていただきます。</a:t>
            </a:r>
            <a:endParaRPr lang="en-US" sz="1300" dirty="0"/>
          </a:p>
          <a:p>
            <a:pPr marL="342900" indent="-342900">
              <a:lnSpc>
                <a:spcPct val="130000"/>
              </a:lnSpc>
              <a:buSzPct val="100000"/>
              <a:buChar char="•"/>
            </a:pPr>
            <a:r>
              <a:rPr lang="en-US" sz="1300" dirty="0">
                <a:solidFill>
                  <a:srgbClr val="1A1A1A"/>
                </a:solidFill>
                <a:latin typeface="Meiryo" pitchFamily="34" charset="0"/>
                <a:ea typeface="Meiryo" pitchFamily="34" charset="-122"/>
                <a:cs typeface="Meiryo" pitchFamily="34" charset="-120"/>
              </a:rPr>
              <a:t>ご契約書: ご契約書はお客様の指定があった場合を除く、当社ご契約書を発行させていただきました上で、ご確認と調整をさせて頂いております。</a:t>
            </a:r>
            <a:endParaRPr lang="en-US" sz="1300" dirty="0"/>
          </a:p>
        </p:txBody>
      </p:sp>
      <p:sp>
        <p:nvSpPr>
          <p:cNvPr id="7" name="Text 5"/>
          <p:cNvSpPr/>
          <p:nvPr/>
        </p:nvSpPr>
        <p:spPr>
          <a:xfrm>
            <a:off x="7543800" y="4759452"/>
            <a:ext cx="1097280" cy="228600"/>
          </a:xfrm>
          <a:prstGeom prst="rect">
            <a:avLst/>
          </a:prstGeom>
          <a:noFill/>
          <a:ln/>
        </p:spPr>
        <p:txBody>
          <a:bodyPr wrap="square" rtlCol="0" anchor="ctr"/>
          <a:lstStyle/>
          <a:p>
            <a:pPr algn="r" indent="0" marL="0">
              <a:buNone/>
            </a:pPr>
            <a:r>
              <a:rPr lang="en-US" sz="900" dirty="0">
                <a:solidFill>
                  <a:srgbClr val="6B6B6B"/>
                </a:solidFill>
                <a:latin typeface="Meiryo" pitchFamily="34" charset="0"/>
                <a:ea typeface="Meiryo" pitchFamily="34" charset="-122"/>
                <a:cs typeface="Meiryo" pitchFamily="34" charset="-120"/>
              </a:rPr>
              <a:t>57|82</a:t>
            </a:r>
            <a:endParaRPr lang="en-US" sz="90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bg>
      <p:bgPr>
        <a:solidFill>
          <a:srgbClr val="1F3A5F"/>
        </a:solidFill>
      </p:bgPr>
    </p:bg>
    <p:spTree>
      <p:nvGrpSpPr>
        <p:cNvPr id="1" name=""/>
        <p:cNvGrpSpPr/>
        <p:nvPr/>
      </p:nvGrpSpPr>
      <p:grpSpPr>
        <a:xfrm>
          <a:off x="0" y="0"/>
          <a:ext cx="0" cy="0"/>
          <a:chOff x="0" y="0"/>
          <a:chExt cx="0" cy="0"/>
        </a:xfrm>
      </p:grpSpPr>
      <p:sp>
        <p:nvSpPr>
          <p:cNvPr id="2" name="Text 0"/>
          <p:cNvSpPr/>
          <p:nvPr/>
        </p:nvSpPr>
        <p:spPr>
          <a:xfrm>
            <a:off x="502920" y="1737360"/>
            <a:ext cx="1280160" cy="640080"/>
          </a:xfrm>
          <a:prstGeom prst="rect">
            <a:avLst/>
          </a:prstGeom>
          <a:noFill/>
          <a:ln/>
        </p:spPr>
        <p:txBody>
          <a:bodyPr wrap="square" rtlCol="0" anchor="ctr"/>
          <a:lstStyle/>
          <a:p>
            <a:pPr indent="0" marL="0">
              <a:buNone/>
            </a:pPr>
            <a:r>
              <a:rPr lang="en-US" sz="3400" b="1" dirty="0">
                <a:solidFill>
                  <a:srgbClr val="FFFFFF"/>
                </a:solidFill>
                <a:latin typeface="Meiryo" pitchFamily="34" charset="0"/>
                <a:ea typeface="Meiryo" pitchFamily="34" charset="-122"/>
                <a:cs typeface="Meiryo" pitchFamily="34" charset="-120"/>
              </a:rPr>
              <a:t>14</a:t>
            </a:r>
            <a:endParaRPr lang="en-US" sz="3400" dirty="0"/>
          </a:p>
        </p:txBody>
      </p:sp>
      <p:sp>
        <p:nvSpPr>
          <p:cNvPr id="3" name="Text 1"/>
          <p:cNvSpPr/>
          <p:nvPr/>
        </p:nvSpPr>
        <p:spPr>
          <a:xfrm>
            <a:off x="502920" y="2377440"/>
            <a:ext cx="8138160" cy="365760"/>
          </a:xfrm>
          <a:prstGeom prst="rect">
            <a:avLst/>
          </a:prstGeom>
          <a:noFill/>
          <a:ln/>
        </p:spPr>
        <p:txBody>
          <a:bodyPr wrap="square" rtlCol="0" anchor="ctr"/>
          <a:lstStyle/>
          <a:p>
            <a:pPr indent="0" marL="0">
              <a:buNone/>
            </a:pPr>
            <a:r>
              <a:rPr lang="en-US" sz="1300" dirty="0">
                <a:solidFill>
                  <a:srgbClr val="FFFFFF"/>
                </a:solidFill>
                <a:latin typeface="Meiryo" pitchFamily="34" charset="0"/>
                <a:ea typeface="Meiryo" pitchFamily="34" charset="-122"/>
                <a:cs typeface="Meiryo" pitchFamily="34" charset="-120"/>
              </a:rPr>
              <a:t>About Company</a:t>
            </a:r>
            <a:endParaRPr lang="en-US" sz="1300" dirty="0"/>
          </a:p>
        </p:txBody>
      </p:sp>
      <p:sp>
        <p:nvSpPr>
          <p:cNvPr id="4" name="Text 2"/>
          <p:cNvSpPr/>
          <p:nvPr/>
        </p:nvSpPr>
        <p:spPr>
          <a:xfrm>
            <a:off x="502920" y="2743200"/>
            <a:ext cx="8138160" cy="548640"/>
          </a:xfrm>
          <a:prstGeom prst="rect">
            <a:avLst/>
          </a:prstGeom>
          <a:noFill/>
          <a:ln/>
        </p:spPr>
        <p:txBody>
          <a:bodyPr wrap="square" rtlCol="0" anchor="ctr"/>
          <a:lstStyle/>
          <a:p>
            <a:pPr indent="0" marL="0">
              <a:buNone/>
            </a:pPr>
            <a:r>
              <a:rPr lang="en-US" sz="2400" b="1" dirty="0">
                <a:solidFill>
                  <a:srgbClr val="FFFFFF"/>
                </a:solidFill>
                <a:latin typeface="Meiryo" pitchFamily="34" charset="0"/>
                <a:ea typeface="Meiryo" pitchFamily="34" charset="-122"/>
                <a:cs typeface="Meiryo" pitchFamily="34" charset="-120"/>
              </a:rPr>
              <a:t>会社紹介</a:t>
            </a:r>
            <a:endParaRPr lang="en-US" sz="2400" dirty="0"/>
          </a:p>
        </p:txBody>
      </p:sp>
      <p:sp>
        <p:nvSpPr>
          <p:cNvPr id="5" name="Text 3"/>
          <p:cNvSpPr/>
          <p:nvPr/>
        </p:nvSpPr>
        <p:spPr>
          <a:xfrm>
            <a:off x="7543800" y="4759452"/>
            <a:ext cx="1097280" cy="228600"/>
          </a:xfrm>
          <a:prstGeom prst="rect">
            <a:avLst/>
          </a:prstGeom>
          <a:noFill/>
          <a:ln/>
        </p:spPr>
        <p:txBody>
          <a:bodyPr wrap="square" rtlCol="0" anchor="ctr"/>
          <a:lstStyle/>
          <a:p>
            <a:pPr algn="r" indent="0" marL="0">
              <a:buNone/>
            </a:pPr>
            <a:r>
              <a:rPr lang="en-US" sz="900" dirty="0">
                <a:solidFill>
                  <a:srgbClr val="6B6B6B"/>
                </a:solidFill>
                <a:latin typeface="Meiryo" pitchFamily="34" charset="0"/>
                <a:ea typeface="Meiryo" pitchFamily="34" charset="-122"/>
                <a:cs typeface="Meiryo" pitchFamily="34" charset="-120"/>
              </a:rPr>
              <a:t>58|82</a:t>
            </a:r>
            <a:endParaRPr lang="en-US" sz="90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spTree>
      <p:nvGrpSpPr>
        <p:cNvPr id="1" name=""/>
        <p:cNvGrpSpPr/>
        <p:nvPr/>
      </p:nvGrpSpPr>
      <p:grpSpPr>
        <a:xfrm>
          <a:off x="0" y="0"/>
          <a:ext cx="0" cy="0"/>
          <a:chOff x="0" y="0"/>
          <a:chExt cx="0" cy="0"/>
        </a:xfrm>
      </p:grpSpPr>
      <p:sp>
        <p:nvSpPr>
          <p:cNvPr id="2" name="Text 0"/>
          <p:cNvSpPr/>
          <p:nvPr/>
        </p:nvSpPr>
        <p:spPr>
          <a:xfrm>
            <a:off x="502920" y="502920"/>
            <a:ext cx="8138160" cy="228600"/>
          </a:xfrm>
          <a:prstGeom prst="rect">
            <a:avLst/>
          </a:prstGeom>
          <a:noFill/>
          <a:ln/>
        </p:spPr>
        <p:txBody>
          <a:bodyPr wrap="square" rtlCol="0" anchor="ctr"/>
          <a:lstStyle/>
          <a:p>
            <a:pPr indent="0" marL="0">
              <a:buNone/>
            </a:pPr>
            <a:r>
              <a:rPr lang="en-US" sz="1000" dirty="0">
                <a:solidFill>
                  <a:srgbClr val="6B6B6B"/>
                </a:solidFill>
                <a:latin typeface="Meiryo" pitchFamily="34" charset="0"/>
                <a:ea typeface="Meiryo" pitchFamily="34" charset="-122"/>
                <a:cs typeface="Meiryo" pitchFamily="34" charset="-120"/>
              </a:rPr>
              <a:t>14 About Company</a:t>
            </a:r>
            <a:endParaRPr lang="en-US" sz="1000" dirty="0"/>
          </a:p>
        </p:txBody>
      </p:sp>
      <p:sp>
        <p:nvSpPr>
          <p:cNvPr id="3" name="Text 1"/>
          <p:cNvSpPr/>
          <p:nvPr/>
        </p:nvSpPr>
        <p:spPr>
          <a:xfrm>
            <a:off x="502920" y="777240"/>
            <a:ext cx="8138160" cy="457200"/>
          </a:xfrm>
          <a:prstGeom prst="rect">
            <a:avLst/>
          </a:prstGeom>
          <a:noFill/>
          <a:ln/>
        </p:spPr>
        <p:txBody>
          <a:bodyPr wrap="square" rtlCol="0" anchor="ctr"/>
          <a:lstStyle/>
          <a:p>
            <a:pPr indent="0" marL="0">
              <a:buNone/>
            </a:pPr>
            <a:r>
              <a:rPr lang="en-US" sz="2000" b="1" dirty="0">
                <a:solidFill>
                  <a:srgbClr val="1A1A1A"/>
                </a:solidFill>
                <a:latin typeface="Meiryo" pitchFamily="34" charset="0"/>
                <a:ea typeface="Meiryo" pitchFamily="34" charset="-122"/>
                <a:cs typeface="Meiryo" pitchFamily="34" charset="-120"/>
              </a:rPr>
              <a:t>私たちが掲げるミッション</a:t>
            </a:r>
            <a:endParaRPr lang="en-US" sz="2000" dirty="0"/>
          </a:p>
        </p:txBody>
      </p:sp>
      <p:sp>
        <p:nvSpPr>
          <p:cNvPr id="4" name="Shape 2"/>
          <p:cNvSpPr/>
          <p:nvPr/>
        </p:nvSpPr>
        <p:spPr>
          <a:xfrm>
            <a:off x="502920" y="1280160"/>
            <a:ext cx="8138160" cy="0"/>
          </a:xfrm>
          <a:prstGeom prst="line">
            <a:avLst/>
          </a:prstGeom>
          <a:noFill/>
          <a:ln w="12700">
            <a:solidFill>
              <a:srgbClr val="D5D5D5"/>
            </a:solidFill>
            <a:prstDash val="solid"/>
          </a:ln>
        </p:spPr>
      </p:sp>
      <p:sp>
        <p:nvSpPr>
          <p:cNvPr id="5" name="Text 3"/>
          <p:cNvSpPr/>
          <p:nvPr/>
        </p:nvSpPr>
        <p:spPr>
          <a:xfrm>
            <a:off x="502920" y="1417320"/>
            <a:ext cx="8138160" cy="457200"/>
          </a:xfrm>
          <a:prstGeom prst="rect">
            <a:avLst/>
          </a:prstGeom>
          <a:noFill/>
          <a:ln/>
        </p:spPr>
        <p:txBody>
          <a:bodyPr wrap="square" rtlCol="0" anchor="t"/>
          <a:lstStyle/>
          <a:p>
            <a:pPr indent="0" marL="0">
              <a:buNone/>
            </a:pPr>
            <a:r>
              <a:rPr lang="en-US" sz="1200" dirty="0">
                <a:solidFill>
                  <a:srgbClr val="1A1A1A"/>
                </a:solidFill>
                <a:latin typeface="Meiryo" pitchFamily="34" charset="0"/>
                <a:ea typeface="Meiryo" pitchFamily="34" charset="-122"/>
                <a:cs typeface="Meiryo" pitchFamily="34" charset="-120"/>
              </a:rPr>
              <a:t>クライアントにもたらす成果を第一に考え、課題解決となるソリューションを創出します。</a:t>
            </a:r>
            <a:endParaRPr lang="en-US" sz="1200" dirty="0"/>
          </a:p>
        </p:txBody>
      </p:sp>
      <p:sp>
        <p:nvSpPr>
          <p:cNvPr id="6" name="Text 4"/>
          <p:cNvSpPr/>
          <p:nvPr/>
        </p:nvSpPr>
        <p:spPr>
          <a:xfrm>
            <a:off x="502920" y="1965960"/>
            <a:ext cx="8138160" cy="2628900"/>
          </a:xfrm>
          <a:prstGeom prst="rect">
            <a:avLst/>
          </a:prstGeom>
          <a:noFill/>
          <a:ln/>
        </p:spPr>
        <p:txBody>
          <a:bodyPr wrap="square" rtlCol="0" anchor="t"/>
          <a:lstStyle/>
          <a:p>
            <a:pPr marL="342900" indent="-342900">
              <a:lnSpc>
                <a:spcPct val="130000"/>
              </a:lnSpc>
              <a:buSzPct val="100000"/>
              <a:buChar char="•"/>
            </a:pPr>
            <a:r>
              <a:rPr lang="en-US" sz="1300" dirty="0">
                <a:solidFill>
                  <a:srgbClr val="1A1A1A"/>
                </a:solidFill>
                <a:latin typeface="Meiryo" pitchFamily="34" charset="0"/>
                <a:ea typeface="Meiryo" pitchFamily="34" charset="-122"/>
                <a:cs typeface="Meiryo" pitchFamily="34" charset="-120"/>
              </a:rPr>
              <a:t>ラベル: MISSION ／ 英字: DELIVERING RESULTS, SOLVING CHALLENGES.</a:t>
            </a:r>
            <a:endParaRPr lang="en-US" sz="1300" dirty="0"/>
          </a:p>
          <a:p>
            <a:pPr marL="342900" indent="-342900">
              <a:lnSpc>
                <a:spcPct val="130000"/>
              </a:lnSpc>
              <a:buSzPct val="100000"/>
              <a:buChar char="•"/>
            </a:pPr>
            <a:r>
              <a:rPr lang="en-US" sz="1300" dirty="0">
                <a:solidFill>
                  <a:srgbClr val="1A1A1A"/>
                </a:solidFill>
                <a:latin typeface="Meiryo" pitchFamily="34" charset="0"/>
                <a:ea typeface="Meiryo" pitchFamily="34" charset="-122"/>
                <a:cs typeface="Meiryo" pitchFamily="34" charset="-120"/>
              </a:rPr>
              <a:t>見出し: 成果をもたらす、課題解決を。</a:t>
            </a:r>
            <a:endParaRPr lang="en-US" sz="1300" dirty="0"/>
          </a:p>
          <a:p>
            <a:pPr marL="342900" indent="-342900">
              <a:lnSpc>
                <a:spcPct val="130000"/>
              </a:lnSpc>
              <a:buSzPct val="100000"/>
              <a:buChar char="•"/>
            </a:pPr>
            <a:r>
              <a:rPr lang="en-US" sz="1300" dirty="0">
                <a:solidFill>
                  <a:srgbClr val="1A1A1A"/>
                </a:solidFill>
                <a:latin typeface="Meiryo" pitchFamily="34" charset="0"/>
                <a:ea typeface="Meiryo" pitchFamily="34" charset="-122"/>
                <a:cs typeface="Meiryo" pitchFamily="34" charset="-120"/>
              </a:rPr>
              <a:t>画像: 打ち合わせの様子（モノクロ写真）</a:t>
            </a:r>
            <a:endParaRPr lang="en-US" sz="1300" dirty="0"/>
          </a:p>
        </p:txBody>
      </p:sp>
      <p:sp>
        <p:nvSpPr>
          <p:cNvPr id="7" name="Text 5"/>
          <p:cNvSpPr/>
          <p:nvPr/>
        </p:nvSpPr>
        <p:spPr>
          <a:xfrm>
            <a:off x="7543800" y="4759452"/>
            <a:ext cx="1097280" cy="228600"/>
          </a:xfrm>
          <a:prstGeom prst="rect">
            <a:avLst/>
          </a:prstGeom>
          <a:noFill/>
          <a:ln/>
        </p:spPr>
        <p:txBody>
          <a:bodyPr wrap="square" rtlCol="0" anchor="ctr"/>
          <a:lstStyle/>
          <a:p>
            <a:pPr algn="r" indent="0" marL="0">
              <a:buNone/>
            </a:pPr>
            <a:r>
              <a:rPr lang="en-US" sz="900" dirty="0">
                <a:solidFill>
                  <a:srgbClr val="6B6B6B"/>
                </a:solidFill>
                <a:latin typeface="Meiryo" pitchFamily="34" charset="0"/>
                <a:ea typeface="Meiryo" pitchFamily="34" charset="-122"/>
                <a:cs typeface="Meiryo" pitchFamily="34" charset="-120"/>
              </a:rPr>
              <a:t>59|82</a:t>
            </a:r>
            <a:endParaRPr lang="en-US" sz="90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spTree>
      <p:nvGrpSpPr>
        <p:cNvPr id="1" name=""/>
        <p:cNvGrpSpPr/>
        <p:nvPr/>
      </p:nvGrpSpPr>
      <p:grpSpPr>
        <a:xfrm>
          <a:off x="0" y="0"/>
          <a:ext cx="0" cy="0"/>
          <a:chOff x="0" y="0"/>
          <a:chExt cx="0" cy="0"/>
        </a:xfrm>
      </p:grpSpPr>
      <p:sp>
        <p:nvSpPr>
          <p:cNvPr id="2" name="Text 0"/>
          <p:cNvSpPr/>
          <p:nvPr/>
        </p:nvSpPr>
        <p:spPr>
          <a:xfrm>
            <a:off x="502920" y="502920"/>
            <a:ext cx="8138160" cy="228600"/>
          </a:xfrm>
          <a:prstGeom prst="rect">
            <a:avLst/>
          </a:prstGeom>
          <a:noFill/>
          <a:ln/>
        </p:spPr>
        <p:txBody>
          <a:bodyPr wrap="square" rtlCol="0" anchor="ctr"/>
          <a:lstStyle/>
          <a:p>
            <a:pPr indent="0" marL="0">
              <a:buNone/>
            </a:pPr>
            <a:r>
              <a:rPr lang="en-US" sz="1000" dirty="0">
                <a:solidFill>
                  <a:srgbClr val="6B6B6B"/>
                </a:solidFill>
                <a:latin typeface="Meiryo" pitchFamily="34" charset="0"/>
                <a:ea typeface="Meiryo" pitchFamily="34" charset="-122"/>
                <a:cs typeface="Meiryo" pitchFamily="34" charset="-120"/>
              </a:rPr>
              <a:t>14 About Company</a:t>
            </a:r>
            <a:endParaRPr lang="en-US" sz="1000" dirty="0"/>
          </a:p>
        </p:txBody>
      </p:sp>
      <p:sp>
        <p:nvSpPr>
          <p:cNvPr id="3" name="Text 1"/>
          <p:cNvSpPr/>
          <p:nvPr/>
        </p:nvSpPr>
        <p:spPr>
          <a:xfrm>
            <a:off x="502920" y="777240"/>
            <a:ext cx="8138160" cy="457200"/>
          </a:xfrm>
          <a:prstGeom prst="rect">
            <a:avLst/>
          </a:prstGeom>
          <a:noFill/>
          <a:ln/>
        </p:spPr>
        <p:txBody>
          <a:bodyPr wrap="square" rtlCol="0" anchor="ctr"/>
          <a:lstStyle/>
          <a:p>
            <a:pPr indent="0" marL="0">
              <a:buNone/>
            </a:pPr>
            <a:r>
              <a:rPr lang="en-US" sz="2000" b="1" dirty="0">
                <a:solidFill>
                  <a:srgbClr val="1A1A1A"/>
                </a:solidFill>
                <a:latin typeface="Meiryo" pitchFamily="34" charset="0"/>
                <a:ea typeface="Meiryo" pitchFamily="34" charset="-122"/>
                <a:cs typeface="Meiryo" pitchFamily="34" charset="-120"/>
              </a:rPr>
              <a:t>会社概要と2拠点の体制</a:t>
            </a:r>
            <a:endParaRPr lang="en-US" sz="2000" dirty="0"/>
          </a:p>
        </p:txBody>
      </p:sp>
      <p:sp>
        <p:nvSpPr>
          <p:cNvPr id="4" name="Shape 2"/>
          <p:cNvSpPr/>
          <p:nvPr/>
        </p:nvSpPr>
        <p:spPr>
          <a:xfrm>
            <a:off x="502920" y="1280160"/>
            <a:ext cx="8138160" cy="0"/>
          </a:xfrm>
          <a:prstGeom prst="line">
            <a:avLst/>
          </a:prstGeom>
          <a:noFill/>
          <a:ln w="12700">
            <a:solidFill>
              <a:srgbClr val="D5D5D5"/>
            </a:solidFill>
            <a:prstDash val="solid"/>
          </a:ln>
        </p:spPr>
      </p:sp>
      <p:sp>
        <p:nvSpPr>
          <p:cNvPr id="5" name="Text 3"/>
          <p:cNvSpPr/>
          <p:nvPr/>
        </p:nvSpPr>
        <p:spPr>
          <a:xfrm>
            <a:off x="502920" y="1417320"/>
            <a:ext cx="8138160" cy="3177540"/>
          </a:xfrm>
          <a:prstGeom prst="rect">
            <a:avLst/>
          </a:prstGeom>
          <a:noFill/>
          <a:ln/>
        </p:spPr>
        <p:txBody>
          <a:bodyPr wrap="square" rtlCol="0" anchor="t"/>
          <a:lstStyle/>
          <a:p>
            <a:pPr marL="342900" indent="-342900">
              <a:lnSpc>
                <a:spcPct val="130000"/>
              </a:lnSpc>
              <a:buSzPct val="100000"/>
              <a:buChar char="•"/>
            </a:pPr>
            <a:r>
              <a:rPr lang="en-US" sz="1300" dirty="0">
                <a:solidFill>
                  <a:srgbClr val="1A1A1A"/>
                </a:solidFill>
                <a:latin typeface="Meiryo" pitchFamily="34" charset="0"/>
                <a:ea typeface="Meiryo" pitchFamily="34" charset="-122"/>
                <a:cs typeface="Meiryo" pitchFamily="34" charset="-120"/>
              </a:rPr>
              <a:t>TEAM GROW GROUP：戦略・デザイン・開発・運用の専任メンバー48名がチームで担当します（写真は一部）</a:t>
            </a:r>
            <a:endParaRPr lang="en-US" sz="1300" dirty="0"/>
          </a:p>
          <a:p>
            <a:pPr marL="342900" indent="-342900">
              <a:lnSpc>
                <a:spcPct val="130000"/>
              </a:lnSpc>
              <a:buSzPct val="100000"/>
              <a:buChar char="•"/>
            </a:pPr>
            <a:r>
              <a:rPr lang="en-US" sz="1300" dirty="0">
                <a:solidFill>
                  <a:srgbClr val="1A1A1A"/>
                </a:solidFill>
                <a:latin typeface="Meiryo" pitchFamily="34" charset="0"/>
                <a:ea typeface="Meiryo" pitchFamily="34" charset="-122"/>
                <a:cs typeface="Meiryo" pitchFamily="34" charset="-120"/>
              </a:rPr>
              <a:t>会社名: GrowGroup株式会社</a:t>
            </a:r>
            <a:endParaRPr lang="en-US" sz="1300" dirty="0"/>
          </a:p>
          <a:p>
            <a:pPr marL="342900" indent="-342900">
              <a:lnSpc>
                <a:spcPct val="130000"/>
              </a:lnSpc>
              <a:buSzPct val="100000"/>
              <a:buChar char="•"/>
            </a:pPr>
            <a:r>
              <a:rPr lang="en-US" sz="1300" dirty="0">
                <a:solidFill>
                  <a:srgbClr val="1A1A1A"/>
                </a:solidFill>
                <a:latin typeface="Meiryo" pitchFamily="34" charset="0"/>
                <a:ea typeface="Meiryo" pitchFamily="34" charset="-122"/>
                <a:cs typeface="Meiryo" pitchFamily="34" charset="-120"/>
              </a:rPr>
              <a:t>設立: 2013年6月（2015年6月に株式化）</a:t>
            </a:r>
            <a:endParaRPr lang="en-US" sz="1300" dirty="0"/>
          </a:p>
          <a:p>
            <a:pPr marL="342900" indent="-342900">
              <a:lnSpc>
                <a:spcPct val="130000"/>
              </a:lnSpc>
              <a:buSzPct val="100000"/>
              <a:buChar char="•"/>
            </a:pPr>
            <a:r>
              <a:rPr lang="en-US" sz="1300" dirty="0">
                <a:solidFill>
                  <a:srgbClr val="1A1A1A"/>
                </a:solidFill>
                <a:latin typeface="Meiryo" pitchFamily="34" charset="0"/>
                <a:ea typeface="Meiryo" pitchFamily="34" charset="-122"/>
                <a:cs typeface="Meiryo" pitchFamily="34" charset="-120"/>
              </a:rPr>
              <a:t>資本金: 5,000万円</a:t>
            </a:r>
            <a:endParaRPr lang="en-US" sz="1300" dirty="0"/>
          </a:p>
          <a:p>
            <a:pPr marL="342900" indent="-342900">
              <a:lnSpc>
                <a:spcPct val="130000"/>
              </a:lnSpc>
              <a:buSzPct val="100000"/>
              <a:buChar char="•"/>
            </a:pPr>
            <a:r>
              <a:rPr lang="en-US" sz="1300" dirty="0">
                <a:solidFill>
                  <a:srgbClr val="1A1A1A"/>
                </a:solidFill>
                <a:latin typeface="Meiryo" pitchFamily="34" charset="0"/>
                <a:ea typeface="Meiryo" pitchFamily="34" charset="-122"/>
                <a:cs typeface="Meiryo" pitchFamily="34" charset="-120"/>
              </a:rPr>
              <a:t>営業時間: 10：00〜19：00（土日祝祭日休み）</a:t>
            </a:r>
            <a:endParaRPr lang="en-US" sz="1300" dirty="0"/>
          </a:p>
          <a:p>
            <a:pPr marL="342900" indent="-342900">
              <a:lnSpc>
                <a:spcPct val="130000"/>
              </a:lnSpc>
              <a:buSzPct val="100000"/>
              <a:buChar char="•"/>
            </a:pPr>
            <a:r>
              <a:rPr lang="en-US" sz="1300" dirty="0">
                <a:solidFill>
                  <a:srgbClr val="1A1A1A"/>
                </a:solidFill>
                <a:latin typeface="Meiryo" pitchFamily="34" charset="0"/>
                <a:ea typeface="Meiryo" pitchFamily="34" charset="-122"/>
                <a:cs typeface="Meiryo" pitchFamily="34" charset="-120"/>
              </a:rPr>
              <a:t>業務内容: Web制作及び、企画、コンサルティング事業／カタログ、パンフレット制作／ロゴ、名刺制作／Webシステム開発、アプリケーション開発</a:t>
            </a:r>
            <a:endParaRPr lang="en-US" sz="1300" dirty="0"/>
          </a:p>
          <a:p>
            <a:pPr marL="342900" indent="-342900">
              <a:lnSpc>
                <a:spcPct val="130000"/>
              </a:lnSpc>
              <a:buSzPct val="100000"/>
              <a:buChar char="•"/>
            </a:pPr>
            <a:r>
              <a:rPr lang="en-US" sz="1300" dirty="0">
                <a:solidFill>
                  <a:srgbClr val="1A1A1A"/>
                </a:solidFill>
                <a:latin typeface="Meiryo" pitchFamily="34" charset="0"/>
                <a:ea typeface="Meiryo" pitchFamily="34" charset="-122"/>
                <a:cs typeface="Meiryo" pitchFamily="34" charset="-120"/>
              </a:rPr>
              <a:t>拠点【名古屋本社】〒464-0850 愛知県名古屋市千種区今池3丁目12-20 KAビル6F／TEL：052-753-6413／FAX：052-753-6414</a:t>
            </a:r>
            <a:endParaRPr lang="en-US" sz="1300" dirty="0"/>
          </a:p>
          <a:p>
            <a:pPr marL="342900" indent="-342900">
              <a:lnSpc>
                <a:spcPct val="130000"/>
              </a:lnSpc>
              <a:buSzPct val="100000"/>
              <a:buChar char="•"/>
            </a:pPr>
            <a:r>
              <a:rPr lang="en-US" sz="1300" dirty="0">
                <a:solidFill>
                  <a:srgbClr val="1A1A1A"/>
                </a:solidFill>
                <a:latin typeface="Meiryo" pitchFamily="34" charset="0"/>
                <a:ea typeface="Meiryo" pitchFamily="34" charset="-122"/>
                <a:cs typeface="Meiryo" pitchFamily="34" charset="-120"/>
              </a:rPr>
              <a:t>拠点【東京オフィス】〒141-0022 東京都品川区東五反田5-22-37 2F／TEL：03-5404-6921</a:t>
            </a:r>
            <a:endParaRPr lang="en-US" sz="1300" dirty="0"/>
          </a:p>
        </p:txBody>
      </p:sp>
      <p:sp>
        <p:nvSpPr>
          <p:cNvPr id="6" name="Text 4"/>
          <p:cNvSpPr/>
          <p:nvPr/>
        </p:nvSpPr>
        <p:spPr>
          <a:xfrm>
            <a:off x="7543800" y="4759452"/>
            <a:ext cx="1097280" cy="228600"/>
          </a:xfrm>
          <a:prstGeom prst="rect">
            <a:avLst/>
          </a:prstGeom>
          <a:noFill/>
          <a:ln/>
        </p:spPr>
        <p:txBody>
          <a:bodyPr wrap="square" rtlCol="0" anchor="ctr"/>
          <a:lstStyle/>
          <a:p>
            <a:pPr algn="r" indent="0" marL="0">
              <a:buNone/>
            </a:pPr>
            <a:r>
              <a:rPr lang="en-US" sz="900" dirty="0">
                <a:solidFill>
                  <a:srgbClr val="6B6B6B"/>
                </a:solidFill>
                <a:latin typeface="Meiryo" pitchFamily="34" charset="0"/>
                <a:ea typeface="Meiryo" pitchFamily="34" charset="-122"/>
                <a:cs typeface="Meiryo" pitchFamily="34" charset="-120"/>
              </a:rPr>
              <a:t>60|82</a:t>
            </a:r>
            <a:endParaRPr lang="en-US" sz="900"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spTree>
      <p:nvGrpSpPr>
        <p:cNvPr id="1" name=""/>
        <p:cNvGrpSpPr/>
        <p:nvPr/>
      </p:nvGrpSpPr>
      <p:grpSpPr>
        <a:xfrm>
          <a:off x="0" y="0"/>
          <a:ext cx="0" cy="0"/>
          <a:chOff x="0" y="0"/>
          <a:chExt cx="0" cy="0"/>
        </a:xfrm>
      </p:grpSpPr>
      <p:sp>
        <p:nvSpPr>
          <p:cNvPr id="2" name="Text 0"/>
          <p:cNvSpPr/>
          <p:nvPr/>
        </p:nvSpPr>
        <p:spPr>
          <a:xfrm>
            <a:off x="502920" y="502920"/>
            <a:ext cx="8138160" cy="228600"/>
          </a:xfrm>
          <a:prstGeom prst="rect">
            <a:avLst/>
          </a:prstGeom>
          <a:noFill/>
          <a:ln/>
        </p:spPr>
        <p:txBody>
          <a:bodyPr wrap="square" rtlCol="0" anchor="ctr"/>
          <a:lstStyle/>
          <a:p>
            <a:pPr indent="0" marL="0">
              <a:buNone/>
            </a:pPr>
            <a:r>
              <a:rPr lang="en-US" sz="1000" dirty="0">
                <a:solidFill>
                  <a:srgbClr val="6B6B6B"/>
                </a:solidFill>
                <a:latin typeface="Meiryo" pitchFamily="34" charset="0"/>
                <a:ea typeface="Meiryo" pitchFamily="34" charset="-122"/>
                <a:cs typeface="Meiryo" pitchFamily="34" charset="-120"/>
              </a:rPr>
              <a:t>14 About Company</a:t>
            </a:r>
            <a:endParaRPr lang="en-US" sz="1000" dirty="0"/>
          </a:p>
        </p:txBody>
      </p:sp>
      <p:sp>
        <p:nvSpPr>
          <p:cNvPr id="3" name="Text 1"/>
          <p:cNvSpPr/>
          <p:nvPr/>
        </p:nvSpPr>
        <p:spPr>
          <a:xfrm>
            <a:off x="502920" y="777240"/>
            <a:ext cx="8138160" cy="457200"/>
          </a:xfrm>
          <a:prstGeom prst="rect">
            <a:avLst/>
          </a:prstGeom>
          <a:noFill/>
          <a:ln/>
        </p:spPr>
        <p:txBody>
          <a:bodyPr wrap="square" rtlCol="0" anchor="ctr"/>
          <a:lstStyle/>
          <a:p>
            <a:pPr indent="0" marL="0">
              <a:buNone/>
            </a:pPr>
            <a:r>
              <a:rPr lang="en-US" sz="2000" b="1" dirty="0">
                <a:solidFill>
                  <a:srgbClr val="1A1A1A"/>
                </a:solidFill>
                <a:latin typeface="Meiryo" pitchFamily="34" charset="0"/>
                <a:ea typeface="Meiryo" pitchFamily="34" charset="-122"/>
                <a:cs typeface="Meiryo" pitchFamily="34" charset="-120"/>
              </a:rPr>
              <a:t>これまでのお取引先は1,200社以上</a:t>
            </a:r>
            <a:endParaRPr lang="en-US" sz="2000" dirty="0"/>
          </a:p>
        </p:txBody>
      </p:sp>
      <p:sp>
        <p:nvSpPr>
          <p:cNvPr id="4" name="Shape 2"/>
          <p:cNvSpPr/>
          <p:nvPr/>
        </p:nvSpPr>
        <p:spPr>
          <a:xfrm>
            <a:off x="502920" y="1280160"/>
            <a:ext cx="8138160" cy="0"/>
          </a:xfrm>
          <a:prstGeom prst="line">
            <a:avLst/>
          </a:prstGeom>
          <a:noFill/>
          <a:ln w="12700">
            <a:solidFill>
              <a:srgbClr val="D5D5D5"/>
            </a:solidFill>
            <a:prstDash val="solid"/>
          </a:ln>
        </p:spPr>
      </p:sp>
      <p:sp>
        <p:nvSpPr>
          <p:cNvPr id="5" name="Text 3"/>
          <p:cNvSpPr/>
          <p:nvPr/>
        </p:nvSpPr>
        <p:spPr>
          <a:xfrm>
            <a:off x="502920" y="1417320"/>
            <a:ext cx="8138160" cy="3177540"/>
          </a:xfrm>
          <a:prstGeom prst="rect">
            <a:avLst/>
          </a:prstGeom>
          <a:noFill/>
          <a:ln/>
        </p:spPr>
        <p:txBody>
          <a:bodyPr wrap="square" rtlCol="0" anchor="t"/>
          <a:lstStyle/>
          <a:p>
            <a:pPr marL="342900" indent="-342900">
              <a:lnSpc>
                <a:spcPct val="130000"/>
              </a:lnSpc>
              <a:buSzPct val="100000"/>
              <a:buChar char="•"/>
            </a:pPr>
            <a:r>
              <a:rPr lang="en-US" sz="1300" dirty="0">
                <a:solidFill>
                  <a:srgbClr val="1A1A1A"/>
                </a:solidFill>
                <a:latin typeface="Meiryo" pitchFamily="34" charset="0"/>
                <a:ea typeface="Meiryo" pitchFamily="34" charset="-122"/>
                <a:cs typeface="Meiryo" pitchFamily="34" charset="-120"/>
              </a:rPr>
              <a:t>数値: 1,200社以上</a:t>
            </a:r>
            <a:endParaRPr lang="en-US" sz="1300" dirty="0"/>
          </a:p>
          <a:p>
            <a:pPr marL="342900" indent="-342900">
              <a:lnSpc>
                <a:spcPct val="130000"/>
              </a:lnSpc>
              <a:buSzPct val="100000"/>
              <a:buChar char="•"/>
            </a:pPr>
            <a:r>
              <a:rPr lang="en-US" sz="1300" dirty="0">
                <a:solidFill>
                  <a:srgbClr val="1A1A1A"/>
                </a:solidFill>
                <a:latin typeface="Meiryo" pitchFamily="34" charset="0"/>
                <a:ea typeface="Meiryo" pitchFamily="34" charset="-122"/>
                <a:cs typeface="Meiryo" pitchFamily="34" charset="-120"/>
              </a:rPr>
              <a:t>注記: ※お取引先さまの一部をご紹介しています。</a:t>
            </a:r>
            <a:endParaRPr lang="en-US" sz="1300" dirty="0"/>
          </a:p>
          <a:p>
            <a:pPr marL="342900" indent="-342900">
              <a:lnSpc>
                <a:spcPct val="130000"/>
              </a:lnSpc>
              <a:buSzPct val="100000"/>
              <a:buChar char="•"/>
            </a:pPr>
            <a:r>
              <a:rPr lang="en-US" sz="1300" dirty="0">
                <a:solidFill>
                  <a:srgbClr val="1A1A1A"/>
                </a:solidFill>
                <a:latin typeface="Meiryo" pitchFamily="34" charset="0"/>
                <a:ea typeface="Meiryo" pitchFamily="34" charset="-122"/>
                <a:cs typeface="Meiryo" pitchFamily="34" charset="-120"/>
              </a:rPr>
              <a:t>掲載ロゴ: docomo business／ISUZU／JTB／DENSO WAVE／MARUHAN／TIS INTEC Group／KYORITSU HOTELS &amp; DORMITORIES／東急建設株式会社／日本管財株式会社／OYO／ULU・RU BPO／DENTSU MACROMILL INSIGHT／アチーブメント株式会社／Bauhaus MARUEI／PRONI／ほか大学・病院・団体（名古屋大学ほか）</a:t>
            </a:r>
            <a:endParaRPr lang="en-US" sz="1300" dirty="0"/>
          </a:p>
        </p:txBody>
      </p:sp>
      <p:sp>
        <p:nvSpPr>
          <p:cNvPr id="6" name="Text 4"/>
          <p:cNvSpPr/>
          <p:nvPr/>
        </p:nvSpPr>
        <p:spPr>
          <a:xfrm>
            <a:off x="7543800" y="4759452"/>
            <a:ext cx="1097280" cy="228600"/>
          </a:xfrm>
          <a:prstGeom prst="rect">
            <a:avLst/>
          </a:prstGeom>
          <a:noFill/>
          <a:ln/>
        </p:spPr>
        <p:txBody>
          <a:bodyPr wrap="square" rtlCol="0" anchor="ctr"/>
          <a:lstStyle/>
          <a:p>
            <a:pPr algn="r" indent="0" marL="0">
              <a:buNone/>
            </a:pPr>
            <a:r>
              <a:rPr lang="en-US" sz="900" dirty="0">
                <a:solidFill>
                  <a:srgbClr val="6B6B6B"/>
                </a:solidFill>
                <a:latin typeface="Meiryo" pitchFamily="34" charset="0"/>
                <a:ea typeface="Meiryo" pitchFamily="34" charset="-122"/>
                <a:cs typeface="Meiryo" pitchFamily="34" charset="-120"/>
              </a:rPr>
              <a:t>61|82</a:t>
            </a:r>
            <a:endParaRPr lang="en-US" sz="900"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spTree>
      <p:nvGrpSpPr>
        <p:cNvPr id="1" name=""/>
        <p:cNvGrpSpPr/>
        <p:nvPr/>
      </p:nvGrpSpPr>
      <p:grpSpPr>
        <a:xfrm>
          <a:off x="0" y="0"/>
          <a:ext cx="0" cy="0"/>
          <a:chOff x="0" y="0"/>
          <a:chExt cx="0" cy="0"/>
        </a:xfrm>
      </p:grpSpPr>
      <p:sp>
        <p:nvSpPr>
          <p:cNvPr id="2" name="Text 0"/>
          <p:cNvSpPr/>
          <p:nvPr/>
        </p:nvSpPr>
        <p:spPr>
          <a:xfrm>
            <a:off x="502920" y="502920"/>
            <a:ext cx="8138160" cy="228600"/>
          </a:xfrm>
          <a:prstGeom prst="rect">
            <a:avLst/>
          </a:prstGeom>
          <a:noFill/>
          <a:ln/>
        </p:spPr>
        <p:txBody>
          <a:bodyPr wrap="square" rtlCol="0" anchor="ctr"/>
          <a:lstStyle/>
          <a:p>
            <a:pPr indent="0" marL="0">
              <a:buNone/>
            </a:pPr>
            <a:r>
              <a:rPr lang="en-US" sz="1000" dirty="0">
                <a:solidFill>
                  <a:srgbClr val="6B6B6B"/>
                </a:solidFill>
                <a:latin typeface="Meiryo" pitchFamily="34" charset="0"/>
                <a:ea typeface="Meiryo" pitchFamily="34" charset="-122"/>
                <a:cs typeface="Meiryo" pitchFamily="34" charset="-120"/>
              </a:rPr>
              <a:t>14 About Company</a:t>
            </a:r>
            <a:endParaRPr lang="en-US" sz="1000" dirty="0"/>
          </a:p>
        </p:txBody>
      </p:sp>
      <p:sp>
        <p:nvSpPr>
          <p:cNvPr id="3" name="Text 1"/>
          <p:cNvSpPr/>
          <p:nvPr/>
        </p:nvSpPr>
        <p:spPr>
          <a:xfrm>
            <a:off x="502920" y="777240"/>
            <a:ext cx="8138160" cy="457200"/>
          </a:xfrm>
          <a:prstGeom prst="rect">
            <a:avLst/>
          </a:prstGeom>
          <a:noFill/>
          <a:ln/>
        </p:spPr>
        <p:txBody>
          <a:bodyPr wrap="square" rtlCol="0" anchor="ctr"/>
          <a:lstStyle/>
          <a:p>
            <a:pPr indent="0" marL="0">
              <a:buNone/>
            </a:pPr>
            <a:r>
              <a:rPr lang="en-US" sz="2000" b="1" dirty="0">
                <a:solidFill>
                  <a:srgbClr val="1A1A1A"/>
                </a:solidFill>
                <a:latin typeface="Meiryo" pitchFamily="34" charset="0"/>
                <a:ea typeface="Meiryo" pitchFamily="34" charset="-122"/>
                <a:cs typeface="Meiryo" pitchFamily="34" charset="-120"/>
              </a:rPr>
              <a:t>パートナーとしての考え方</a:t>
            </a:r>
            <a:endParaRPr lang="en-US" sz="2000" dirty="0"/>
          </a:p>
        </p:txBody>
      </p:sp>
      <p:sp>
        <p:nvSpPr>
          <p:cNvPr id="4" name="Shape 2"/>
          <p:cNvSpPr/>
          <p:nvPr/>
        </p:nvSpPr>
        <p:spPr>
          <a:xfrm>
            <a:off x="502920" y="1280160"/>
            <a:ext cx="8138160" cy="0"/>
          </a:xfrm>
          <a:prstGeom prst="line">
            <a:avLst/>
          </a:prstGeom>
          <a:noFill/>
          <a:ln w="12700">
            <a:solidFill>
              <a:srgbClr val="D5D5D5"/>
            </a:solidFill>
            <a:prstDash val="solid"/>
          </a:ln>
        </p:spPr>
      </p:sp>
      <p:sp>
        <p:nvSpPr>
          <p:cNvPr id="5" name="Text 3"/>
          <p:cNvSpPr/>
          <p:nvPr/>
        </p:nvSpPr>
        <p:spPr>
          <a:xfrm>
            <a:off x="502920" y="1417320"/>
            <a:ext cx="8138160" cy="457200"/>
          </a:xfrm>
          <a:prstGeom prst="rect">
            <a:avLst/>
          </a:prstGeom>
          <a:noFill/>
          <a:ln/>
        </p:spPr>
        <p:txBody>
          <a:bodyPr wrap="square" rtlCol="0" anchor="t"/>
          <a:lstStyle/>
          <a:p>
            <a:pPr indent="0" marL="0">
              <a:buNone/>
            </a:pPr>
            <a:r>
              <a:rPr lang="en-US" sz="1200" dirty="0">
                <a:solidFill>
                  <a:srgbClr val="1A1A1A"/>
                </a:solidFill>
                <a:latin typeface="Meiryo" pitchFamily="34" charset="0"/>
                <a:ea typeface="Meiryo" pitchFamily="34" charset="-122"/>
                <a:cs typeface="Meiryo" pitchFamily="34" charset="-120"/>
              </a:rPr>
              <a:t>私たちの使命は、お客様とともにビジネスを「成長」させ、その可能性を最大限に引き出すことです。</a:t>
            </a:r>
            <a:endParaRPr lang="en-US" sz="1200" dirty="0"/>
          </a:p>
        </p:txBody>
      </p:sp>
      <p:sp>
        <p:nvSpPr>
          <p:cNvPr id="6" name="Text 4"/>
          <p:cNvSpPr/>
          <p:nvPr/>
        </p:nvSpPr>
        <p:spPr>
          <a:xfrm>
            <a:off x="502920" y="1965960"/>
            <a:ext cx="8138160" cy="2628900"/>
          </a:xfrm>
          <a:prstGeom prst="rect">
            <a:avLst/>
          </a:prstGeom>
          <a:noFill/>
          <a:ln/>
        </p:spPr>
        <p:txBody>
          <a:bodyPr wrap="square" rtlCol="0" anchor="t"/>
          <a:lstStyle/>
          <a:p>
            <a:pPr marL="342900" indent="-342900">
              <a:lnSpc>
                <a:spcPct val="130000"/>
              </a:lnSpc>
              <a:buSzPct val="100000"/>
              <a:buChar char="•"/>
            </a:pPr>
            <a:r>
              <a:rPr lang="en-US" sz="1300" dirty="0">
                <a:solidFill>
                  <a:srgbClr val="1A1A1A"/>
                </a:solidFill>
                <a:latin typeface="Meiryo" pitchFamily="34" charset="0"/>
                <a:ea typeface="Meiryo" pitchFamily="34" charset="-122"/>
                <a:cs typeface="Meiryo" pitchFamily="34" charset="-120"/>
              </a:rPr>
              <a:t>私たちは、単なるWeb制作会社ではありません。クリエイティブの品質だけを追い求めるのではなく、お客様のビジネスを「成長」させるために、戦略と創造力を注ぎ込むパートナーでありたいのです。</a:t>
            </a:r>
            <a:endParaRPr lang="en-US" sz="1300" dirty="0"/>
          </a:p>
          <a:p>
            <a:pPr marL="342900" indent="-342900">
              <a:lnSpc>
                <a:spcPct val="130000"/>
              </a:lnSpc>
              <a:buSzPct val="100000"/>
              <a:buChar char="•"/>
            </a:pPr>
            <a:r>
              <a:rPr lang="en-US" sz="1300" dirty="0">
                <a:solidFill>
                  <a:srgbClr val="1A1A1A"/>
                </a:solidFill>
                <a:latin typeface="Meiryo" pitchFamily="34" charset="0"/>
                <a:ea typeface="Meiryo" pitchFamily="34" charset="-122"/>
                <a:cs typeface="Meiryo" pitchFamily="34" charset="-120"/>
              </a:rPr>
              <a:t>そのために、私たちはまずお客様の本質的な課題を見極め、共に成長への道筋を描きます。</a:t>
            </a:r>
            <a:endParaRPr lang="en-US" sz="1300" dirty="0"/>
          </a:p>
          <a:p>
            <a:pPr marL="342900" indent="-342900">
              <a:lnSpc>
                <a:spcPct val="130000"/>
              </a:lnSpc>
              <a:buSzPct val="100000"/>
              <a:buChar char="•"/>
            </a:pPr>
            <a:r>
              <a:rPr lang="en-US" sz="1300" dirty="0">
                <a:solidFill>
                  <a:srgbClr val="1A1A1A"/>
                </a:solidFill>
                <a:latin typeface="Meiryo" pitchFamily="34" charset="0"/>
                <a:ea typeface="Meiryo" pitchFamily="34" charset="-122"/>
                <a:cs typeface="Meiryo" pitchFamily="34" charset="-120"/>
              </a:rPr>
              <a:t>そして、戦略からクリエイティブまで一貫してサポートし、確かな成果を生み出します。</a:t>
            </a:r>
            <a:endParaRPr lang="en-US" sz="1300" dirty="0"/>
          </a:p>
          <a:p>
            <a:pPr marL="342900" indent="-342900">
              <a:lnSpc>
                <a:spcPct val="130000"/>
              </a:lnSpc>
              <a:buSzPct val="100000"/>
              <a:buChar char="•"/>
            </a:pPr>
            <a:r>
              <a:rPr lang="en-US" sz="1300" dirty="0">
                <a:solidFill>
                  <a:srgbClr val="1A1A1A"/>
                </a:solidFill>
                <a:latin typeface="Meiryo" pitchFamily="34" charset="0"/>
                <a:ea typeface="Meiryo" pitchFamily="34" charset="-122"/>
                <a:cs typeface="Meiryo" pitchFamily="34" charset="-120"/>
              </a:rPr>
              <a:t>画像: 制作作業の様子（モノクロ写真）</a:t>
            </a:r>
            <a:endParaRPr lang="en-US" sz="1300" dirty="0"/>
          </a:p>
        </p:txBody>
      </p:sp>
      <p:sp>
        <p:nvSpPr>
          <p:cNvPr id="7" name="Text 5"/>
          <p:cNvSpPr/>
          <p:nvPr/>
        </p:nvSpPr>
        <p:spPr>
          <a:xfrm>
            <a:off x="7543800" y="4759452"/>
            <a:ext cx="1097280" cy="228600"/>
          </a:xfrm>
          <a:prstGeom prst="rect">
            <a:avLst/>
          </a:prstGeom>
          <a:noFill/>
          <a:ln/>
        </p:spPr>
        <p:txBody>
          <a:bodyPr wrap="square" rtlCol="0" anchor="ctr"/>
          <a:lstStyle/>
          <a:p>
            <a:pPr algn="r" indent="0" marL="0">
              <a:buNone/>
            </a:pPr>
            <a:r>
              <a:rPr lang="en-US" sz="900" dirty="0">
                <a:solidFill>
                  <a:srgbClr val="6B6B6B"/>
                </a:solidFill>
                <a:latin typeface="Meiryo" pitchFamily="34" charset="0"/>
                <a:ea typeface="Meiryo" pitchFamily="34" charset="-122"/>
                <a:cs typeface="Meiryo" pitchFamily="34" charset="-120"/>
              </a:rPr>
              <a:t>62|82</a:t>
            </a:r>
            <a:endParaRPr lang="en-US" sz="900"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spTree>
      <p:nvGrpSpPr>
        <p:cNvPr id="1" name=""/>
        <p:cNvGrpSpPr/>
        <p:nvPr/>
      </p:nvGrpSpPr>
      <p:grpSpPr>
        <a:xfrm>
          <a:off x="0" y="0"/>
          <a:ext cx="0" cy="0"/>
          <a:chOff x="0" y="0"/>
          <a:chExt cx="0" cy="0"/>
        </a:xfrm>
      </p:grpSpPr>
      <p:sp>
        <p:nvSpPr>
          <p:cNvPr id="2" name="Text 0"/>
          <p:cNvSpPr/>
          <p:nvPr/>
        </p:nvSpPr>
        <p:spPr>
          <a:xfrm>
            <a:off x="502920" y="502920"/>
            <a:ext cx="8138160" cy="228600"/>
          </a:xfrm>
          <a:prstGeom prst="rect">
            <a:avLst/>
          </a:prstGeom>
          <a:noFill/>
          <a:ln/>
        </p:spPr>
        <p:txBody>
          <a:bodyPr wrap="square" rtlCol="0" anchor="ctr"/>
          <a:lstStyle/>
          <a:p>
            <a:pPr indent="0" marL="0">
              <a:buNone/>
            </a:pPr>
            <a:r>
              <a:rPr lang="en-US" sz="1000" dirty="0">
                <a:solidFill>
                  <a:srgbClr val="6B6B6B"/>
                </a:solidFill>
                <a:latin typeface="Meiryo" pitchFamily="34" charset="0"/>
                <a:ea typeface="Meiryo" pitchFamily="34" charset="-122"/>
                <a:cs typeface="Meiryo" pitchFamily="34" charset="-120"/>
              </a:rPr>
              <a:t>14 About Company</a:t>
            </a:r>
            <a:endParaRPr lang="en-US" sz="1000" dirty="0"/>
          </a:p>
        </p:txBody>
      </p:sp>
      <p:sp>
        <p:nvSpPr>
          <p:cNvPr id="3" name="Text 1"/>
          <p:cNvSpPr/>
          <p:nvPr/>
        </p:nvSpPr>
        <p:spPr>
          <a:xfrm>
            <a:off x="502920" y="777240"/>
            <a:ext cx="8138160" cy="457200"/>
          </a:xfrm>
          <a:prstGeom prst="rect">
            <a:avLst/>
          </a:prstGeom>
          <a:noFill/>
          <a:ln/>
        </p:spPr>
        <p:txBody>
          <a:bodyPr wrap="square" rtlCol="0" anchor="ctr"/>
          <a:lstStyle/>
          <a:p>
            <a:pPr indent="0" marL="0">
              <a:buNone/>
            </a:pPr>
            <a:r>
              <a:rPr lang="en-US" sz="2000" b="1" dirty="0">
                <a:solidFill>
                  <a:srgbClr val="1A1A1A"/>
                </a:solidFill>
                <a:latin typeface="Meiryo" pitchFamily="34" charset="0"/>
                <a:ea typeface="Meiryo" pitchFamily="34" charset="-122"/>
                <a:cs typeface="Meiryo" pitchFamily="34" charset="-120"/>
              </a:rPr>
              <a:t>成果をもたらすWebサイトの構成要素</a:t>
            </a:r>
            <a:endParaRPr lang="en-US" sz="2000" dirty="0"/>
          </a:p>
        </p:txBody>
      </p:sp>
      <p:sp>
        <p:nvSpPr>
          <p:cNvPr id="4" name="Shape 2"/>
          <p:cNvSpPr/>
          <p:nvPr/>
        </p:nvSpPr>
        <p:spPr>
          <a:xfrm>
            <a:off x="502920" y="1280160"/>
            <a:ext cx="8138160" cy="0"/>
          </a:xfrm>
          <a:prstGeom prst="line">
            <a:avLst/>
          </a:prstGeom>
          <a:noFill/>
          <a:ln w="12700">
            <a:solidFill>
              <a:srgbClr val="D5D5D5"/>
            </a:solidFill>
            <a:prstDash val="solid"/>
          </a:ln>
        </p:spPr>
      </p:sp>
      <p:sp>
        <p:nvSpPr>
          <p:cNvPr id="5" name="Text 3"/>
          <p:cNvSpPr/>
          <p:nvPr/>
        </p:nvSpPr>
        <p:spPr>
          <a:xfrm>
            <a:off x="502920" y="1417320"/>
            <a:ext cx="8138160" cy="3177540"/>
          </a:xfrm>
          <a:prstGeom prst="rect">
            <a:avLst/>
          </a:prstGeom>
          <a:noFill/>
          <a:ln/>
        </p:spPr>
        <p:txBody>
          <a:bodyPr wrap="square" rtlCol="0" anchor="t"/>
          <a:lstStyle/>
          <a:p>
            <a:pPr marL="342900" indent="-342900">
              <a:lnSpc>
                <a:spcPct val="130000"/>
              </a:lnSpc>
              <a:buSzPct val="100000"/>
              <a:buChar char="•"/>
            </a:pPr>
            <a:r>
              <a:rPr lang="en-US" sz="1300" dirty="0">
                <a:solidFill>
                  <a:srgbClr val="1A1A1A"/>
                </a:solidFill>
                <a:latin typeface="Meiryo" pitchFamily="34" charset="0"/>
                <a:ea typeface="Meiryo" pitchFamily="34" charset="-122"/>
                <a:cs typeface="Meiryo" pitchFamily="34" charset="-120"/>
              </a:rPr>
              <a:t>見出し帯: 「成果をもたらすWebサイト」</a:t>
            </a:r>
            <a:endParaRPr lang="en-US" sz="1300" dirty="0"/>
          </a:p>
          <a:p>
            <a:pPr marL="342900" indent="-342900">
              <a:lnSpc>
                <a:spcPct val="130000"/>
              </a:lnSpc>
              <a:buSzPct val="100000"/>
              <a:buChar char="•"/>
            </a:pPr>
            <a:r>
              <a:rPr lang="en-US" sz="1300" dirty="0">
                <a:solidFill>
                  <a:srgbClr val="1A1A1A"/>
                </a:solidFill>
                <a:latin typeface="Meiryo" pitchFamily="34" charset="0"/>
                <a:ea typeface="Meiryo" pitchFamily="34" charset="-122"/>
                <a:cs typeface="Meiryo" pitchFamily="34" charset="-120"/>
              </a:rPr>
              <a:t>定性的な価値: デザイン ／ 定量的な価値: 集客 ／ 機能的な価値: 機能・運用（3要素を × で連結）</a:t>
            </a:r>
            <a:endParaRPr lang="en-US" sz="1300" dirty="0"/>
          </a:p>
          <a:p>
            <a:pPr marL="342900" indent="-342900">
              <a:lnSpc>
                <a:spcPct val="130000"/>
              </a:lnSpc>
              <a:buSzPct val="100000"/>
              <a:buChar char="•"/>
            </a:pPr>
            <a:r>
              <a:rPr lang="en-US" sz="1300" dirty="0">
                <a:solidFill>
                  <a:srgbClr val="1A1A1A"/>
                </a:solidFill>
                <a:latin typeface="Meiryo" pitchFamily="34" charset="0"/>
                <a:ea typeface="Meiryo" pitchFamily="34" charset="-122"/>
                <a:cs typeface="Meiryo" pitchFamily="34" charset="-120"/>
              </a:rPr>
              <a:t>土台: コンテンツ（3つの価値すべてを支える土台）</a:t>
            </a:r>
            <a:endParaRPr lang="en-US" sz="1300" dirty="0"/>
          </a:p>
        </p:txBody>
      </p:sp>
      <p:sp>
        <p:nvSpPr>
          <p:cNvPr id="6" name="Text 4"/>
          <p:cNvSpPr/>
          <p:nvPr/>
        </p:nvSpPr>
        <p:spPr>
          <a:xfrm>
            <a:off x="7543800" y="4759452"/>
            <a:ext cx="1097280" cy="228600"/>
          </a:xfrm>
          <a:prstGeom prst="rect">
            <a:avLst/>
          </a:prstGeom>
          <a:noFill/>
          <a:ln/>
        </p:spPr>
        <p:txBody>
          <a:bodyPr wrap="square" rtlCol="0" anchor="ctr"/>
          <a:lstStyle/>
          <a:p>
            <a:pPr algn="r" indent="0" marL="0">
              <a:buNone/>
            </a:pPr>
            <a:r>
              <a:rPr lang="en-US" sz="900" dirty="0">
                <a:solidFill>
                  <a:srgbClr val="6B6B6B"/>
                </a:solidFill>
                <a:latin typeface="Meiryo" pitchFamily="34" charset="0"/>
                <a:ea typeface="Meiryo" pitchFamily="34" charset="-122"/>
                <a:cs typeface="Meiryo" pitchFamily="34" charset="-120"/>
              </a:rPr>
              <a:t>63|82</a:t>
            </a:r>
            <a:endParaRPr lang="en-US" sz="900"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bg>
      <p:bgPr>
        <a:solidFill>
          <a:srgbClr val="1F3A5F"/>
        </a:solidFill>
      </p:bgPr>
    </p:bg>
    <p:spTree>
      <p:nvGrpSpPr>
        <p:cNvPr id="1" name=""/>
        <p:cNvGrpSpPr/>
        <p:nvPr/>
      </p:nvGrpSpPr>
      <p:grpSpPr>
        <a:xfrm>
          <a:off x="0" y="0"/>
          <a:ext cx="0" cy="0"/>
          <a:chOff x="0" y="0"/>
          <a:chExt cx="0" cy="0"/>
        </a:xfrm>
      </p:grpSpPr>
      <p:sp>
        <p:nvSpPr>
          <p:cNvPr id="2" name="Text 0"/>
          <p:cNvSpPr/>
          <p:nvPr/>
        </p:nvSpPr>
        <p:spPr>
          <a:xfrm>
            <a:off x="502920" y="1737360"/>
            <a:ext cx="1280160" cy="640080"/>
          </a:xfrm>
          <a:prstGeom prst="rect">
            <a:avLst/>
          </a:prstGeom>
          <a:noFill/>
          <a:ln/>
        </p:spPr>
        <p:txBody>
          <a:bodyPr wrap="square" rtlCol="0" anchor="ctr"/>
          <a:lstStyle/>
          <a:p>
            <a:pPr indent="0" marL="0">
              <a:buNone/>
            </a:pPr>
            <a:r>
              <a:rPr lang="en-US" sz="3400" b="1" dirty="0">
                <a:solidFill>
                  <a:srgbClr val="FFFFFF"/>
                </a:solidFill>
                <a:latin typeface="Meiryo" pitchFamily="34" charset="0"/>
                <a:ea typeface="Meiryo" pitchFamily="34" charset="-122"/>
                <a:cs typeface="Meiryo" pitchFamily="34" charset="-120"/>
              </a:rPr>
              <a:t>15</a:t>
            </a:r>
            <a:endParaRPr lang="en-US" sz="3400" dirty="0"/>
          </a:p>
        </p:txBody>
      </p:sp>
      <p:sp>
        <p:nvSpPr>
          <p:cNvPr id="3" name="Text 1"/>
          <p:cNvSpPr/>
          <p:nvPr/>
        </p:nvSpPr>
        <p:spPr>
          <a:xfrm>
            <a:off x="502920" y="2377440"/>
            <a:ext cx="8138160" cy="365760"/>
          </a:xfrm>
          <a:prstGeom prst="rect">
            <a:avLst/>
          </a:prstGeom>
          <a:noFill/>
          <a:ln/>
        </p:spPr>
        <p:txBody>
          <a:bodyPr wrap="square" rtlCol="0" anchor="ctr"/>
          <a:lstStyle/>
          <a:p>
            <a:pPr indent="0" marL="0">
              <a:buNone/>
            </a:pPr>
            <a:r>
              <a:rPr lang="en-US" sz="1300" dirty="0">
                <a:solidFill>
                  <a:srgbClr val="FFFFFF"/>
                </a:solidFill>
                <a:latin typeface="Meiryo" pitchFamily="34" charset="0"/>
                <a:ea typeface="Meiryo" pitchFamily="34" charset="-122"/>
                <a:cs typeface="Meiryo" pitchFamily="34" charset="-120"/>
              </a:rPr>
              <a:t>Our Strengths</a:t>
            </a:r>
            <a:endParaRPr lang="en-US" sz="1300" dirty="0"/>
          </a:p>
        </p:txBody>
      </p:sp>
      <p:sp>
        <p:nvSpPr>
          <p:cNvPr id="4" name="Text 2"/>
          <p:cNvSpPr/>
          <p:nvPr/>
        </p:nvSpPr>
        <p:spPr>
          <a:xfrm>
            <a:off x="502920" y="2743200"/>
            <a:ext cx="8138160" cy="548640"/>
          </a:xfrm>
          <a:prstGeom prst="rect">
            <a:avLst/>
          </a:prstGeom>
          <a:noFill/>
          <a:ln/>
        </p:spPr>
        <p:txBody>
          <a:bodyPr wrap="square" rtlCol="0" anchor="ctr"/>
          <a:lstStyle/>
          <a:p>
            <a:pPr indent="0" marL="0">
              <a:buNone/>
            </a:pPr>
            <a:r>
              <a:rPr lang="en-US" sz="2400" b="1" dirty="0">
                <a:solidFill>
                  <a:srgbClr val="FFFFFF"/>
                </a:solidFill>
                <a:latin typeface="Meiryo" pitchFamily="34" charset="0"/>
                <a:ea typeface="Meiryo" pitchFamily="34" charset="-122"/>
                <a:cs typeface="Meiryo" pitchFamily="34" charset="-120"/>
              </a:rPr>
              <a:t>GrowGroupの強み</a:t>
            </a:r>
            <a:endParaRPr lang="en-US" sz="2400" dirty="0"/>
          </a:p>
        </p:txBody>
      </p:sp>
      <p:sp>
        <p:nvSpPr>
          <p:cNvPr id="5" name="Text 3"/>
          <p:cNvSpPr/>
          <p:nvPr/>
        </p:nvSpPr>
        <p:spPr>
          <a:xfrm>
            <a:off x="7543800" y="4759452"/>
            <a:ext cx="1097280" cy="228600"/>
          </a:xfrm>
          <a:prstGeom prst="rect">
            <a:avLst/>
          </a:prstGeom>
          <a:noFill/>
          <a:ln/>
        </p:spPr>
        <p:txBody>
          <a:bodyPr wrap="square" rtlCol="0" anchor="ctr"/>
          <a:lstStyle/>
          <a:p>
            <a:pPr algn="r" indent="0" marL="0">
              <a:buNone/>
            </a:pPr>
            <a:r>
              <a:rPr lang="en-US" sz="900" dirty="0">
                <a:solidFill>
                  <a:srgbClr val="6B6B6B"/>
                </a:solidFill>
                <a:latin typeface="Meiryo" pitchFamily="34" charset="0"/>
                <a:ea typeface="Meiryo" pitchFamily="34" charset="-122"/>
                <a:cs typeface="Meiryo" pitchFamily="34" charset="-120"/>
              </a:rPr>
              <a:t>64|82</a:t>
            </a:r>
            <a:endParaRPr lang="en-US" sz="900"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spTree>
      <p:nvGrpSpPr>
        <p:cNvPr id="1" name=""/>
        <p:cNvGrpSpPr/>
        <p:nvPr/>
      </p:nvGrpSpPr>
      <p:grpSpPr>
        <a:xfrm>
          <a:off x="0" y="0"/>
          <a:ext cx="0" cy="0"/>
          <a:chOff x="0" y="0"/>
          <a:chExt cx="0" cy="0"/>
        </a:xfrm>
      </p:grpSpPr>
      <p:sp>
        <p:nvSpPr>
          <p:cNvPr id="2" name="Text 0"/>
          <p:cNvSpPr/>
          <p:nvPr/>
        </p:nvSpPr>
        <p:spPr>
          <a:xfrm>
            <a:off x="502920" y="502920"/>
            <a:ext cx="8138160" cy="228600"/>
          </a:xfrm>
          <a:prstGeom prst="rect">
            <a:avLst/>
          </a:prstGeom>
          <a:noFill/>
          <a:ln/>
        </p:spPr>
        <p:txBody>
          <a:bodyPr wrap="square" rtlCol="0" anchor="ctr"/>
          <a:lstStyle/>
          <a:p>
            <a:pPr indent="0" marL="0">
              <a:buNone/>
            </a:pPr>
            <a:r>
              <a:rPr lang="en-US" sz="1000" dirty="0">
                <a:solidFill>
                  <a:srgbClr val="6B6B6B"/>
                </a:solidFill>
                <a:latin typeface="Meiryo" pitchFamily="34" charset="0"/>
                <a:ea typeface="Meiryo" pitchFamily="34" charset="-122"/>
                <a:cs typeface="Meiryo" pitchFamily="34" charset="-120"/>
              </a:rPr>
              <a:t>15 Our Strengths</a:t>
            </a:r>
            <a:endParaRPr lang="en-US" sz="1000" dirty="0"/>
          </a:p>
        </p:txBody>
      </p:sp>
      <p:sp>
        <p:nvSpPr>
          <p:cNvPr id="3" name="Text 1"/>
          <p:cNvSpPr/>
          <p:nvPr/>
        </p:nvSpPr>
        <p:spPr>
          <a:xfrm>
            <a:off x="502920" y="777240"/>
            <a:ext cx="8138160" cy="457200"/>
          </a:xfrm>
          <a:prstGeom prst="rect">
            <a:avLst/>
          </a:prstGeom>
          <a:noFill/>
          <a:ln/>
        </p:spPr>
        <p:txBody>
          <a:bodyPr wrap="square" rtlCol="0" anchor="ctr"/>
          <a:lstStyle/>
          <a:p>
            <a:pPr indent="0" marL="0">
              <a:buNone/>
            </a:pPr>
            <a:r>
              <a:rPr lang="en-US" sz="2000" b="1" dirty="0">
                <a:solidFill>
                  <a:srgbClr val="1A1A1A"/>
                </a:solidFill>
                <a:latin typeface="Meiryo" pitchFamily="34" charset="0"/>
                <a:ea typeface="Meiryo" pitchFamily="34" charset="-122"/>
                <a:cs typeface="Meiryo" pitchFamily="34" charset="-120"/>
              </a:rPr>
              <a:t>3つの価値を掛け合わせてこそ、成果は生まれます</a:t>
            </a:r>
            <a:endParaRPr lang="en-US" sz="2000" dirty="0"/>
          </a:p>
        </p:txBody>
      </p:sp>
      <p:sp>
        <p:nvSpPr>
          <p:cNvPr id="4" name="Shape 2"/>
          <p:cNvSpPr/>
          <p:nvPr/>
        </p:nvSpPr>
        <p:spPr>
          <a:xfrm>
            <a:off x="502920" y="1280160"/>
            <a:ext cx="8138160" cy="0"/>
          </a:xfrm>
          <a:prstGeom prst="line">
            <a:avLst/>
          </a:prstGeom>
          <a:noFill/>
          <a:ln w="12700">
            <a:solidFill>
              <a:srgbClr val="D5D5D5"/>
            </a:solidFill>
            <a:prstDash val="solid"/>
          </a:ln>
        </p:spPr>
      </p:sp>
      <p:sp>
        <p:nvSpPr>
          <p:cNvPr id="5" name="Text 3"/>
          <p:cNvSpPr/>
          <p:nvPr/>
        </p:nvSpPr>
        <p:spPr>
          <a:xfrm>
            <a:off x="502920" y="1417320"/>
            <a:ext cx="8138160" cy="3177540"/>
          </a:xfrm>
          <a:prstGeom prst="rect">
            <a:avLst/>
          </a:prstGeom>
          <a:noFill/>
          <a:ln/>
        </p:spPr>
        <p:txBody>
          <a:bodyPr wrap="square" rtlCol="0" anchor="t"/>
          <a:lstStyle/>
          <a:p>
            <a:pPr marL="342900" indent="-342900">
              <a:lnSpc>
                <a:spcPct val="130000"/>
              </a:lnSpc>
              <a:buSzPct val="100000"/>
              <a:buChar char="•"/>
            </a:pPr>
            <a:r>
              <a:rPr lang="en-US" sz="1300" dirty="0">
                <a:solidFill>
                  <a:srgbClr val="1A1A1A"/>
                </a:solidFill>
                <a:latin typeface="Meiryo" pitchFamily="34" charset="0"/>
                <a:ea typeface="Meiryo" pitchFamily="34" charset="-122"/>
                <a:cs typeface="Meiryo" pitchFamily="34" charset="-120"/>
              </a:rPr>
              <a:t>定性的な価値: ブランド力の向上 ／ 定量的な価値: 反響数の最大化 ／ 運用・機能的な価値: 長期的な成長支援（× で連結）</a:t>
            </a:r>
            <a:endParaRPr lang="en-US" sz="1300" dirty="0"/>
          </a:p>
          <a:p>
            <a:pPr marL="342900" indent="-342900">
              <a:lnSpc>
                <a:spcPct val="130000"/>
              </a:lnSpc>
              <a:buSzPct val="100000"/>
              <a:buChar char="•"/>
            </a:pPr>
            <a:r>
              <a:rPr lang="en-US" sz="1300" dirty="0">
                <a:solidFill>
                  <a:srgbClr val="1A1A1A"/>
                </a:solidFill>
                <a:latin typeface="Meiryo" pitchFamily="34" charset="0"/>
                <a:ea typeface="Meiryo" pitchFamily="34" charset="-122"/>
                <a:cs typeface="Meiryo" pitchFamily="34" charset="-120"/>
              </a:rPr>
              <a:t>結論: クライアントの成果を第一優先に考え、長期的なパートナーとして、伴走できるチーム体制がある</a:t>
            </a:r>
            <a:endParaRPr lang="en-US" sz="1300" dirty="0"/>
          </a:p>
        </p:txBody>
      </p:sp>
      <p:sp>
        <p:nvSpPr>
          <p:cNvPr id="6" name="Text 4"/>
          <p:cNvSpPr/>
          <p:nvPr/>
        </p:nvSpPr>
        <p:spPr>
          <a:xfrm>
            <a:off x="7543800" y="4759452"/>
            <a:ext cx="1097280" cy="228600"/>
          </a:xfrm>
          <a:prstGeom prst="rect">
            <a:avLst/>
          </a:prstGeom>
          <a:noFill/>
          <a:ln/>
        </p:spPr>
        <p:txBody>
          <a:bodyPr wrap="square" rtlCol="0" anchor="ctr"/>
          <a:lstStyle/>
          <a:p>
            <a:pPr algn="r" indent="0" marL="0">
              <a:buNone/>
            </a:pPr>
            <a:r>
              <a:rPr lang="en-US" sz="900" dirty="0">
                <a:solidFill>
                  <a:srgbClr val="6B6B6B"/>
                </a:solidFill>
                <a:latin typeface="Meiryo" pitchFamily="34" charset="0"/>
                <a:ea typeface="Meiryo" pitchFamily="34" charset="-122"/>
                <a:cs typeface="Meiryo" pitchFamily="34" charset="-120"/>
              </a:rPr>
              <a:t>65|82</a:t>
            </a:r>
            <a:endParaRPr lang="en-US" sz="900"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spTree>
      <p:nvGrpSpPr>
        <p:cNvPr id="1" name=""/>
        <p:cNvGrpSpPr/>
        <p:nvPr/>
      </p:nvGrpSpPr>
      <p:grpSpPr>
        <a:xfrm>
          <a:off x="0" y="0"/>
          <a:ext cx="0" cy="0"/>
          <a:chOff x="0" y="0"/>
          <a:chExt cx="0" cy="0"/>
        </a:xfrm>
      </p:grpSpPr>
      <p:sp>
        <p:nvSpPr>
          <p:cNvPr id="2" name="Text 0"/>
          <p:cNvSpPr/>
          <p:nvPr/>
        </p:nvSpPr>
        <p:spPr>
          <a:xfrm>
            <a:off x="502920" y="502920"/>
            <a:ext cx="8138160" cy="228600"/>
          </a:xfrm>
          <a:prstGeom prst="rect">
            <a:avLst/>
          </a:prstGeom>
          <a:noFill/>
          <a:ln/>
        </p:spPr>
        <p:txBody>
          <a:bodyPr wrap="square" rtlCol="0" anchor="ctr"/>
          <a:lstStyle/>
          <a:p>
            <a:pPr indent="0" marL="0">
              <a:buNone/>
            </a:pPr>
            <a:r>
              <a:rPr lang="en-US" sz="1000" dirty="0">
                <a:solidFill>
                  <a:srgbClr val="6B6B6B"/>
                </a:solidFill>
                <a:latin typeface="Meiryo" pitchFamily="34" charset="0"/>
                <a:ea typeface="Meiryo" pitchFamily="34" charset="-122"/>
                <a:cs typeface="Meiryo" pitchFamily="34" charset="-120"/>
              </a:rPr>
              <a:t>15 Our Strengths</a:t>
            </a:r>
            <a:endParaRPr lang="en-US" sz="1000" dirty="0"/>
          </a:p>
        </p:txBody>
      </p:sp>
      <p:sp>
        <p:nvSpPr>
          <p:cNvPr id="3" name="Text 1"/>
          <p:cNvSpPr/>
          <p:nvPr/>
        </p:nvSpPr>
        <p:spPr>
          <a:xfrm>
            <a:off x="502920" y="777240"/>
            <a:ext cx="8138160" cy="457200"/>
          </a:xfrm>
          <a:prstGeom prst="rect">
            <a:avLst/>
          </a:prstGeom>
          <a:noFill/>
          <a:ln/>
        </p:spPr>
        <p:txBody>
          <a:bodyPr wrap="square" rtlCol="0" anchor="ctr"/>
          <a:lstStyle/>
          <a:p>
            <a:pPr indent="0" marL="0">
              <a:buNone/>
            </a:pPr>
            <a:r>
              <a:rPr lang="en-US" sz="2000" b="1" dirty="0">
                <a:solidFill>
                  <a:srgbClr val="1A1A1A"/>
                </a:solidFill>
                <a:latin typeface="Meiryo" pitchFamily="34" charset="0"/>
                <a:ea typeface="Meiryo" pitchFamily="34" charset="-122"/>
                <a:cs typeface="Meiryo" pitchFamily="34" charset="-120"/>
              </a:rPr>
              <a:t>ブランド力を高める3つの取り組み</a:t>
            </a:r>
            <a:endParaRPr lang="en-US" sz="2000" dirty="0"/>
          </a:p>
        </p:txBody>
      </p:sp>
      <p:sp>
        <p:nvSpPr>
          <p:cNvPr id="4" name="Shape 2"/>
          <p:cNvSpPr/>
          <p:nvPr/>
        </p:nvSpPr>
        <p:spPr>
          <a:xfrm>
            <a:off x="502920" y="1280160"/>
            <a:ext cx="8138160" cy="0"/>
          </a:xfrm>
          <a:prstGeom prst="line">
            <a:avLst/>
          </a:prstGeom>
          <a:noFill/>
          <a:ln w="12700">
            <a:solidFill>
              <a:srgbClr val="D5D5D5"/>
            </a:solidFill>
            <a:prstDash val="solid"/>
          </a:ln>
        </p:spPr>
      </p:sp>
      <p:sp>
        <p:nvSpPr>
          <p:cNvPr id="5" name="Text 3"/>
          <p:cNvSpPr/>
          <p:nvPr/>
        </p:nvSpPr>
        <p:spPr>
          <a:xfrm>
            <a:off x="502920" y="1417320"/>
            <a:ext cx="8138160" cy="3177540"/>
          </a:xfrm>
          <a:prstGeom prst="rect">
            <a:avLst/>
          </a:prstGeom>
          <a:noFill/>
          <a:ln/>
        </p:spPr>
        <p:txBody>
          <a:bodyPr wrap="square" rtlCol="0" anchor="t"/>
          <a:lstStyle/>
          <a:p>
            <a:pPr marL="342900" indent="-342900">
              <a:lnSpc>
                <a:spcPct val="130000"/>
              </a:lnSpc>
              <a:buSzPct val="100000"/>
              <a:buChar char="•"/>
            </a:pPr>
            <a:r>
              <a:rPr lang="en-US" sz="1300" dirty="0">
                <a:solidFill>
                  <a:srgbClr val="1A1A1A"/>
                </a:solidFill>
                <a:latin typeface="Meiryo" pitchFamily="34" charset="0"/>
                <a:ea typeface="Meiryo" pitchFamily="34" charset="-122"/>
                <a:cs typeface="Meiryo" pitchFamily="34" charset="-120"/>
              </a:rPr>
              <a:t>ラベル: 定性的な価値／ブランド力の向上</a:t>
            </a:r>
            <a:endParaRPr lang="en-US" sz="1300" dirty="0"/>
          </a:p>
          <a:p>
            <a:pPr marL="342900" indent="-342900">
              <a:lnSpc>
                <a:spcPct val="130000"/>
              </a:lnSpc>
              <a:buSzPct val="100000"/>
              <a:buChar char="•"/>
            </a:pPr>
            <a:r>
              <a:rPr lang="en-US" sz="1300" dirty="0">
                <a:solidFill>
                  <a:srgbClr val="1A1A1A"/>
                </a:solidFill>
                <a:latin typeface="Meiryo" pitchFamily="34" charset="0"/>
                <a:ea typeface="Meiryo" pitchFamily="34" charset="-122"/>
                <a:cs typeface="Meiryo" pitchFamily="34" charset="-120"/>
              </a:rPr>
              <a:t>01 ポテンシャルを引き出す コンテンツ設計: 貴社が「伝えたい情報」だけではなく、「ユーザーが知りたい情報」を品質の高いライティングで提供します。</a:t>
            </a:r>
            <a:endParaRPr lang="en-US" sz="1300" dirty="0"/>
          </a:p>
          <a:p>
            <a:pPr marL="342900" indent="-342900">
              <a:lnSpc>
                <a:spcPct val="130000"/>
              </a:lnSpc>
              <a:buSzPct val="100000"/>
              <a:buChar char="•"/>
            </a:pPr>
            <a:r>
              <a:rPr lang="en-US" sz="1300" dirty="0">
                <a:solidFill>
                  <a:srgbClr val="1A1A1A"/>
                </a:solidFill>
                <a:latin typeface="Meiryo" pitchFamily="34" charset="0"/>
                <a:ea typeface="Meiryo" pitchFamily="34" charset="-122"/>
                <a:cs typeface="Meiryo" pitchFamily="34" charset="-120"/>
              </a:rPr>
              <a:t>02 デザインを言語化する コンセプトメイク: 流行や見た目の美しさではなく、デザイナーとヒアリングからブランドの「軸」を一緒につくります。</a:t>
            </a:r>
            <a:endParaRPr lang="en-US" sz="1300" dirty="0"/>
          </a:p>
          <a:p>
            <a:pPr marL="342900" indent="-342900">
              <a:lnSpc>
                <a:spcPct val="130000"/>
              </a:lnSpc>
              <a:buSzPct val="100000"/>
              <a:buChar char="•"/>
            </a:pPr>
            <a:r>
              <a:rPr lang="en-US" sz="1300" dirty="0">
                <a:solidFill>
                  <a:srgbClr val="1A1A1A"/>
                </a:solidFill>
                <a:latin typeface="Meiryo" pitchFamily="34" charset="0"/>
                <a:ea typeface="Meiryo" pitchFamily="34" charset="-122"/>
                <a:cs typeface="Meiryo" pitchFamily="34" charset="-120"/>
              </a:rPr>
              <a:t>03 直感に訴求できる デザイン: 多彩なデザイナーが第一印象で「貴社のらしさ」や「操作性の良さ」などユーザーの直感に伝わるデザインを提供します。</a:t>
            </a:r>
            <a:endParaRPr lang="en-US" sz="1300" dirty="0"/>
          </a:p>
        </p:txBody>
      </p:sp>
      <p:sp>
        <p:nvSpPr>
          <p:cNvPr id="6" name="Text 4"/>
          <p:cNvSpPr/>
          <p:nvPr/>
        </p:nvSpPr>
        <p:spPr>
          <a:xfrm>
            <a:off x="7543800" y="4759452"/>
            <a:ext cx="1097280" cy="228600"/>
          </a:xfrm>
          <a:prstGeom prst="rect">
            <a:avLst/>
          </a:prstGeom>
          <a:noFill/>
          <a:ln/>
        </p:spPr>
        <p:txBody>
          <a:bodyPr wrap="square" rtlCol="0" anchor="ctr"/>
          <a:lstStyle/>
          <a:p>
            <a:pPr algn="r" indent="0" marL="0">
              <a:buNone/>
            </a:pPr>
            <a:r>
              <a:rPr lang="en-US" sz="900" dirty="0">
                <a:solidFill>
                  <a:srgbClr val="6B6B6B"/>
                </a:solidFill>
                <a:latin typeface="Meiryo" pitchFamily="34" charset="0"/>
                <a:ea typeface="Meiryo" pitchFamily="34" charset="-122"/>
                <a:cs typeface="Meiryo" pitchFamily="34" charset="-120"/>
              </a:rPr>
              <a:t>66|82</a:t>
            </a:r>
            <a:endParaRPr lang="en-US" sz="900"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spTree>
      <p:nvGrpSpPr>
        <p:cNvPr id="1" name=""/>
        <p:cNvGrpSpPr/>
        <p:nvPr/>
      </p:nvGrpSpPr>
      <p:grpSpPr>
        <a:xfrm>
          <a:off x="0" y="0"/>
          <a:ext cx="0" cy="0"/>
          <a:chOff x="0" y="0"/>
          <a:chExt cx="0" cy="0"/>
        </a:xfrm>
      </p:grpSpPr>
      <p:sp>
        <p:nvSpPr>
          <p:cNvPr id="2" name="Text 0"/>
          <p:cNvSpPr/>
          <p:nvPr/>
        </p:nvSpPr>
        <p:spPr>
          <a:xfrm>
            <a:off x="502920" y="502920"/>
            <a:ext cx="8138160" cy="228600"/>
          </a:xfrm>
          <a:prstGeom prst="rect">
            <a:avLst/>
          </a:prstGeom>
          <a:noFill/>
          <a:ln/>
        </p:spPr>
        <p:txBody>
          <a:bodyPr wrap="square" rtlCol="0" anchor="ctr"/>
          <a:lstStyle/>
          <a:p>
            <a:pPr indent="0" marL="0">
              <a:buNone/>
            </a:pPr>
            <a:r>
              <a:rPr lang="en-US" sz="1000" dirty="0">
                <a:solidFill>
                  <a:srgbClr val="6B6B6B"/>
                </a:solidFill>
                <a:latin typeface="Meiryo" pitchFamily="34" charset="0"/>
                <a:ea typeface="Meiryo" pitchFamily="34" charset="-122"/>
                <a:cs typeface="Meiryo" pitchFamily="34" charset="-120"/>
              </a:rPr>
              <a:t>15 Our Strengths</a:t>
            </a:r>
            <a:endParaRPr lang="en-US" sz="1000" dirty="0"/>
          </a:p>
        </p:txBody>
      </p:sp>
      <p:sp>
        <p:nvSpPr>
          <p:cNvPr id="3" name="Text 1"/>
          <p:cNvSpPr/>
          <p:nvPr/>
        </p:nvSpPr>
        <p:spPr>
          <a:xfrm>
            <a:off x="502920" y="777240"/>
            <a:ext cx="8138160" cy="457200"/>
          </a:xfrm>
          <a:prstGeom prst="rect">
            <a:avLst/>
          </a:prstGeom>
          <a:noFill/>
          <a:ln/>
        </p:spPr>
        <p:txBody>
          <a:bodyPr wrap="square" rtlCol="0" anchor="ctr"/>
          <a:lstStyle/>
          <a:p>
            <a:pPr indent="0" marL="0">
              <a:buNone/>
            </a:pPr>
            <a:r>
              <a:rPr lang="en-US" sz="2000" b="1" dirty="0">
                <a:solidFill>
                  <a:srgbClr val="1A1A1A"/>
                </a:solidFill>
                <a:latin typeface="Meiryo" pitchFamily="34" charset="0"/>
                <a:ea typeface="Meiryo" pitchFamily="34" charset="-122"/>
                <a:cs typeface="Meiryo" pitchFamily="34" charset="-120"/>
              </a:rPr>
              <a:t>反響数を最大化する3つの施策</a:t>
            </a:r>
            <a:endParaRPr lang="en-US" sz="2000" dirty="0"/>
          </a:p>
        </p:txBody>
      </p:sp>
      <p:sp>
        <p:nvSpPr>
          <p:cNvPr id="4" name="Shape 2"/>
          <p:cNvSpPr/>
          <p:nvPr/>
        </p:nvSpPr>
        <p:spPr>
          <a:xfrm>
            <a:off x="502920" y="1280160"/>
            <a:ext cx="8138160" cy="0"/>
          </a:xfrm>
          <a:prstGeom prst="line">
            <a:avLst/>
          </a:prstGeom>
          <a:noFill/>
          <a:ln w="12700">
            <a:solidFill>
              <a:srgbClr val="D5D5D5"/>
            </a:solidFill>
            <a:prstDash val="solid"/>
          </a:ln>
        </p:spPr>
      </p:sp>
      <p:sp>
        <p:nvSpPr>
          <p:cNvPr id="5" name="Text 3"/>
          <p:cNvSpPr/>
          <p:nvPr/>
        </p:nvSpPr>
        <p:spPr>
          <a:xfrm>
            <a:off x="502920" y="1417320"/>
            <a:ext cx="8138160" cy="3177540"/>
          </a:xfrm>
          <a:prstGeom prst="rect">
            <a:avLst/>
          </a:prstGeom>
          <a:noFill/>
          <a:ln/>
        </p:spPr>
        <p:txBody>
          <a:bodyPr wrap="square" rtlCol="0" anchor="t"/>
          <a:lstStyle/>
          <a:p>
            <a:pPr marL="342900" indent="-342900">
              <a:lnSpc>
                <a:spcPct val="130000"/>
              </a:lnSpc>
              <a:buSzPct val="100000"/>
              <a:buChar char="•"/>
            </a:pPr>
            <a:r>
              <a:rPr lang="en-US" sz="1300" dirty="0">
                <a:solidFill>
                  <a:srgbClr val="1A1A1A"/>
                </a:solidFill>
                <a:latin typeface="Meiryo" pitchFamily="34" charset="0"/>
                <a:ea typeface="Meiryo" pitchFamily="34" charset="-122"/>
                <a:cs typeface="Meiryo" pitchFamily="34" charset="-120"/>
              </a:rPr>
              <a:t>ラベル: 定量的な価値／反響数の最大化</a:t>
            </a:r>
            <a:endParaRPr lang="en-US" sz="1300" dirty="0"/>
          </a:p>
          <a:p>
            <a:pPr marL="342900" indent="-342900">
              <a:lnSpc>
                <a:spcPct val="130000"/>
              </a:lnSpc>
              <a:buSzPct val="100000"/>
              <a:buChar char="•"/>
            </a:pPr>
            <a:r>
              <a:rPr lang="en-US" sz="1300" dirty="0">
                <a:solidFill>
                  <a:srgbClr val="1A1A1A"/>
                </a:solidFill>
                <a:latin typeface="Meiryo" pitchFamily="34" charset="0"/>
                <a:ea typeface="Meiryo" pitchFamily="34" charset="-122"/>
                <a:cs typeface="Meiryo" pitchFamily="34" charset="-120"/>
              </a:rPr>
              <a:t>支援実績: 1200社以上（施策の裏づけとなる支援実績）</a:t>
            </a:r>
            <a:endParaRPr lang="en-US" sz="1300" dirty="0"/>
          </a:p>
          <a:p>
            <a:pPr marL="342900" indent="-342900">
              <a:lnSpc>
                <a:spcPct val="130000"/>
              </a:lnSpc>
              <a:buSzPct val="100000"/>
              <a:buChar char="•"/>
            </a:pPr>
            <a:r>
              <a:rPr lang="en-US" sz="1300" dirty="0">
                <a:solidFill>
                  <a:srgbClr val="1A1A1A"/>
                </a:solidFill>
                <a:latin typeface="Meiryo" pitchFamily="34" charset="0"/>
                <a:ea typeface="Meiryo" pitchFamily="34" charset="-122"/>
                <a:cs typeface="Meiryo" pitchFamily="34" charset="-120"/>
              </a:rPr>
              <a:t>01 ビジネス成長に貢献する 数値目標の策定: データを基に、成果に直結する数値目標であるKPIを策定し、実行可能な戦略を設計します。</a:t>
            </a:r>
            <a:endParaRPr lang="en-US" sz="1300" dirty="0"/>
          </a:p>
          <a:p>
            <a:pPr marL="342900" indent="-342900">
              <a:lnSpc>
                <a:spcPct val="130000"/>
              </a:lnSpc>
              <a:buSzPct val="100000"/>
              <a:buChar char="•"/>
            </a:pPr>
            <a:r>
              <a:rPr lang="en-US" sz="1300" dirty="0">
                <a:solidFill>
                  <a:srgbClr val="1A1A1A"/>
                </a:solidFill>
                <a:latin typeface="Meiryo" pitchFamily="34" charset="0"/>
                <a:ea typeface="Meiryo" pitchFamily="34" charset="-122"/>
                <a:cs typeface="Meiryo" pitchFamily="34" charset="-120"/>
              </a:rPr>
              <a:t>02 1200社のデータを基にした 成果の出る施策: 1200社以上のデータに基づき、成果を最大化する最適な改善施策を実行します。</a:t>
            </a:r>
            <a:endParaRPr lang="en-US" sz="1300" dirty="0"/>
          </a:p>
          <a:p>
            <a:pPr marL="342900" indent="-342900">
              <a:lnSpc>
                <a:spcPct val="130000"/>
              </a:lnSpc>
              <a:buSzPct val="100000"/>
              <a:buChar char="•"/>
            </a:pPr>
            <a:r>
              <a:rPr lang="en-US" sz="1300" dirty="0">
                <a:solidFill>
                  <a:srgbClr val="1A1A1A"/>
                </a:solidFill>
                <a:latin typeface="Meiryo" pitchFamily="34" charset="0"/>
                <a:ea typeface="Meiryo" pitchFamily="34" charset="-122"/>
                <a:cs typeface="Meiryo" pitchFamily="34" charset="-120"/>
              </a:rPr>
              <a:t>03 集客を加速させる マーケティング連携: 集客の母集団形成を加速させる広告、SEO対策、オウンドメディアなどマーケティング施策を一気通貫で提供します。</a:t>
            </a:r>
            <a:endParaRPr lang="en-US" sz="1300" dirty="0"/>
          </a:p>
        </p:txBody>
      </p:sp>
      <p:sp>
        <p:nvSpPr>
          <p:cNvPr id="6" name="Text 4"/>
          <p:cNvSpPr/>
          <p:nvPr/>
        </p:nvSpPr>
        <p:spPr>
          <a:xfrm>
            <a:off x="7543800" y="4759452"/>
            <a:ext cx="1097280" cy="228600"/>
          </a:xfrm>
          <a:prstGeom prst="rect">
            <a:avLst/>
          </a:prstGeom>
          <a:noFill/>
          <a:ln/>
        </p:spPr>
        <p:txBody>
          <a:bodyPr wrap="square" rtlCol="0" anchor="ctr"/>
          <a:lstStyle/>
          <a:p>
            <a:pPr algn="r" indent="0" marL="0">
              <a:buNone/>
            </a:pPr>
            <a:r>
              <a:rPr lang="en-US" sz="900" dirty="0">
                <a:solidFill>
                  <a:srgbClr val="6B6B6B"/>
                </a:solidFill>
                <a:latin typeface="Meiryo" pitchFamily="34" charset="0"/>
                <a:ea typeface="Meiryo" pitchFamily="34" charset="-122"/>
                <a:cs typeface="Meiryo" pitchFamily="34" charset="-120"/>
              </a:rPr>
              <a:t>67|82</a:t>
            </a:r>
            <a:endParaRPr lang="en-US" sz="900"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spTree>
      <p:nvGrpSpPr>
        <p:cNvPr id="1" name=""/>
        <p:cNvGrpSpPr/>
        <p:nvPr/>
      </p:nvGrpSpPr>
      <p:grpSpPr>
        <a:xfrm>
          <a:off x="0" y="0"/>
          <a:ext cx="0" cy="0"/>
          <a:chOff x="0" y="0"/>
          <a:chExt cx="0" cy="0"/>
        </a:xfrm>
      </p:grpSpPr>
      <p:sp>
        <p:nvSpPr>
          <p:cNvPr id="2" name="Text 0"/>
          <p:cNvSpPr/>
          <p:nvPr/>
        </p:nvSpPr>
        <p:spPr>
          <a:xfrm>
            <a:off x="502920" y="502920"/>
            <a:ext cx="8138160" cy="228600"/>
          </a:xfrm>
          <a:prstGeom prst="rect">
            <a:avLst/>
          </a:prstGeom>
          <a:noFill/>
          <a:ln/>
        </p:spPr>
        <p:txBody>
          <a:bodyPr wrap="square" rtlCol="0" anchor="ctr"/>
          <a:lstStyle/>
          <a:p>
            <a:pPr indent="0" marL="0">
              <a:buNone/>
            </a:pPr>
            <a:r>
              <a:rPr lang="en-US" sz="1000" dirty="0">
                <a:solidFill>
                  <a:srgbClr val="6B6B6B"/>
                </a:solidFill>
                <a:latin typeface="Meiryo" pitchFamily="34" charset="0"/>
                <a:ea typeface="Meiryo" pitchFamily="34" charset="-122"/>
                <a:cs typeface="Meiryo" pitchFamily="34" charset="-120"/>
              </a:rPr>
              <a:t>15 Our Strengths</a:t>
            </a:r>
            <a:endParaRPr lang="en-US" sz="1000" dirty="0"/>
          </a:p>
        </p:txBody>
      </p:sp>
      <p:sp>
        <p:nvSpPr>
          <p:cNvPr id="3" name="Text 1"/>
          <p:cNvSpPr/>
          <p:nvPr/>
        </p:nvSpPr>
        <p:spPr>
          <a:xfrm>
            <a:off x="502920" y="777240"/>
            <a:ext cx="8138160" cy="457200"/>
          </a:xfrm>
          <a:prstGeom prst="rect">
            <a:avLst/>
          </a:prstGeom>
          <a:noFill/>
          <a:ln/>
        </p:spPr>
        <p:txBody>
          <a:bodyPr wrap="square" rtlCol="0" anchor="ctr"/>
          <a:lstStyle/>
          <a:p>
            <a:pPr indent="0" marL="0">
              <a:buNone/>
            </a:pPr>
            <a:r>
              <a:rPr lang="en-US" sz="2000" b="1" dirty="0">
                <a:solidFill>
                  <a:srgbClr val="1A1A1A"/>
                </a:solidFill>
                <a:latin typeface="Meiryo" pitchFamily="34" charset="0"/>
                <a:ea typeface="Meiryo" pitchFamily="34" charset="-122"/>
                <a:cs typeface="Meiryo" pitchFamily="34" charset="-120"/>
              </a:rPr>
              <a:t>機能実装・更新環境・運用支援の3本柱</a:t>
            </a:r>
            <a:endParaRPr lang="en-US" sz="2000" dirty="0"/>
          </a:p>
        </p:txBody>
      </p:sp>
      <p:sp>
        <p:nvSpPr>
          <p:cNvPr id="4" name="Shape 2"/>
          <p:cNvSpPr/>
          <p:nvPr/>
        </p:nvSpPr>
        <p:spPr>
          <a:xfrm>
            <a:off x="502920" y="1280160"/>
            <a:ext cx="8138160" cy="0"/>
          </a:xfrm>
          <a:prstGeom prst="line">
            <a:avLst/>
          </a:prstGeom>
          <a:noFill/>
          <a:ln w="12700">
            <a:solidFill>
              <a:srgbClr val="D5D5D5"/>
            </a:solidFill>
            <a:prstDash val="solid"/>
          </a:ln>
        </p:spPr>
      </p:sp>
      <p:sp>
        <p:nvSpPr>
          <p:cNvPr id="5" name="Text 3"/>
          <p:cNvSpPr/>
          <p:nvPr/>
        </p:nvSpPr>
        <p:spPr>
          <a:xfrm>
            <a:off x="502920" y="1417320"/>
            <a:ext cx="8138160" cy="457200"/>
          </a:xfrm>
          <a:prstGeom prst="rect">
            <a:avLst/>
          </a:prstGeom>
          <a:noFill/>
          <a:ln/>
        </p:spPr>
        <p:txBody>
          <a:bodyPr wrap="square" rtlCol="0" anchor="t"/>
          <a:lstStyle/>
          <a:p>
            <a:pPr indent="0" marL="0">
              <a:buNone/>
            </a:pPr>
            <a:r>
              <a:rPr lang="en-US" sz="1200" dirty="0">
                <a:solidFill>
                  <a:srgbClr val="1A1A1A"/>
                </a:solidFill>
                <a:latin typeface="Meiryo" pitchFamily="34" charset="0"/>
                <a:ea typeface="Meiryo" pitchFamily="34" charset="-122"/>
                <a:cs typeface="Meiryo" pitchFamily="34" charset="-120"/>
              </a:rPr>
              <a:t>サイトの価値が決まるのは、公開してからの数年間です。／ つくる力だけでなく、更新し続ける力・支え続ける力を自社の体制として備えています。</a:t>
            </a:r>
            <a:endParaRPr lang="en-US" sz="1200" dirty="0"/>
          </a:p>
        </p:txBody>
      </p:sp>
      <p:sp>
        <p:nvSpPr>
          <p:cNvPr id="6" name="Text 4"/>
          <p:cNvSpPr/>
          <p:nvPr/>
        </p:nvSpPr>
        <p:spPr>
          <a:xfrm>
            <a:off x="502920" y="1965960"/>
            <a:ext cx="8138160" cy="2628900"/>
          </a:xfrm>
          <a:prstGeom prst="rect">
            <a:avLst/>
          </a:prstGeom>
          <a:noFill/>
          <a:ln/>
        </p:spPr>
        <p:txBody>
          <a:bodyPr wrap="square" rtlCol="0" anchor="t"/>
          <a:lstStyle/>
          <a:p>
            <a:pPr marL="342900" indent="-342900">
              <a:lnSpc>
                <a:spcPct val="130000"/>
              </a:lnSpc>
              <a:buSzPct val="100000"/>
              <a:buChar char="•"/>
            </a:pPr>
            <a:r>
              <a:rPr lang="en-US" sz="1300" dirty="0">
                <a:solidFill>
                  <a:srgbClr val="1A1A1A"/>
                </a:solidFill>
                <a:latin typeface="Meiryo" pitchFamily="34" charset="0"/>
                <a:ea typeface="Meiryo" pitchFamily="34" charset="-122"/>
                <a:cs typeface="Meiryo" pitchFamily="34" charset="-120"/>
              </a:rPr>
              <a:t>ラベル: 運用・機能的な価値</a:t>
            </a:r>
            <a:endParaRPr lang="en-US" sz="1300" dirty="0"/>
          </a:p>
          <a:p>
            <a:pPr marL="342900" indent="-342900">
              <a:lnSpc>
                <a:spcPct val="130000"/>
              </a:lnSpc>
              <a:buSzPct val="100000"/>
              <a:buChar char="•"/>
            </a:pPr>
            <a:r>
              <a:rPr lang="en-US" sz="1300" dirty="0">
                <a:solidFill>
                  <a:srgbClr val="1A1A1A"/>
                </a:solidFill>
                <a:latin typeface="Meiryo" pitchFamily="34" charset="0"/>
                <a:ea typeface="Meiryo" pitchFamily="34" charset="-122"/>
                <a:cs typeface="Meiryo" pitchFamily="34" charset="-120"/>
              </a:rPr>
              <a:t>自社エンジニアによる 機能実装: エンジニアが要件定義から参画し、多言語対応や料金シミュレーションなどご要望の機能を確実に実装します。</a:t>
            </a:r>
            <a:endParaRPr lang="en-US" sz="1300" dirty="0"/>
          </a:p>
          <a:p>
            <a:pPr marL="342900" indent="-342900">
              <a:lnSpc>
                <a:spcPct val="130000"/>
              </a:lnSpc>
              <a:buSzPct val="100000"/>
              <a:buChar char="•"/>
            </a:pPr>
            <a:r>
              <a:rPr lang="en-US" sz="1300" dirty="0">
                <a:solidFill>
                  <a:srgbClr val="1A1A1A"/>
                </a:solidFill>
                <a:latin typeface="Meiryo" pitchFamily="34" charset="0"/>
                <a:ea typeface="Meiryo" pitchFamily="34" charset="-122"/>
                <a:cs typeface="Meiryo" pitchFamily="34" charset="-120"/>
              </a:rPr>
              <a:t>1社1社が使いやすい 更新環境の構築: 貴社の運用を想定した、誰でも簡単に更新できる更新環境を実現します。</a:t>
            </a:r>
            <a:endParaRPr lang="en-US" sz="1300" dirty="0"/>
          </a:p>
          <a:p>
            <a:pPr marL="342900" indent="-342900">
              <a:lnSpc>
                <a:spcPct val="130000"/>
              </a:lnSpc>
              <a:buSzPct val="100000"/>
              <a:buChar char="•"/>
            </a:pPr>
            <a:r>
              <a:rPr lang="en-US" sz="1300" dirty="0">
                <a:solidFill>
                  <a:srgbClr val="1A1A1A"/>
                </a:solidFill>
                <a:latin typeface="Meiryo" pitchFamily="34" charset="0"/>
                <a:ea typeface="Meiryo" pitchFamily="34" charset="-122"/>
                <a:cs typeface="Meiryo" pitchFamily="34" charset="-120"/>
              </a:rPr>
              <a:t>納品後も寄り添った 運用支援: 充実した無償サポートと、ご要望に合わせた有償サポートで、安心のサイト運用を実現します。</a:t>
            </a:r>
            <a:endParaRPr lang="en-US" sz="1300" dirty="0"/>
          </a:p>
        </p:txBody>
      </p:sp>
      <p:sp>
        <p:nvSpPr>
          <p:cNvPr id="7" name="Text 5"/>
          <p:cNvSpPr/>
          <p:nvPr/>
        </p:nvSpPr>
        <p:spPr>
          <a:xfrm>
            <a:off x="7543800" y="4759452"/>
            <a:ext cx="1097280" cy="228600"/>
          </a:xfrm>
          <a:prstGeom prst="rect">
            <a:avLst/>
          </a:prstGeom>
          <a:noFill/>
          <a:ln/>
        </p:spPr>
        <p:txBody>
          <a:bodyPr wrap="square" rtlCol="0" anchor="ctr"/>
          <a:lstStyle/>
          <a:p>
            <a:pPr algn="r" indent="0" marL="0">
              <a:buNone/>
            </a:pPr>
            <a:r>
              <a:rPr lang="en-US" sz="900" dirty="0">
                <a:solidFill>
                  <a:srgbClr val="6B6B6B"/>
                </a:solidFill>
                <a:latin typeface="Meiryo" pitchFamily="34" charset="0"/>
                <a:ea typeface="Meiryo" pitchFamily="34" charset="-122"/>
                <a:cs typeface="Meiryo" pitchFamily="34" charset="-120"/>
              </a:rPr>
              <a:t>68|82</a:t>
            </a:r>
            <a:endParaRPr lang="en-US" sz="900" dirty="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9">
    <p:bg>
      <p:bgPr>
        <a:solidFill>
          <a:srgbClr val="1F3A5F"/>
        </a:solidFill>
      </p:bgPr>
    </p:bg>
    <p:spTree>
      <p:nvGrpSpPr>
        <p:cNvPr id="1" name=""/>
        <p:cNvGrpSpPr/>
        <p:nvPr/>
      </p:nvGrpSpPr>
      <p:grpSpPr>
        <a:xfrm>
          <a:off x="0" y="0"/>
          <a:ext cx="0" cy="0"/>
          <a:chOff x="0" y="0"/>
          <a:chExt cx="0" cy="0"/>
        </a:xfrm>
      </p:grpSpPr>
      <p:sp>
        <p:nvSpPr>
          <p:cNvPr id="2" name="Text 0"/>
          <p:cNvSpPr/>
          <p:nvPr/>
        </p:nvSpPr>
        <p:spPr>
          <a:xfrm>
            <a:off x="502920" y="1737360"/>
            <a:ext cx="1280160" cy="640080"/>
          </a:xfrm>
          <a:prstGeom prst="rect">
            <a:avLst/>
          </a:prstGeom>
          <a:noFill/>
          <a:ln/>
        </p:spPr>
        <p:txBody>
          <a:bodyPr wrap="square" rtlCol="0" anchor="ctr"/>
          <a:lstStyle/>
          <a:p>
            <a:pPr indent="0" marL="0">
              <a:buNone/>
            </a:pPr>
            <a:r>
              <a:rPr lang="en-US" sz="3400" b="1" dirty="0">
                <a:solidFill>
                  <a:srgbClr val="FFFFFF"/>
                </a:solidFill>
                <a:latin typeface="Meiryo" pitchFamily="34" charset="0"/>
                <a:ea typeface="Meiryo" pitchFamily="34" charset="-122"/>
                <a:cs typeface="Meiryo" pitchFamily="34" charset="-120"/>
              </a:rPr>
              <a:t>16</a:t>
            </a:r>
            <a:endParaRPr lang="en-US" sz="3400" dirty="0"/>
          </a:p>
        </p:txBody>
      </p:sp>
      <p:sp>
        <p:nvSpPr>
          <p:cNvPr id="3" name="Text 1"/>
          <p:cNvSpPr/>
          <p:nvPr/>
        </p:nvSpPr>
        <p:spPr>
          <a:xfrm>
            <a:off x="502920" y="2377440"/>
            <a:ext cx="8138160" cy="365760"/>
          </a:xfrm>
          <a:prstGeom prst="rect">
            <a:avLst/>
          </a:prstGeom>
          <a:noFill/>
          <a:ln/>
        </p:spPr>
        <p:txBody>
          <a:bodyPr wrap="square" rtlCol="0" anchor="ctr"/>
          <a:lstStyle/>
          <a:p>
            <a:pPr indent="0" marL="0">
              <a:buNone/>
            </a:pPr>
            <a:r>
              <a:rPr lang="en-US" sz="1300" dirty="0">
                <a:solidFill>
                  <a:srgbClr val="FFFFFF"/>
                </a:solidFill>
                <a:latin typeface="Meiryo" pitchFamily="34" charset="0"/>
                <a:ea typeface="Meiryo" pitchFamily="34" charset="-122"/>
                <a:cs typeface="Meiryo" pitchFamily="34" charset="-120"/>
              </a:rPr>
              <a:t>Team</a:t>
            </a:r>
            <a:endParaRPr lang="en-US" sz="1300" dirty="0"/>
          </a:p>
        </p:txBody>
      </p:sp>
      <p:sp>
        <p:nvSpPr>
          <p:cNvPr id="4" name="Text 2"/>
          <p:cNvSpPr/>
          <p:nvPr/>
        </p:nvSpPr>
        <p:spPr>
          <a:xfrm>
            <a:off x="502920" y="2743200"/>
            <a:ext cx="8138160" cy="548640"/>
          </a:xfrm>
          <a:prstGeom prst="rect">
            <a:avLst/>
          </a:prstGeom>
          <a:noFill/>
          <a:ln/>
        </p:spPr>
        <p:txBody>
          <a:bodyPr wrap="square" rtlCol="0" anchor="ctr"/>
          <a:lstStyle/>
          <a:p>
            <a:pPr indent="0" marL="0">
              <a:buNone/>
            </a:pPr>
            <a:r>
              <a:rPr lang="en-US" sz="2400" b="1" dirty="0">
                <a:solidFill>
                  <a:srgbClr val="FFFFFF"/>
                </a:solidFill>
                <a:latin typeface="Meiryo" pitchFamily="34" charset="0"/>
                <a:ea typeface="Meiryo" pitchFamily="34" charset="-122"/>
                <a:cs typeface="Meiryo" pitchFamily="34" charset="-120"/>
              </a:rPr>
              <a:t>チーム体制</a:t>
            </a:r>
            <a:endParaRPr lang="en-US" sz="2400" dirty="0"/>
          </a:p>
        </p:txBody>
      </p:sp>
      <p:sp>
        <p:nvSpPr>
          <p:cNvPr id="5" name="Text 3"/>
          <p:cNvSpPr/>
          <p:nvPr/>
        </p:nvSpPr>
        <p:spPr>
          <a:xfrm>
            <a:off x="7543800" y="4759452"/>
            <a:ext cx="1097280" cy="228600"/>
          </a:xfrm>
          <a:prstGeom prst="rect">
            <a:avLst/>
          </a:prstGeom>
          <a:noFill/>
          <a:ln/>
        </p:spPr>
        <p:txBody>
          <a:bodyPr wrap="square" rtlCol="0" anchor="ctr"/>
          <a:lstStyle/>
          <a:p>
            <a:pPr algn="r" indent="0" marL="0">
              <a:buNone/>
            </a:pPr>
            <a:r>
              <a:rPr lang="en-US" sz="900" dirty="0">
                <a:solidFill>
                  <a:srgbClr val="6B6B6B"/>
                </a:solidFill>
                <a:latin typeface="Meiryo" pitchFamily="34" charset="0"/>
                <a:ea typeface="Meiryo" pitchFamily="34" charset="-122"/>
                <a:cs typeface="Meiryo" pitchFamily="34" charset="-120"/>
              </a:rPr>
              <a:t>69|82</a:t>
            </a:r>
            <a:endParaRPr lang="en-US" sz="900" dirty="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70">
    <p:spTree>
      <p:nvGrpSpPr>
        <p:cNvPr id="1" name=""/>
        <p:cNvGrpSpPr/>
        <p:nvPr/>
      </p:nvGrpSpPr>
      <p:grpSpPr>
        <a:xfrm>
          <a:off x="0" y="0"/>
          <a:ext cx="0" cy="0"/>
          <a:chOff x="0" y="0"/>
          <a:chExt cx="0" cy="0"/>
        </a:xfrm>
      </p:grpSpPr>
      <p:sp>
        <p:nvSpPr>
          <p:cNvPr id="2" name="Text 0"/>
          <p:cNvSpPr/>
          <p:nvPr/>
        </p:nvSpPr>
        <p:spPr>
          <a:xfrm>
            <a:off x="502920" y="502920"/>
            <a:ext cx="8138160" cy="228600"/>
          </a:xfrm>
          <a:prstGeom prst="rect">
            <a:avLst/>
          </a:prstGeom>
          <a:noFill/>
          <a:ln/>
        </p:spPr>
        <p:txBody>
          <a:bodyPr wrap="square" rtlCol="0" anchor="ctr"/>
          <a:lstStyle/>
          <a:p>
            <a:pPr indent="0" marL="0">
              <a:buNone/>
            </a:pPr>
            <a:r>
              <a:rPr lang="en-US" sz="1000" dirty="0">
                <a:solidFill>
                  <a:srgbClr val="6B6B6B"/>
                </a:solidFill>
                <a:latin typeface="Meiryo" pitchFamily="34" charset="0"/>
                <a:ea typeface="Meiryo" pitchFamily="34" charset="-122"/>
                <a:cs typeface="Meiryo" pitchFamily="34" charset="-120"/>
              </a:rPr>
              <a:t>16 Team</a:t>
            </a:r>
            <a:endParaRPr lang="en-US" sz="1000" dirty="0"/>
          </a:p>
        </p:txBody>
      </p:sp>
      <p:sp>
        <p:nvSpPr>
          <p:cNvPr id="3" name="Text 1"/>
          <p:cNvSpPr/>
          <p:nvPr/>
        </p:nvSpPr>
        <p:spPr>
          <a:xfrm>
            <a:off x="502920" y="777240"/>
            <a:ext cx="8138160" cy="457200"/>
          </a:xfrm>
          <a:prstGeom prst="rect">
            <a:avLst/>
          </a:prstGeom>
          <a:noFill/>
          <a:ln/>
        </p:spPr>
        <p:txBody>
          <a:bodyPr wrap="square" rtlCol="0" anchor="ctr"/>
          <a:lstStyle/>
          <a:p>
            <a:pPr indent="0" marL="0">
              <a:buNone/>
            </a:pPr>
            <a:r>
              <a:rPr lang="en-US" sz="2000" b="1" dirty="0">
                <a:solidFill>
                  <a:srgbClr val="1A1A1A"/>
                </a:solidFill>
                <a:latin typeface="Meiryo" pitchFamily="34" charset="0"/>
                <a:ea typeface="Meiryo" pitchFamily="34" charset="-122"/>
                <a:cs typeface="Meiryo" pitchFamily="34" charset="-120"/>
              </a:rPr>
              <a:t>組織で担保する品質と納期（5 Strong Points）</a:t>
            </a:r>
            <a:endParaRPr lang="en-US" sz="2000" dirty="0"/>
          </a:p>
        </p:txBody>
      </p:sp>
      <p:sp>
        <p:nvSpPr>
          <p:cNvPr id="4" name="Shape 2"/>
          <p:cNvSpPr/>
          <p:nvPr/>
        </p:nvSpPr>
        <p:spPr>
          <a:xfrm>
            <a:off x="502920" y="1280160"/>
            <a:ext cx="8138160" cy="0"/>
          </a:xfrm>
          <a:prstGeom prst="line">
            <a:avLst/>
          </a:prstGeom>
          <a:noFill/>
          <a:ln w="12700">
            <a:solidFill>
              <a:srgbClr val="D5D5D5"/>
            </a:solidFill>
            <a:prstDash val="solid"/>
          </a:ln>
        </p:spPr>
      </p:sp>
      <p:sp>
        <p:nvSpPr>
          <p:cNvPr id="5" name="Text 3"/>
          <p:cNvSpPr/>
          <p:nvPr/>
        </p:nvSpPr>
        <p:spPr>
          <a:xfrm>
            <a:off x="502920" y="1417320"/>
            <a:ext cx="8138160" cy="457200"/>
          </a:xfrm>
          <a:prstGeom prst="rect">
            <a:avLst/>
          </a:prstGeom>
          <a:noFill/>
          <a:ln/>
        </p:spPr>
        <p:txBody>
          <a:bodyPr wrap="square" rtlCol="0" anchor="t"/>
          <a:lstStyle/>
          <a:p>
            <a:pPr indent="0" marL="0">
              <a:buNone/>
            </a:pPr>
            <a:r>
              <a:rPr lang="en-US" sz="1200" dirty="0">
                <a:solidFill>
                  <a:srgbClr val="1A1A1A"/>
                </a:solidFill>
                <a:latin typeface="Meiryo" pitchFamily="34" charset="0"/>
                <a:ea typeface="Meiryo" pitchFamily="34" charset="-122"/>
                <a:cs typeface="Meiryo" pitchFamily="34" charset="-120"/>
              </a:rPr>
              <a:t>属人的な制作ではなく、組織として積み上げた仕組みが、品質と納期を安定させます。</a:t>
            </a:r>
            <a:endParaRPr lang="en-US" sz="1200" dirty="0"/>
          </a:p>
        </p:txBody>
      </p:sp>
      <p:sp>
        <p:nvSpPr>
          <p:cNvPr id="6" name="Text 4"/>
          <p:cNvSpPr/>
          <p:nvPr/>
        </p:nvSpPr>
        <p:spPr>
          <a:xfrm>
            <a:off x="502920" y="1965960"/>
            <a:ext cx="8138160" cy="2628900"/>
          </a:xfrm>
          <a:prstGeom prst="rect">
            <a:avLst/>
          </a:prstGeom>
          <a:noFill/>
          <a:ln/>
        </p:spPr>
        <p:txBody>
          <a:bodyPr wrap="square" rtlCol="0" anchor="t"/>
          <a:lstStyle/>
          <a:p>
            <a:pPr marL="342900" indent="-342900">
              <a:lnSpc>
                <a:spcPct val="130000"/>
              </a:lnSpc>
              <a:buSzPct val="100000"/>
              <a:buChar char="•"/>
            </a:pPr>
            <a:r>
              <a:rPr lang="en-US" sz="1300" dirty="0">
                <a:solidFill>
                  <a:srgbClr val="1A1A1A"/>
                </a:solidFill>
                <a:latin typeface="Meiryo" pitchFamily="34" charset="0"/>
                <a:ea typeface="Meiryo" pitchFamily="34" charset="-122"/>
                <a:cs typeface="Meiryo" pitchFamily="34" charset="-120"/>
              </a:rPr>
              <a:t>見出し数: 5 Strong Points</a:t>
            </a:r>
            <a:endParaRPr lang="en-US" sz="1300" dirty="0"/>
          </a:p>
          <a:p>
            <a:pPr marL="342900" indent="-342900">
              <a:lnSpc>
                <a:spcPct val="130000"/>
              </a:lnSpc>
              <a:buSzPct val="100000"/>
              <a:buChar char="•"/>
            </a:pPr>
            <a:r>
              <a:rPr lang="en-US" sz="1300" dirty="0">
                <a:solidFill>
                  <a:srgbClr val="1A1A1A"/>
                </a:solidFill>
                <a:latin typeface="Meiryo" pitchFamily="34" charset="0"/>
                <a:ea typeface="Meiryo" pitchFamily="34" charset="-122"/>
                <a:cs typeface="Meiryo" pitchFamily="34" charset="-120"/>
              </a:rPr>
              <a:t>01 自社内一貫制作: 戦略立案からデザイン・開発・運用まで自社内リソースにより一気通貫で対応します。</a:t>
            </a:r>
            <a:endParaRPr lang="en-US" sz="1300" dirty="0"/>
          </a:p>
          <a:p>
            <a:pPr marL="342900" indent="-342900">
              <a:lnSpc>
                <a:spcPct val="130000"/>
              </a:lnSpc>
              <a:buSzPct val="100000"/>
              <a:buChar char="•"/>
            </a:pPr>
            <a:r>
              <a:rPr lang="en-US" sz="1300" dirty="0">
                <a:solidFill>
                  <a:srgbClr val="1A1A1A"/>
                </a:solidFill>
                <a:latin typeface="Meiryo" pitchFamily="34" charset="0"/>
                <a:ea typeface="Meiryo" pitchFamily="34" charset="-122"/>
                <a:cs typeface="Meiryo" pitchFamily="34" charset="-120"/>
              </a:rPr>
              <a:t>02 1プロジェクト 6名体制: 専門性の高いメンバーが連携し、最適なWebサイトを実現します。</a:t>
            </a:r>
            <a:endParaRPr lang="en-US" sz="1300" dirty="0"/>
          </a:p>
          <a:p>
            <a:pPr marL="342900" indent="-342900">
              <a:lnSpc>
                <a:spcPct val="130000"/>
              </a:lnSpc>
              <a:buSzPct val="100000"/>
              <a:buChar char="•"/>
            </a:pPr>
            <a:r>
              <a:rPr lang="en-US" sz="1300" dirty="0">
                <a:solidFill>
                  <a:srgbClr val="1A1A1A"/>
                </a:solidFill>
                <a:latin typeface="Meiryo" pitchFamily="34" charset="0"/>
                <a:ea typeface="Meiryo" pitchFamily="34" charset="-122"/>
                <a:cs typeface="Meiryo" pitchFamily="34" charset="-120"/>
              </a:rPr>
              <a:t>03 納期遅延 ゼロ※: きめ細かく計画的な進行管理と万全な体制で、納期遵守を徹底しています。（※当社作業領域に基づく）</a:t>
            </a:r>
            <a:endParaRPr lang="en-US" sz="1300" dirty="0"/>
          </a:p>
          <a:p>
            <a:pPr marL="342900" indent="-342900">
              <a:lnSpc>
                <a:spcPct val="130000"/>
              </a:lnSpc>
              <a:buSzPct val="100000"/>
              <a:buChar char="•"/>
            </a:pPr>
            <a:r>
              <a:rPr lang="en-US" sz="1300" dirty="0">
                <a:solidFill>
                  <a:srgbClr val="1A1A1A"/>
                </a:solidFill>
                <a:latin typeface="Meiryo" pitchFamily="34" charset="0"/>
                <a:ea typeface="Meiryo" pitchFamily="34" charset="-122"/>
                <a:cs typeface="Meiryo" pitchFamily="34" charset="-120"/>
              </a:rPr>
              <a:t>04 撮影・パンフレットなど多彩なサービス: 撮影・映像・取材・パンフレットも自社で対応し、幅広いクリエイティブを提供します。</a:t>
            </a:r>
            <a:endParaRPr lang="en-US" sz="1300" dirty="0"/>
          </a:p>
          <a:p>
            <a:pPr marL="342900" indent="-342900">
              <a:lnSpc>
                <a:spcPct val="130000"/>
              </a:lnSpc>
              <a:buSzPct val="100000"/>
              <a:buChar char="•"/>
            </a:pPr>
            <a:r>
              <a:rPr lang="en-US" sz="1300" dirty="0">
                <a:solidFill>
                  <a:srgbClr val="1A1A1A"/>
                </a:solidFill>
                <a:latin typeface="Meiryo" pitchFamily="34" charset="0"/>
                <a:ea typeface="Meiryo" pitchFamily="34" charset="-122"/>
                <a:cs typeface="Meiryo" pitchFamily="34" charset="-120"/>
              </a:rPr>
              <a:t>05 安定した会社基盤: 安定した経営基盤により、長期的に伴走できる組織体制があります。</a:t>
            </a:r>
            <a:endParaRPr lang="en-US" sz="1300" dirty="0"/>
          </a:p>
        </p:txBody>
      </p:sp>
      <p:sp>
        <p:nvSpPr>
          <p:cNvPr id="7" name="Text 5"/>
          <p:cNvSpPr/>
          <p:nvPr/>
        </p:nvSpPr>
        <p:spPr>
          <a:xfrm>
            <a:off x="7543800" y="4759452"/>
            <a:ext cx="1097280" cy="228600"/>
          </a:xfrm>
          <a:prstGeom prst="rect">
            <a:avLst/>
          </a:prstGeom>
          <a:noFill/>
          <a:ln/>
        </p:spPr>
        <p:txBody>
          <a:bodyPr wrap="square" rtlCol="0" anchor="ctr"/>
          <a:lstStyle/>
          <a:p>
            <a:pPr algn="r" indent="0" marL="0">
              <a:buNone/>
            </a:pPr>
            <a:r>
              <a:rPr lang="en-US" sz="900" dirty="0">
                <a:solidFill>
                  <a:srgbClr val="6B6B6B"/>
                </a:solidFill>
                <a:latin typeface="Meiryo" pitchFamily="34" charset="0"/>
                <a:ea typeface="Meiryo" pitchFamily="34" charset="-122"/>
                <a:cs typeface="Meiryo" pitchFamily="34" charset="-120"/>
              </a:rPr>
              <a:t>70|82</a:t>
            </a:r>
            <a:endParaRPr lang="en-US" sz="900" dirty="0"/>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71">
    <p:spTree>
      <p:nvGrpSpPr>
        <p:cNvPr id="1" name=""/>
        <p:cNvGrpSpPr/>
        <p:nvPr/>
      </p:nvGrpSpPr>
      <p:grpSpPr>
        <a:xfrm>
          <a:off x="0" y="0"/>
          <a:ext cx="0" cy="0"/>
          <a:chOff x="0" y="0"/>
          <a:chExt cx="0" cy="0"/>
        </a:xfrm>
      </p:grpSpPr>
      <p:sp>
        <p:nvSpPr>
          <p:cNvPr id="2" name="Text 0"/>
          <p:cNvSpPr/>
          <p:nvPr/>
        </p:nvSpPr>
        <p:spPr>
          <a:xfrm>
            <a:off x="502920" y="502920"/>
            <a:ext cx="8138160" cy="228600"/>
          </a:xfrm>
          <a:prstGeom prst="rect">
            <a:avLst/>
          </a:prstGeom>
          <a:noFill/>
          <a:ln/>
        </p:spPr>
        <p:txBody>
          <a:bodyPr wrap="square" rtlCol="0" anchor="ctr"/>
          <a:lstStyle/>
          <a:p>
            <a:pPr indent="0" marL="0">
              <a:buNone/>
            </a:pPr>
            <a:r>
              <a:rPr lang="en-US" sz="1000" dirty="0">
                <a:solidFill>
                  <a:srgbClr val="6B6B6B"/>
                </a:solidFill>
                <a:latin typeface="Meiryo" pitchFamily="34" charset="0"/>
                <a:ea typeface="Meiryo" pitchFamily="34" charset="-122"/>
                <a:cs typeface="Meiryo" pitchFamily="34" charset="-120"/>
              </a:rPr>
              <a:t>16 Team</a:t>
            </a:r>
            <a:endParaRPr lang="en-US" sz="1000" dirty="0"/>
          </a:p>
        </p:txBody>
      </p:sp>
      <p:sp>
        <p:nvSpPr>
          <p:cNvPr id="3" name="Text 1"/>
          <p:cNvSpPr/>
          <p:nvPr/>
        </p:nvSpPr>
        <p:spPr>
          <a:xfrm>
            <a:off x="502920" y="777240"/>
            <a:ext cx="8138160" cy="457200"/>
          </a:xfrm>
          <a:prstGeom prst="rect">
            <a:avLst/>
          </a:prstGeom>
          <a:noFill/>
          <a:ln/>
        </p:spPr>
        <p:txBody>
          <a:bodyPr wrap="square" rtlCol="0" anchor="ctr"/>
          <a:lstStyle/>
          <a:p>
            <a:pPr indent="0" marL="0">
              <a:buNone/>
            </a:pPr>
            <a:r>
              <a:rPr lang="en-US" sz="2000" b="1" dirty="0">
                <a:solidFill>
                  <a:srgbClr val="1A1A1A"/>
                </a:solidFill>
                <a:latin typeface="Meiryo" pitchFamily="34" charset="0"/>
                <a:ea typeface="Meiryo" pitchFamily="34" charset="-122"/>
                <a:cs typeface="Meiryo" pitchFamily="34" charset="-120"/>
              </a:rPr>
              <a:t>戦略・デザイン・開発・運用を自社で担当（強み01）</a:t>
            </a:r>
            <a:endParaRPr lang="en-US" sz="2000" dirty="0"/>
          </a:p>
        </p:txBody>
      </p:sp>
      <p:sp>
        <p:nvSpPr>
          <p:cNvPr id="4" name="Shape 2"/>
          <p:cNvSpPr/>
          <p:nvPr/>
        </p:nvSpPr>
        <p:spPr>
          <a:xfrm>
            <a:off x="502920" y="1280160"/>
            <a:ext cx="8138160" cy="0"/>
          </a:xfrm>
          <a:prstGeom prst="line">
            <a:avLst/>
          </a:prstGeom>
          <a:noFill/>
          <a:ln w="12700">
            <a:solidFill>
              <a:srgbClr val="D5D5D5"/>
            </a:solidFill>
            <a:prstDash val="solid"/>
          </a:ln>
        </p:spPr>
      </p:sp>
      <p:sp>
        <p:nvSpPr>
          <p:cNvPr id="5" name="Text 3"/>
          <p:cNvSpPr/>
          <p:nvPr/>
        </p:nvSpPr>
        <p:spPr>
          <a:xfrm>
            <a:off x="502920" y="1417320"/>
            <a:ext cx="8138160" cy="457200"/>
          </a:xfrm>
          <a:prstGeom prst="rect">
            <a:avLst/>
          </a:prstGeom>
          <a:noFill/>
          <a:ln/>
        </p:spPr>
        <p:txBody>
          <a:bodyPr wrap="square" rtlCol="0" anchor="t"/>
          <a:lstStyle/>
          <a:p>
            <a:pPr indent="0" marL="0">
              <a:buNone/>
            </a:pPr>
            <a:r>
              <a:rPr lang="en-US" sz="1200" dirty="0">
                <a:solidFill>
                  <a:srgbClr val="1A1A1A"/>
                </a:solidFill>
                <a:latin typeface="Meiryo" pitchFamily="34" charset="0"/>
                <a:ea typeface="Meiryo" pitchFamily="34" charset="-122"/>
                <a:cs typeface="Meiryo" pitchFamily="34" charset="-120"/>
              </a:rPr>
              <a:t>Webサイトに特化した専門チームが、戦略・デザイン・開発・運用を一気通貫で対応し、成果につながるWebサイトを提供します。また、窓口を一本化し、クライアントの負担を最小限に抑えます。</a:t>
            </a:r>
            <a:endParaRPr lang="en-US" sz="1200" dirty="0"/>
          </a:p>
        </p:txBody>
      </p:sp>
      <p:sp>
        <p:nvSpPr>
          <p:cNvPr id="6" name="Text 4"/>
          <p:cNvSpPr/>
          <p:nvPr/>
        </p:nvSpPr>
        <p:spPr>
          <a:xfrm>
            <a:off x="502920" y="1965960"/>
            <a:ext cx="8138160" cy="2628900"/>
          </a:xfrm>
          <a:prstGeom prst="rect">
            <a:avLst/>
          </a:prstGeom>
          <a:noFill/>
          <a:ln/>
        </p:spPr>
        <p:txBody>
          <a:bodyPr wrap="square" rtlCol="0" anchor="t"/>
          <a:lstStyle/>
          <a:p>
            <a:pPr marL="342900" indent="-342900">
              <a:lnSpc>
                <a:spcPct val="130000"/>
              </a:lnSpc>
              <a:buSzPct val="100000"/>
              <a:buChar char="•"/>
            </a:pPr>
            <a:r>
              <a:rPr lang="en-US" sz="1300" dirty="0">
                <a:solidFill>
                  <a:srgbClr val="1A1A1A"/>
                </a:solidFill>
                <a:latin typeface="Meiryo" pitchFamily="34" charset="0"/>
                <a:ea typeface="Meiryo" pitchFamily="34" charset="-122"/>
                <a:cs typeface="Meiryo" pitchFamily="34" charset="-120"/>
              </a:rPr>
              <a:t>01 戦略: プロデューサーチーム</a:t>
            </a:r>
            <a:endParaRPr lang="en-US" sz="1300" dirty="0"/>
          </a:p>
          <a:p>
            <a:pPr marL="342900" indent="-342900">
              <a:lnSpc>
                <a:spcPct val="130000"/>
              </a:lnSpc>
              <a:buSzPct val="100000"/>
              <a:buChar char="•"/>
            </a:pPr>
            <a:r>
              <a:rPr lang="en-US" sz="1300" dirty="0">
                <a:solidFill>
                  <a:srgbClr val="1A1A1A"/>
                </a:solidFill>
                <a:latin typeface="Meiryo" pitchFamily="34" charset="0"/>
                <a:ea typeface="Meiryo" pitchFamily="34" charset="-122"/>
                <a:cs typeface="Meiryo" pitchFamily="34" charset="-120"/>
              </a:rPr>
              <a:t>02 デザイン: デザイナーチーム</a:t>
            </a:r>
            <a:endParaRPr lang="en-US" sz="1300" dirty="0"/>
          </a:p>
          <a:p>
            <a:pPr marL="342900" indent="-342900">
              <a:lnSpc>
                <a:spcPct val="130000"/>
              </a:lnSpc>
              <a:buSzPct val="100000"/>
              <a:buChar char="•"/>
            </a:pPr>
            <a:r>
              <a:rPr lang="en-US" sz="1300" dirty="0">
                <a:solidFill>
                  <a:srgbClr val="1A1A1A"/>
                </a:solidFill>
                <a:latin typeface="Meiryo" pitchFamily="34" charset="0"/>
                <a:ea typeface="Meiryo" pitchFamily="34" charset="-122"/>
                <a:cs typeface="Meiryo" pitchFamily="34" charset="-120"/>
              </a:rPr>
              <a:t>03 開発: エンジニアチーム</a:t>
            </a:r>
            <a:endParaRPr lang="en-US" sz="1300" dirty="0"/>
          </a:p>
          <a:p>
            <a:pPr marL="342900" indent="-342900">
              <a:lnSpc>
                <a:spcPct val="130000"/>
              </a:lnSpc>
              <a:buSzPct val="100000"/>
              <a:buChar char="•"/>
            </a:pPr>
            <a:r>
              <a:rPr lang="en-US" sz="1300" dirty="0">
                <a:solidFill>
                  <a:srgbClr val="1A1A1A"/>
                </a:solidFill>
                <a:latin typeface="Meiryo" pitchFamily="34" charset="0"/>
                <a:ea typeface="Meiryo" pitchFamily="34" charset="-122"/>
                <a:cs typeface="Meiryo" pitchFamily="34" charset="-120"/>
              </a:rPr>
              <a:t>04 運用・改善: サポートチーム</a:t>
            </a:r>
            <a:endParaRPr lang="en-US" sz="1300" dirty="0"/>
          </a:p>
          <a:p>
            <a:pPr marL="342900" indent="-342900">
              <a:lnSpc>
                <a:spcPct val="130000"/>
              </a:lnSpc>
              <a:buSzPct val="100000"/>
              <a:buChar char="•"/>
            </a:pPr>
            <a:r>
              <a:rPr lang="en-US" sz="1300" dirty="0">
                <a:solidFill>
                  <a:srgbClr val="1A1A1A"/>
                </a:solidFill>
                <a:latin typeface="Meiryo" pitchFamily="34" charset="0"/>
                <a:ea typeface="Meiryo" pitchFamily="34" charset="-122"/>
                <a:cs typeface="Meiryo" pitchFamily="34" charset="-120"/>
              </a:rPr>
              <a:t>一貫制作だから得られること — 窓口はひとつ: 各社への発注や調整が発生せず、確認は一本の連絡で完結します。／ 手戻りが起きない: 戦略の意図がデザイン・開発まで途切れずに引き継がれます。／ 公開後も同じチーム: 制作の経緯を知るメンバーが、そのまま運用・改善を担当します。</a:t>
            </a:r>
            <a:endParaRPr lang="en-US" sz="1300" dirty="0"/>
          </a:p>
        </p:txBody>
      </p:sp>
      <p:sp>
        <p:nvSpPr>
          <p:cNvPr id="7" name="Text 5"/>
          <p:cNvSpPr/>
          <p:nvPr/>
        </p:nvSpPr>
        <p:spPr>
          <a:xfrm>
            <a:off x="7543800" y="4759452"/>
            <a:ext cx="1097280" cy="228600"/>
          </a:xfrm>
          <a:prstGeom prst="rect">
            <a:avLst/>
          </a:prstGeom>
          <a:noFill/>
          <a:ln/>
        </p:spPr>
        <p:txBody>
          <a:bodyPr wrap="square" rtlCol="0" anchor="ctr"/>
          <a:lstStyle/>
          <a:p>
            <a:pPr algn="r" indent="0" marL="0">
              <a:buNone/>
            </a:pPr>
            <a:r>
              <a:rPr lang="en-US" sz="900" dirty="0">
                <a:solidFill>
                  <a:srgbClr val="6B6B6B"/>
                </a:solidFill>
                <a:latin typeface="Meiryo" pitchFamily="34" charset="0"/>
                <a:ea typeface="Meiryo" pitchFamily="34" charset="-122"/>
                <a:cs typeface="Meiryo" pitchFamily="34" charset="-120"/>
              </a:rPr>
              <a:t>71|82</a:t>
            </a:r>
            <a:endParaRPr lang="en-US" sz="900" dirty="0"/>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72">
    <p:spTree>
      <p:nvGrpSpPr>
        <p:cNvPr id="1" name=""/>
        <p:cNvGrpSpPr/>
        <p:nvPr/>
      </p:nvGrpSpPr>
      <p:grpSpPr>
        <a:xfrm>
          <a:off x="0" y="0"/>
          <a:ext cx="0" cy="0"/>
          <a:chOff x="0" y="0"/>
          <a:chExt cx="0" cy="0"/>
        </a:xfrm>
      </p:grpSpPr>
      <p:sp>
        <p:nvSpPr>
          <p:cNvPr id="2" name="Text 0"/>
          <p:cNvSpPr/>
          <p:nvPr/>
        </p:nvSpPr>
        <p:spPr>
          <a:xfrm>
            <a:off x="502920" y="502920"/>
            <a:ext cx="8138160" cy="228600"/>
          </a:xfrm>
          <a:prstGeom prst="rect">
            <a:avLst/>
          </a:prstGeom>
          <a:noFill/>
          <a:ln/>
        </p:spPr>
        <p:txBody>
          <a:bodyPr wrap="square" rtlCol="0" anchor="ctr"/>
          <a:lstStyle/>
          <a:p>
            <a:pPr indent="0" marL="0">
              <a:buNone/>
            </a:pPr>
            <a:r>
              <a:rPr lang="en-US" sz="1000" dirty="0">
                <a:solidFill>
                  <a:srgbClr val="6B6B6B"/>
                </a:solidFill>
                <a:latin typeface="Meiryo" pitchFamily="34" charset="0"/>
                <a:ea typeface="Meiryo" pitchFamily="34" charset="-122"/>
                <a:cs typeface="Meiryo" pitchFamily="34" charset="-120"/>
              </a:rPr>
              <a:t>16 Team</a:t>
            </a:r>
            <a:endParaRPr lang="en-US" sz="1000" dirty="0"/>
          </a:p>
        </p:txBody>
      </p:sp>
      <p:sp>
        <p:nvSpPr>
          <p:cNvPr id="3" name="Text 1"/>
          <p:cNvSpPr/>
          <p:nvPr/>
        </p:nvSpPr>
        <p:spPr>
          <a:xfrm>
            <a:off x="502920" y="777240"/>
            <a:ext cx="8138160" cy="457200"/>
          </a:xfrm>
          <a:prstGeom prst="rect">
            <a:avLst/>
          </a:prstGeom>
          <a:noFill/>
          <a:ln/>
        </p:spPr>
        <p:txBody>
          <a:bodyPr wrap="square" rtlCol="0" anchor="ctr"/>
          <a:lstStyle/>
          <a:p>
            <a:pPr indent="0" marL="0">
              <a:buNone/>
            </a:pPr>
            <a:r>
              <a:rPr lang="en-US" sz="2000" b="1" dirty="0">
                <a:solidFill>
                  <a:srgbClr val="1A1A1A"/>
                </a:solidFill>
                <a:latin typeface="Meiryo" pitchFamily="34" charset="0"/>
                <a:ea typeface="Meiryo" pitchFamily="34" charset="-122"/>
                <a:cs typeface="Meiryo" pitchFamily="34" charset="-120"/>
              </a:rPr>
              <a:t>役割を分けた専任6名と、窓口はディレクター1名（強み02）</a:t>
            </a:r>
            <a:endParaRPr lang="en-US" sz="2000" dirty="0"/>
          </a:p>
        </p:txBody>
      </p:sp>
      <p:sp>
        <p:nvSpPr>
          <p:cNvPr id="4" name="Shape 2"/>
          <p:cNvSpPr/>
          <p:nvPr/>
        </p:nvSpPr>
        <p:spPr>
          <a:xfrm>
            <a:off x="502920" y="1280160"/>
            <a:ext cx="8138160" cy="0"/>
          </a:xfrm>
          <a:prstGeom prst="line">
            <a:avLst/>
          </a:prstGeom>
          <a:noFill/>
          <a:ln w="12700">
            <a:solidFill>
              <a:srgbClr val="D5D5D5"/>
            </a:solidFill>
            <a:prstDash val="solid"/>
          </a:ln>
        </p:spPr>
      </p:sp>
      <p:sp>
        <p:nvSpPr>
          <p:cNvPr id="5" name="Text 3"/>
          <p:cNvSpPr/>
          <p:nvPr/>
        </p:nvSpPr>
        <p:spPr>
          <a:xfrm>
            <a:off x="502920" y="1417320"/>
            <a:ext cx="8138160" cy="457200"/>
          </a:xfrm>
          <a:prstGeom prst="rect">
            <a:avLst/>
          </a:prstGeom>
          <a:noFill/>
          <a:ln/>
        </p:spPr>
        <p:txBody>
          <a:bodyPr wrap="square" rtlCol="0" anchor="t"/>
          <a:lstStyle/>
          <a:p>
            <a:pPr indent="0" marL="0">
              <a:buNone/>
            </a:pPr>
            <a:r>
              <a:rPr lang="en-US" sz="1200" dirty="0">
                <a:solidFill>
                  <a:srgbClr val="1A1A1A"/>
                </a:solidFill>
                <a:latin typeface="Meiryo" pitchFamily="34" charset="0"/>
                <a:ea typeface="Meiryo" pitchFamily="34" charset="-122"/>
                <a:cs typeface="Meiryo" pitchFamily="34" charset="-120"/>
              </a:rPr>
              <a:t>各工程は専任のプロフェッショナルが担当し、明確な役割分担と密な連携で、成果につながるサイトを構築します。貴社の窓口はディレクター1名に一本化されるため、やり取りの負担は増えません。</a:t>
            </a:r>
            <a:endParaRPr lang="en-US" sz="1200" dirty="0"/>
          </a:p>
        </p:txBody>
      </p:sp>
      <p:sp>
        <p:nvSpPr>
          <p:cNvPr id="6" name="Text 4"/>
          <p:cNvSpPr/>
          <p:nvPr/>
        </p:nvSpPr>
        <p:spPr>
          <a:xfrm>
            <a:off x="502920" y="1965960"/>
            <a:ext cx="8138160" cy="2628900"/>
          </a:xfrm>
          <a:prstGeom prst="rect">
            <a:avLst/>
          </a:prstGeom>
          <a:noFill/>
          <a:ln/>
        </p:spPr>
        <p:txBody>
          <a:bodyPr wrap="square" rtlCol="0" anchor="t"/>
          <a:lstStyle/>
          <a:p>
            <a:pPr marL="342900" indent="-342900">
              <a:lnSpc>
                <a:spcPct val="130000"/>
              </a:lnSpc>
              <a:buSzPct val="100000"/>
              <a:buChar char="•"/>
            </a:pPr>
            <a:r>
              <a:rPr lang="en-US" sz="1300" dirty="0">
                <a:solidFill>
                  <a:srgbClr val="1A1A1A"/>
                </a:solidFill>
                <a:latin typeface="Meiryo" pitchFamily="34" charset="0"/>
                <a:ea typeface="Meiryo" pitchFamily="34" charset="-122"/>
                <a:cs typeface="Meiryo" pitchFamily="34" charset="-120"/>
              </a:rPr>
              <a:t>貴社（ご依頼・ご確認の窓口）→ GrowGroup 専任チーム</a:t>
            </a:r>
            <a:endParaRPr lang="en-US" sz="1300" dirty="0"/>
          </a:p>
          <a:p>
            <a:pPr marL="342900" indent="-342900">
              <a:lnSpc>
                <a:spcPct val="130000"/>
              </a:lnSpc>
              <a:buSzPct val="100000"/>
              <a:buChar char="•"/>
            </a:pPr>
            <a:r>
              <a:rPr lang="en-US" sz="1300" dirty="0">
                <a:solidFill>
                  <a:srgbClr val="1A1A1A"/>
                </a:solidFill>
                <a:latin typeface="Meiryo" pitchFamily="34" charset="0"/>
                <a:ea typeface="Meiryo" pitchFamily="34" charset="-122"/>
                <a:cs typeface="Meiryo" pitchFamily="34" charset="-120"/>
              </a:rPr>
              <a:t>6名の専任メンバーが、1つのプロジェクトを担当します</a:t>
            </a:r>
            <a:endParaRPr lang="en-US" sz="1300" dirty="0"/>
          </a:p>
          <a:p>
            <a:pPr marL="342900" indent="-342900">
              <a:lnSpc>
                <a:spcPct val="130000"/>
              </a:lnSpc>
              <a:buSzPct val="100000"/>
              <a:buChar char="•"/>
            </a:pPr>
            <a:r>
              <a:rPr lang="en-US" sz="1300" dirty="0">
                <a:solidFill>
                  <a:srgbClr val="1A1A1A"/>
                </a:solidFill>
                <a:latin typeface="Meiryo" pitchFamily="34" charset="0"/>
                <a:ea typeface="Meiryo" pitchFamily="34" charset="-122"/>
                <a:cs typeface="Meiryo" pitchFamily="34" charset="-120"/>
              </a:rPr>
              <a:t>ディレクター（進捗管理）／設計（情報設計）／デザイナー（ビジュアル制作）／プロデューサー（戦略・進捗管理）／フロントエンドエンジニア（コーディング）／バックエンドエンジニア（システム構築）</a:t>
            </a:r>
            <a:endParaRPr lang="en-US" sz="1300" dirty="0"/>
          </a:p>
          <a:p>
            <a:pPr marL="342900" indent="-342900">
              <a:lnSpc>
                <a:spcPct val="130000"/>
              </a:lnSpc>
              <a:buSzPct val="100000"/>
              <a:buChar char="•"/>
            </a:pPr>
            <a:r>
              <a:rPr lang="en-US" sz="1300" dirty="0">
                <a:solidFill>
                  <a:srgbClr val="1A1A1A"/>
                </a:solidFill>
                <a:latin typeface="Meiryo" pitchFamily="34" charset="0"/>
                <a:ea typeface="Meiryo" pitchFamily="34" charset="-122"/>
                <a:cs typeface="Meiryo" pitchFamily="34" charset="-120"/>
              </a:rPr>
              <a:t>マーケッター（広告運用）※広告運用が必要な場合に参画</a:t>
            </a:r>
            <a:endParaRPr lang="en-US" sz="1300" dirty="0"/>
          </a:p>
        </p:txBody>
      </p:sp>
      <p:sp>
        <p:nvSpPr>
          <p:cNvPr id="7" name="Text 5"/>
          <p:cNvSpPr/>
          <p:nvPr/>
        </p:nvSpPr>
        <p:spPr>
          <a:xfrm>
            <a:off x="7543800" y="4759452"/>
            <a:ext cx="1097280" cy="228600"/>
          </a:xfrm>
          <a:prstGeom prst="rect">
            <a:avLst/>
          </a:prstGeom>
          <a:noFill/>
          <a:ln/>
        </p:spPr>
        <p:txBody>
          <a:bodyPr wrap="square" rtlCol="0" anchor="ctr"/>
          <a:lstStyle/>
          <a:p>
            <a:pPr algn="r" indent="0" marL="0">
              <a:buNone/>
            </a:pPr>
            <a:r>
              <a:rPr lang="en-US" sz="900" dirty="0">
                <a:solidFill>
                  <a:srgbClr val="6B6B6B"/>
                </a:solidFill>
                <a:latin typeface="Meiryo" pitchFamily="34" charset="0"/>
                <a:ea typeface="Meiryo" pitchFamily="34" charset="-122"/>
                <a:cs typeface="Meiryo" pitchFamily="34" charset="-120"/>
              </a:rPr>
              <a:t>72|82</a:t>
            </a:r>
            <a:endParaRPr lang="en-US" sz="900" dirty="0"/>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name="Slide 73">
    <p:spTree>
      <p:nvGrpSpPr>
        <p:cNvPr id="1" name=""/>
        <p:cNvGrpSpPr/>
        <p:nvPr/>
      </p:nvGrpSpPr>
      <p:grpSpPr>
        <a:xfrm>
          <a:off x="0" y="0"/>
          <a:ext cx="0" cy="0"/>
          <a:chOff x="0" y="0"/>
          <a:chExt cx="0" cy="0"/>
        </a:xfrm>
      </p:grpSpPr>
      <p:sp>
        <p:nvSpPr>
          <p:cNvPr id="2" name="Text 0"/>
          <p:cNvSpPr/>
          <p:nvPr/>
        </p:nvSpPr>
        <p:spPr>
          <a:xfrm>
            <a:off x="502920" y="502920"/>
            <a:ext cx="8138160" cy="228600"/>
          </a:xfrm>
          <a:prstGeom prst="rect">
            <a:avLst/>
          </a:prstGeom>
          <a:noFill/>
          <a:ln/>
        </p:spPr>
        <p:txBody>
          <a:bodyPr wrap="square" rtlCol="0" anchor="ctr"/>
          <a:lstStyle/>
          <a:p>
            <a:pPr indent="0" marL="0">
              <a:buNone/>
            </a:pPr>
            <a:r>
              <a:rPr lang="en-US" sz="1000" dirty="0">
                <a:solidFill>
                  <a:srgbClr val="6B6B6B"/>
                </a:solidFill>
                <a:latin typeface="Meiryo" pitchFamily="34" charset="0"/>
                <a:ea typeface="Meiryo" pitchFamily="34" charset="-122"/>
                <a:cs typeface="Meiryo" pitchFamily="34" charset="-120"/>
              </a:rPr>
              <a:t>16 Team</a:t>
            </a:r>
            <a:endParaRPr lang="en-US" sz="1000" dirty="0"/>
          </a:p>
        </p:txBody>
      </p:sp>
      <p:sp>
        <p:nvSpPr>
          <p:cNvPr id="3" name="Text 1"/>
          <p:cNvSpPr/>
          <p:nvPr/>
        </p:nvSpPr>
        <p:spPr>
          <a:xfrm>
            <a:off x="502920" y="777240"/>
            <a:ext cx="8138160" cy="457200"/>
          </a:xfrm>
          <a:prstGeom prst="rect">
            <a:avLst/>
          </a:prstGeom>
          <a:noFill/>
          <a:ln/>
        </p:spPr>
        <p:txBody>
          <a:bodyPr wrap="square" rtlCol="0" anchor="ctr"/>
          <a:lstStyle/>
          <a:p>
            <a:pPr indent="0" marL="0">
              <a:buNone/>
            </a:pPr>
            <a:r>
              <a:rPr lang="en-US" sz="2000" b="1" dirty="0">
                <a:solidFill>
                  <a:srgbClr val="1A1A1A"/>
                </a:solidFill>
                <a:latin typeface="Meiryo" pitchFamily="34" charset="0"/>
                <a:ea typeface="Meiryo" pitchFamily="34" charset="-122"/>
                <a:cs typeface="Meiryo" pitchFamily="34" charset="-120"/>
              </a:rPr>
              <a:t>10年間、当社起因の納期遅延は0件です</a:t>
            </a:r>
            <a:endParaRPr lang="en-US" sz="2000" dirty="0"/>
          </a:p>
        </p:txBody>
      </p:sp>
      <p:sp>
        <p:nvSpPr>
          <p:cNvPr id="4" name="Shape 2"/>
          <p:cNvSpPr/>
          <p:nvPr/>
        </p:nvSpPr>
        <p:spPr>
          <a:xfrm>
            <a:off x="502920" y="1280160"/>
            <a:ext cx="8138160" cy="0"/>
          </a:xfrm>
          <a:prstGeom prst="line">
            <a:avLst/>
          </a:prstGeom>
          <a:noFill/>
          <a:ln w="12700">
            <a:solidFill>
              <a:srgbClr val="D5D5D5"/>
            </a:solidFill>
            <a:prstDash val="solid"/>
          </a:ln>
        </p:spPr>
      </p:sp>
      <p:sp>
        <p:nvSpPr>
          <p:cNvPr id="5" name="Text 3"/>
          <p:cNvSpPr/>
          <p:nvPr/>
        </p:nvSpPr>
        <p:spPr>
          <a:xfrm>
            <a:off x="502920" y="1417320"/>
            <a:ext cx="8138160" cy="457200"/>
          </a:xfrm>
          <a:prstGeom prst="rect">
            <a:avLst/>
          </a:prstGeom>
          <a:noFill/>
          <a:ln/>
        </p:spPr>
        <p:txBody>
          <a:bodyPr wrap="square" rtlCol="0" anchor="t"/>
          <a:lstStyle/>
          <a:p>
            <a:pPr indent="0" marL="0">
              <a:buNone/>
            </a:pPr>
            <a:r>
              <a:rPr lang="en-US" sz="1200" dirty="0">
                <a:solidFill>
                  <a:srgbClr val="1A1A1A"/>
                </a:solidFill>
                <a:latin typeface="Meiryo" pitchFamily="34" charset="0"/>
                <a:ea typeface="Meiryo" pitchFamily="34" charset="-122"/>
                <a:cs typeface="Meiryo" pitchFamily="34" charset="-120"/>
              </a:rPr>
              <a:t>プロジェクトは一日単位の作業進行で管理し、納品まで10数回の密な打ち合わせで認識を合わせながら、納期を厳守します。</a:t>
            </a:r>
            <a:endParaRPr lang="en-US" sz="1200" dirty="0"/>
          </a:p>
        </p:txBody>
      </p:sp>
      <p:sp>
        <p:nvSpPr>
          <p:cNvPr id="6" name="Text 4"/>
          <p:cNvSpPr/>
          <p:nvPr/>
        </p:nvSpPr>
        <p:spPr>
          <a:xfrm>
            <a:off x="502920" y="1965960"/>
            <a:ext cx="8138160" cy="2628900"/>
          </a:xfrm>
          <a:prstGeom prst="rect">
            <a:avLst/>
          </a:prstGeom>
          <a:noFill/>
          <a:ln/>
        </p:spPr>
        <p:txBody>
          <a:bodyPr wrap="square" rtlCol="0" anchor="t"/>
          <a:lstStyle/>
          <a:p>
            <a:pPr marL="342900" indent="-342900">
              <a:lnSpc>
                <a:spcPct val="130000"/>
              </a:lnSpc>
              <a:buSzPct val="100000"/>
              <a:buChar char="•"/>
            </a:pPr>
            <a:r>
              <a:rPr lang="en-US" sz="1300" dirty="0">
                <a:solidFill>
                  <a:srgbClr val="1A1A1A"/>
                </a:solidFill>
                <a:latin typeface="Meiryo" pitchFamily="34" charset="0"/>
                <a:ea typeface="Meiryo" pitchFamily="34" charset="-122"/>
                <a:cs typeface="Meiryo" pitchFamily="34" charset="-120"/>
              </a:rPr>
              <a:t>0件: 当社の作業遅延による納期遅延（10年来、当社作業領域における遅延ゼロを継続）</a:t>
            </a:r>
            <a:endParaRPr lang="en-US" sz="1300" dirty="0"/>
          </a:p>
          <a:p>
            <a:pPr marL="342900" indent="-342900">
              <a:lnSpc>
                <a:spcPct val="130000"/>
              </a:lnSpc>
              <a:buSzPct val="100000"/>
              <a:buChar char="•"/>
            </a:pPr>
            <a:r>
              <a:rPr lang="en-US" sz="1300" dirty="0">
                <a:solidFill>
                  <a:srgbClr val="1A1A1A"/>
                </a:solidFill>
                <a:latin typeface="Meiryo" pitchFamily="34" charset="0"/>
                <a:ea typeface="Meiryo" pitchFamily="34" charset="-122"/>
                <a:cs typeface="Meiryo" pitchFamily="34" charset="-120"/>
              </a:rPr>
              <a:t>1日: 作業進行の管理単位（タスクを一日単位に分解して進行を管理）</a:t>
            </a:r>
            <a:endParaRPr lang="en-US" sz="1300" dirty="0"/>
          </a:p>
          <a:p>
            <a:pPr marL="342900" indent="-342900">
              <a:lnSpc>
                <a:spcPct val="130000"/>
              </a:lnSpc>
              <a:buSzPct val="100000"/>
              <a:buChar char="•"/>
            </a:pPr>
            <a:r>
              <a:rPr lang="en-US" sz="1300" dirty="0">
                <a:solidFill>
                  <a:srgbClr val="1A1A1A"/>
                </a:solidFill>
                <a:latin typeface="Meiryo" pitchFamily="34" charset="0"/>
                <a:ea typeface="Meiryo" pitchFamily="34" charset="-122"/>
                <a:cs typeface="Meiryo" pitchFamily="34" charset="-120"/>
              </a:rPr>
              <a:t>10回以上: 納品までの打ち合わせ（工程の節目ごとに合意を取り、手戻りを防ぐ）</a:t>
            </a:r>
            <a:endParaRPr lang="en-US" sz="1300" dirty="0"/>
          </a:p>
          <a:p>
            <a:pPr marL="342900" indent="-342900">
              <a:lnSpc>
                <a:spcPct val="130000"/>
              </a:lnSpc>
              <a:buSzPct val="100000"/>
              <a:buChar char="•"/>
            </a:pPr>
            <a:r>
              <a:rPr lang="en-US" sz="1300" dirty="0">
                <a:solidFill>
                  <a:srgbClr val="1A1A1A"/>
                </a:solidFill>
                <a:latin typeface="Meiryo" pitchFamily="34" charset="0"/>
                <a:ea typeface="Meiryo" pitchFamily="34" charset="-122"/>
                <a:cs typeface="Meiryo" pitchFamily="34" charset="-120"/>
              </a:rPr>
              <a:t>ラベル: 実際の進行管理シート（ガントチャート画像）／※当社作業領域に基づく</a:t>
            </a:r>
            <a:endParaRPr lang="en-US" sz="1300" dirty="0"/>
          </a:p>
        </p:txBody>
      </p:sp>
      <p:sp>
        <p:nvSpPr>
          <p:cNvPr id="7" name="Text 5"/>
          <p:cNvSpPr/>
          <p:nvPr/>
        </p:nvSpPr>
        <p:spPr>
          <a:xfrm>
            <a:off x="7543800" y="4759452"/>
            <a:ext cx="1097280" cy="228600"/>
          </a:xfrm>
          <a:prstGeom prst="rect">
            <a:avLst/>
          </a:prstGeom>
          <a:noFill/>
          <a:ln/>
        </p:spPr>
        <p:txBody>
          <a:bodyPr wrap="square" rtlCol="0" anchor="ctr"/>
          <a:lstStyle/>
          <a:p>
            <a:pPr algn="r" indent="0" marL="0">
              <a:buNone/>
            </a:pPr>
            <a:r>
              <a:rPr lang="en-US" sz="900" dirty="0">
                <a:solidFill>
                  <a:srgbClr val="6B6B6B"/>
                </a:solidFill>
                <a:latin typeface="Meiryo" pitchFamily="34" charset="0"/>
                <a:ea typeface="Meiryo" pitchFamily="34" charset="-122"/>
                <a:cs typeface="Meiryo" pitchFamily="34" charset="-120"/>
              </a:rPr>
              <a:t>73|82</a:t>
            </a:r>
            <a:endParaRPr lang="en-US" sz="900" dirty="0"/>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name="Slide 74">
    <p:spTree>
      <p:nvGrpSpPr>
        <p:cNvPr id="1" name=""/>
        <p:cNvGrpSpPr/>
        <p:nvPr/>
      </p:nvGrpSpPr>
      <p:grpSpPr>
        <a:xfrm>
          <a:off x="0" y="0"/>
          <a:ext cx="0" cy="0"/>
          <a:chOff x="0" y="0"/>
          <a:chExt cx="0" cy="0"/>
        </a:xfrm>
      </p:grpSpPr>
      <p:sp>
        <p:nvSpPr>
          <p:cNvPr id="2" name="Text 0"/>
          <p:cNvSpPr/>
          <p:nvPr/>
        </p:nvSpPr>
        <p:spPr>
          <a:xfrm>
            <a:off x="502920" y="502920"/>
            <a:ext cx="8138160" cy="228600"/>
          </a:xfrm>
          <a:prstGeom prst="rect">
            <a:avLst/>
          </a:prstGeom>
          <a:noFill/>
          <a:ln/>
        </p:spPr>
        <p:txBody>
          <a:bodyPr wrap="square" rtlCol="0" anchor="ctr"/>
          <a:lstStyle/>
          <a:p>
            <a:pPr indent="0" marL="0">
              <a:buNone/>
            </a:pPr>
            <a:r>
              <a:rPr lang="en-US" sz="1000" dirty="0">
                <a:solidFill>
                  <a:srgbClr val="6B6B6B"/>
                </a:solidFill>
                <a:latin typeface="Meiryo" pitchFamily="34" charset="0"/>
                <a:ea typeface="Meiryo" pitchFamily="34" charset="-122"/>
                <a:cs typeface="Meiryo" pitchFamily="34" charset="-120"/>
              </a:rPr>
              <a:t>16 Team</a:t>
            </a:r>
            <a:endParaRPr lang="en-US" sz="1000" dirty="0"/>
          </a:p>
        </p:txBody>
      </p:sp>
      <p:sp>
        <p:nvSpPr>
          <p:cNvPr id="3" name="Text 1"/>
          <p:cNvSpPr/>
          <p:nvPr/>
        </p:nvSpPr>
        <p:spPr>
          <a:xfrm>
            <a:off x="502920" y="777240"/>
            <a:ext cx="8138160" cy="457200"/>
          </a:xfrm>
          <a:prstGeom prst="rect">
            <a:avLst/>
          </a:prstGeom>
          <a:noFill/>
          <a:ln/>
        </p:spPr>
        <p:txBody>
          <a:bodyPr wrap="square" rtlCol="0" anchor="ctr"/>
          <a:lstStyle/>
          <a:p>
            <a:pPr indent="0" marL="0">
              <a:buNone/>
            </a:pPr>
            <a:r>
              <a:rPr lang="en-US" sz="2000" b="1" dirty="0">
                <a:solidFill>
                  <a:srgbClr val="1A1A1A"/>
                </a:solidFill>
                <a:latin typeface="Meiryo" pitchFamily="34" charset="0"/>
                <a:ea typeface="Meiryo" pitchFamily="34" charset="-122"/>
                <a:cs typeface="Meiryo" pitchFamily="34" charset="-120"/>
              </a:rPr>
              <a:t>Webサイトに加え、撮影・映像・冊子まで自社対応（ワンストップ提供）</a:t>
            </a:r>
            <a:endParaRPr lang="en-US" sz="2000" dirty="0"/>
          </a:p>
        </p:txBody>
      </p:sp>
      <p:sp>
        <p:nvSpPr>
          <p:cNvPr id="4" name="Shape 2"/>
          <p:cNvSpPr/>
          <p:nvPr/>
        </p:nvSpPr>
        <p:spPr>
          <a:xfrm>
            <a:off x="502920" y="1280160"/>
            <a:ext cx="8138160" cy="0"/>
          </a:xfrm>
          <a:prstGeom prst="line">
            <a:avLst/>
          </a:prstGeom>
          <a:noFill/>
          <a:ln w="12700">
            <a:solidFill>
              <a:srgbClr val="D5D5D5"/>
            </a:solidFill>
            <a:prstDash val="solid"/>
          </a:ln>
        </p:spPr>
      </p:sp>
      <p:sp>
        <p:nvSpPr>
          <p:cNvPr id="5" name="Text 3"/>
          <p:cNvSpPr/>
          <p:nvPr/>
        </p:nvSpPr>
        <p:spPr>
          <a:xfrm>
            <a:off x="502920" y="1417320"/>
            <a:ext cx="8138160" cy="457200"/>
          </a:xfrm>
          <a:prstGeom prst="rect">
            <a:avLst/>
          </a:prstGeom>
          <a:noFill/>
          <a:ln/>
        </p:spPr>
        <p:txBody>
          <a:bodyPr wrap="square" rtlCol="0" anchor="t"/>
          <a:lstStyle/>
          <a:p>
            <a:pPr indent="0" marL="0">
              <a:buNone/>
            </a:pPr>
            <a:r>
              <a:rPr lang="en-US" sz="1200" dirty="0">
                <a:solidFill>
                  <a:srgbClr val="1A1A1A"/>
                </a:solidFill>
                <a:latin typeface="Meiryo" pitchFamily="34" charset="0"/>
                <a:ea typeface="Meiryo" pitchFamily="34" charset="-122"/>
                <a:cs typeface="Meiryo" pitchFamily="34" charset="-120"/>
              </a:rPr>
              <a:t>撮影・映像・パンフレットなど、企業のブランディングやプロモーションを強化する統一感のあるクリエイティブを提供します。ワンストップで対応することで、クオリティとスピード・コストを最適化します。</a:t>
            </a:r>
            <a:endParaRPr lang="en-US" sz="1200" dirty="0"/>
          </a:p>
        </p:txBody>
      </p:sp>
      <p:sp>
        <p:nvSpPr>
          <p:cNvPr id="6" name="Text 4"/>
          <p:cNvSpPr/>
          <p:nvPr/>
        </p:nvSpPr>
        <p:spPr>
          <a:xfrm>
            <a:off x="502920" y="1965960"/>
            <a:ext cx="8138160" cy="2628900"/>
          </a:xfrm>
          <a:prstGeom prst="rect">
            <a:avLst/>
          </a:prstGeom>
          <a:noFill/>
          <a:ln/>
        </p:spPr>
        <p:txBody>
          <a:bodyPr wrap="square" rtlCol="0" anchor="t"/>
          <a:lstStyle/>
          <a:p>
            <a:pPr marL="342900" indent="-342900">
              <a:lnSpc>
                <a:spcPct val="130000"/>
              </a:lnSpc>
              <a:buSzPct val="100000"/>
              <a:buChar char="•"/>
            </a:pPr>
            <a:r>
              <a:rPr lang="en-US" sz="1300" dirty="0">
                <a:solidFill>
                  <a:srgbClr val="1A1A1A"/>
                </a:solidFill>
                <a:latin typeface="Meiryo" pitchFamily="34" charset="0"/>
                <a:ea typeface="Meiryo" pitchFamily="34" charset="-122"/>
                <a:cs typeface="Meiryo" pitchFamily="34" charset="-120"/>
              </a:rPr>
              <a:t>Webサイト制作 ＋ 周辺クリエイティブ: スチール撮影／動画・ドローン撮影（採用・会社案内）／カタログ・パンフレット</a:t>
            </a:r>
            <a:endParaRPr lang="en-US" sz="1300" dirty="0"/>
          </a:p>
          <a:p>
            <a:pPr marL="342900" indent="-342900">
              <a:lnSpc>
                <a:spcPct val="130000"/>
              </a:lnSpc>
              <a:buSzPct val="100000"/>
              <a:buChar char="•"/>
            </a:pPr>
            <a:r>
              <a:rPr lang="en-US" sz="1300" dirty="0">
                <a:solidFill>
                  <a:srgbClr val="1A1A1A"/>
                </a:solidFill>
                <a:latin typeface="Meiryo" pitchFamily="34" charset="0"/>
                <a:ea typeface="Meiryo" pitchFamily="34" charset="-122"/>
                <a:cs typeface="Meiryo" pitchFamily="34" charset="-120"/>
              </a:rPr>
              <a:t>統一感あるクリエイティブ: Webと紙・映像のトーンが揃い、ブランド印象がぶれず、制作の手戻りとコストも減らせます。</a:t>
            </a:r>
            <a:endParaRPr lang="en-US" sz="1300" dirty="0"/>
          </a:p>
        </p:txBody>
      </p:sp>
      <p:sp>
        <p:nvSpPr>
          <p:cNvPr id="7" name="Text 5"/>
          <p:cNvSpPr/>
          <p:nvPr/>
        </p:nvSpPr>
        <p:spPr>
          <a:xfrm>
            <a:off x="7543800" y="4759452"/>
            <a:ext cx="1097280" cy="228600"/>
          </a:xfrm>
          <a:prstGeom prst="rect">
            <a:avLst/>
          </a:prstGeom>
          <a:noFill/>
          <a:ln/>
        </p:spPr>
        <p:txBody>
          <a:bodyPr wrap="square" rtlCol="0" anchor="ctr"/>
          <a:lstStyle/>
          <a:p>
            <a:pPr algn="r" indent="0" marL="0">
              <a:buNone/>
            </a:pPr>
            <a:r>
              <a:rPr lang="en-US" sz="900" dirty="0">
                <a:solidFill>
                  <a:srgbClr val="6B6B6B"/>
                </a:solidFill>
                <a:latin typeface="Meiryo" pitchFamily="34" charset="0"/>
                <a:ea typeface="Meiryo" pitchFamily="34" charset="-122"/>
                <a:cs typeface="Meiryo" pitchFamily="34" charset="-120"/>
              </a:rPr>
              <a:t>74|82</a:t>
            </a:r>
            <a:endParaRPr lang="en-US" sz="900" dirty="0"/>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name="Slide 75">
    <p:spTree>
      <p:nvGrpSpPr>
        <p:cNvPr id="1" name=""/>
        <p:cNvGrpSpPr/>
        <p:nvPr/>
      </p:nvGrpSpPr>
      <p:grpSpPr>
        <a:xfrm>
          <a:off x="0" y="0"/>
          <a:ext cx="0" cy="0"/>
          <a:chOff x="0" y="0"/>
          <a:chExt cx="0" cy="0"/>
        </a:xfrm>
      </p:grpSpPr>
      <p:sp>
        <p:nvSpPr>
          <p:cNvPr id="2" name="Text 0"/>
          <p:cNvSpPr/>
          <p:nvPr/>
        </p:nvSpPr>
        <p:spPr>
          <a:xfrm>
            <a:off x="502920" y="502920"/>
            <a:ext cx="8138160" cy="228600"/>
          </a:xfrm>
          <a:prstGeom prst="rect">
            <a:avLst/>
          </a:prstGeom>
          <a:noFill/>
          <a:ln/>
        </p:spPr>
        <p:txBody>
          <a:bodyPr wrap="square" rtlCol="0" anchor="ctr"/>
          <a:lstStyle/>
          <a:p>
            <a:pPr indent="0" marL="0">
              <a:buNone/>
            </a:pPr>
            <a:r>
              <a:rPr lang="en-US" sz="1000" dirty="0">
                <a:solidFill>
                  <a:srgbClr val="6B6B6B"/>
                </a:solidFill>
                <a:latin typeface="Meiryo" pitchFamily="34" charset="0"/>
                <a:ea typeface="Meiryo" pitchFamily="34" charset="-122"/>
                <a:cs typeface="Meiryo" pitchFamily="34" charset="-120"/>
              </a:rPr>
              <a:t>16 Team</a:t>
            </a:r>
            <a:endParaRPr lang="en-US" sz="1000" dirty="0"/>
          </a:p>
        </p:txBody>
      </p:sp>
      <p:sp>
        <p:nvSpPr>
          <p:cNvPr id="3" name="Text 1"/>
          <p:cNvSpPr/>
          <p:nvPr/>
        </p:nvSpPr>
        <p:spPr>
          <a:xfrm>
            <a:off x="502920" y="777240"/>
            <a:ext cx="8138160" cy="457200"/>
          </a:xfrm>
          <a:prstGeom prst="rect">
            <a:avLst/>
          </a:prstGeom>
          <a:noFill/>
          <a:ln/>
        </p:spPr>
        <p:txBody>
          <a:bodyPr wrap="square" rtlCol="0" anchor="ctr"/>
          <a:lstStyle/>
          <a:p>
            <a:pPr indent="0" marL="0">
              <a:buNone/>
            </a:pPr>
            <a:r>
              <a:rPr lang="en-US" sz="2000" b="1" dirty="0">
                <a:solidFill>
                  <a:srgbClr val="1A1A1A"/>
                </a:solidFill>
                <a:latin typeface="Meiryo" pitchFamily="34" charset="0"/>
                <a:ea typeface="Meiryo" pitchFamily="34" charset="-122"/>
                <a:cs typeface="Meiryo" pitchFamily="34" charset="-120"/>
              </a:rPr>
              <a:t>取引1,200社・創業10年以上の事業基盤（会社基盤）</a:t>
            </a:r>
            <a:endParaRPr lang="en-US" sz="2000" dirty="0"/>
          </a:p>
        </p:txBody>
      </p:sp>
      <p:sp>
        <p:nvSpPr>
          <p:cNvPr id="4" name="Shape 2"/>
          <p:cNvSpPr/>
          <p:nvPr/>
        </p:nvSpPr>
        <p:spPr>
          <a:xfrm>
            <a:off x="502920" y="1280160"/>
            <a:ext cx="8138160" cy="0"/>
          </a:xfrm>
          <a:prstGeom prst="line">
            <a:avLst/>
          </a:prstGeom>
          <a:noFill/>
          <a:ln w="12700">
            <a:solidFill>
              <a:srgbClr val="D5D5D5"/>
            </a:solidFill>
            <a:prstDash val="solid"/>
          </a:ln>
        </p:spPr>
      </p:sp>
      <p:sp>
        <p:nvSpPr>
          <p:cNvPr id="5" name="Text 3"/>
          <p:cNvSpPr/>
          <p:nvPr/>
        </p:nvSpPr>
        <p:spPr>
          <a:xfrm>
            <a:off x="502920" y="1417320"/>
            <a:ext cx="8138160" cy="457200"/>
          </a:xfrm>
          <a:prstGeom prst="rect">
            <a:avLst/>
          </a:prstGeom>
          <a:noFill/>
          <a:ln/>
        </p:spPr>
        <p:txBody>
          <a:bodyPr wrap="square" rtlCol="0" anchor="t"/>
          <a:lstStyle/>
          <a:p>
            <a:pPr indent="0" marL="0">
              <a:buNone/>
            </a:pPr>
            <a:r>
              <a:rPr lang="en-US" sz="1200" dirty="0">
                <a:solidFill>
                  <a:srgbClr val="1A1A1A"/>
                </a:solidFill>
                <a:latin typeface="Meiryo" pitchFamily="34" charset="0"/>
                <a:ea typeface="Meiryo" pitchFamily="34" charset="-122"/>
                <a:cs typeface="Meiryo" pitchFamily="34" charset="-120"/>
              </a:rPr>
              <a:t>納品・公開して終わりではないWebサイトだからこそ、安定した経営基盤と潤沢なリソースで、長期的なパートナーにふさわしい透明性の高い経営を行っています。</a:t>
            </a:r>
            <a:endParaRPr lang="en-US" sz="1200" dirty="0"/>
          </a:p>
        </p:txBody>
      </p:sp>
      <p:sp>
        <p:nvSpPr>
          <p:cNvPr id="6" name="Text 4"/>
          <p:cNvSpPr/>
          <p:nvPr/>
        </p:nvSpPr>
        <p:spPr>
          <a:xfrm>
            <a:off x="502920" y="1965960"/>
            <a:ext cx="8138160" cy="2628900"/>
          </a:xfrm>
          <a:prstGeom prst="rect">
            <a:avLst/>
          </a:prstGeom>
          <a:noFill/>
          <a:ln/>
        </p:spPr>
        <p:txBody>
          <a:bodyPr wrap="square" rtlCol="0" anchor="t"/>
          <a:lstStyle/>
          <a:p>
            <a:pPr marL="342900" indent="-342900">
              <a:lnSpc>
                <a:spcPct val="130000"/>
              </a:lnSpc>
              <a:buSzPct val="100000"/>
              <a:buChar char="•"/>
            </a:pPr>
            <a:r>
              <a:rPr lang="en-US" sz="1300" dirty="0">
                <a:solidFill>
                  <a:srgbClr val="1A1A1A"/>
                </a:solidFill>
                <a:latin typeface="Meiryo" pitchFamily="34" charset="0"/>
                <a:ea typeface="Meiryo" pitchFamily="34" charset="-122"/>
                <a:cs typeface="Meiryo" pitchFamily="34" charset="-120"/>
              </a:rPr>
              <a:t>創業: 10年以上</a:t>
            </a:r>
            <a:endParaRPr lang="en-US" sz="1300" dirty="0"/>
          </a:p>
          <a:p>
            <a:pPr marL="342900" indent="-342900">
              <a:lnSpc>
                <a:spcPct val="130000"/>
              </a:lnSpc>
              <a:buSzPct val="100000"/>
              <a:buChar char="•"/>
            </a:pPr>
            <a:r>
              <a:rPr lang="en-US" sz="1300" dirty="0">
                <a:solidFill>
                  <a:srgbClr val="1A1A1A"/>
                </a:solidFill>
                <a:latin typeface="Meiryo" pitchFamily="34" charset="0"/>
                <a:ea typeface="Meiryo" pitchFamily="34" charset="-122"/>
                <a:cs typeface="Meiryo" pitchFamily="34" charset="-120"/>
              </a:rPr>
              <a:t>取引社数: 1,200社以上</a:t>
            </a:r>
            <a:endParaRPr lang="en-US" sz="1300" dirty="0"/>
          </a:p>
          <a:p>
            <a:pPr marL="342900" indent="-342900">
              <a:lnSpc>
                <a:spcPct val="130000"/>
              </a:lnSpc>
              <a:buSzPct val="100000"/>
              <a:buChar char="•"/>
            </a:pPr>
            <a:r>
              <a:rPr lang="en-US" sz="1300" dirty="0">
                <a:solidFill>
                  <a:srgbClr val="1A1A1A"/>
                </a:solidFill>
                <a:latin typeface="Meiryo" pitchFamily="34" charset="0"/>
                <a:ea typeface="Meiryo" pitchFamily="34" charset="-122"/>
                <a:cs typeface="Meiryo" pitchFamily="34" charset="-120"/>
              </a:rPr>
              <a:t>売上規模: 5億以上</a:t>
            </a:r>
            <a:endParaRPr lang="en-US" sz="1300" dirty="0"/>
          </a:p>
          <a:p>
            <a:pPr marL="342900" indent="-342900">
              <a:lnSpc>
                <a:spcPct val="130000"/>
              </a:lnSpc>
              <a:buSzPct val="100000"/>
              <a:buChar char="•"/>
            </a:pPr>
            <a:r>
              <a:rPr lang="en-US" sz="1300" dirty="0">
                <a:solidFill>
                  <a:srgbClr val="1A1A1A"/>
                </a:solidFill>
                <a:latin typeface="Meiryo" pitchFamily="34" charset="0"/>
                <a:ea typeface="Meiryo" pitchFamily="34" charset="-122"/>
                <a:cs typeface="Meiryo" pitchFamily="34" charset="-120"/>
              </a:rPr>
              <a:t>社員数: 36名以上</a:t>
            </a:r>
            <a:endParaRPr lang="en-US" sz="1300" dirty="0"/>
          </a:p>
          <a:p>
            <a:pPr marL="342900" indent="-342900">
              <a:lnSpc>
                <a:spcPct val="130000"/>
              </a:lnSpc>
              <a:buSzPct val="100000"/>
              <a:buChar char="•"/>
            </a:pPr>
            <a:r>
              <a:rPr lang="en-US" sz="1300" dirty="0">
                <a:solidFill>
                  <a:srgbClr val="1A1A1A"/>
                </a:solidFill>
                <a:latin typeface="Meiryo" pitchFamily="34" charset="0"/>
                <a:ea typeface="Meiryo" pitchFamily="34" charset="-122"/>
                <a:cs typeface="Meiryo" pitchFamily="34" charset="-120"/>
              </a:rPr>
              <a:t>安心材料: 設計から実装・運用まで社内リソースで完結するため、公開後も同じチームが窓口として支え続けられます。</a:t>
            </a:r>
            <a:endParaRPr lang="en-US" sz="1300" dirty="0"/>
          </a:p>
        </p:txBody>
      </p:sp>
      <p:sp>
        <p:nvSpPr>
          <p:cNvPr id="7" name="Text 5"/>
          <p:cNvSpPr/>
          <p:nvPr/>
        </p:nvSpPr>
        <p:spPr>
          <a:xfrm>
            <a:off x="7543800" y="4759452"/>
            <a:ext cx="1097280" cy="228600"/>
          </a:xfrm>
          <a:prstGeom prst="rect">
            <a:avLst/>
          </a:prstGeom>
          <a:noFill/>
          <a:ln/>
        </p:spPr>
        <p:txBody>
          <a:bodyPr wrap="square" rtlCol="0" anchor="ctr"/>
          <a:lstStyle/>
          <a:p>
            <a:pPr algn="r" indent="0" marL="0">
              <a:buNone/>
            </a:pPr>
            <a:r>
              <a:rPr lang="en-US" sz="900" dirty="0">
                <a:solidFill>
                  <a:srgbClr val="6B6B6B"/>
                </a:solidFill>
                <a:latin typeface="Meiryo" pitchFamily="34" charset="0"/>
                <a:ea typeface="Meiryo" pitchFamily="34" charset="-122"/>
                <a:cs typeface="Meiryo" pitchFamily="34" charset="-120"/>
              </a:rPr>
              <a:t>75|82</a:t>
            </a:r>
            <a:endParaRPr lang="en-US" sz="900" dirty="0"/>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name="Slide 76">
    <p:bg>
      <p:bgPr>
        <a:solidFill>
          <a:srgbClr val="1F3A5F"/>
        </a:solidFill>
      </p:bgPr>
    </p:bg>
    <p:spTree>
      <p:nvGrpSpPr>
        <p:cNvPr id="1" name=""/>
        <p:cNvGrpSpPr/>
        <p:nvPr/>
      </p:nvGrpSpPr>
      <p:grpSpPr>
        <a:xfrm>
          <a:off x="0" y="0"/>
          <a:ext cx="0" cy="0"/>
          <a:chOff x="0" y="0"/>
          <a:chExt cx="0" cy="0"/>
        </a:xfrm>
      </p:grpSpPr>
      <p:sp>
        <p:nvSpPr>
          <p:cNvPr id="2" name="Text 0"/>
          <p:cNvSpPr/>
          <p:nvPr/>
        </p:nvSpPr>
        <p:spPr>
          <a:xfrm>
            <a:off x="502920" y="1737360"/>
            <a:ext cx="1280160" cy="640080"/>
          </a:xfrm>
          <a:prstGeom prst="rect">
            <a:avLst/>
          </a:prstGeom>
          <a:noFill/>
          <a:ln/>
        </p:spPr>
        <p:txBody>
          <a:bodyPr wrap="square" rtlCol="0" anchor="ctr"/>
          <a:lstStyle/>
          <a:p>
            <a:pPr indent="0" marL="0">
              <a:buNone/>
            </a:pPr>
            <a:r>
              <a:rPr lang="en-US" sz="3400" b="1" dirty="0">
                <a:solidFill>
                  <a:srgbClr val="FFFFFF"/>
                </a:solidFill>
                <a:latin typeface="Meiryo" pitchFamily="34" charset="0"/>
                <a:ea typeface="Meiryo" pitchFamily="34" charset="-122"/>
                <a:cs typeface="Meiryo" pitchFamily="34" charset="-120"/>
              </a:rPr>
              <a:t>17</a:t>
            </a:r>
            <a:endParaRPr lang="en-US" sz="3400" dirty="0"/>
          </a:p>
        </p:txBody>
      </p:sp>
      <p:sp>
        <p:nvSpPr>
          <p:cNvPr id="3" name="Text 1"/>
          <p:cNvSpPr/>
          <p:nvPr/>
        </p:nvSpPr>
        <p:spPr>
          <a:xfrm>
            <a:off x="502920" y="2377440"/>
            <a:ext cx="8138160" cy="365760"/>
          </a:xfrm>
          <a:prstGeom prst="rect">
            <a:avLst/>
          </a:prstGeom>
          <a:noFill/>
          <a:ln/>
        </p:spPr>
        <p:txBody>
          <a:bodyPr wrap="square" rtlCol="0" anchor="ctr"/>
          <a:lstStyle/>
          <a:p>
            <a:pPr indent="0" marL="0">
              <a:buNone/>
            </a:pPr>
            <a:r>
              <a:rPr lang="en-US" sz="1300" dirty="0">
                <a:solidFill>
                  <a:srgbClr val="FFFFFF"/>
                </a:solidFill>
                <a:latin typeface="Meiryo" pitchFamily="34" charset="0"/>
                <a:ea typeface="Meiryo" pitchFamily="34" charset="-122"/>
                <a:cs typeface="Meiryo" pitchFamily="34" charset="-120"/>
              </a:rPr>
              <a:t>Comparison</a:t>
            </a:r>
            <a:endParaRPr lang="en-US" sz="1300" dirty="0"/>
          </a:p>
        </p:txBody>
      </p:sp>
      <p:sp>
        <p:nvSpPr>
          <p:cNvPr id="4" name="Text 2"/>
          <p:cNvSpPr/>
          <p:nvPr/>
        </p:nvSpPr>
        <p:spPr>
          <a:xfrm>
            <a:off x="502920" y="2743200"/>
            <a:ext cx="8138160" cy="548640"/>
          </a:xfrm>
          <a:prstGeom prst="rect">
            <a:avLst/>
          </a:prstGeom>
          <a:noFill/>
          <a:ln/>
        </p:spPr>
        <p:txBody>
          <a:bodyPr wrap="square" rtlCol="0" anchor="ctr"/>
          <a:lstStyle/>
          <a:p>
            <a:pPr indent="0" marL="0">
              <a:buNone/>
            </a:pPr>
            <a:r>
              <a:rPr lang="en-US" sz="2400" b="1" dirty="0">
                <a:solidFill>
                  <a:srgbClr val="FFFFFF"/>
                </a:solidFill>
                <a:latin typeface="Meiryo" pitchFamily="34" charset="0"/>
                <a:ea typeface="Meiryo" pitchFamily="34" charset="-122"/>
                <a:cs typeface="Meiryo" pitchFamily="34" charset="-120"/>
              </a:rPr>
              <a:t>他社との違い</a:t>
            </a:r>
            <a:endParaRPr lang="en-US" sz="2400" dirty="0"/>
          </a:p>
        </p:txBody>
      </p:sp>
      <p:sp>
        <p:nvSpPr>
          <p:cNvPr id="5" name="Text 3"/>
          <p:cNvSpPr/>
          <p:nvPr/>
        </p:nvSpPr>
        <p:spPr>
          <a:xfrm>
            <a:off x="7543800" y="4759452"/>
            <a:ext cx="1097280" cy="228600"/>
          </a:xfrm>
          <a:prstGeom prst="rect">
            <a:avLst/>
          </a:prstGeom>
          <a:noFill/>
          <a:ln/>
        </p:spPr>
        <p:txBody>
          <a:bodyPr wrap="square" rtlCol="0" anchor="ctr"/>
          <a:lstStyle/>
          <a:p>
            <a:pPr algn="r" indent="0" marL="0">
              <a:buNone/>
            </a:pPr>
            <a:r>
              <a:rPr lang="en-US" sz="900" dirty="0">
                <a:solidFill>
                  <a:srgbClr val="6B6B6B"/>
                </a:solidFill>
                <a:latin typeface="Meiryo" pitchFamily="34" charset="0"/>
                <a:ea typeface="Meiryo" pitchFamily="34" charset="-122"/>
                <a:cs typeface="Meiryo" pitchFamily="34" charset="-120"/>
              </a:rPr>
              <a:t>76|82</a:t>
            </a:r>
            <a:endParaRPr lang="en-US" sz="900" dirty="0"/>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name="Slide 77">
    <p:spTree>
      <p:nvGrpSpPr>
        <p:cNvPr id="1" name=""/>
        <p:cNvGrpSpPr/>
        <p:nvPr/>
      </p:nvGrpSpPr>
      <p:grpSpPr>
        <a:xfrm>
          <a:off x="0" y="0"/>
          <a:ext cx="0" cy="0"/>
          <a:chOff x="0" y="0"/>
          <a:chExt cx="0" cy="0"/>
        </a:xfrm>
      </p:grpSpPr>
      <p:sp>
        <p:nvSpPr>
          <p:cNvPr id="2" name="Text 0"/>
          <p:cNvSpPr/>
          <p:nvPr/>
        </p:nvSpPr>
        <p:spPr>
          <a:xfrm>
            <a:off x="502920" y="502920"/>
            <a:ext cx="8138160" cy="228600"/>
          </a:xfrm>
          <a:prstGeom prst="rect">
            <a:avLst/>
          </a:prstGeom>
          <a:noFill/>
          <a:ln/>
        </p:spPr>
        <p:txBody>
          <a:bodyPr wrap="square" rtlCol="0" anchor="ctr"/>
          <a:lstStyle/>
          <a:p>
            <a:pPr indent="0" marL="0">
              <a:buNone/>
            </a:pPr>
            <a:r>
              <a:rPr lang="en-US" sz="1000" dirty="0">
                <a:solidFill>
                  <a:srgbClr val="6B6B6B"/>
                </a:solidFill>
                <a:latin typeface="Meiryo" pitchFamily="34" charset="0"/>
                <a:ea typeface="Meiryo" pitchFamily="34" charset="-122"/>
                <a:cs typeface="Meiryo" pitchFamily="34" charset="-120"/>
              </a:rPr>
              <a:t>17 Comparison</a:t>
            </a:r>
            <a:endParaRPr lang="en-US" sz="1000" dirty="0"/>
          </a:p>
        </p:txBody>
      </p:sp>
      <p:sp>
        <p:nvSpPr>
          <p:cNvPr id="3" name="Text 1"/>
          <p:cNvSpPr/>
          <p:nvPr/>
        </p:nvSpPr>
        <p:spPr>
          <a:xfrm>
            <a:off x="502920" y="777240"/>
            <a:ext cx="8138160" cy="457200"/>
          </a:xfrm>
          <a:prstGeom prst="rect">
            <a:avLst/>
          </a:prstGeom>
          <a:noFill/>
          <a:ln/>
        </p:spPr>
        <p:txBody>
          <a:bodyPr wrap="square" rtlCol="0" anchor="ctr"/>
          <a:lstStyle/>
          <a:p>
            <a:pPr indent="0" marL="0">
              <a:buNone/>
            </a:pPr>
            <a:r>
              <a:rPr lang="en-US" sz="2000" b="1" dirty="0">
                <a:solidFill>
                  <a:srgbClr val="1A1A1A"/>
                </a:solidFill>
                <a:latin typeface="Meiryo" pitchFamily="34" charset="0"/>
                <a:ea typeface="Meiryo" pitchFamily="34" charset="-122"/>
                <a:cs typeface="Meiryo" pitchFamily="34" charset="-120"/>
              </a:rPr>
              <a:t>戦略まで担い、代理店より現実的なコストで実行（ポジショニング）</a:t>
            </a:r>
            <a:endParaRPr lang="en-US" sz="2000" dirty="0"/>
          </a:p>
        </p:txBody>
      </p:sp>
      <p:sp>
        <p:nvSpPr>
          <p:cNvPr id="4" name="Shape 2"/>
          <p:cNvSpPr/>
          <p:nvPr/>
        </p:nvSpPr>
        <p:spPr>
          <a:xfrm>
            <a:off x="502920" y="1280160"/>
            <a:ext cx="8138160" cy="0"/>
          </a:xfrm>
          <a:prstGeom prst="line">
            <a:avLst/>
          </a:prstGeom>
          <a:noFill/>
          <a:ln w="12700">
            <a:solidFill>
              <a:srgbClr val="D5D5D5"/>
            </a:solidFill>
            <a:prstDash val="solid"/>
          </a:ln>
        </p:spPr>
      </p:sp>
      <p:sp>
        <p:nvSpPr>
          <p:cNvPr id="5" name="Text 3"/>
          <p:cNvSpPr/>
          <p:nvPr/>
        </p:nvSpPr>
        <p:spPr>
          <a:xfrm>
            <a:off x="502920" y="1417320"/>
            <a:ext cx="8138160" cy="457200"/>
          </a:xfrm>
          <a:prstGeom prst="rect">
            <a:avLst/>
          </a:prstGeom>
          <a:noFill/>
          <a:ln/>
        </p:spPr>
        <p:txBody>
          <a:bodyPr wrap="square" rtlCol="0" anchor="t"/>
          <a:lstStyle/>
          <a:p>
            <a:pPr indent="0" marL="0">
              <a:buNone/>
            </a:pPr>
            <a:r>
              <a:rPr lang="en-US" sz="1200" dirty="0">
                <a:solidFill>
                  <a:srgbClr val="1A1A1A"/>
                </a:solidFill>
                <a:latin typeface="Meiryo" pitchFamily="34" charset="0"/>
                <a:ea typeface="Meiryo" pitchFamily="34" charset="-122"/>
                <a:cs typeface="Meiryo" pitchFamily="34" charset="-120"/>
              </a:rPr>
              <a:t>制作会社は「つくること」、広告代理店は「戦略」に強みが偏りがちです。GrowGroupは上流の戦略設計から実装・運用までを自社で担い、対応領域と価格のバランスで最適解をご提供します。</a:t>
            </a:r>
            <a:endParaRPr lang="en-US" sz="1200" dirty="0"/>
          </a:p>
        </p:txBody>
      </p:sp>
      <p:sp>
        <p:nvSpPr>
          <p:cNvPr id="6" name="Text 4"/>
          <p:cNvSpPr/>
          <p:nvPr/>
        </p:nvSpPr>
        <p:spPr>
          <a:xfrm>
            <a:off x="502920" y="1965960"/>
            <a:ext cx="8138160" cy="2628900"/>
          </a:xfrm>
          <a:prstGeom prst="rect">
            <a:avLst/>
          </a:prstGeom>
          <a:noFill/>
          <a:ln/>
        </p:spPr>
        <p:txBody>
          <a:bodyPr wrap="square" rtlCol="0" anchor="t"/>
          <a:lstStyle/>
          <a:p>
            <a:pPr marL="342900" indent="-342900">
              <a:lnSpc>
                <a:spcPct val="130000"/>
              </a:lnSpc>
              <a:buSzPct val="100000"/>
              <a:buChar char="•"/>
            </a:pPr>
            <a:r>
              <a:rPr lang="en-US" sz="1300" dirty="0">
                <a:solidFill>
                  <a:srgbClr val="1A1A1A"/>
                </a:solidFill>
                <a:latin typeface="Meiryo" pitchFamily="34" charset="0"/>
                <a:ea typeface="Meiryo" pitchFamily="34" charset="-122"/>
                <a:cs typeface="Meiryo" pitchFamily="34" charset="-120"/>
              </a:rPr>
              <a:t>軸: 縦＝価格／横＝対応領域</a:t>
            </a:r>
            <a:endParaRPr lang="en-US" sz="1300" dirty="0"/>
          </a:p>
          <a:p>
            <a:pPr marL="342900" indent="-342900">
              <a:lnSpc>
                <a:spcPct val="130000"/>
              </a:lnSpc>
              <a:buSzPct val="100000"/>
              <a:buChar char="•"/>
            </a:pPr>
            <a:r>
              <a:rPr lang="en-US" sz="1300" dirty="0">
                <a:solidFill>
                  <a:srgbClr val="1A1A1A"/>
                </a:solidFill>
                <a:latin typeface="Meiryo" pitchFamily="34" charset="0"/>
                <a:ea typeface="Meiryo" pitchFamily="34" charset="-122"/>
                <a:cs typeface="Meiryo" pitchFamily="34" charset="-120"/>
              </a:rPr>
              <a:t>格安制作会社: Webサイトがある状態を目指す／テンプレで作る（顧客で原稿を作り、既成のデザインへ流し込み）／価格感 50万以下／納期感 2週間〜1ヵ月以内</a:t>
            </a:r>
            <a:endParaRPr lang="en-US" sz="1300" dirty="0"/>
          </a:p>
          <a:p>
            <a:pPr marL="342900" indent="-342900">
              <a:lnSpc>
                <a:spcPct val="130000"/>
              </a:lnSpc>
              <a:buSzPct val="100000"/>
              <a:buChar char="•"/>
            </a:pPr>
            <a:r>
              <a:rPr lang="en-US" sz="1300" dirty="0">
                <a:solidFill>
                  <a:srgbClr val="1A1A1A"/>
                </a:solidFill>
                <a:latin typeface="Meiryo" pitchFamily="34" charset="0"/>
                <a:ea typeface="Meiryo" pitchFamily="34" charset="-122"/>
                <a:cs typeface="Meiryo" pitchFamily="34" charset="-120"/>
              </a:rPr>
              <a:t>一般制作会社: 要件を満たしオリジナルなWebサイトを目指す／オリジナルで作る（貴社の要望に合わせてコンテンツ・設計・デザインをオリジナルで制作）／価格感 300万前後／納期感 6ヵ月前後</a:t>
            </a:r>
            <a:endParaRPr lang="en-US" sz="1300" dirty="0"/>
          </a:p>
          <a:p>
            <a:pPr marL="342900" indent="-342900">
              <a:lnSpc>
                <a:spcPct val="130000"/>
              </a:lnSpc>
              <a:buSzPct val="100000"/>
              <a:buChar char="•"/>
            </a:pPr>
            <a:r>
              <a:rPr lang="en-US" sz="1300" dirty="0">
                <a:solidFill>
                  <a:srgbClr val="1A1A1A"/>
                </a:solidFill>
                <a:latin typeface="Meiryo" pitchFamily="34" charset="0"/>
                <a:ea typeface="Meiryo" pitchFamily="34" charset="-122"/>
                <a:cs typeface="Meiryo" pitchFamily="34" charset="-120"/>
              </a:rPr>
              <a:t>広告代理店・コンサルティング: 目的を達成するために最適なWebサイトを目指す／戦略を交えて作る（上流の要件や高度な分析データから目的を達成するためにオリジナルで制作）／価格感 500万前後／納期感 8ヵ月前後</a:t>
            </a:r>
            <a:endParaRPr lang="en-US" sz="1300" dirty="0"/>
          </a:p>
          <a:p>
            <a:pPr marL="342900" indent="-342900">
              <a:lnSpc>
                <a:spcPct val="130000"/>
              </a:lnSpc>
              <a:buSzPct val="100000"/>
              <a:buChar char="•"/>
            </a:pPr>
            <a:r>
              <a:rPr lang="en-US" sz="1300" dirty="0">
                <a:solidFill>
                  <a:srgbClr val="1A1A1A"/>
                </a:solidFill>
                <a:latin typeface="Meiryo" pitchFamily="34" charset="0"/>
                <a:ea typeface="Meiryo" pitchFamily="34" charset="-122"/>
                <a:cs typeface="Meiryo" pitchFamily="34" charset="-120"/>
              </a:rPr>
              <a:t>GrowGroupの領域: 一般制作会社〜広告代理店の重なる帯（戦略を交えたオリジナル制作を現実的な価格で）</a:t>
            </a:r>
            <a:endParaRPr lang="en-US" sz="1300" dirty="0"/>
          </a:p>
        </p:txBody>
      </p:sp>
      <p:sp>
        <p:nvSpPr>
          <p:cNvPr id="7" name="Text 5"/>
          <p:cNvSpPr/>
          <p:nvPr/>
        </p:nvSpPr>
        <p:spPr>
          <a:xfrm>
            <a:off x="7543800" y="4759452"/>
            <a:ext cx="1097280" cy="228600"/>
          </a:xfrm>
          <a:prstGeom prst="rect">
            <a:avLst/>
          </a:prstGeom>
          <a:noFill/>
          <a:ln/>
        </p:spPr>
        <p:txBody>
          <a:bodyPr wrap="square" rtlCol="0" anchor="ctr"/>
          <a:lstStyle/>
          <a:p>
            <a:pPr algn="r" indent="0" marL="0">
              <a:buNone/>
            </a:pPr>
            <a:r>
              <a:rPr lang="en-US" sz="900" dirty="0">
                <a:solidFill>
                  <a:srgbClr val="6B6B6B"/>
                </a:solidFill>
                <a:latin typeface="Meiryo" pitchFamily="34" charset="0"/>
                <a:ea typeface="Meiryo" pitchFamily="34" charset="-122"/>
                <a:cs typeface="Meiryo" pitchFamily="34" charset="-120"/>
              </a:rPr>
              <a:t>77|82</a:t>
            </a:r>
            <a:endParaRPr lang="en-US" sz="900" dirty="0"/>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name="Slide 78">
    <p:spTree>
      <p:nvGrpSpPr>
        <p:cNvPr id="1" name=""/>
        <p:cNvGrpSpPr/>
        <p:nvPr/>
      </p:nvGrpSpPr>
      <p:grpSpPr>
        <a:xfrm>
          <a:off x="0" y="0"/>
          <a:ext cx="0" cy="0"/>
          <a:chOff x="0" y="0"/>
          <a:chExt cx="0" cy="0"/>
        </a:xfrm>
      </p:grpSpPr>
      <p:sp>
        <p:nvSpPr>
          <p:cNvPr id="2" name="Text 0"/>
          <p:cNvSpPr/>
          <p:nvPr/>
        </p:nvSpPr>
        <p:spPr>
          <a:xfrm>
            <a:off x="502920" y="502920"/>
            <a:ext cx="8138160" cy="228600"/>
          </a:xfrm>
          <a:prstGeom prst="rect">
            <a:avLst/>
          </a:prstGeom>
          <a:noFill/>
          <a:ln/>
        </p:spPr>
        <p:txBody>
          <a:bodyPr wrap="square" rtlCol="0" anchor="ctr"/>
          <a:lstStyle/>
          <a:p>
            <a:pPr indent="0" marL="0">
              <a:buNone/>
            </a:pPr>
            <a:r>
              <a:rPr lang="en-US" sz="1000" dirty="0">
                <a:solidFill>
                  <a:srgbClr val="6B6B6B"/>
                </a:solidFill>
                <a:latin typeface="Meiryo" pitchFamily="34" charset="0"/>
                <a:ea typeface="Meiryo" pitchFamily="34" charset="-122"/>
                <a:cs typeface="Meiryo" pitchFamily="34" charset="-120"/>
              </a:rPr>
              <a:t>17 Comparison</a:t>
            </a:r>
            <a:endParaRPr lang="en-US" sz="1000" dirty="0"/>
          </a:p>
        </p:txBody>
      </p:sp>
      <p:sp>
        <p:nvSpPr>
          <p:cNvPr id="3" name="Text 1"/>
          <p:cNvSpPr/>
          <p:nvPr/>
        </p:nvSpPr>
        <p:spPr>
          <a:xfrm>
            <a:off x="502920" y="777240"/>
            <a:ext cx="8138160" cy="457200"/>
          </a:xfrm>
          <a:prstGeom prst="rect">
            <a:avLst/>
          </a:prstGeom>
          <a:noFill/>
          <a:ln/>
        </p:spPr>
        <p:txBody>
          <a:bodyPr wrap="square" rtlCol="0" anchor="ctr"/>
          <a:lstStyle/>
          <a:p>
            <a:pPr indent="0" marL="0">
              <a:buNone/>
            </a:pPr>
            <a:r>
              <a:rPr lang="en-US" sz="2000" b="1" dirty="0">
                <a:solidFill>
                  <a:srgbClr val="1A1A1A"/>
                </a:solidFill>
                <a:latin typeface="Meiryo" pitchFamily="34" charset="0"/>
                <a:ea typeface="Meiryo" pitchFamily="34" charset="-122"/>
                <a:cs typeface="Meiryo" pitchFamily="34" charset="-120"/>
              </a:rPr>
              <a:t>提案力と制作力、その両方を自社に持つ（他社との比較）</a:t>
            </a:r>
            <a:endParaRPr lang="en-US" sz="2000" dirty="0"/>
          </a:p>
        </p:txBody>
      </p:sp>
      <p:sp>
        <p:nvSpPr>
          <p:cNvPr id="4" name="Shape 2"/>
          <p:cNvSpPr/>
          <p:nvPr/>
        </p:nvSpPr>
        <p:spPr>
          <a:xfrm>
            <a:off x="502920" y="1280160"/>
            <a:ext cx="8138160" cy="0"/>
          </a:xfrm>
          <a:prstGeom prst="line">
            <a:avLst/>
          </a:prstGeom>
          <a:noFill/>
          <a:ln w="12700">
            <a:solidFill>
              <a:srgbClr val="D5D5D5"/>
            </a:solidFill>
            <a:prstDash val="solid"/>
          </a:ln>
        </p:spPr>
      </p:sp>
      <p:sp>
        <p:nvSpPr>
          <p:cNvPr id="5" name="Text 3"/>
          <p:cNvSpPr/>
          <p:nvPr/>
        </p:nvSpPr>
        <p:spPr>
          <a:xfrm>
            <a:off x="502920" y="1417320"/>
            <a:ext cx="8138160" cy="3177540"/>
          </a:xfrm>
          <a:prstGeom prst="rect">
            <a:avLst/>
          </a:prstGeom>
          <a:noFill/>
          <a:ln/>
        </p:spPr>
        <p:txBody>
          <a:bodyPr wrap="square" rtlCol="0" anchor="t"/>
          <a:lstStyle/>
          <a:p>
            <a:pPr marL="342900" indent="-342900">
              <a:lnSpc>
                <a:spcPct val="130000"/>
              </a:lnSpc>
              <a:buSzPct val="100000"/>
              <a:buChar char="•"/>
            </a:pPr>
            <a:r>
              <a:rPr lang="en-US" sz="1300" dirty="0">
                <a:solidFill>
                  <a:srgbClr val="1A1A1A"/>
                </a:solidFill>
                <a:latin typeface="Meiryo" pitchFamily="34" charset="0"/>
                <a:ea typeface="Meiryo" pitchFamily="34" charset="-122"/>
                <a:cs typeface="Meiryo" pitchFamily="34" charset="-120"/>
              </a:rPr>
              <a:t>比較軸: 制作会社／広告代理店・コンサル／当社 GrowGroup</a:t>
            </a:r>
            <a:endParaRPr lang="en-US" sz="1300" dirty="0"/>
          </a:p>
          <a:p>
            <a:pPr marL="342900" indent="-342900">
              <a:lnSpc>
                <a:spcPct val="130000"/>
              </a:lnSpc>
              <a:buSzPct val="100000"/>
              <a:buChar char="•"/>
            </a:pPr>
            <a:r>
              <a:rPr lang="en-US" sz="1300" dirty="0">
                <a:solidFill>
                  <a:srgbClr val="1A1A1A"/>
                </a:solidFill>
                <a:latin typeface="Meiryo" pitchFamily="34" charset="0"/>
                <a:ea typeface="Meiryo" pitchFamily="34" charset="-122"/>
                <a:cs typeface="Meiryo" pitchFamily="34" charset="-120"/>
              </a:rPr>
              <a:t>自社内一貫制作: 制作会社△（少数規模の会社が多くリソース問題やスキルの偏りがあり外注する場合もある）／代理店×（クリエイティブは制作会社へ外注するため制作スタッフは数名程度）／当社◎（48名のメンバーが高いスキルを持つ社員スタッフで構成）</a:t>
            </a:r>
            <a:endParaRPr lang="en-US" sz="1300" dirty="0"/>
          </a:p>
          <a:p>
            <a:pPr marL="342900" indent="-342900">
              <a:lnSpc>
                <a:spcPct val="130000"/>
              </a:lnSpc>
              <a:buSzPct val="100000"/>
              <a:buChar char="•"/>
            </a:pPr>
            <a:r>
              <a:rPr lang="en-US" sz="1300" dirty="0">
                <a:solidFill>
                  <a:srgbClr val="1A1A1A"/>
                </a:solidFill>
                <a:latin typeface="Meiryo" pitchFamily="34" charset="0"/>
                <a:ea typeface="Meiryo" pitchFamily="34" charset="-122"/>
                <a:cs typeface="Meiryo" pitchFamily="34" charset="-120"/>
              </a:rPr>
              <a:t>提案力: 制作会社△（顧客要望に基づく制作であるため、提案力は望めない）／代理店◎（与件整理から現状分析、競合分析など提案力は高い）／当社◎（マーケ部門があるため広告代理店やコンサルを凌駕する分析・提案力）</a:t>
            </a:r>
            <a:endParaRPr lang="en-US" sz="1300" dirty="0"/>
          </a:p>
          <a:p>
            <a:pPr marL="342900" indent="-342900">
              <a:lnSpc>
                <a:spcPct val="130000"/>
              </a:lnSpc>
              <a:buSzPct val="100000"/>
              <a:buChar char="•"/>
            </a:pPr>
            <a:r>
              <a:rPr lang="en-US" sz="1300" dirty="0">
                <a:solidFill>
                  <a:srgbClr val="1A1A1A"/>
                </a:solidFill>
                <a:latin typeface="Meiryo" pitchFamily="34" charset="0"/>
                <a:ea typeface="Meiryo" pitchFamily="34" charset="-122"/>
                <a:cs typeface="Meiryo" pitchFamily="34" charset="-120"/>
              </a:rPr>
              <a:t>制作力: 制作会社◎（デザインなどクリエイティブを制作する技術力は高い）／代理店×（広告代理店・コンサルの場合はクリエイティブを制作会社に外注する）／当社◎（技術力に優れたデザイナー、エンジニアが多数在籍し1200社以上の実績がある）</a:t>
            </a:r>
            <a:endParaRPr lang="en-US" sz="1300" dirty="0"/>
          </a:p>
          <a:p>
            <a:pPr marL="342900" indent="-342900">
              <a:lnSpc>
                <a:spcPct val="130000"/>
              </a:lnSpc>
              <a:buSzPct val="100000"/>
              <a:buChar char="•"/>
            </a:pPr>
            <a:r>
              <a:rPr lang="en-US" sz="1300" dirty="0">
                <a:solidFill>
                  <a:srgbClr val="1A1A1A"/>
                </a:solidFill>
                <a:latin typeface="Meiryo" pitchFamily="34" charset="0"/>
                <a:ea typeface="Meiryo" pitchFamily="34" charset="-122"/>
                <a:cs typeface="Meiryo" pitchFamily="34" charset="-120"/>
              </a:rPr>
              <a:t>結論: 分析・提案から制作・実装まで、48名の社員体制で一気通貫します</a:t>
            </a:r>
            <a:endParaRPr lang="en-US" sz="1300" dirty="0"/>
          </a:p>
        </p:txBody>
      </p:sp>
      <p:sp>
        <p:nvSpPr>
          <p:cNvPr id="6" name="Text 4"/>
          <p:cNvSpPr/>
          <p:nvPr/>
        </p:nvSpPr>
        <p:spPr>
          <a:xfrm>
            <a:off x="7543800" y="4759452"/>
            <a:ext cx="1097280" cy="228600"/>
          </a:xfrm>
          <a:prstGeom prst="rect">
            <a:avLst/>
          </a:prstGeom>
          <a:noFill/>
          <a:ln/>
        </p:spPr>
        <p:txBody>
          <a:bodyPr wrap="square" rtlCol="0" anchor="ctr"/>
          <a:lstStyle/>
          <a:p>
            <a:pPr algn="r" indent="0" marL="0">
              <a:buNone/>
            </a:pPr>
            <a:r>
              <a:rPr lang="en-US" sz="900" dirty="0">
                <a:solidFill>
                  <a:srgbClr val="6B6B6B"/>
                </a:solidFill>
                <a:latin typeface="Meiryo" pitchFamily="34" charset="0"/>
                <a:ea typeface="Meiryo" pitchFamily="34" charset="-122"/>
                <a:cs typeface="Meiryo" pitchFamily="34" charset="-120"/>
              </a:rPr>
              <a:t>78|82</a:t>
            </a:r>
            <a:endParaRPr lang="en-US" sz="900" dirty="0"/>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name="Slide 79">
    <p:spTree>
      <p:nvGrpSpPr>
        <p:cNvPr id="1" name=""/>
        <p:cNvGrpSpPr/>
        <p:nvPr/>
      </p:nvGrpSpPr>
      <p:grpSpPr>
        <a:xfrm>
          <a:off x="0" y="0"/>
          <a:ext cx="0" cy="0"/>
          <a:chOff x="0" y="0"/>
          <a:chExt cx="0" cy="0"/>
        </a:xfrm>
      </p:grpSpPr>
      <p:sp>
        <p:nvSpPr>
          <p:cNvPr id="2" name="Text 0"/>
          <p:cNvSpPr/>
          <p:nvPr/>
        </p:nvSpPr>
        <p:spPr>
          <a:xfrm>
            <a:off x="502920" y="502920"/>
            <a:ext cx="8138160" cy="228600"/>
          </a:xfrm>
          <a:prstGeom prst="rect">
            <a:avLst/>
          </a:prstGeom>
          <a:noFill/>
          <a:ln/>
        </p:spPr>
        <p:txBody>
          <a:bodyPr wrap="square" rtlCol="0" anchor="ctr"/>
          <a:lstStyle/>
          <a:p>
            <a:pPr indent="0" marL="0">
              <a:buNone/>
            </a:pPr>
            <a:r>
              <a:rPr lang="en-US" sz="1000" dirty="0">
                <a:solidFill>
                  <a:srgbClr val="6B6B6B"/>
                </a:solidFill>
                <a:latin typeface="Meiryo" pitchFamily="34" charset="0"/>
                <a:ea typeface="Meiryo" pitchFamily="34" charset="-122"/>
                <a:cs typeface="Meiryo" pitchFamily="34" charset="-120"/>
              </a:rPr>
              <a:t>17 Comparison</a:t>
            </a:r>
            <a:endParaRPr lang="en-US" sz="1000" dirty="0"/>
          </a:p>
        </p:txBody>
      </p:sp>
      <p:sp>
        <p:nvSpPr>
          <p:cNvPr id="3" name="Text 1"/>
          <p:cNvSpPr/>
          <p:nvPr/>
        </p:nvSpPr>
        <p:spPr>
          <a:xfrm>
            <a:off x="502920" y="777240"/>
            <a:ext cx="8138160" cy="457200"/>
          </a:xfrm>
          <a:prstGeom prst="rect">
            <a:avLst/>
          </a:prstGeom>
          <a:noFill/>
          <a:ln/>
        </p:spPr>
        <p:txBody>
          <a:bodyPr wrap="square" rtlCol="0" anchor="ctr"/>
          <a:lstStyle/>
          <a:p>
            <a:pPr indent="0" marL="0">
              <a:buNone/>
            </a:pPr>
            <a:r>
              <a:rPr lang="en-US" sz="2000" b="1" dirty="0">
                <a:solidFill>
                  <a:srgbClr val="1A1A1A"/>
                </a:solidFill>
                <a:latin typeface="Meiryo" pitchFamily="34" charset="0"/>
                <a:ea typeface="Meiryo" pitchFamily="34" charset="-122"/>
                <a:cs typeface="Meiryo" pitchFamily="34" charset="-120"/>
              </a:rPr>
              <a:t>お問い合わせ窓口と拠点</a:t>
            </a:r>
            <a:endParaRPr lang="en-US" sz="2000" dirty="0"/>
          </a:p>
        </p:txBody>
      </p:sp>
      <p:sp>
        <p:nvSpPr>
          <p:cNvPr id="4" name="Shape 2"/>
          <p:cNvSpPr/>
          <p:nvPr/>
        </p:nvSpPr>
        <p:spPr>
          <a:xfrm>
            <a:off x="502920" y="1280160"/>
            <a:ext cx="8138160" cy="0"/>
          </a:xfrm>
          <a:prstGeom prst="line">
            <a:avLst/>
          </a:prstGeom>
          <a:noFill/>
          <a:ln w="12700">
            <a:solidFill>
              <a:srgbClr val="D5D5D5"/>
            </a:solidFill>
            <a:prstDash val="solid"/>
          </a:ln>
        </p:spPr>
      </p:sp>
      <p:sp>
        <p:nvSpPr>
          <p:cNvPr id="5" name="Text 3"/>
          <p:cNvSpPr/>
          <p:nvPr/>
        </p:nvSpPr>
        <p:spPr>
          <a:xfrm>
            <a:off x="502920" y="1417320"/>
            <a:ext cx="8138160" cy="3177540"/>
          </a:xfrm>
          <a:prstGeom prst="rect">
            <a:avLst/>
          </a:prstGeom>
          <a:noFill/>
          <a:ln/>
        </p:spPr>
        <p:txBody>
          <a:bodyPr wrap="square" rtlCol="0" anchor="t"/>
          <a:lstStyle/>
          <a:p>
            <a:pPr marL="342900" indent="-342900">
              <a:lnSpc>
                <a:spcPct val="130000"/>
              </a:lnSpc>
              <a:buSzPct val="100000"/>
              <a:buChar char="•"/>
            </a:pPr>
            <a:r>
              <a:rPr lang="en-US" sz="1300" dirty="0">
                <a:solidFill>
                  <a:srgbClr val="1A1A1A"/>
                </a:solidFill>
                <a:latin typeface="Meiryo" pitchFamily="34" charset="0"/>
                <a:ea typeface="Meiryo" pitchFamily="34" charset="-122"/>
                <a:cs typeface="Meiryo" pitchFamily="34" charset="-120"/>
              </a:rPr>
              <a:t>フォーム（QRコードまたはURLから）: お問い合わせフォーム https://grow-group.jp/contact/</a:t>
            </a:r>
            <a:endParaRPr lang="en-US" sz="1300" dirty="0"/>
          </a:p>
          <a:p>
            <a:pPr marL="342900" indent="-342900">
              <a:lnSpc>
                <a:spcPct val="130000"/>
              </a:lnSpc>
              <a:buSzPct val="100000"/>
              <a:buChar char="•"/>
            </a:pPr>
            <a:r>
              <a:rPr lang="en-US" sz="1300" dirty="0">
                <a:solidFill>
                  <a:srgbClr val="1A1A1A"/>
                </a:solidFill>
                <a:latin typeface="Meiryo" pitchFamily="34" charset="0"/>
                <a:ea typeface="Meiryo" pitchFamily="34" charset="-122"/>
                <a:cs typeface="Meiryo" pitchFamily="34" charset="-120"/>
              </a:rPr>
              <a:t>お電話（お急ぎの場合）: 052-753-6413／受付時間 平日 10:00〜19:00</a:t>
            </a:r>
            <a:endParaRPr lang="en-US" sz="1300" dirty="0"/>
          </a:p>
          <a:p>
            <a:pPr marL="342900" indent="-342900">
              <a:lnSpc>
                <a:spcPct val="130000"/>
              </a:lnSpc>
              <a:buSzPct val="100000"/>
              <a:buChar char="•"/>
            </a:pPr>
            <a:r>
              <a:rPr lang="en-US" sz="1300" dirty="0">
                <a:solidFill>
                  <a:srgbClr val="1A1A1A"/>
                </a:solidFill>
                <a:latin typeface="Meiryo" pitchFamily="34" charset="0"/>
                <a:ea typeface="Meiryo" pitchFamily="34" charset="-122"/>
                <a:cs typeface="Meiryo" pitchFamily="34" charset="-120"/>
              </a:rPr>
              <a:t>名古屋本社: 愛知県名古屋市千種区今池3丁目12-20 KAビル6F／TEL：052-753-6413／FAX：052-753-6414</a:t>
            </a:r>
            <a:endParaRPr lang="en-US" sz="1300" dirty="0"/>
          </a:p>
          <a:p>
            <a:pPr marL="342900" indent="-342900">
              <a:lnSpc>
                <a:spcPct val="130000"/>
              </a:lnSpc>
              <a:buSzPct val="100000"/>
              <a:buChar char="•"/>
            </a:pPr>
            <a:r>
              <a:rPr lang="en-US" sz="1300" dirty="0">
                <a:solidFill>
                  <a:srgbClr val="1A1A1A"/>
                </a:solidFill>
                <a:latin typeface="Meiryo" pitchFamily="34" charset="0"/>
                <a:ea typeface="Meiryo" pitchFamily="34" charset="-122"/>
                <a:cs typeface="Meiryo" pitchFamily="34" charset="-120"/>
              </a:rPr>
              <a:t>東京オフィス: 東京都品川区東五反田5-22-37 2F／TEL：03-5404-6921</a:t>
            </a:r>
            <a:endParaRPr lang="en-US" sz="1300" dirty="0"/>
          </a:p>
        </p:txBody>
      </p:sp>
      <p:sp>
        <p:nvSpPr>
          <p:cNvPr id="6" name="Text 4"/>
          <p:cNvSpPr/>
          <p:nvPr/>
        </p:nvSpPr>
        <p:spPr>
          <a:xfrm>
            <a:off x="7543800" y="4759452"/>
            <a:ext cx="1097280" cy="228600"/>
          </a:xfrm>
          <a:prstGeom prst="rect">
            <a:avLst/>
          </a:prstGeom>
          <a:noFill/>
          <a:ln/>
        </p:spPr>
        <p:txBody>
          <a:bodyPr wrap="square" rtlCol="0" anchor="ctr"/>
          <a:lstStyle/>
          <a:p>
            <a:pPr algn="r" indent="0" marL="0">
              <a:buNone/>
            </a:pPr>
            <a:r>
              <a:rPr lang="en-US" sz="900" dirty="0">
                <a:solidFill>
                  <a:srgbClr val="6B6B6B"/>
                </a:solidFill>
                <a:latin typeface="Meiryo" pitchFamily="34" charset="0"/>
                <a:ea typeface="Meiryo" pitchFamily="34" charset="-122"/>
                <a:cs typeface="Meiryo" pitchFamily="34" charset="-120"/>
              </a:rPr>
              <a:t>79|82</a:t>
            </a:r>
            <a:endParaRPr lang="en-US" sz="900" dirty="0"/>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name="Slide 80">
    <p:bg>
      <p:bgPr>
        <a:solidFill>
          <a:srgbClr val="1F3A5F"/>
        </a:solidFill>
      </p:bgPr>
    </p:bg>
    <p:spTree>
      <p:nvGrpSpPr>
        <p:cNvPr id="1" name=""/>
        <p:cNvGrpSpPr/>
        <p:nvPr/>
      </p:nvGrpSpPr>
      <p:grpSpPr>
        <a:xfrm>
          <a:off x="0" y="0"/>
          <a:ext cx="0" cy="0"/>
          <a:chOff x="0" y="0"/>
          <a:chExt cx="0" cy="0"/>
        </a:xfrm>
      </p:grpSpPr>
      <p:sp>
        <p:nvSpPr>
          <p:cNvPr id="2" name="Text 0"/>
          <p:cNvSpPr/>
          <p:nvPr/>
        </p:nvSpPr>
        <p:spPr>
          <a:xfrm>
            <a:off x="502920" y="1737360"/>
            <a:ext cx="1280160" cy="640080"/>
          </a:xfrm>
          <a:prstGeom prst="rect">
            <a:avLst/>
          </a:prstGeom>
          <a:noFill/>
          <a:ln/>
        </p:spPr>
        <p:txBody>
          <a:bodyPr wrap="square" rtlCol="0" anchor="ctr"/>
          <a:lstStyle/>
          <a:p>
            <a:pPr indent="0" marL="0">
              <a:buNone/>
            </a:pPr>
            <a:r>
              <a:rPr lang="en-US" sz="3400" b="1" dirty="0">
                <a:solidFill>
                  <a:srgbClr val="FFFFFF"/>
                </a:solidFill>
                <a:latin typeface="Meiryo" pitchFamily="34" charset="0"/>
                <a:ea typeface="Meiryo" pitchFamily="34" charset="-122"/>
                <a:cs typeface="Meiryo" pitchFamily="34" charset="-120"/>
              </a:rPr>
              <a:t>18</a:t>
            </a:r>
            <a:endParaRPr lang="en-US" sz="3400" dirty="0"/>
          </a:p>
        </p:txBody>
      </p:sp>
      <p:sp>
        <p:nvSpPr>
          <p:cNvPr id="3" name="Text 1"/>
          <p:cNvSpPr/>
          <p:nvPr/>
        </p:nvSpPr>
        <p:spPr>
          <a:xfrm>
            <a:off x="502920" y="2377440"/>
            <a:ext cx="8138160" cy="365760"/>
          </a:xfrm>
          <a:prstGeom prst="rect">
            <a:avLst/>
          </a:prstGeom>
          <a:noFill/>
          <a:ln/>
        </p:spPr>
        <p:txBody>
          <a:bodyPr wrap="square" rtlCol="0" anchor="ctr"/>
          <a:lstStyle/>
          <a:p>
            <a:pPr indent="0" marL="0">
              <a:buNone/>
            </a:pPr>
            <a:r>
              <a:rPr lang="en-US" sz="1300" dirty="0">
                <a:solidFill>
                  <a:srgbClr val="FFFFFF"/>
                </a:solidFill>
                <a:latin typeface="Meiryo" pitchFamily="34" charset="0"/>
                <a:ea typeface="Meiryo" pitchFamily="34" charset="-122"/>
                <a:cs typeface="Meiryo" pitchFamily="34" charset="-120"/>
              </a:rPr>
              <a:t>Works</a:t>
            </a:r>
            <a:endParaRPr lang="en-US" sz="1300" dirty="0"/>
          </a:p>
        </p:txBody>
      </p:sp>
      <p:sp>
        <p:nvSpPr>
          <p:cNvPr id="4" name="Text 2"/>
          <p:cNvSpPr/>
          <p:nvPr/>
        </p:nvSpPr>
        <p:spPr>
          <a:xfrm>
            <a:off x="502920" y="2743200"/>
            <a:ext cx="8138160" cy="548640"/>
          </a:xfrm>
          <a:prstGeom prst="rect">
            <a:avLst/>
          </a:prstGeom>
          <a:noFill/>
          <a:ln/>
        </p:spPr>
        <p:txBody>
          <a:bodyPr wrap="square" rtlCol="0" anchor="ctr"/>
          <a:lstStyle/>
          <a:p>
            <a:pPr indent="0" marL="0">
              <a:buNone/>
            </a:pPr>
            <a:r>
              <a:rPr lang="en-US" sz="2400" b="1" dirty="0">
                <a:solidFill>
                  <a:srgbClr val="FFFFFF"/>
                </a:solidFill>
                <a:latin typeface="Meiryo" pitchFamily="34" charset="0"/>
                <a:ea typeface="Meiryo" pitchFamily="34" charset="-122"/>
                <a:cs typeface="Meiryo" pitchFamily="34" charset="-120"/>
              </a:rPr>
              <a:t>実績資料</a:t>
            </a:r>
            <a:endParaRPr lang="en-US" sz="2400" dirty="0"/>
          </a:p>
        </p:txBody>
      </p:sp>
      <p:sp>
        <p:nvSpPr>
          <p:cNvPr id="5" name="Text 3"/>
          <p:cNvSpPr/>
          <p:nvPr/>
        </p:nvSpPr>
        <p:spPr>
          <a:xfrm>
            <a:off x="7543800" y="4759452"/>
            <a:ext cx="1097280" cy="228600"/>
          </a:xfrm>
          <a:prstGeom prst="rect">
            <a:avLst/>
          </a:prstGeom>
          <a:noFill/>
          <a:ln/>
        </p:spPr>
        <p:txBody>
          <a:bodyPr wrap="square" rtlCol="0" anchor="ctr"/>
          <a:lstStyle/>
          <a:p>
            <a:pPr algn="r" indent="0" marL="0">
              <a:buNone/>
            </a:pPr>
            <a:r>
              <a:rPr lang="en-US" sz="900" dirty="0">
                <a:solidFill>
                  <a:srgbClr val="6B6B6B"/>
                </a:solidFill>
                <a:latin typeface="Meiryo" pitchFamily="34" charset="0"/>
                <a:ea typeface="Meiryo" pitchFamily="34" charset="-122"/>
                <a:cs typeface="Meiryo" pitchFamily="34" charset="-120"/>
              </a:rPr>
              <a:t>80|82</a:t>
            </a:r>
            <a:endParaRPr lang="en-US" sz="900" dirty="0"/>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name="Slide 81">
    <p:bg>
      <p:bgPr>
        <a:solidFill>
          <a:srgbClr val="1F3A5F"/>
        </a:solidFill>
      </p:bgPr>
    </p:bg>
    <p:spTree>
      <p:nvGrpSpPr>
        <p:cNvPr id="1" name=""/>
        <p:cNvGrpSpPr/>
        <p:nvPr/>
      </p:nvGrpSpPr>
      <p:grpSpPr>
        <a:xfrm>
          <a:off x="0" y="0"/>
          <a:ext cx="0" cy="0"/>
          <a:chOff x="0" y="0"/>
          <a:chExt cx="0" cy="0"/>
        </a:xfrm>
      </p:grpSpPr>
      <p:sp>
        <p:nvSpPr>
          <p:cNvPr id="2" name="Text 0"/>
          <p:cNvSpPr/>
          <p:nvPr/>
        </p:nvSpPr>
        <p:spPr>
          <a:xfrm>
            <a:off x="502920" y="1737360"/>
            <a:ext cx="1280160" cy="640080"/>
          </a:xfrm>
          <a:prstGeom prst="rect">
            <a:avLst/>
          </a:prstGeom>
          <a:noFill/>
          <a:ln/>
        </p:spPr>
        <p:txBody>
          <a:bodyPr wrap="square" rtlCol="0" anchor="ctr"/>
          <a:lstStyle/>
          <a:p>
            <a:pPr indent="0" marL="0">
              <a:buNone/>
            </a:pPr>
            <a:r>
              <a:rPr lang="en-US" sz="3400" b="1" dirty="0">
                <a:solidFill>
                  <a:srgbClr val="FFFFFF"/>
                </a:solidFill>
                <a:latin typeface="Meiryo" pitchFamily="34" charset="0"/>
                <a:ea typeface="Meiryo" pitchFamily="34" charset="-122"/>
                <a:cs typeface="Meiryo" pitchFamily="34" charset="-120"/>
              </a:rPr>
              <a:t>19</a:t>
            </a:r>
            <a:endParaRPr lang="en-US" sz="3400" dirty="0"/>
          </a:p>
        </p:txBody>
      </p:sp>
      <p:sp>
        <p:nvSpPr>
          <p:cNvPr id="3" name="Text 1"/>
          <p:cNvSpPr/>
          <p:nvPr/>
        </p:nvSpPr>
        <p:spPr>
          <a:xfrm>
            <a:off x="502920" y="2377440"/>
            <a:ext cx="8138160" cy="365760"/>
          </a:xfrm>
          <a:prstGeom prst="rect">
            <a:avLst/>
          </a:prstGeom>
          <a:noFill/>
          <a:ln/>
        </p:spPr>
        <p:txBody>
          <a:bodyPr wrap="square" rtlCol="0" anchor="ctr"/>
          <a:lstStyle/>
          <a:p>
            <a:pPr indent="0" marL="0">
              <a:buNone/>
            </a:pPr>
            <a:r>
              <a:rPr lang="en-US" sz="1300" dirty="0">
                <a:solidFill>
                  <a:srgbClr val="FFFFFF"/>
                </a:solidFill>
                <a:latin typeface="Meiryo" pitchFamily="34" charset="0"/>
                <a:ea typeface="Meiryo" pitchFamily="34" charset="-122"/>
                <a:cs typeface="Meiryo" pitchFamily="34" charset="-120"/>
              </a:rPr>
              <a:t>Profile</a:t>
            </a:r>
            <a:endParaRPr lang="en-US" sz="1300" dirty="0"/>
          </a:p>
        </p:txBody>
      </p:sp>
      <p:sp>
        <p:nvSpPr>
          <p:cNvPr id="4" name="Text 2"/>
          <p:cNvSpPr/>
          <p:nvPr/>
        </p:nvSpPr>
        <p:spPr>
          <a:xfrm>
            <a:off x="502920" y="2743200"/>
            <a:ext cx="8138160" cy="548640"/>
          </a:xfrm>
          <a:prstGeom prst="rect">
            <a:avLst/>
          </a:prstGeom>
          <a:noFill/>
          <a:ln/>
        </p:spPr>
        <p:txBody>
          <a:bodyPr wrap="square" rtlCol="0" anchor="ctr"/>
          <a:lstStyle/>
          <a:p>
            <a:pPr indent="0" marL="0">
              <a:buNone/>
            </a:pPr>
            <a:r>
              <a:rPr lang="en-US" sz="2400" b="1" dirty="0">
                <a:solidFill>
                  <a:srgbClr val="FFFFFF"/>
                </a:solidFill>
                <a:latin typeface="Meiryo" pitchFamily="34" charset="0"/>
                <a:ea typeface="Meiryo" pitchFamily="34" charset="-122"/>
                <a:cs typeface="Meiryo" pitchFamily="34" charset="-120"/>
              </a:rPr>
              <a:t>担当紹介</a:t>
            </a:r>
            <a:endParaRPr lang="en-US" sz="2400" dirty="0"/>
          </a:p>
        </p:txBody>
      </p:sp>
      <p:sp>
        <p:nvSpPr>
          <p:cNvPr id="5" name="Text 3"/>
          <p:cNvSpPr/>
          <p:nvPr/>
        </p:nvSpPr>
        <p:spPr>
          <a:xfrm>
            <a:off x="7543800" y="4759452"/>
            <a:ext cx="1097280" cy="228600"/>
          </a:xfrm>
          <a:prstGeom prst="rect">
            <a:avLst/>
          </a:prstGeom>
          <a:noFill/>
          <a:ln/>
        </p:spPr>
        <p:txBody>
          <a:bodyPr wrap="square" rtlCol="0" anchor="ctr"/>
          <a:lstStyle/>
          <a:p>
            <a:pPr algn="r" indent="0" marL="0">
              <a:buNone/>
            </a:pPr>
            <a:r>
              <a:rPr lang="en-US" sz="900" dirty="0">
                <a:solidFill>
                  <a:srgbClr val="6B6B6B"/>
                </a:solidFill>
                <a:latin typeface="Meiryo" pitchFamily="34" charset="0"/>
                <a:ea typeface="Meiryo" pitchFamily="34" charset="-122"/>
                <a:cs typeface="Meiryo" pitchFamily="34" charset="-120"/>
              </a:rPr>
              <a:t>81|82</a:t>
            </a:r>
            <a:endParaRPr lang="en-US" sz="900" dirty="0"/>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name="Slide 82">
    <p:spTree>
      <p:nvGrpSpPr>
        <p:cNvPr id="1" name=""/>
        <p:cNvGrpSpPr/>
        <p:nvPr/>
      </p:nvGrpSpPr>
      <p:grpSpPr>
        <a:xfrm>
          <a:off x="0" y="0"/>
          <a:ext cx="0" cy="0"/>
          <a:chOff x="0" y="0"/>
          <a:chExt cx="0" cy="0"/>
        </a:xfrm>
      </p:grpSpPr>
      <p:sp>
        <p:nvSpPr>
          <p:cNvPr id="2" name="Text 0"/>
          <p:cNvSpPr/>
          <p:nvPr/>
        </p:nvSpPr>
        <p:spPr>
          <a:xfrm>
            <a:off x="502920" y="502920"/>
            <a:ext cx="8138160" cy="228600"/>
          </a:xfrm>
          <a:prstGeom prst="rect">
            <a:avLst/>
          </a:prstGeom>
          <a:noFill/>
          <a:ln/>
        </p:spPr>
        <p:txBody>
          <a:bodyPr wrap="square" rtlCol="0" anchor="ctr"/>
          <a:lstStyle/>
          <a:p>
            <a:pPr indent="0" marL="0">
              <a:buNone/>
            </a:pPr>
            <a:r>
              <a:rPr lang="en-US" sz="1000" dirty="0">
                <a:solidFill>
                  <a:srgbClr val="6B6B6B"/>
                </a:solidFill>
                <a:latin typeface="Meiryo" pitchFamily="34" charset="0"/>
                <a:ea typeface="Meiryo" pitchFamily="34" charset="-122"/>
                <a:cs typeface="Meiryo" pitchFamily="34" charset="-120"/>
              </a:rPr>
              <a:t>19 Profile</a:t>
            </a:r>
            <a:endParaRPr lang="en-US" sz="1000" dirty="0"/>
          </a:p>
        </p:txBody>
      </p:sp>
      <p:sp>
        <p:nvSpPr>
          <p:cNvPr id="3" name="Text 1"/>
          <p:cNvSpPr/>
          <p:nvPr/>
        </p:nvSpPr>
        <p:spPr>
          <a:xfrm>
            <a:off x="502920" y="777240"/>
            <a:ext cx="8138160" cy="457200"/>
          </a:xfrm>
          <a:prstGeom prst="rect">
            <a:avLst/>
          </a:prstGeom>
          <a:noFill/>
          <a:ln/>
        </p:spPr>
        <p:txBody>
          <a:bodyPr wrap="square" rtlCol="0" anchor="ctr"/>
          <a:lstStyle/>
          <a:p>
            <a:pPr indent="0" marL="0">
              <a:buNone/>
            </a:pPr>
            <a:r>
              <a:rPr lang="en-US" sz="2000" b="1" dirty="0">
                <a:solidFill>
                  <a:srgbClr val="1A1A1A"/>
                </a:solidFill>
                <a:latin typeface="Meiryo" pitchFamily="34" charset="0"/>
                <a:ea typeface="Meiryo" pitchFamily="34" charset="-122"/>
                <a:cs typeface="Meiryo" pitchFamily="34" charset="-120"/>
              </a:rPr>
              <a:t>担当プロフィール（テンプレート）</a:t>
            </a:r>
            <a:endParaRPr lang="en-US" sz="2000" dirty="0"/>
          </a:p>
        </p:txBody>
      </p:sp>
      <p:sp>
        <p:nvSpPr>
          <p:cNvPr id="4" name="Shape 2"/>
          <p:cNvSpPr/>
          <p:nvPr/>
        </p:nvSpPr>
        <p:spPr>
          <a:xfrm>
            <a:off x="502920" y="1280160"/>
            <a:ext cx="8138160" cy="0"/>
          </a:xfrm>
          <a:prstGeom prst="line">
            <a:avLst/>
          </a:prstGeom>
          <a:noFill/>
          <a:ln w="12700">
            <a:solidFill>
              <a:srgbClr val="D5D5D5"/>
            </a:solidFill>
            <a:prstDash val="solid"/>
          </a:ln>
        </p:spPr>
      </p:sp>
      <p:sp>
        <p:nvSpPr>
          <p:cNvPr id="5" name="Text 3"/>
          <p:cNvSpPr/>
          <p:nvPr/>
        </p:nvSpPr>
        <p:spPr>
          <a:xfrm>
            <a:off x="502920" y="1417320"/>
            <a:ext cx="8138160" cy="3177540"/>
          </a:xfrm>
          <a:prstGeom prst="rect">
            <a:avLst/>
          </a:prstGeom>
          <a:noFill/>
          <a:ln/>
        </p:spPr>
        <p:txBody>
          <a:bodyPr wrap="square" rtlCol="0" anchor="t"/>
          <a:lstStyle/>
          <a:p>
            <a:pPr marL="342900" indent="-342900">
              <a:lnSpc>
                <a:spcPct val="130000"/>
              </a:lnSpc>
              <a:buSzPct val="100000"/>
              <a:buChar char="•"/>
            </a:pPr>
            <a:r>
              <a:rPr lang="en-US" sz="1300" dirty="0">
                <a:solidFill>
                  <a:srgbClr val="1A1A1A"/>
                </a:solidFill>
                <a:latin typeface="Meiryo" pitchFamily="34" charset="0"/>
                <a:ea typeface="Meiryo" pitchFamily="34" charset="-122"/>
                <a:cs typeface="Meiryo" pitchFamily="34" charset="-120"/>
              </a:rPr>
              <a:t>版面: 顔写真＋氏名＋役割（例：Webマーケティング／コンサルティング）＋経歴タイムライン（在籍企業・期間・業務）＋現職ハイライトのタグ</a:t>
            </a:r>
            <a:endParaRPr lang="en-US" sz="1300" dirty="0"/>
          </a:p>
          <a:p>
            <a:pPr marL="342900" indent="-342900">
              <a:lnSpc>
                <a:spcPct val="130000"/>
              </a:lnSpc>
              <a:buSzPct val="100000"/>
              <a:buChar char="•"/>
            </a:pPr>
            <a:r>
              <a:rPr lang="en-US" sz="1300" dirty="0">
                <a:solidFill>
                  <a:srgbClr val="1A1A1A"/>
                </a:solidFill>
                <a:latin typeface="Meiryo" pitchFamily="34" charset="0"/>
                <a:ea typeface="Meiryo" pitchFamily="34" charset="-122"/>
                <a:cs typeface="Meiryo" pitchFamily="34" charset="-120"/>
              </a:rPr>
              <a:t>タイムライン各行: 期間／会社名（太字）／担当業務の説明</a:t>
            </a:r>
            <a:endParaRPr lang="en-US" sz="1300" dirty="0"/>
          </a:p>
          <a:p>
            <a:pPr marL="342900" indent="-342900">
              <a:lnSpc>
                <a:spcPct val="130000"/>
              </a:lnSpc>
              <a:buSzPct val="100000"/>
              <a:buChar char="•"/>
            </a:pPr>
            <a:r>
              <a:rPr lang="en-US" sz="1300" dirty="0">
                <a:solidFill>
                  <a:srgbClr val="1A1A1A"/>
                </a:solidFill>
                <a:latin typeface="Meiryo" pitchFamily="34" charset="0"/>
                <a:ea typeface="Meiryo" pitchFamily="34" charset="-122"/>
                <a:cs typeface="Meiryo" pitchFamily="34" charset="-120"/>
              </a:rPr>
              <a:t>現職: GrowGroup株式会社の行に「現職」タグ</a:t>
            </a:r>
            <a:endParaRPr lang="en-US" sz="1300" dirty="0"/>
          </a:p>
        </p:txBody>
      </p:sp>
      <p:sp>
        <p:nvSpPr>
          <p:cNvPr id="6" name="Text 4"/>
          <p:cNvSpPr/>
          <p:nvPr/>
        </p:nvSpPr>
        <p:spPr>
          <a:xfrm>
            <a:off x="7543800" y="4759452"/>
            <a:ext cx="1097280" cy="228600"/>
          </a:xfrm>
          <a:prstGeom prst="rect">
            <a:avLst/>
          </a:prstGeom>
          <a:noFill/>
          <a:ln/>
        </p:spPr>
        <p:txBody>
          <a:bodyPr wrap="square" rtlCol="0" anchor="ctr"/>
          <a:lstStyle/>
          <a:p>
            <a:pPr algn="r" indent="0" marL="0">
              <a:buNone/>
            </a:pPr>
            <a:r>
              <a:rPr lang="en-US" sz="900" dirty="0">
                <a:solidFill>
                  <a:srgbClr val="6B6B6B"/>
                </a:solidFill>
                <a:latin typeface="Meiryo" pitchFamily="34" charset="0"/>
                <a:ea typeface="Meiryo" pitchFamily="34" charset="-122"/>
                <a:cs typeface="Meiryo" pitchFamily="34" charset="-120"/>
              </a:rPr>
              <a:t>82|82</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82</Slides>
  <Notes>82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82</vt:i4>
      </vt:variant>
    </vt:vector>
  </HeadingPairs>
  <TitlesOfParts>
    <vt:vector size="8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Slide 71</vt:lpstr>
      <vt:lpstr>Slide 72</vt:lpstr>
      <vt:lpstr>Slide 73</vt:lpstr>
      <vt:lpstr>Slide 74</vt:lpstr>
      <vt:lpstr>Slide 75</vt:lpstr>
      <vt:lpstr>Slide 76</vt:lpstr>
      <vt:lpstr>Slide 77</vt:lpstr>
      <vt:lpstr>Slide 78</vt:lpstr>
      <vt:lpstr>Slide 79</vt:lpstr>
      <vt:lpstr>Slide 80</vt:lpstr>
      <vt:lpstr>Slide 81</vt:lpstr>
      <vt:lpstr>Slide 82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Webサイトリニューアル 要件定義ご報告</dc:title>
  <dc:subject>PptxGenJS Presentation</dc:subject>
  <dc:creator>GrowGroup株式会社</dc:creator>
  <cp:lastModifiedBy>GrowGroup株式会社</cp:lastModifiedBy>
  <cp:revision>1</cp:revision>
  <dcterms:created xsi:type="dcterms:W3CDTF">2026-09-18T12:48:40Z</dcterms:created>
  <dcterms:modified xsi:type="dcterms:W3CDTF">2026-09-18T12:48:40Z</dcterms:modified>
</cp:coreProperties>
</file>